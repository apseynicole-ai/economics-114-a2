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 id="2147483697" r:id="rId6"/>
    <p:sldMasterId id="2147483706" r:id="rId7"/>
  </p:sldMasterIdLst>
  <p:notesMasterIdLst>
    <p:notesMasterId r:id="rId55"/>
  </p:notesMasterIdLst>
  <p:sldIdLst>
    <p:sldId id="774" r:id="rId8"/>
    <p:sldId id="772" r:id="rId9"/>
    <p:sldId id="813" r:id="rId10"/>
    <p:sldId id="798" r:id="rId11"/>
    <p:sldId id="801" r:id="rId12"/>
    <p:sldId id="814" r:id="rId13"/>
    <p:sldId id="815" r:id="rId14"/>
    <p:sldId id="816" r:id="rId15"/>
    <p:sldId id="797" r:id="rId16"/>
    <p:sldId id="818" r:id="rId17"/>
    <p:sldId id="819" r:id="rId18"/>
    <p:sldId id="436" r:id="rId19"/>
    <p:sldId id="821" r:id="rId20"/>
    <p:sldId id="823" r:id="rId21"/>
    <p:sldId id="583" r:id="rId22"/>
    <p:sldId id="810" r:id="rId23"/>
    <p:sldId id="812" r:id="rId24"/>
    <p:sldId id="834" r:id="rId25"/>
    <p:sldId id="830" r:id="rId26"/>
    <p:sldId id="259" r:id="rId27"/>
    <p:sldId id="828" r:id="rId28"/>
    <p:sldId id="275" r:id="rId29"/>
    <p:sldId id="824" r:id="rId30"/>
    <p:sldId id="569" r:id="rId31"/>
    <p:sldId id="340" r:id="rId32"/>
    <p:sldId id="827" r:id="rId33"/>
    <p:sldId id="273" r:id="rId34"/>
    <p:sldId id="831" r:id="rId35"/>
    <p:sldId id="260" r:id="rId36"/>
    <p:sldId id="538" r:id="rId37"/>
    <p:sldId id="802" r:id="rId38"/>
    <p:sldId id="838" r:id="rId39"/>
    <p:sldId id="540" r:id="rId40"/>
    <p:sldId id="832" r:id="rId41"/>
    <p:sldId id="835" r:id="rId42"/>
    <p:sldId id="280" r:id="rId43"/>
    <p:sldId id="836" r:id="rId44"/>
    <p:sldId id="839" r:id="rId45"/>
    <p:sldId id="261" r:id="rId46"/>
    <p:sldId id="840" r:id="rId47"/>
    <p:sldId id="841" r:id="rId48"/>
    <p:sldId id="803" r:id="rId49"/>
    <p:sldId id="843" r:id="rId50"/>
    <p:sldId id="820" r:id="rId51"/>
    <p:sldId id="439" r:id="rId52"/>
    <p:sldId id="438" r:id="rId53"/>
    <p:sldId id="804"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5A4208-B9A3-0AB1-B7E1-A0BDD413F199}" v="8" dt="2025-09-02T05:29:05.1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notesMaster" Target="notesMasters/notes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euwoudt, Liezl [lnieuw@sun.ac.za]" userId="S::lnieuw@sun.ac.za::25cfd12d-dcf0-473f-87d7-4ed25720caf1" providerId="AD" clId="Web-{FF5A4208-B9A3-0AB1-B7E1-A0BDD413F199}"/>
    <pc:docChg chg="modSld">
      <pc:chgData name="Nieuwoudt, Liezl [lnieuw@sun.ac.za]" userId="S::lnieuw@sun.ac.za::25cfd12d-dcf0-473f-87d7-4ed25720caf1" providerId="AD" clId="Web-{FF5A4208-B9A3-0AB1-B7E1-A0BDD413F199}" dt="2025-09-02T05:28:54.466" v="2" actId="20577"/>
      <pc:docMkLst>
        <pc:docMk/>
      </pc:docMkLst>
      <pc:sldChg chg="modSp">
        <pc:chgData name="Nieuwoudt, Liezl [lnieuw@sun.ac.za]" userId="S::lnieuw@sun.ac.za::25cfd12d-dcf0-473f-87d7-4ed25720caf1" providerId="AD" clId="Web-{FF5A4208-B9A3-0AB1-B7E1-A0BDD413F199}" dt="2025-09-02T05:28:54.466" v="2" actId="20577"/>
        <pc:sldMkLst>
          <pc:docMk/>
          <pc:sldMk cId="1973803062" sldId="824"/>
        </pc:sldMkLst>
        <pc:spChg chg="mod">
          <ac:chgData name="Nieuwoudt, Liezl [lnieuw@sun.ac.za]" userId="S::lnieuw@sun.ac.za::25cfd12d-dcf0-473f-87d7-4ed25720caf1" providerId="AD" clId="Web-{FF5A4208-B9A3-0AB1-B7E1-A0BDD413F199}" dt="2025-09-02T05:28:54.466" v="2" actId="20577"/>
          <ac:spMkLst>
            <pc:docMk/>
            <pc:sldMk cId="1973803062" sldId="824"/>
            <ac:spMk id="13" creationId="{72BFDB1B-1E9B-96A2-71C4-19FB2EE26C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3799E-8176-4639-88DC-495005F73FB7}" type="datetimeFigureOut">
              <a:rPr lang="en-ZA" smtClean="0"/>
              <a:t>2025/09/01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77DBBB-3744-4FD0-B007-9BFF15C6317B}" type="slidenum">
              <a:rPr lang="en-ZA" smtClean="0"/>
              <a:t>‹#›</a:t>
            </a:fld>
            <a:endParaRPr lang="en-ZA"/>
          </a:p>
        </p:txBody>
      </p:sp>
    </p:spTree>
    <p:extLst>
      <p:ext uri="{BB962C8B-B14F-4D97-AF65-F5344CB8AC3E}">
        <p14:creationId xmlns:p14="http://schemas.microsoft.com/office/powerpoint/2010/main" val="494031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095B2-0DB5-0605-AD7F-60E16E6CD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243FC-C3B4-65FE-2419-51181A4AEF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71102-98AA-13E1-B05D-B21CB8D7B203}"/>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E30EF832-B9C9-F775-6AB6-B417333AD7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7392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D143-194B-AFCC-82EE-3B67F4724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9304E-CE83-4850-9474-DBD41505B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78AFF-070D-7E9E-7DD0-C3FABBEEA2BE}"/>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83B779F6-C7D3-47DE-D2BC-5A477D3356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2879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86B05-C7CC-59FB-3BE4-118EAC5B6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4606F-32ED-4871-D21E-97EDC5A24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80585-11C7-BA30-7576-88D41F9A8D3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EF53681-3FF8-45E8-116F-C568A3FBF4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05388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slide</a:t>
            </a:r>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07510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27786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5722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954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DD3F-0141-CDB0-9C42-EDE88EBCA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3AA0A-4640-E638-FE99-41ECAA702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F53E15-064C-619E-22E0-A3D7B489011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6DFD70-425E-EEEF-D920-64127C8764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2958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B5BF9-6324-0B55-30E9-63119811E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9E4C7-B107-97E1-F3BD-7A4674760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D9860-6323-3274-417A-61AC843A42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B77343-60FC-80D5-5EB3-DEE169DD68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2475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0433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B14CB-47AA-DB47-2DC1-75E497433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79D84-A4B5-AA6E-B2C8-F5267A84F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C2911-C1A9-9300-3B16-CE3DD0A84FAD}"/>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3D4AFD5E-3A00-97B0-8873-6C0C53F4D2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01035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E1CD6-1D3B-2309-8C9F-0CA7C7458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D4B85-EE51-CF44-C430-132DC28BE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BCCC2-7049-25D3-BA5E-56A26B13F4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F77A0-FCF5-89FD-CE2F-279E53BDC867}"/>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578621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4785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by adding G without any taxes</a:t>
            </a:r>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169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0316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79768" y="4690269"/>
            <a:ext cx="5438140" cy="4443413"/>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54293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79768" y="4690269"/>
            <a:ext cx="5438140" cy="4443413"/>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0540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5450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6259-DD0C-063C-D34D-0FC8D349D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664AE-ADA9-128F-7631-30200693D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F970D-AE5A-AA6C-0F38-B2D3317626C2}"/>
              </a:ext>
            </a:extLst>
          </p:cNvPr>
          <p:cNvSpPr>
            <a:spLocks noGrp="1"/>
          </p:cNvSpPr>
          <p:nvPr>
            <p:ph type="body" idx="1"/>
          </p:nvPr>
        </p:nvSpPr>
        <p:spPr/>
        <p:txBody>
          <a:bodyPr/>
          <a:lstStyle/>
          <a:p>
            <a:r>
              <a:rPr lang="en-ZA" dirty="0"/>
              <a:t>A fall in the tax rate (from 𝑡 to 𝑡′) increases the size of the multiplier, because more household income is available to spend on goods and services. Ceteris paribus, the aggregate demand curve is steeper, meaning that the indirect effects of any changes in the intercept (𝑐0, 𝑎0, 𝐺, 𝑋, 𝑟) on output and employment are now larger. The new goods market equilibrium (</a:t>
            </a:r>
            <a:r>
              <a:rPr lang="en-ZA" dirty="0" err="1"/>
              <a:t>Dnew</a:t>
            </a:r>
            <a:r>
              <a:rPr lang="en-ZA" dirty="0"/>
              <a:t>𝑡) is at a higher level of output</a:t>
            </a:r>
          </a:p>
        </p:txBody>
      </p:sp>
      <p:sp>
        <p:nvSpPr>
          <p:cNvPr id="4" name="Slide Number Placeholder 3">
            <a:extLst>
              <a:ext uri="{FF2B5EF4-FFF2-40B4-BE49-F238E27FC236}">
                <a16:creationId xmlns:a16="http://schemas.microsoft.com/office/drawing/2014/main" id="{CF85A349-112F-BE70-FA86-0A6EF311EB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67429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4:notes"/>
          <p:cNvSpPr txBox="1">
            <a:spLocks noGrp="1"/>
          </p:cNvSpPr>
          <p:nvPr>
            <p:ph type="body" idx="1"/>
          </p:nvPr>
        </p:nvSpPr>
        <p:spPr>
          <a:xfrm>
            <a:off x="679768" y="4690269"/>
            <a:ext cx="5438140" cy="4443413"/>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5" name="Google Shape;245;p2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79768" y="4690269"/>
            <a:ext cx="5438140" cy="4443413"/>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8" name="Google Shape;238;p2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7602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83987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09266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3348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spcBef>
                <a:spcPts val="900"/>
              </a:spcBef>
              <a:spcAft>
                <a:spcPts val="900"/>
              </a:spcAft>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8565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A750-3F38-F918-6B8A-F5AE07C1CC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52C28018-2CF1-F1B6-A768-FAA9B324A0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36BD1595-4FD9-B9FD-F532-4B0F19073F34}"/>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5" name="Footer Placeholder 4">
            <a:extLst>
              <a:ext uri="{FF2B5EF4-FFF2-40B4-BE49-F238E27FC236}">
                <a16:creationId xmlns:a16="http://schemas.microsoft.com/office/drawing/2014/main" id="{8642136A-B545-25E0-1D1B-03E109C9739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E48CE7F-FF17-4B98-70EF-C1CC41B39C33}"/>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3087178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DF5F-3ECF-CC84-B106-F3F43EB45266}"/>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F98CDBC-949A-FABC-A0D8-1E60B747B3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CE285DC-2A11-597C-E36F-D759BACCC193}"/>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5" name="Footer Placeholder 4">
            <a:extLst>
              <a:ext uri="{FF2B5EF4-FFF2-40B4-BE49-F238E27FC236}">
                <a16:creationId xmlns:a16="http://schemas.microsoft.com/office/drawing/2014/main" id="{04F95925-49CC-6506-5133-965E7349ABF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BDDAC5-90AB-EF79-CD67-D7D12AF77F05}"/>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828324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B6D11-9178-160C-884D-F1BE09DB9E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47053C2C-777B-58E3-9B1C-7E7B529FD6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EB107F-851F-69FF-6929-8EB5D036D03D}"/>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5" name="Footer Placeholder 4">
            <a:extLst>
              <a:ext uri="{FF2B5EF4-FFF2-40B4-BE49-F238E27FC236}">
                <a16:creationId xmlns:a16="http://schemas.microsoft.com/office/drawing/2014/main" id="{EC773F62-7C3F-6142-8DA3-5D32CA93D4E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A692FF7-CA1F-7593-6AE0-AE6CE0140A36}"/>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3574136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DEE5E-B243-1D1F-D75F-B6B2A6E68377}"/>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5E89AB8-2C84-8E25-4FAA-823130CD6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5CD122FB-AA56-5A77-F8F2-7226A6FE5F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5FC144FC-6CF6-25A5-130F-FFC0A9B198A7}"/>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6" name="Footer Placeholder 5">
            <a:extLst>
              <a:ext uri="{FF2B5EF4-FFF2-40B4-BE49-F238E27FC236}">
                <a16:creationId xmlns:a16="http://schemas.microsoft.com/office/drawing/2014/main" id="{44576E54-F63B-CDDE-0760-99AFCB51CCB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58B8D21-BF65-7247-364B-4652E4E6BBA8}"/>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1960700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22FCC-7955-05C7-2CBE-2D0D8E6991F9}"/>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C1C44B2-4B3D-0788-11D4-49E12D38A9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BAEDC2-07EB-0D11-3C2A-290F4A9574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8144B52B-E7BD-DCFA-B3C9-1E27DD51CC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012C0E-A1E3-59A8-DBD9-CA3814D85E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22D433DD-61FB-88C6-CB4B-B28DC36AAC10}"/>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8" name="Footer Placeholder 7">
            <a:extLst>
              <a:ext uri="{FF2B5EF4-FFF2-40B4-BE49-F238E27FC236}">
                <a16:creationId xmlns:a16="http://schemas.microsoft.com/office/drawing/2014/main" id="{1F439316-82C4-70D1-98D1-021F76900CD8}"/>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A31D39CC-EAB7-327B-6EA2-6F332B61DDB1}"/>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2446868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6DCA5-42C3-1224-4BA5-CF58BA26A8C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518C9384-5467-D3DC-04A7-D4602DE844F0}"/>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4" name="Footer Placeholder 3">
            <a:extLst>
              <a:ext uri="{FF2B5EF4-FFF2-40B4-BE49-F238E27FC236}">
                <a16:creationId xmlns:a16="http://schemas.microsoft.com/office/drawing/2014/main" id="{9009DE6B-FD9F-4AD2-5E8F-59ADC87B66B0}"/>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11AADA6-432D-3CCA-DC5B-44955E1F9374}"/>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2139787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8C94BA-3099-2503-5BC5-509FE5E0E233}"/>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3" name="Footer Placeholder 2">
            <a:extLst>
              <a:ext uri="{FF2B5EF4-FFF2-40B4-BE49-F238E27FC236}">
                <a16:creationId xmlns:a16="http://schemas.microsoft.com/office/drawing/2014/main" id="{1E0083E4-6792-4D8D-4BB8-8E0F88ACD087}"/>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C62CA04-8B12-E209-5AF1-8867D65219C7}"/>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3027080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D5698-7B7D-D0A1-8DBA-88E1B12499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185F65D2-8C42-2977-D70C-F2B64CA51D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AD2E1BB2-A0FB-305D-B677-3824F51490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16F24B-F1A6-2947-2160-BF1AAADB1B00}"/>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6" name="Footer Placeholder 5">
            <a:extLst>
              <a:ext uri="{FF2B5EF4-FFF2-40B4-BE49-F238E27FC236}">
                <a16:creationId xmlns:a16="http://schemas.microsoft.com/office/drawing/2014/main" id="{8DB66B5D-DFFF-8E57-FD54-AF1FE085586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558C75E-768D-0E3D-06D4-FEE82C934747}"/>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278916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18C5-EE83-0269-D116-D04DABBD18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1ECDAC0C-78B5-A0C8-B21B-3782A57B6B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948293CA-DE17-9BD7-6997-CF6988A441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71AEE1-070C-388B-0446-A1B78C661226}"/>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6" name="Footer Placeholder 5">
            <a:extLst>
              <a:ext uri="{FF2B5EF4-FFF2-40B4-BE49-F238E27FC236}">
                <a16:creationId xmlns:a16="http://schemas.microsoft.com/office/drawing/2014/main" id="{CC894FDC-9713-2DB0-CB5B-19F78CC70DB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B8719C5-6EB8-BF36-D182-9943CC5D690B}"/>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3664148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B390-BE68-9D72-B5D9-57482F2E0BF7}"/>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A0F4E6B-288D-4049-6C56-A5D5D31394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6344C6C-E2FD-9940-FEDA-00183F1C75AB}"/>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5" name="Footer Placeholder 4">
            <a:extLst>
              <a:ext uri="{FF2B5EF4-FFF2-40B4-BE49-F238E27FC236}">
                <a16:creationId xmlns:a16="http://schemas.microsoft.com/office/drawing/2014/main" id="{D9353478-71A3-6D35-7E8D-C5C1FA51084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24B486C-52A1-7BB9-A4EB-350E3F4B0A0D}"/>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352845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C4089-FF80-5AB0-3EC5-74DA590559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FCD228CC-86DB-B0A3-02F8-A3896A5E2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0C42B18-07BF-FD8A-5525-639E62FB1ECF}"/>
              </a:ext>
            </a:extLst>
          </p:cNvPr>
          <p:cNvSpPr>
            <a:spLocks noGrp="1"/>
          </p:cNvSpPr>
          <p:nvPr>
            <p:ph type="dt" sz="half" idx="10"/>
          </p:nvPr>
        </p:nvSpPr>
        <p:spPr/>
        <p:txBody>
          <a:bodyPr/>
          <a:lstStyle/>
          <a:p>
            <a:fld id="{4EED8FD1-908C-4EEF-8891-E2C9F440A365}" type="datetimeFigureOut">
              <a:rPr lang="en-ZA" smtClean="0"/>
              <a:t>2025/09/01</a:t>
            </a:fld>
            <a:endParaRPr lang="en-ZA"/>
          </a:p>
        </p:txBody>
      </p:sp>
      <p:sp>
        <p:nvSpPr>
          <p:cNvPr id="5" name="Footer Placeholder 4">
            <a:extLst>
              <a:ext uri="{FF2B5EF4-FFF2-40B4-BE49-F238E27FC236}">
                <a16:creationId xmlns:a16="http://schemas.microsoft.com/office/drawing/2014/main" id="{F5AA08B5-06B8-9A14-6404-1D5E13E9A6F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9E9643D-C319-6D98-18DE-AD6940E7EC23}"/>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612106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on white bg with maroon banner">
    <p:spTree>
      <p:nvGrpSpPr>
        <p:cNvPr id="1" name=""/>
        <p:cNvGrpSpPr/>
        <p:nvPr/>
      </p:nvGrpSpPr>
      <p:grpSpPr>
        <a:xfrm>
          <a:off x="0" y="0"/>
          <a:ext cx="0" cy="0"/>
          <a:chOff x="0" y="0"/>
          <a:chExt cx="0" cy="0"/>
        </a:xfrm>
      </p:grpSpPr>
      <p:pic>
        <p:nvPicPr>
          <p:cNvPr id="6" name="Maroon Banner">
            <a:extLst>
              <a:ext uri="{FF2B5EF4-FFF2-40B4-BE49-F238E27FC236}">
                <a16:creationId xmlns:a16="http://schemas.microsoft.com/office/drawing/2014/main" id="{6167D968-35CA-1DB8-1B74-50521DED38A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9675" t="66265" r="9774" b="6982"/>
          <a:stretch/>
        </p:blipFill>
        <p:spPr>
          <a:xfrm>
            <a:off x="-7951" y="-2"/>
            <a:ext cx="12204000" cy="1410835"/>
          </a:xfrm>
          <a:prstGeom prst="rect">
            <a:avLst/>
          </a:prstGeom>
        </p:spPr>
      </p:pic>
      <p:pic>
        <p:nvPicPr>
          <p:cNvPr id="8" name="SU Logo">
            <a:extLst>
              <a:ext uri="{FF2B5EF4-FFF2-40B4-BE49-F238E27FC236}">
                <a16:creationId xmlns:a16="http://schemas.microsoft.com/office/drawing/2014/main" id="{9A31297D-9031-1678-3B32-24C6FFF8A508}"/>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584456" y="1"/>
            <a:ext cx="2609736" cy="141083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p:nvPr>
        </p:nvSpPr>
        <p:spPr>
          <a:xfrm>
            <a:off x="340241" y="1697394"/>
            <a:ext cx="11504429" cy="4801655"/>
          </a:xfrm>
        </p:spPr>
        <p:txBody>
          <a:bodyPr>
            <a:normAutofit lnSpcReduction="10000"/>
          </a:bodyPr>
          <a:lstStyle>
            <a:lvl1pPr marL="0" indent="0">
              <a:buNone/>
              <a:defRPr/>
            </a:lvl1pPr>
          </a:lstStyle>
          <a:p>
            <a:endParaRPr lang="en-GB" dirty="0"/>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9621" y="272383"/>
            <a:ext cx="8886865" cy="1019176"/>
          </a:xfrm>
          <a:prstGeom prst="rect">
            <a:avLst/>
          </a:prstGeom>
        </p:spPr>
        <p:txBody>
          <a:bodyPr/>
          <a:lstStyle>
            <a:lvl1pPr>
              <a:defRPr>
                <a:solidFill>
                  <a:schemeClr val="bg1"/>
                </a:solidFill>
              </a:defRPr>
            </a:lvl1pPr>
          </a:lstStyle>
          <a:p>
            <a:r>
              <a:rPr lang="en-GB" dirty="0"/>
              <a:t>Going through the options…</a:t>
            </a:r>
            <a:endParaRPr lang="en-US" dirty="0"/>
          </a:p>
        </p:txBody>
      </p:sp>
    </p:spTree>
    <p:extLst>
      <p:ext uri="{BB962C8B-B14F-4D97-AF65-F5344CB8AC3E}">
        <p14:creationId xmlns:p14="http://schemas.microsoft.com/office/powerpoint/2010/main" val="465406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8E18-5E39-ADDA-05C1-931A54C904A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A04671FD-1D37-4365-95DF-154961DCB4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85754440-65AA-4F24-B5CD-2BFBE8E1369F}"/>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5" name="Footer Placeholder 4">
            <a:extLst>
              <a:ext uri="{FF2B5EF4-FFF2-40B4-BE49-F238E27FC236}">
                <a16:creationId xmlns:a16="http://schemas.microsoft.com/office/drawing/2014/main" id="{C0C4B9B9-E2F2-B34C-9D8F-6A48AA52E1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62CDA6-0A9C-0725-FBE5-964605220AEA}"/>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183653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CBA80-9FB5-0F8C-B71C-E1D630BC15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C4ECDB2-974D-6245-808C-4297ECD10E5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87B15E-E21C-5925-22F8-3F74C745C5C3}"/>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5" name="Footer Placeholder 4">
            <a:extLst>
              <a:ext uri="{FF2B5EF4-FFF2-40B4-BE49-F238E27FC236}">
                <a16:creationId xmlns:a16="http://schemas.microsoft.com/office/drawing/2014/main" id="{00B3858E-4DD6-D073-DAC9-3B39D8AF10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2154D5-2EB1-BF6F-0ABC-53BCB2AEE8FE}"/>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1557843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2032C-899E-D076-60D1-32AB247F95E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3F85C3DA-4940-3BDA-A0C3-1C356C336C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1345273-10E0-2073-478C-709B9D779738}"/>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5" name="Footer Placeholder 4">
            <a:extLst>
              <a:ext uri="{FF2B5EF4-FFF2-40B4-BE49-F238E27FC236}">
                <a16:creationId xmlns:a16="http://schemas.microsoft.com/office/drawing/2014/main" id="{6E33F1E9-8E38-B122-F968-69B19D726E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F1F339-4FF4-1C08-0C05-FB2BED1B6D82}"/>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34402297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4F18F-384E-C651-08CF-C3FC585B104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9DA9E98-B56B-B112-B63A-8E87717086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644174C8-68AB-3700-AA91-3805D756C45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31D3305-7E42-246B-6E2E-3DE1524885C0}"/>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6" name="Footer Placeholder 5">
            <a:extLst>
              <a:ext uri="{FF2B5EF4-FFF2-40B4-BE49-F238E27FC236}">
                <a16:creationId xmlns:a16="http://schemas.microsoft.com/office/drawing/2014/main" id="{4596FE62-BA1E-FD92-73B5-89347054EA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DCECB2-4157-1CA2-7257-954BEA1C08BC}"/>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19029758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30118-68F5-71D8-BEAC-0BB720FE30D1}"/>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3EA146A-77F5-3ACA-F445-F90596A5D0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C2FF527-AFF4-036B-783E-F477BB28CF0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4DDEBECF-C4B4-497E-B096-B5293B60F6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F6DE25-02E7-0766-2A69-5F697119023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FE8A589-84CF-FC16-0AE9-995A2E83576A}"/>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8" name="Footer Placeholder 7">
            <a:extLst>
              <a:ext uri="{FF2B5EF4-FFF2-40B4-BE49-F238E27FC236}">
                <a16:creationId xmlns:a16="http://schemas.microsoft.com/office/drawing/2014/main" id="{44738370-80F5-D5E7-0415-21F4F756F71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16A5EC3-6EE0-4874-1945-5CD10923629A}"/>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2369463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AA5C-E3D0-B196-D50F-4666FDAEDF5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8661590-7E88-C214-33BF-1F6BC0C07F62}"/>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4" name="Footer Placeholder 3">
            <a:extLst>
              <a:ext uri="{FF2B5EF4-FFF2-40B4-BE49-F238E27FC236}">
                <a16:creationId xmlns:a16="http://schemas.microsoft.com/office/drawing/2014/main" id="{B648268A-74C3-3C48-FBF4-67BAC226BB9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9EE5521-24EB-E4F9-F5E4-C722EBD24CBD}"/>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2711199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847B8D-DBFE-1AB1-8E04-173A004A9E31}"/>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3" name="Footer Placeholder 2">
            <a:extLst>
              <a:ext uri="{FF2B5EF4-FFF2-40B4-BE49-F238E27FC236}">
                <a16:creationId xmlns:a16="http://schemas.microsoft.com/office/drawing/2014/main" id="{24CF5F57-FF84-70B1-113B-46AB42A3B53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69E46CB-C0A0-7116-9F55-793D570F627C}"/>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1693835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0AC2C-DDDB-81A4-A585-30795403A1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B926EE77-B61C-2390-D2F5-338720220C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9FF9CEC-73F3-4B29-C03E-AB65CDC62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F643B8D-92BD-8C58-D350-F03BE1168A20}"/>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6" name="Footer Placeholder 5">
            <a:extLst>
              <a:ext uri="{FF2B5EF4-FFF2-40B4-BE49-F238E27FC236}">
                <a16:creationId xmlns:a16="http://schemas.microsoft.com/office/drawing/2014/main" id="{191D354B-37D4-735D-5C63-837BFB62DB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0B5A4A-F5EB-E071-A39B-3D134497A32F}"/>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5076731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3F9CF-DC3C-75EB-3231-02290F57351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F50121B5-0817-1FAE-A1E9-F507687F8D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219CE4E-A9A4-BF31-E024-95BB739335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F13D8D-2BA3-CDB9-85D4-553197CB462E}"/>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6" name="Footer Placeholder 5">
            <a:extLst>
              <a:ext uri="{FF2B5EF4-FFF2-40B4-BE49-F238E27FC236}">
                <a16:creationId xmlns:a16="http://schemas.microsoft.com/office/drawing/2014/main" id="{CD49C3EE-D529-B89A-B9D4-B1820F257F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4E0978-08BF-F60F-3D5A-7D9A1A326C10}"/>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4128425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D6F4-C412-773E-52A6-AAD20F1A63DB}"/>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D76C9D1-AEAF-F437-9E39-2CDF94D432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FA0E7E6-48DC-A954-4150-DA3C9E002DF8}"/>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5" name="Footer Placeholder 4">
            <a:extLst>
              <a:ext uri="{FF2B5EF4-FFF2-40B4-BE49-F238E27FC236}">
                <a16:creationId xmlns:a16="http://schemas.microsoft.com/office/drawing/2014/main" id="{3863D46F-2F1D-6E7B-EA25-099B0C60DA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282D0F-7D74-E584-E732-136E72D59CCD}"/>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3743513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007325-613F-7311-F50D-C54B7AEB6D4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CE28DE9A-2E9B-FB3E-68EA-96E63AB9122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BA269D6-24FE-03CB-446E-A76A08F3F2D8}"/>
              </a:ext>
            </a:extLst>
          </p:cNvPr>
          <p:cNvSpPr>
            <a:spLocks noGrp="1"/>
          </p:cNvSpPr>
          <p:nvPr>
            <p:ph type="dt" sz="half" idx="10"/>
          </p:nvPr>
        </p:nvSpPr>
        <p:spPr/>
        <p:txBody>
          <a:bodyPr/>
          <a:lstStyle/>
          <a:p>
            <a:fld id="{19D9F10D-8DD8-6846-A8AE-BD8FB967C54A}" type="datetimeFigureOut">
              <a:rPr lang="en-GB" smtClean="0"/>
              <a:t>01/09/2025</a:t>
            </a:fld>
            <a:endParaRPr lang="en-GB"/>
          </a:p>
        </p:txBody>
      </p:sp>
      <p:sp>
        <p:nvSpPr>
          <p:cNvPr id="5" name="Footer Placeholder 4">
            <a:extLst>
              <a:ext uri="{FF2B5EF4-FFF2-40B4-BE49-F238E27FC236}">
                <a16:creationId xmlns:a16="http://schemas.microsoft.com/office/drawing/2014/main" id="{94198FC6-331A-A424-17A7-304B408114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2E9F43-3BEC-F7B3-7D03-D78E78FCD9E5}"/>
              </a:ext>
            </a:extLst>
          </p:cNvPr>
          <p:cNvSpPr>
            <a:spLocks noGrp="1"/>
          </p:cNvSpPr>
          <p:nvPr>
            <p:ph type="sldNum" sz="quarter" idx="12"/>
          </p:nvPr>
        </p:nvSpPr>
        <p:spPr/>
        <p:txBody>
          <a:bodyPr/>
          <a:lstStyle/>
          <a:p>
            <a:fld id="{BA7B942F-1833-A241-A4FD-66794DBCF24B}" type="slidenum">
              <a:rPr lang="en-GB" smtClean="0"/>
              <a:t>‹#›</a:t>
            </a:fld>
            <a:endParaRPr lang="en-GB"/>
          </a:p>
        </p:txBody>
      </p:sp>
    </p:spTree>
    <p:extLst>
      <p:ext uri="{BB962C8B-B14F-4D97-AF65-F5344CB8AC3E}">
        <p14:creationId xmlns:p14="http://schemas.microsoft.com/office/powerpoint/2010/main" val="14398330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grpSp>
        <p:nvGrpSpPr>
          <p:cNvPr id="18" name="Google Shape;18;p2"/>
          <p:cNvGrpSpPr/>
          <p:nvPr/>
        </p:nvGrpSpPr>
        <p:grpSpPr>
          <a:xfrm>
            <a:off x="0" y="6588034"/>
            <a:ext cx="12200164" cy="278130"/>
            <a:chOff x="0" y="6588034"/>
            <a:chExt cx="12200164" cy="278130"/>
          </a:xfrm>
        </p:grpSpPr>
        <p:sp>
          <p:nvSpPr>
            <p:cNvPr id="19" name="Google Shape;19;p2"/>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0" name="Google Shape;20;p2"/>
            <p:cNvPicPr preferRelativeResize="0"/>
            <p:nvPr/>
          </p:nvPicPr>
          <p:blipFill rotWithShape="1">
            <a:blip r:embed="rId2">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33226763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24" name="Google Shape;24;p3"/>
          <p:cNvGrpSpPr/>
          <p:nvPr/>
        </p:nvGrpSpPr>
        <p:grpSpPr>
          <a:xfrm>
            <a:off x="0" y="6588034"/>
            <a:ext cx="12200164" cy="278130"/>
            <a:chOff x="0" y="6588034"/>
            <a:chExt cx="12200164" cy="278130"/>
          </a:xfrm>
        </p:grpSpPr>
        <p:sp>
          <p:nvSpPr>
            <p:cNvPr id="25" name="Google Shape;25;p3"/>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6" name="Google Shape;26;p3"/>
            <p:cNvPicPr preferRelativeResize="0"/>
            <p:nvPr/>
          </p:nvPicPr>
          <p:blipFill rotWithShape="1">
            <a:blip r:embed="rId2">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9604607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wo Content" type="twoObj">
  <p:cSld name="Two Content">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37" name="Google Shape;37;p5"/>
          <p:cNvGrpSpPr/>
          <p:nvPr/>
        </p:nvGrpSpPr>
        <p:grpSpPr>
          <a:xfrm>
            <a:off x="0" y="6588034"/>
            <a:ext cx="12200164" cy="278130"/>
            <a:chOff x="0" y="6588034"/>
            <a:chExt cx="12200164" cy="278130"/>
          </a:xfrm>
        </p:grpSpPr>
        <p:sp>
          <p:nvSpPr>
            <p:cNvPr id="38" name="Google Shape;38;p5"/>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9" name="Google Shape;39;p5"/>
            <p:cNvPicPr preferRelativeResize="0"/>
            <p:nvPr/>
          </p:nvPicPr>
          <p:blipFill rotWithShape="1">
            <a:blip r:embed="rId2">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38840003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 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grpSp>
        <p:nvGrpSpPr>
          <p:cNvPr id="51" name="Google Shape;51;p7"/>
          <p:cNvGrpSpPr/>
          <p:nvPr/>
        </p:nvGrpSpPr>
        <p:grpSpPr>
          <a:xfrm>
            <a:off x="0" y="6588034"/>
            <a:ext cx="12200164" cy="278130"/>
            <a:chOff x="0" y="6588034"/>
            <a:chExt cx="12200164" cy="278130"/>
          </a:xfrm>
        </p:grpSpPr>
        <p:sp>
          <p:nvSpPr>
            <p:cNvPr id="52" name="Google Shape;52;p7"/>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3" name="Google Shape;53;p7"/>
            <p:cNvPicPr preferRelativeResize="0"/>
            <p:nvPr/>
          </p:nvPicPr>
          <p:blipFill rotWithShape="1">
            <a:blip r:embed="rId2">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2155694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4"/>
        <p:cNvGrpSpPr/>
        <p:nvPr/>
      </p:nvGrpSpPr>
      <p:grpSpPr>
        <a:xfrm>
          <a:off x="0" y="0"/>
          <a:ext cx="0" cy="0"/>
          <a:chOff x="0" y="0"/>
          <a:chExt cx="0" cy="0"/>
        </a:xfrm>
      </p:grpSpPr>
      <p:grpSp>
        <p:nvGrpSpPr>
          <p:cNvPr id="55" name="Google Shape;55;p8"/>
          <p:cNvGrpSpPr/>
          <p:nvPr/>
        </p:nvGrpSpPr>
        <p:grpSpPr>
          <a:xfrm>
            <a:off x="0" y="6588034"/>
            <a:ext cx="12200164" cy="278130"/>
            <a:chOff x="0" y="6588034"/>
            <a:chExt cx="12200164" cy="278130"/>
          </a:xfrm>
        </p:grpSpPr>
        <p:sp>
          <p:nvSpPr>
            <p:cNvPr id="56" name="Google Shape;56;p8"/>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7" name="Google Shape;57;p8"/>
            <p:cNvPicPr preferRelativeResize="0"/>
            <p:nvPr/>
          </p:nvPicPr>
          <p:blipFill rotWithShape="1">
            <a:blip r:embed="rId2">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465740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75" name="Google Shape;75;p11"/>
          <p:cNvGrpSpPr/>
          <p:nvPr/>
        </p:nvGrpSpPr>
        <p:grpSpPr>
          <a:xfrm>
            <a:off x="0" y="6588034"/>
            <a:ext cx="12200164" cy="278130"/>
            <a:chOff x="0" y="6588034"/>
            <a:chExt cx="12200164" cy="278130"/>
          </a:xfrm>
        </p:grpSpPr>
        <p:sp>
          <p:nvSpPr>
            <p:cNvPr id="76" name="Google Shape;76;p11"/>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7" name="Google Shape;77;p11"/>
            <p:cNvPicPr preferRelativeResize="0"/>
            <p:nvPr/>
          </p:nvPicPr>
          <p:blipFill rotWithShape="1">
            <a:blip r:embed="rId2">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2200137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81" name="Google Shape;81;p12"/>
          <p:cNvGrpSpPr/>
          <p:nvPr/>
        </p:nvGrpSpPr>
        <p:grpSpPr>
          <a:xfrm>
            <a:off x="0" y="6588034"/>
            <a:ext cx="12200164" cy="278130"/>
            <a:chOff x="0" y="6588034"/>
            <a:chExt cx="12200164" cy="278130"/>
          </a:xfrm>
        </p:grpSpPr>
        <p:sp>
          <p:nvSpPr>
            <p:cNvPr id="82" name="Google Shape;82;p12"/>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3" name="Google Shape;83;p12"/>
            <p:cNvPicPr preferRelativeResize="0"/>
            <p:nvPr/>
          </p:nvPicPr>
          <p:blipFill rotWithShape="1">
            <a:blip r:embed="rId2">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12227581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 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grpSp>
        <p:nvGrpSpPr>
          <p:cNvPr id="30" name="Google Shape;30;p4"/>
          <p:cNvGrpSpPr/>
          <p:nvPr/>
        </p:nvGrpSpPr>
        <p:grpSpPr>
          <a:xfrm>
            <a:off x="0" y="6588034"/>
            <a:ext cx="12200164" cy="278130"/>
            <a:chOff x="0" y="6588034"/>
            <a:chExt cx="12200164" cy="278130"/>
          </a:xfrm>
        </p:grpSpPr>
        <p:sp>
          <p:nvSpPr>
            <p:cNvPr id="31" name="Google Shape;31;p4"/>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32" name="Google Shape;32;p4"/>
            <p:cNvPicPr preferRelativeResize="0"/>
            <p:nvPr/>
          </p:nvPicPr>
          <p:blipFill rotWithShape="1">
            <a:blip r:embed="rId2">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39949277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CC743-C159-4E4E-AC23-A1D5B5F6C1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C96C581-6928-3F45-8F98-FB342CA174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94CA541-9F75-9F4B-9BEB-1EE048315EF1}"/>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5" name="Footer Placeholder 4">
            <a:extLst>
              <a:ext uri="{FF2B5EF4-FFF2-40B4-BE49-F238E27FC236}">
                <a16:creationId xmlns:a16="http://schemas.microsoft.com/office/drawing/2014/main" id="{56A45058-5547-1D46-A492-C9724B0E6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DE0406-6ED6-DC4E-B014-F03DA26419BD}"/>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5872220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7E5FF-B872-B845-A137-5DDB3D44EC5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1E4F5BB-A3A4-D949-81CD-2604924E818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FAEE5D-AB05-DA41-B98B-6C2C74A689AA}"/>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5" name="Footer Placeholder 4">
            <a:extLst>
              <a:ext uri="{FF2B5EF4-FFF2-40B4-BE49-F238E27FC236}">
                <a16:creationId xmlns:a16="http://schemas.microsoft.com/office/drawing/2014/main" id="{1A770BA8-755B-CA4B-8F5E-0614199018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6D325-ACBE-6C43-98B2-0B4599BDDBD1}"/>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31096504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3341F-3968-974F-93CC-E7BAE51A3E7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0578AFB-89EF-C64E-A2D2-0ABF77D3C4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7FE85BA-1D90-1D45-A39E-9DA1AF59087F}"/>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5" name="Footer Placeholder 4">
            <a:extLst>
              <a:ext uri="{FF2B5EF4-FFF2-40B4-BE49-F238E27FC236}">
                <a16:creationId xmlns:a16="http://schemas.microsoft.com/office/drawing/2014/main" id="{29801494-AD17-B542-8E98-D076917ACE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F6BF20-2862-9745-8E9F-37A234036EFA}"/>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33875192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04AE0-74EA-7646-800C-4E8F7B369BB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0B4EA97-3A26-374D-8FA0-1B4DD4AE4DD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E09E701-8F99-E842-9D05-2348B479E5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3C43CA5-C609-FB4E-8D00-476EB50C991F}"/>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6" name="Footer Placeholder 5">
            <a:extLst>
              <a:ext uri="{FF2B5EF4-FFF2-40B4-BE49-F238E27FC236}">
                <a16:creationId xmlns:a16="http://schemas.microsoft.com/office/drawing/2014/main" id="{F05EF9E8-D95C-FD42-BAB0-3415D22A48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1310B5-FC42-E44E-B842-9177755BE155}"/>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2147117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D8BB2-3C46-F043-B524-05B13A70DD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EE19029-3CEA-244A-8CAC-B9548CE40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C3252ED-09F5-E648-BF5D-83A45A805B8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8F48CE3-F5A5-0946-AC8D-54A51FC37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223A837-EFB9-FE4A-8C55-A9DBE627A7C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4D7A698-A351-A44F-8F67-552B01AC9CD5}"/>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8" name="Footer Placeholder 7">
            <a:extLst>
              <a:ext uri="{FF2B5EF4-FFF2-40B4-BE49-F238E27FC236}">
                <a16:creationId xmlns:a16="http://schemas.microsoft.com/office/drawing/2014/main" id="{585160F5-CAED-AA40-96BC-0E2F2FF7E1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A8290F-1E7E-744C-9678-38877D04A97B}"/>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40763841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866B7-7920-F143-9938-10476D5396A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E9EC8BC-F119-3448-B614-A41143B438A7}"/>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4" name="Footer Placeholder 3">
            <a:extLst>
              <a:ext uri="{FF2B5EF4-FFF2-40B4-BE49-F238E27FC236}">
                <a16:creationId xmlns:a16="http://schemas.microsoft.com/office/drawing/2014/main" id="{39594ED5-8C47-C742-A214-A52D5636C3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13DE20-AED6-0442-AE8D-1FC6F0F14914}"/>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24000605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D3A423-B26A-2342-9B66-6C9110860385}"/>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3" name="Footer Placeholder 2">
            <a:extLst>
              <a:ext uri="{FF2B5EF4-FFF2-40B4-BE49-F238E27FC236}">
                <a16:creationId xmlns:a16="http://schemas.microsoft.com/office/drawing/2014/main" id="{7F220AE6-88C5-BB44-9F90-E8C4637335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42DFDD-CBA0-E54B-BD7D-29E6BAF9A8DA}"/>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29458842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493BF-CD61-6546-A101-E2C1DEC43B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51837F2-A40D-CB47-985D-5FA4D432D5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0F512FE-C9D2-B544-B122-F011E79AF2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72BC9A-BF4E-D54E-AFCD-1009D0CC394A}"/>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6" name="Footer Placeholder 5">
            <a:extLst>
              <a:ext uri="{FF2B5EF4-FFF2-40B4-BE49-F238E27FC236}">
                <a16:creationId xmlns:a16="http://schemas.microsoft.com/office/drawing/2014/main" id="{B1659071-B6FE-E944-AA02-85B46EDF17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A40341-32A5-5245-8EDF-772AD0291FAB}"/>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21443042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62DE3-37E8-4A4D-8523-EC9D352039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ED55D99-15FF-0C48-94ED-9A918631E8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4627AE-1D55-C84F-966C-B34E168F7E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2FEDEE9-6AE4-8145-999E-00E58BB8481C}"/>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6" name="Footer Placeholder 5">
            <a:extLst>
              <a:ext uri="{FF2B5EF4-FFF2-40B4-BE49-F238E27FC236}">
                <a16:creationId xmlns:a16="http://schemas.microsoft.com/office/drawing/2014/main" id="{07349B90-FD35-B245-BAC3-6813E7D769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58E52-DFD1-4749-9EC5-72B0F4F5F5E0}"/>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12650998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61F56-8506-6843-A3A0-0448D802EDB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F84E1BC-03AB-E54A-A11F-BAC9252B402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97BF11-F79B-6046-8C7C-5EF587B3D161}"/>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5" name="Footer Placeholder 4">
            <a:extLst>
              <a:ext uri="{FF2B5EF4-FFF2-40B4-BE49-F238E27FC236}">
                <a16:creationId xmlns:a16="http://schemas.microsoft.com/office/drawing/2014/main" id="{19E3A3E0-5C9E-664A-821C-D8AD8B2C71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83A064-B3EC-E049-8D26-9B3A985827F1}"/>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32223454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6D55AC-03F8-3B49-B73D-0264FECDE7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9E76669-CBDB-B94B-BC94-FA8BA95201B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3057F3-DC14-D64C-B163-7E6E1E2E704B}"/>
              </a:ext>
            </a:extLst>
          </p:cNvPr>
          <p:cNvSpPr>
            <a:spLocks noGrp="1"/>
          </p:cNvSpPr>
          <p:nvPr>
            <p:ph type="dt" sz="half" idx="10"/>
          </p:nvPr>
        </p:nvSpPr>
        <p:spPr/>
        <p:txBody>
          <a:bodyPr/>
          <a:lstStyle/>
          <a:p>
            <a:fld id="{54E392D1-5D12-0844-8D7D-0F66C70EF725}" type="datetimeFigureOut">
              <a:rPr lang="en-US" smtClean="0"/>
              <a:t>9/1/2025</a:t>
            </a:fld>
            <a:endParaRPr lang="en-US"/>
          </a:p>
        </p:txBody>
      </p:sp>
      <p:sp>
        <p:nvSpPr>
          <p:cNvPr id="5" name="Footer Placeholder 4">
            <a:extLst>
              <a:ext uri="{FF2B5EF4-FFF2-40B4-BE49-F238E27FC236}">
                <a16:creationId xmlns:a16="http://schemas.microsoft.com/office/drawing/2014/main" id="{968E6826-8B54-2948-A177-C3BACB89F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3F389-6B9C-A84E-93F7-63006B0D1FFA}"/>
              </a:ext>
            </a:extLst>
          </p:cNvPr>
          <p:cNvSpPr>
            <a:spLocks noGrp="1"/>
          </p:cNvSpPr>
          <p:nvPr>
            <p:ph type="sldNum" sz="quarter" idx="12"/>
          </p:nvPr>
        </p:nvSpPr>
        <p:spPr/>
        <p:txBody>
          <a:bodyPr/>
          <a:lstStyle/>
          <a:p>
            <a:fld id="{EB1F5BDF-58D8-FD41-A420-442EC732A278}" type="slidenum">
              <a:rPr lang="en-US" smtClean="0"/>
              <a:t>‹#›</a:t>
            </a:fld>
            <a:endParaRPr lang="en-US"/>
          </a:p>
        </p:txBody>
      </p:sp>
    </p:spTree>
    <p:extLst>
      <p:ext uri="{BB962C8B-B14F-4D97-AF65-F5344CB8AC3E}">
        <p14:creationId xmlns:p14="http://schemas.microsoft.com/office/powerpoint/2010/main" val="2628771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image" Target="../media/image5.png"/><Relationship Id="rId4" Type="http://schemas.openxmlformats.org/officeDocument/2006/relationships/slideLayout" Target="../slideLayouts/slideLayout27.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EDDDB7-0DD6-9EB2-70D4-E4E0DBE993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FC991DC-C569-5B9E-C257-E70827A72F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02EEFCE-557C-1DCE-60A4-32C0E300EC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ED8FD1-908C-4EEF-8891-E2C9F440A365}" type="datetimeFigureOut">
              <a:rPr lang="en-ZA" smtClean="0"/>
              <a:t>2025/09/01</a:t>
            </a:fld>
            <a:endParaRPr lang="en-ZA"/>
          </a:p>
        </p:txBody>
      </p:sp>
      <p:sp>
        <p:nvSpPr>
          <p:cNvPr id="5" name="Footer Placeholder 4">
            <a:extLst>
              <a:ext uri="{FF2B5EF4-FFF2-40B4-BE49-F238E27FC236}">
                <a16:creationId xmlns:a16="http://schemas.microsoft.com/office/drawing/2014/main" id="{6D5143F7-3018-FD97-3AF5-BE851EFD5E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71834786-BE7E-CDD1-2A54-7AB14FB063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417C84-98FD-4FF4-BA43-3F6D51F8D5B6}" type="slidenum">
              <a:rPr lang="en-ZA" smtClean="0"/>
              <a:t>‹#›</a:t>
            </a:fld>
            <a:endParaRPr lang="en-ZA"/>
          </a:p>
        </p:txBody>
      </p:sp>
    </p:spTree>
    <p:extLst>
      <p:ext uri="{BB962C8B-B14F-4D97-AF65-F5344CB8AC3E}">
        <p14:creationId xmlns:p14="http://schemas.microsoft.com/office/powerpoint/2010/main" val="13339663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A09536-3C60-2BD6-B619-EBB34CD63D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F58785A-AFCF-DAEB-8B8D-CF574B3253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BEF215E-917B-1F0A-D3D8-63FB23650A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D9F10D-8DD8-6846-A8AE-BD8FB967C54A}" type="datetimeFigureOut">
              <a:rPr lang="en-GB" smtClean="0"/>
              <a:t>01/09/2025</a:t>
            </a:fld>
            <a:endParaRPr lang="en-GB"/>
          </a:p>
        </p:txBody>
      </p:sp>
      <p:sp>
        <p:nvSpPr>
          <p:cNvPr id="5" name="Footer Placeholder 4">
            <a:extLst>
              <a:ext uri="{FF2B5EF4-FFF2-40B4-BE49-F238E27FC236}">
                <a16:creationId xmlns:a16="http://schemas.microsoft.com/office/drawing/2014/main" id="{7D770BA0-83E7-EC5F-759A-09293F31FC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76B13AF-824A-F722-B761-1565948E4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7B942F-1833-A241-A4FD-66794DBCF24B}" type="slidenum">
              <a:rPr lang="en-GB" smtClean="0"/>
              <a:t>‹#›</a:t>
            </a:fld>
            <a:endParaRPr lang="en-GB"/>
          </a:p>
        </p:txBody>
      </p:sp>
    </p:spTree>
    <p:extLst>
      <p:ext uri="{BB962C8B-B14F-4D97-AF65-F5344CB8AC3E}">
        <p14:creationId xmlns:p14="http://schemas.microsoft.com/office/powerpoint/2010/main" val="96003338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12" name="Google Shape;12;p1"/>
          <p:cNvGrpSpPr/>
          <p:nvPr/>
        </p:nvGrpSpPr>
        <p:grpSpPr>
          <a:xfrm>
            <a:off x="0" y="6588034"/>
            <a:ext cx="12200164" cy="278130"/>
            <a:chOff x="0" y="6588034"/>
            <a:chExt cx="12200164" cy="278130"/>
          </a:xfrm>
        </p:grpSpPr>
        <p:sp>
          <p:nvSpPr>
            <p:cNvPr id="13" name="Google Shape;13;p1"/>
            <p:cNvSpPr/>
            <p:nvPr/>
          </p:nvSpPr>
          <p:spPr>
            <a:xfrm>
              <a:off x="0" y="6604907"/>
              <a:ext cx="12192000" cy="2530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4" name="Google Shape;14;p1"/>
            <p:cNvPicPr preferRelativeResize="0"/>
            <p:nvPr/>
          </p:nvPicPr>
          <p:blipFill rotWithShape="1">
            <a:blip r:embed="rId10">
              <a:alphaModFix/>
            </a:blip>
            <a:srcRect/>
            <a:stretch/>
          </p:blipFill>
          <p:spPr>
            <a:xfrm>
              <a:off x="10809514" y="6588034"/>
              <a:ext cx="1390650" cy="278130"/>
            </a:xfrm>
            <a:prstGeom prst="rect">
              <a:avLst/>
            </a:prstGeom>
            <a:noFill/>
            <a:ln>
              <a:noFill/>
            </a:ln>
          </p:spPr>
        </p:pic>
      </p:grpSp>
    </p:spTree>
    <p:extLst>
      <p:ext uri="{BB962C8B-B14F-4D97-AF65-F5344CB8AC3E}">
        <p14:creationId xmlns:p14="http://schemas.microsoft.com/office/powerpoint/2010/main" val="817890445"/>
      </p:ext>
    </p:extLst>
  </p:cSld>
  <p:clrMap bg1="lt1" tx1="dk1" bg2="dk2"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080ECD-9AB4-E145-BB40-93E956C9DF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F168AF-B1B4-B744-8001-D3A48EF274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894361-BF67-5D48-A458-BC4BEEA38B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E392D1-5D12-0844-8D7D-0F66C70EF725}" type="datetimeFigureOut">
              <a:rPr lang="en-US" smtClean="0"/>
              <a:t>9/1/2025</a:t>
            </a:fld>
            <a:endParaRPr lang="en-US"/>
          </a:p>
        </p:txBody>
      </p:sp>
      <p:sp>
        <p:nvSpPr>
          <p:cNvPr id="5" name="Footer Placeholder 4">
            <a:extLst>
              <a:ext uri="{FF2B5EF4-FFF2-40B4-BE49-F238E27FC236}">
                <a16:creationId xmlns:a16="http://schemas.microsoft.com/office/drawing/2014/main" id="{A429804E-3012-F54A-A43A-A401934CAF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67FE799-B27E-8B48-9201-B8689C820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1F5BDF-58D8-FD41-A420-442EC732A278}" type="slidenum">
              <a:rPr lang="en-US" smtClean="0"/>
              <a:t>‹#›</a:t>
            </a:fld>
            <a:endParaRPr lang="en-US"/>
          </a:p>
        </p:txBody>
      </p:sp>
    </p:spTree>
    <p:extLst>
      <p:ext uri="{BB962C8B-B14F-4D97-AF65-F5344CB8AC3E}">
        <p14:creationId xmlns:p14="http://schemas.microsoft.com/office/powerpoint/2010/main" val="325823868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books.core-econ.org/the-economy/macroeconomics/03-aggregate-demand-08-government-net-exports.html#investmen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ooks.core-econ.org/the-economy/macroeconomics/03-aggregate-demand-08-government-net-exports.html#investmen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books.core-econ.org/the-economy/macroeconomics/03-aggregate-demand-07-business-cycle-fluctuations.html#an-aggregate-demand-shock-a-fall-in-investment"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hyperlink" Target="https://books.core-econ.org/the-economy/macroeconomics/03-aggregate-demand-07-business-cycle-fluctuations.html#question-39-choose-the-correct-answers"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eg"/></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7710B8-50F9-BF83-F6F8-5E904AABB997}"/>
            </a:ext>
          </a:extLst>
        </p:cNvPr>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BA0C2935-5213-510B-CA42-70E90F684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27" name="Picture 3" descr="Wendy Carlin">
            <a:extLst>
              <a:ext uri="{FF2B5EF4-FFF2-40B4-BE49-F238E27FC236}">
                <a16:creationId xmlns:a16="http://schemas.microsoft.com/office/drawing/2014/main" id="{AAF810A4-613F-0B96-7E57-27BE99D770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627" r="4944" b="7031"/>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4" name="Rectangle 1033">
            <a:extLst>
              <a:ext uri="{FF2B5EF4-FFF2-40B4-BE49-F238E27FC236}">
                <a16:creationId xmlns:a16="http://schemas.microsoft.com/office/drawing/2014/main" id="{10E01C25-A18B-1E4A-058B-4ACBCECA5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Rectangle 1">
            <a:extLst>
              <a:ext uri="{FF2B5EF4-FFF2-40B4-BE49-F238E27FC236}">
                <a16:creationId xmlns:a16="http://schemas.microsoft.com/office/drawing/2014/main" id="{43365F3D-C37D-DDC6-3194-DEFE40B92A3B}"/>
              </a:ext>
            </a:extLst>
          </p:cNvPr>
          <p:cNvSpPr>
            <a:spLocks noGrp="1" noChangeArrowheads="1"/>
          </p:cNvSpPr>
          <p:nvPr>
            <p:ph type="ctrTitle"/>
          </p:nvPr>
        </p:nvSpPr>
        <p:spPr bwMode="auto">
          <a:xfrm>
            <a:off x="477980" y="962343"/>
            <a:ext cx="6700060" cy="320413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numCol="1" anchor="b"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ct val="0"/>
              </a:spcAft>
              <a:buClrTx/>
              <a:buSzTx/>
              <a:buFontTx/>
              <a:buNone/>
              <a:tabLst/>
            </a:pPr>
            <a:r>
              <a:rPr kumimoji="0" lang="en-US" altLang="en-US" sz="5400" b="1" i="0" u="none" strike="noStrike" cap="none" normalizeH="0" baseline="0" dirty="0">
                <a:ln>
                  <a:noFill/>
                </a:ln>
                <a:solidFill>
                  <a:srgbClr val="C00000"/>
                </a:solidFill>
                <a:effectLst/>
                <a:latin typeface="inherit"/>
              </a:rPr>
              <a:t>Unit 3</a:t>
            </a:r>
            <a:br>
              <a:rPr kumimoji="0" lang="en-US" altLang="en-US" sz="5400" b="0" i="0" u="none" strike="noStrike" cap="none" normalizeH="0" baseline="0" dirty="0">
                <a:ln>
                  <a:noFill/>
                </a:ln>
                <a:solidFill>
                  <a:schemeClr val="bg1"/>
                </a:solidFill>
                <a:effectLst/>
                <a:latin typeface="inherit"/>
              </a:rPr>
            </a:br>
            <a:r>
              <a:rPr kumimoji="0" lang="en-US" altLang="en-US" sz="5400" b="1" i="0" u="none" strike="noStrike" cap="none" normalizeH="0" baseline="0" dirty="0">
                <a:ln>
                  <a:noFill/>
                </a:ln>
                <a:solidFill>
                  <a:schemeClr val="bg1"/>
                </a:solidFill>
                <a:effectLst/>
                <a:latin typeface="Source Sans Pro" panose="020B0503030403020204" pitchFamily="34" charset="0"/>
              </a:rPr>
              <a:t>Aggregate demand and the multiplier model</a:t>
            </a:r>
            <a:endParaRPr kumimoji="0" lang="en-US" altLang="en-US" sz="5400" b="0" i="0" u="none" strike="noStrike" cap="none" normalizeH="0" baseline="0" dirty="0">
              <a:ln>
                <a:noFill/>
              </a:ln>
              <a:solidFill>
                <a:schemeClr val="bg1"/>
              </a:solidFill>
              <a:effectLst/>
            </a:endParaRPr>
          </a:p>
        </p:txBody>
      </p:sp>
      <p:sp>
        <p:nvSpPr>
          <p:cNvPr id="3" name="Subtitle 2">
            <a:extLst>
              <a:ext uri="{FF2B5EF4-FFF2-40B4-BE49-F238E27FC236}">
                <a16:creationId xmlns:a16="http://schemas.microsoft.com/office/drawing/2014/main" id="{0C4E1423-ACD4-33D7-98ED-1BB20DC18F8D}"/>
              </a:ext>
            </a:extLst>
          </p:cNvPr>
          <p:cNvSpPr>
            <a:spLocks noGrp="1"/>
          </p:cNvSpPr>
          <p:nvPr>
            <p:ph type="subTitle" idx="1"/>
          </p:nvPr>
        </p:nvSpPr>
        <p:spPr>
          <a:xfrm>
            <a:off x="477980" y="4456677"/>
            <a:ext cx="6905800" cy="1208141"/>
          </a:xfrm>
        </p:spPr>
        <p:txBody>
          <a:bodyPr>
            <a:noAutofit/>
          </a:bodyPr>
          <a:lstStyle/>
          <a:p>
            <a:pPr lvl="0" algn="l" eaLnBrk="0" fontAlgn="base" hangingPunct="0">
              <a:spcBef>
                <a:spcPct val="0"/>
              </a:spcBef>
              <a:spcAft>
                <a:spcPts val="600"/>
              </a:spcAft>
            </a:pPr>
            <a:r>
              <a:rPr lang="en-US" altLang="en-US" sz="3200" dirty="0">
                <a:solidFill>
                  <a:schemeClr val="bg1"/>
                </a:solidFill>
                <a:latin typeface="Crimson Pro"/>
              </a:rPr>
              <a:t>How economies fluctuate between booms and recessions as they are continuously hit by good and bad shocks</a:t>
            </a:r>
            <a:endParaRPr lang="en-ZA" sz="3200" dirty="0">
              <a:solidFill>
                <a:schemeClr val="bg1"/>
              </a:solidFill>
            </a:endParaRPr>
          </a:p>
        </p:txBody>
      </p:sp>
      <p:sp>
        <p:nvSpPr>
          <p:cNvPr id="1036" name="Rectangle 1035">
            <a:extLst>
              <a:ext uri="{FF2B5EF4-FFF2-40B4-BE49-F238E27FC236}">
                <a16:creationId xmlns:a16="http://schemas.microsoft.com/office/drawing/2014/main" id="{E6F4569F-AA4F-E745-E389-F508872CD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8" name="Rectangle 1037">
            <a:extLst>
              <a:ext uri="{FF2B5EF4-FFF2-40B4-BE49-F238E27FC236}">
                <a16:creationId xmlns:a16="http://schemas.microsoft.com/office/drawing/2014/main" id="{18C68BAA-889F-3A46-57EB-F044D95DB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FF423D48-C99D-B806-C941-1C767E36B1C7}"/>
              </a:ext>
            </a:extLst>
          </p:cNvPr>
          <p:cNvSpPr txBox="1"/>
          <p:nvPr/>
        </p:nvSpPr>
        <p:spPr>
          <a:xfrm>
            <a:off x="477980" y="5911476"/>
            <a:ext cx="277322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C000"/>
                </a:solidFill>
                <a:effectLst/>
                <a:uLnTx/>
                <a:uFillTx/>
                <a:latin typeface="Aptos" panose="02110004020202020204"/>
                <a:ea typeface="+mn-ea"/>
                <a:cs typeface="+mn-cs"/>
              </a:rPr>
              <a:t>PART 2</a:t>
            </a:r>
            <a:endParaRPr kumimoji="0" lang="en-ZA" sz="6000" b="1" i="0" u="none" strike="noStrike" kern="1200" cap="none" spc="0" normalizeH="0" baseline="0" noProof="0" dirty="0">
              <a:ln>
                <a:noFill/>
              </a:ln>
              <a:solidFill>
                <a:srgbClr val="FFC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992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73289-2CF8-867A-EE0E-4F1B392A6548}"/>
            </a:ext>
          </a:extLst>
        </p:cNvPr>
        <p:cNvGrpSpPr/>
        <p:nvPr/>
      </p:nvGrpSpPr>
      <p:grpSpPr>
        <a:xfrm>
          <a:off x="0" y="0"/>
          <a:ext cx="0" cy="0"/>
          <a:chOff x="0" y="0"/>
          <a:chExt cx="0" cy="0"/>
        </a:xfrm>
      </p:grpSpPr>
      <p:pic>
        <p:nvPicPr>
          <p:cNvPr id="4" name="image3.png" title="Image">
            <a:extLst>
              <a:ext uri="{FF2B5EF4-FFF2-40B4-BE49-F238E27FC236}">
                <a16:creationId xmlns:a16="http://schemas.microsoft.com/office/drawing/2014/main" id="{7689ABF2-EAEB-1DFA-3B2B-967F8C238810}"/>
              </a:ext>
            </a:extLst>
          </p:cNvPr>
          <p:cNvPicPr preferRelativeResize="0"/>
          <p:nvPr/>
        </p:nvPicPr>
        <p:blipFill>
          <a:blip r:embed="rId3" cstate="print"/>
          <a:stretch>
            <a:fillRect/>
          </a:stretch>
        </p:blipFill>
        <p:spPr>
          <a:xfrm>
            <a:off x="502920" y="-148590"/>
            <a:ext cx="11064239" cy="7006590"/>
          </a:xfrm>
          <a:prstGeom prst="rect">
            <a:avLst/>
          </a:prstGeom>
          <a:noFill/>
        </p:spPr>
      </p:pic>
      <p:sp>
        <p:nvSpPr>
          <p:cNvPr id="6" name="TextBox 5">
            <a:extLst>
              <a:ext uri="{FF2B5EF4-FFF2-40B4-BE49-F238E27FC236}">
                <a16:creationId xmlns:a16="http://schemas.microsoft.com/office/drawing/2014/main" id="{7179290A-7E71-50F7-E504-41DEF6900EAB}"/>
              </a:ext>
            </a:extLst>
          </p:cNvPr>
          <p:cNvSpPr txBox="1"/>
          <p:nvPr/>
        </p:nvSpPr>
        <p:spPr>
          <a:xfrm>
            <a:off x="2180273" y="17204"/>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❶</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218DE278-4686-8675-289D-D3F09C9BF2D5}"/>
              </a:ext>
            </a:extLst>
          </p:cNvPr>
          <p:cNvSpPr txBox="1"/>
          <p:nvPr/>
        </p:nvSpPr>
        <p:spPr>
          <a:xfrm>
            <a:off x="808673"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❷</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52457C6B-BF6D-376D-BEFD-3D2A71327502}"/>
              </a:ext>
            </a:extLst>
          </p:cNvPr>
          <p:cNvSpPr txBox="1"/>
          <p:nvPr/>
        </p:nvSpPr>
        <p:spPr>
          <a:xfrm>
            <a:off x="9585960"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❸</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645B9813-65F9-E51E-4DF9-55D9E22E0BFF}"/>
              </a:ext>
            </a:extLst>
          </p:cNvPr>
          <p:cNvSpPr/>
          <p:nvPr/>
        </p:nvSpPr>
        <p:spPr>
          <a:xfrm>
            <a:off x="0" y="4067260"/>
            <a:ext cx="12192000" cy="3128886"/>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2AA3C025-85A3-73A2-0D29-4FE5DB127963}"/>
              </a:ext>
            </a:extLst>
          </p:cNvPr>
          <p:cNvSpPr txBox="1"/>
          <p:nvPr/>
        </p:nvSpPr>
        <p:spPr>
          <a:xfrm>
            <a:off x="971733" y="4179752"/>
            <a:ext cx="10479314" cy="2349579"/>
          </a:xfrm>
          <a:prstGeom prst="roundRect">
            <a:avLst/>
          </a:prstGeom>
          <a:solidFill>
            <a:schemeClr val="bg1"/>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3.7 The multiplier model: </a:t>
            </a:r>
            <a:r>
              <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rPr>
              <a:t>Aggregate demand shocks </a:t>
            </a: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cause business cycle fluctuations</a:t>
            </a:r>
            <a:endPar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endParaRPr>
          </a:p>
        </p:txBody>
      </p:sp>
      <p:sp>
        <p:nvSpPr>
          <p:cNvPr id="11" name="Rectangle 10">
            <a:extLst>
              <a:ext uri="{FF2B5EF4-FFF2-40B4-BE49-F238E27FC236}">
                <a16:creationId xmlns:a16="http://schemas.microsoft.com/office/drawing/2014/main" id="{E301387B-C377-65DA-8C06-D3E496E66610}"/>
              </a:ext>
            </a:extLst>
          </p:cNvPr>
          <p:cNvSpPr/>
          <p:nvPr/>
        </p:nvSpPr>
        <p:spPr>
          <a:xfrm>
            <a:off x="0" y="-428681"/>
            <a:ext cx="12192000"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181EC6E-65EA-F1C9-C6B4-A0F87CD8617D}"/>
              </a:ext>
            </a:extLst>
          </p:cNvPr>
          <p:cNvSpPr/>
          <p:nvPr/>
        </p:nvSpPr>
        <p:spPr>
          <a:xfrm>
            <a:off x="-43542" y="1818608"/>
            <a:ext cx="6415315"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263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8E96-2720-ABED-24D9-BA0E0AA51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A5C766-86F3-153C-3057-9D8FA8A9E438}"/>
              </a:ext>
            </a:extLst>
          </p:cNvPr>
          <p:cNvSpPr txBox="1"/>
          <p:nvPr/>
        </p:nvSpPr>
        <p:spPr>
          <a:xfrm>
            <a:off x="1407886" y="2336800"/>
            <a:ext cx="9390743"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AD = 	</a:t>
            </a:r>
            <a:r>
              <a:rPr kumimoji="0" lang="en-US" sz="4400" b="1" i="0" u="none" strike="noStrike" kern="1200" cap="none" spc="0" normalizeH="0" baseline="0" noProof="0" dirty="0">
                <a:ln>
                  <a:noFill/>
                </a:ln>
                <a:solidFill>
                  <a:srgbClr val="7030A0"/>
                </a:solidFill>
                <a:effectLst/>
                <a:uLnTx/>
                <a:uFillTx/>
                <a:latin typeface="Aptos" panose="02110004020202020204"/>
                <a:ea typeface="+mn-ea"/>
                <a:cs typeface="+mn-cs"/>
              </a:rPr>
              <a:t>C</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7030A0"/>
                </a:solidFill>
                <a:effectLst/>
                <a:uLnTx/>
                <a:uFillTx/>
                <a:latin typeface="Aptos" panose="02110004020202020204"/>
                <a:ea typeface="+mn-ea"/>
                <a:cs typeface="+mn-cs"/>
              </a:rPr>
              <a:t>c</a:t>
            </a:r>
            <a:r>
              <a:rPr kumimoji="0" lang="en-US" sz="4400" b="1" i="0" u="none" strike="noStrike" kern="1200" cap="none" spc="0" normalizeH="0" baseline="-25000" noProof="0" dirty="0">
                <a:ln>
                  <a:noFill/>
                </a:ln>
                <a:solidFill>
                  <a:srgbClr val="7030A0"/>
                </a:solidFill>
                <a:effectLst/>
                <a:uLnTx/>
                <a:uFillTx/>
                <a:latin typeface="Aptos" panose="02110004020202020204"/>
                <a:ea typeface="+mn-ea"/>
                <a:cs typeface="+mn-cs"/>
              </a:rPr>
              <a:t>0</a:t>
            </a:r>
            <a:r>
              <a:rPr kumimoji="0" lang="en-US" sz="4400" b="0" i="0" u="none" strike="noStrike" kern="1200" cap="none" spc="0" normalizeH="0" baseline="0" noProof="0" dirty="0">
                <a:ln>
                  <a:noFill/>
                </a:ln>
                <a:solidFill>
                  <a:srgbClr val="7030A0"/>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7030A0"/>
                </a:solidFill>
                <a:effectLst/>
                <a:uLnTx/>
                <a:uFillTx/>
                <a:latin typeface="Aptos" panose="02110004020202020204"/>
                <a:ea typeface="+mn-ea"/>
                <a:cs typeface="+mn-cs"/>
              </a:rPr>
              <a:t>c</a:t>
            </a:r>
            <a:r>
              <a:rPr kumimoji="0" lang="en-US" sz="4400" b="1" i="0" u="none" strike="noStrike" kern="1200" cap="none" spc="0" normalizeH="0" baseline="-25000" noProof="0" dirty="0">
                <a:ln>
                  <a:noFill/>
                </a:ln>
                <a:solidFill>
                  <a:srgbClr val="7030A0"/>
                </a:solidFill>
                <a:effectLst/>
                <a:uLnTx/>
                <a:uFillTx/>
                <a:latin typeface="Aptos" panose="02110004020202020204"/>
                <a:ea typeface="+mn-ea"/>
                <a:cs typeface="+mn-cs"/>
              </a:rPr>
              <a:t>1</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Y</a:t>
            </a:r>
            <a:r>
              <a:rPr kumimoji="0" lang="en-US" sz="4400" b="0" i="0" u="none" strike="noStrike" kern="1200" cap="none" spc="0" normalizeH="0" baseline="0" noProof="0" dirty="0">
                <a:ln>
                  <a:noFill/>
                </a:ln>
                <a:solidFill>
                  <a:srgbClr val="7030A0"/>
                </a:solidFill>
                <a:effectLst/>
                <a:uLnTx/>
                <a:uFillTx/>
                <a:latin typeface="Aptos" panose="02110004020202020204"/>
                <a:ea typeface="+mn-ea"/>
                <a:cs typeface="+mn-cs"/>
              </a:rPr>
              <a:t>  </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I</a:t>
            </a:r>
            <a:endParaRPr kumimoji="0" lang="en-ZA" sz="4400" b="1" i="0" u="none" strike="noStrike" kern="1200" cap="none" spc="0" normalizeH="0" baseline="0" noProof="0" dirty="0">
              <a:ln>
                <a:noFill/>
              </a:ln>
              <a:solidFill>
                <a:srgbClr val="00B050"/>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2931D0D-A2D8-FF71-4F13-12FF593D52D5}"/>
              </a:ext>
            </a:extLst>
          </p:cNvPr>
          <p:cNvSpPr>
            <a:spLocks noGrp="1"/>
          </p:cNvSpPr>
          <p:nvPr>
            <p:ph type="title"/>
          </p:nvPr>
        </p:nvSpPr>
        <p:spPr/>
        <p:txBody>
          <a:bodyPr/>
          <a:lstStyle/>
          <a:p>
            <a:pPr algn="ctr"/>
            <a:r>
              <a:rPr lang="en-GB" dirty="0">
                <a:latin typeface="Source Sans Pro" panose="020B0503030403020204" pitchFamily="34" charset="0"/>
                <a:ea typeface="Source Sans Pro" panose="020B0503030403020204" pitchFamily="34" charset="0"/>
              </a:rPr>
              <a:t>The private economy</a:t>
            </a:r>
            <a:br>
              <a:rPr lang="en-GB" dirty="0">
                <a:latin typeface="Source Sans Pro" panose="020B0503030403020204" pitchFamily="34" charset="0"/>
                <a:ea typeface="Source Sans Pro" panose="020B0503030403020204" pitchFamily="34" charset="0"/>
              </a:rPr>
            </a:br>
            <a:r>
              <a:rPr lang="en-GB" dirty="0">
                <a:latin typeface="Source Sans Pro" panose="020B0503030403020204" pitchFamily="34" charset="0"/>
                <a:ea typeface="Source Sans Pro" panose="020B0503030403020204" pitchFamily="34" charset="0"/>
              </a:rPr>
              <a:t>Focus: </a:t>
            </a:r>
            <a:r>
              <a:rPr lang="en-GB" b="1" dirty="0">
                <a:solidFill>
                  <a:srgbClr val="00B050"/>
                </a:solidFill>
                <a:latin typeface="Source Sans Pro" panose="020B0503030403020204" pitchFamily="34" charset="0"/>
                <a:ea typeface="Source Sans Pro" panose="020B0503030403020204" pitchFamily="34" charset="0"/>
                <a:hlinkClick r:id="rId3"/>
              </a:rPr>
              <a:t>Investment</a:t>
            </a:r>
            <a:endParaRPr lang="en-GB" b="1" dirty="0">
              <a:solidFill>
                <a:srgbClr val="00B050"/>
              </a:solidFill>
              <a:latin typeface="Source Sans Pro" panose="020B0503030403020204" pitchFamily="34" charset="0"/>
              <a:ea typeface="Source Sans Pro" panose="020B0503030403020204" pitchFamily="34" charset="0"/>
            </a:endParaRPr>
          </a:p>
        </p:txBody>
      </p:sp>
      <p:sp>
        <p:nvSpPr>
          <p:cNvPr id="5" name="Oval 4">
            <a:extLst>
              <a:ext uri="{FF2B5EF4-FFF2-40B4-BE49-F238E27FC236}">
                <a16:creationId xmlns:a16="http://schemas.microsoft.com/office/drawing/2014/main" id="{BF3C4CAD-066E-79FC-78A5-D91B9F1E77EE}"/>
              </a:ext>
            </a:extLst>
          </p:cNvPr>
          <p:cNvSpPr/>
          <p:nvPr/>
        </p:nvSpPr>
        <p:spPr>
          <a:xfrm>
            <a:off x="5602515" y="2989943"/>
            <a:ext cx="812800" cy="793407"/>
          </a:xfrm>
          <a:prstGeom prst="ellipse">
            <a:avLst/>
          </a:prstGeom>
          <a:noFill/>
          <a:ln w="38100">
            <a:solidFill>
              <a:srgbClr val="00B05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8DE21E4-C520-80A0-22D2-C0685AC1C9E0}"/>
              </a:ext>
            </a:extLst>
          </p:cNvPr>
          <p:cNvSpPr txBox="1"/>
          <p:nvPr/>
        </p:nvSpPr>
        <p:spPr>
          <a:xfrm>
            <a:off x="4884058" y="4057641"/>
            <a:ext cx="2249714" cy="646331"/>
          </a:xfrm>
          <a:prstGeom prst="rect">
            <a:avLst/>
          </a:prstGeom>
          <a:noFill/>
          <a:ln w="38100">
            <a:solidFill>
              <a:srgbClr val="00B050"/>
            </a:solidFill>
            <a:prstDash val="sysDot"/>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1" u="none" strike="noStrike" kern="1200" cap="none" spc="0" normalizeH="0" baseline="0" noProof="0" dirty="0">
                <a:ln>
                  <a:noFill/>
                </a:ln>
                <a:solidFill>
                  <a:srgbClr val="00B050"/>
                </a:solidFill>
                <a:effectLst/>
                <a:uLnTx/>
                <a:uFillTx/>
                <a:latin typeface="Aptos" panose="02110004020202020204"/>
                <a:ea typeface="+mn-ea"/>
                <a:cs typeface="+mn-cs"/>
              </a:rPr>
              <a:t>𝑎</a:t>
            </a:r>
            <a:r>
              <a:rPr kumimoji="0" lang="en-US" sz="3600" b="1" i="1" u="none" strike="noStrike" kern="1200" cap="none" spc="0" normalizeH="0" baseline="-25000" noProof="0" dirty="0">
                <a:ln>
                  <a:noFill/>
                </a:ln>
                <a:solidFill>
                  <a:srgbClr val="00B050"/>
                </a:solidFill>
                <a:effectLst/>
                <a:uLnTx/>
                <a:uFillTx/>
                <a:latin typeface="Aptos" panose="02110004020202020204"/>
                <a:ea typeface="+mn-ea"/>
                <a:cs typeface="+mn-cs"/>
              </a:rPr>
              <a:t>0</a:t>
            </a:r>
            <a:r>
              <a:rPr kumimoji="0" lang="en-US" sz="3600" b="1" i="1" u="none" strike="noStrike" kern="1200" cap="none" spc="0" normalizeH="0" baseline="0" noProof="0" dirty="0">
                <a:ln>
                  <a:noFill/>
                </a:ln>
                <a:solidFill>
                  <a:srgbClr val="00B050"/>
                </a:solidFill>
                <a:effectLst/>
                <a:uLnTx/>
                <a:uFillTx/>
                <a:latin typeface="Aptos" panose="02110004020202020204"/>
                <a:ea typeface="+mn-ea"/>
                <a:cs typeface="+mn-cs"/>
              </a:rPr>
              <a:t> </a:t>
            </a:r>
            <a:r>
              <a:rPr kumimoji="0" lang="en-GB" sz="3600" b="1" i="0" u="none" strike="noStrike" kern="1200" cap="none" spc="0" normalizeH="0" baseline="0" noProof="0" dirty="0">
                <a:ln>
                  <a:noFill/>
                </a:ln>
                <a:solidFill>
                  <a:srgbClr val="00B050"/>
                </a:solidFill>
                <a:effectLst/>
                <a:uLnTx/>
                <a:uFillTx/>
                <a:latin typeface="Source Sans Pro" panose="020B0503030403020204" pitchFamily="34" charset="0"/>
                <a:ea typeface="Source Sans Pro" panose="020B0503030403020204" pitchFamily="34" charset="0"/>
                <a:cs typeface="+mn-cs"/>
              </a:rPr>
              <a:t>–</a:t>
            </a:r>
            <a:r>
              <a:rPr kumimoji="0" lang="en-US" sz="3600" b="1" i="1" u="none" strike="noStrike" kern="1200" cap="none" spc="0" normalizeH="0" baseline="0" noProof="0" dirty="0">
                <a:ln>
                  <a:noFill/>
                </a:ln>
                <a:solidFill>
                  <a:srgbClr val="00B050"/>
                </a:solidFill>
                <a:effectLst/>
                <a:uLnTx/>
                <a:uFillTx/>
                <a:latin typeface="Aptos" panose="02110004020202020204"/>
                <a:ea typeface="+mn-ea"/>
                <a:cs typeface="+mn-cs"/>
              </a:rPr>
              <a:t>  𝑎</a:t>
            </a:r>
            <a:r>
              <a:rPr kumimoji="0" lang="en-US" sz="3600" b="1" i="1" u="none" strike="noStrike" kern="1200" cap="none" spc="0" normalizeH="0" baseline="-25000" noProof="0" dirty="0">
                <a:ln>
                  <a:noFill/>
                </a:ln>
                <a:solidFill>
                  <a:srgbClr val="00B050"/>
                </a:solidFill>
                <a:effectLst/>
                <a:uLnTx/>
                <a:uFillTx/>
                <a:latin typeface="Aptos" panose="02110004020202020204"/>
                <a:ea typeface="+mn-ea"/>
                <a:cs typeface="+mn-cs"/>
              </a:rPr>
              <a:t>1</a:t>
            </a:r>
            <a:r>
              <a:rPr kumimoji="0" lang="en-US" sz="3600" b="1" i="1" u="none" strike="noStrike" kern="1200" cap="none" spc="0" normalizeH="0" baseline="0" noProof="0" dirty="0">
                <a:ln>
                  <a:noFill/>
                </a:ln>
                <a:solidFill>
                  <a:srgbClr val="00B050"/>
                </a:solidFill>
                <a:effectLst/>
                <a:uLnTx/>
                <a:uFillTx/>
                <a:latin typeface="Aptos" panose="02110004020202020204"/>
                <a:ea typeface="+mn-ea"/>
                <a:cs typeface="+mn-cs"/>
              </a:rPr>
              <a:t>r</a:t>
            </a:r>
            <a:endParaRPr kumimoji="0" lang="en-ZA" sz="3600" b="1" i="1" u="none" strike="noStrike" kern="1200" cap="none" spc="0" normalizeH="0" baseline="0" noProof="0" dirty="0">
              <a:ln>
                <a:noFill/>
              </a:ln>
              <a:solidFill>
                <a:srgbClr val="00B050"/>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546F47D5-6B86-0FD0-29A4-E0CF56214C83}"/>
              </a:ext>
            </a:extLst>
          </p:cNvPr>
          <p:cNvSpPr txBox="1"/>
          <p:nvPr/>
        </p:nvSpPr>
        <p:spPr>
          <a:xfrm>
            <a:off x="5805715" y="3539274"/>
            <a:ext cx="406400"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1" u="none" strike="noStrike" kern="1200" cap="none" spc="0" normalizeH="0" baseline="0" noProof="0" dirty="0">
                <a:ln>
                  <a:noFill/>
                </a:ln>
                <a:solidFill>
                  <a:prstClr val="black"/>
                </a:solidFill>
                <a:effectLst/>
                <a:uLnTx/>
                <a:uFillTx/>
                <a:latin typeface="Aptos" panose="02110004020202020204"/>
                <a:ea typeface="+mn-ea"/>
                <a:cs typeface="+mn-cs"/>
              </a:rPr>
              <a:t>=</a:t>
            </a:r>
            <a:endParaRPr kumimoji="0" lang="en-ZA"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9C556C96-2899-05FD-17BA-C8D52B26040B}"/>
              </a:ext>
            </a:extLst>
          </p:cNvPr>
          <p:cNvSpPr txBox="1"/>
          <p:nvPr/>
        </p:nvSpPr>
        <p:spPr>
          <a:xfrm>
            <a:off x="6400802" y="1859746"/>
            <a:ext cx="580571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dirty="0">
                <a:ln>
                  <a:noFill/>
                </a:ln>
                <a:solidFill>
                  <a:srgbClr val="00B050"/>
                </a:solidFill>
                <a:effectLst/>
                <a:uLnTx/>
                <a:uFillTx/>
                <a:latin typeface="GyrePagellaMathJax_Normal"/>
                <a:ea typeface="+mn-ea"/>
                <a:cs typeface="+mn-cs"/>
              </a:rPr>
              <a:t>𝑎</a:t>
            </a:r>
            <a:r>
              <a:rPr kumimoji="0" lang="en-US" altLang="en-US" sz="3600" b="1" i="0" u="none" strike="noStrike" kern="1200" cap="none" spc="0" normalizeH="0" baseline="-25000" noProof="0" dirty="0">
                <a:ln>
                  <a:noFill/>
                </a:ln>
                <a:solidFill>
                  <a:srgbClr val="00B050"/>
                </a:solidFill>
                <a:effectLst/>
                <a:uLnTx/>
                <a:uFillTx/>
                <a:latin typeface="GyrePagellaMathJax_Main"/>
                <a:ea typeface="+mn-ea"/>
                <a:cs typeface="+mn-cs"/>
              </a:rPr>
              <a:t>0</a:t>
            </a:r>
            <a:r>
              <a:rPr kumimoji="0" lang="en-US" altLang="en-US" sz="3600" b="1" i="0" u="none" strike="noStrike" kern="1200" cap="none" spc="0" normalizeH="0" baseline="0" noProof="0" dirty="0">
                <a:ln>
                  <a:noFill/>
                </a:ln>
                <a:solidFill>
                  <a:srgbClr val="00B050"/>
                </a:solidFill>
                <a:effectLst/>
                <a:uLnTx/>
                <a:uFillTx/>
                <a:latin typeface="Crimson Pro"/>
                <a:ea typeface="+mn-ea"/>
                <a:cs typeface="+mn-cs"/>
              </a:rPr>
              <a:t> </a:t>
            </a:r>
            <a:r>
              <a:rPr kumimoji="0" lang="en-US" altLang="en-US" sz="3600" b="0" i="0" u="none" strike="noStrike" kern="1200" cap="none" spc="0" normalizeH="0" baseline="0" noProof="0" dirty="0">
                <a:ln>
                  <a:noFill/>
                </a:ln>
                <a:solidFill>
                  <a:srgbClr val="423F43"/>
                </a:solidFill>
                <a:effectLst/>
                <a:uLnTx/>
                <a:uFillTx/>
                <a:latin typeface="Crimson Pro"/>
                <a:ea typeface="+mn-ea"/>
                <a:cs typeface="+mn-cs"/>
              </a:rPr>
              <a:t>is </a:t>
            </a:r>
            <a:r>
              <a:rPr kumimoji="0" lang="en-US" altLang="en-US" sz="3600" b="1" i="0" u="none" strike="noStrike" kern="1200" cap="none" spc="0" normalizeH="0" baseline="0" noProof="0" dirty="0">
                <a:ln>
                  <a:noFill/>
                </a:ln>
                <a:solidFill>
                  <a:srgbClr val="00B050"/>
                </a:solidFill>
                <a:effectLst/>
                <a:uLnTx/>
                <a:uFillTx/>
                <a:latin typeface="inherit"/>
                <a:ea typeface="+mn-ea"/>
                <a:cs typeface="+mn-cs"/>
              </a:rPr>
              <a:t>autonomous investment</a:t>
            </a:r>
            <a:endParaRPr kumimoji="0" lang="en-ZA" sz="2400" b="0" i="0" u="none" strike="noStrike" kern="1200" cap="none" spc="0" normalizeH="0" baseline="0" noProof="0" dirty="0">
              <a:ln>
                <a:noFill/>
              </a:ln>
              <a:solidFill>
                <a:srgbClr val="00B050"/>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B7AB1F00-667A-37D0-9EDF-7BAE29F3FD5A}"/>
              </a:ext>
            </a:extLst>
          </p:cNvPr>
          <p:cNvSpPr txBox="1"/>
          <p:nvPr/>
        </p:nvSpPr>
        <p:spPr>
          <a:xfrm>
            <a:off x="7336972" y="2381686"/>
            <a:ext cx="4855027"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423F43"/>
                </a:solidFill>
                <a:effectLst/>
                <a:uLnTx/>
                <a:uFillTx/>
                <a:latin typeface="Source Sans Pro" panose="020B0503030403020204" pitchFamily="34" charset="0"/>
                <a:ea typeface="+mn-ea"/>
                <a:cs typeface="+mn-cs"/>
              </a:rPr>
              <a:t>planned investment expenditure that does not depend on other variables in the model </a:t>
            </a:r>
            <a:endPar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974CA0EE-238D-7506-39D2-7A3C495F496E}"/>
              </a:ext>
            </a:extLst>
          </p:cNvPr>
          <p:cNvSpPr txBox="1"/>
          <p:nvPr/>
        </p:nvSpPr>
        <p:spPr>
          <a:xfrm>
            <a:off x="6415315" y="4850711"/>
            <a:ext cx="5805714"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dirty="0">
                <a:ln>
                  <a:noFill/>
                </a:ln>
                <a:solidFill>
                  <a:srgbClr val="00B050"/>
                </a:solidFill>
                <a:effectLst/>
                <a:uLnTx/>
                <a:uFillTx/>
                <a:latin typeface="GyrePagellaMathJax_Normal"/>
                <a:ea typeface="+mn-ea"/>
                <a:cs typeface="+mn-cs"/>
              </a:rPr>
              <a:t>𝑎</a:t>
            </a:r>
            <a:r>
              <a:rPr kumimoji="0" lang="en-US" altLang="en-US" sz="3600" b="1" i="0" u="none" strike="noStrike" kern="1200" cap="none" spc="0" normalizeH="0" baseline="-25000" noProof="0" dirty="0">
                <a:ln>
                  <a:noFill/>
                </a:ln>
                <a:solidFill>
                  <a:srgbClr val="00B050"/>
                </a:solidFill>
                <a:effectLst/>
                <a:uLnTx/>
                <a:uFillTx/>
                <a:latin typeface="GyrePagellaMathJax_Normal"/>
                <a:ea typeface="+mn-ea"/>
                <a:cs typeface="+mn-cs"/>
              </a:rPr>
              <a:t>1</a:t>
            </a:r>
            <a:r>
              <a:rPr kumimoji="0" lang="en-US" altLang="en-US" sz="3600" b="1" i="0" u="none" strike="noStrike" kern="1200" cap="none" spc="0" normalizeH="0" baseline="0" noProof="0" dirty="0">
                <a:ln>
                  <a:noFill/>
                </a:ln>
                <a:solidFill>
                  <a:srgbClr val="00B050"/>
                </a:solidFill>
                <a:effectLst/>
                <a:uLnTx/>
                <a:uFillTx/>
                <a:latin typeface="GyrePagellaMathJax_Normal"/>
                <a:ea typeface="+mn-ea"/>
                <a:cs typeface="+mn-cs"/>
              </a:rPr>
              <a:t> </a:t>
            </a:r>
            <a:r>
              <a:rPr kumimoji="0" lang="en-US" altLang="en-US" sz="2800" b="0" i="0" u="none" strike="noStrike" kern="1200" cap="none" spc="0" normalizeH="0" baseline="0" noProof="0" dirty="0">
                <a:ln>
                  <a:noFill/>
                </a:ln>
                <a:solidFill>
                  <a:srgbClr val="423F43"/>
                </a:solidFill>
                <a:effectLst/>
                <a:uLnTx/>
                <a:uFillTx/>
                <a:latin typeface="Crimson Pro"/>
                <a:ea typeface="+mn-ea"/>
                <a:cs typeface="+mn-cs"/>
              </a:rPr>
              <a:t>shows investment’s sensitivity to the </a:t>
            </a:r>
            <a:r>
              <a:rPr kumimoji="0" lang="en-US" altLang="en-US" sz="3600" b="1" i="0" u="none" strike="noStrike" kern="1200" cap="none" spc="0" normalizeH="0" baseline="0" noProof="0" dirty="0">
                <a:ln>
                  <a:noFill/>
                </a:ln>
                <a:solidFill>
                  <a:srgbClr val="00B050"/>
                </a:solidFill>
                <a:effectLst/>
                <a:uLnTx/>
                <a:uFillTx/>
                <a:latin typeface="inherit"/>
                <a:ea typeface="+mn-ea"/>
                <a:cs typeface="+mn-cs"/>
              </a:rPr>
              <a:t>interest rate</a:t>
            </a:r>
            <a:endParaRPr kumimoji="0" lang="en-ZA" sz="3600" b="1" i="0" u="none" strike="noStrike" kern="1200" cap="none" spc="0" normalizeH="0" baseline="0" noProof="0" dirty="0">
              <a:ln>
                <a:noFill/>
              </a:ln>
              <a:solidFill>
                <a:srgbClr val="00B050"/>
              </a:solidFill>
              <a:effectLst/>
              <a:uLnTx/>
              <a:uFillTx/>
              <a:latin typeface="inherit"/>
              <a:ea typeface="+mn-ea"/>
              <a:cs typeface="+mn-cs"/>
            </a:endParaRPr>
          </a:p>
        </p:txBody>
      </p:sp>
    </p:spTree>
    <p:extLst>
      <p:ext uri="{BB962C8B-B14F-4D97-AF65-F5344CB8AC3E}">
        <p14:creationId xmlns:p14="http://schemas.microsoft.com/office/powerpoint/2010/main" val="327804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8" grpId="0"/>
      <p:bldP spid="12" grpId="0"/>
      <p:bldP spid="14"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02101-A55D-F1AD-8583-53A35161AAF0}"/>
              </a:ext>
            </a:extLst>
          </p:cNvPr>
          <p:cNvSpPr>
            <a:spLocks noGrp="1"/>
          </p:cNvSpPr>
          <p:nvPr>
            <p:ph type="title"/>
          </p:nvPr>
        </p:nvSpPr>
        <p:spPr>
          <a:xfrm>
            <a:off x="838200" y="365125"/>
            <a:ext cx="10515600" cy="941161"/>
          </a:xfrm>
        </p:spPr>
        <p:txBody>
          <a:bodyPr/>
          <a:lstStyle/>
          <a:p>
            <a:r>
              <a:rPr lang="en-US" dirty="0"/>
              <a:t>More on </a:t>
            </a:r>
            <a:r>
              <a:rPr lang="en-US" dirty="0">
                <a:hlinkClick r:id="rId3"/>
              </a:rPr>
              <a:t>Investment</a:t>
            </a:r>
            <a:endParaRPr lang="en-ZA" dirty="0"/>
          </a:p>
        </p:txBody>
      </p:sp>
      <p:sp>
        <p:nvSpPr>
          <p:cNvPr id="4" name="Rectangle 1">
            <a:extLst>
              <a:ext uri="{FF2B5EF4-FFF2-40B4-BE49-F238E27FC236}">
                <a16:creationId xmlns:a16="http://schemas.microsoft.com/office/drawing/2014/main" id="{9A8C6FD0-65BD-B76B-1A90-D602C71A33DF}"/>
              </a:ext>
            </a:extLst>
          </p:cNvPr>
          <p:cNvSpPr>
            <a:spLocks noGrp="1" noChangeArrowheads="1"/>
          </p:cNvSpPr>
          <p:nvPr>
            <p:ph idx="1"/>
          </p:nvPr>
        </p:nvSpPr>
        <p:spPr bwMode="auto">
          <a:xfrm>
            <a:off x="838200" y="1354417"/>
            <a:ext cx="11106150" cy="529375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63538" marR="0" lvl="0" indent="-363538"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23F43"/>
                </a:solidFill>
                <a:effectLst/>
                <a:latin typeface="Crimson Pro"/>
              </a:rPr>
              <a:t>where </a:t>
            </a:r>
            <a:r>
              <a:rPr kumimoji="0" lang="en-US" altLang="en-US" b="0" i="0" u="none" strike="noStrike" cap="none" normalizeH="0" baseline="0" dirty="0">
                <a:ln>
                  <a:noFill/>
                </a:ln>
                <a:solidFill>
                  <a:srgbClr val="423F43"/>
                </a:solidFill>
                <a:effectLst/>
                <a:latin typeface="GyrePagellaMathJax_Normal"/>
              </a:rPr>
              <a:t>𝑎</a:t>
            </a:r>
            <a:r>
              <a:rPr kumimoji="0" lang="en-US" altLang="en-US" b="0" i="0" u="none" strike="noStrike" cap="none" normalizeH="0" baseline="-25000" dirty="0">
                <a:ln>
                  <a:noFill/>
                </a:ln>
                <a:solidFill>
                  <a:srgbClr val="423F43"/>
                </a:solidFill>
                <a:effectLst/>
                <a:latin typeface="GyrePagellaMathJax_Main"/>
              </a:rPr>
              <a:t>0</a:t>
            </a:r>
            <a:r>
              <a:rPr kumimoji="0" lang="en-US" altLang="en-US" b="0" i="0" u="none" strike="noStrike" cap="none" normalizeH="0" baseline="-25000" dirty="0">
                <a:ln>
                  <a:noFill/>
                </a:ln>
                <a:solidFill>
                  <a:srgbClr val="423F43"/>
                </a:solidFill>
                <a:effectLst/>
                <a:latin typeface="Crimson Pro"/>
              </a:rPr>
              <a:t> </a:t>
            </a:r>
            <a:r>
              <a:rPr kumimoji="0" lang="en-US" altLang="en-US" b="0" i="0" u="none" strike="noStrike" cap="none" normalizeH="0" baseline="0" dirty="0">
                <a:ln>
                  <a:noFill/>
                </a:ln>
                <a:solidFill>
                  <a:srgbClr val="423F43"/>
                </a:solidFill>
                <a:effectLst/>
                <a:latin typeface="Crimson Pro"/>
              </a:rPr>
              <a:t>is </a:t>
            </a:r>
            <a:r>
              <a:rPr kumimoji="0" lang="en-US" altLang="en-US" b="1" i="0" u="none" strike="noStrike" cap="none" normalizeH="0" baseline="0" dirty="0">
                <a:ln>
                  <a:noFill/>
                </a:ln>
                <a:solidFill>
                  <a:srgbClr val="037BB5"/>
                </a:solidFill>
                <a:effectLst/>
                <a:latin typeface="inherit"/>
              </a:rPr>
              <a:t>autonomous investment</a:t>
            </a:r>
            <a:r>
              <a:rPr kumimoji="0" lang="en-US" altLang="en-US" b="0" i="0" u="none" strike="noStrike" cap="none" normalizeH="0" baseline="0" dirty="0">
                <a:ln>
                  <a:noFill/>
                </a:ln>
                <a:solidFill>
                  <a:srgbClr val="423F43"/>
                </a:solidFill>
                <a:effectLst/>
                <a:latin typeface="Crimson Pro"/>
              </a:rPr>
              <a:t>⁠: </a:t>
            </a:r>
            <a:r>
              <a:rPr kumimoji="0" lang="en-US" altLang="en-US" b="0" i="0" u="none" strike="noStrike" cap="none" normalizeH="0" baseline="0" dirty="0">
                <a:ln>
                  <a:noFill/>
                </a:ln>
                <a:solidFill>
                  <a:srgbClr val="423F43"/>
                </a:solidFill>
                <a:effectLst/>
                <a:latin typeface="Source Sans Pro" panose="020B0503030403020204" pitchFamily="34" charset="0"/>
              </a:rPr>
              <a:t>In a model of investment demand, autonomous investment is (such as income, or the interest rate),</a:t>
            </a:r>
            <a:r>
              <a:rPr kumimoji="0" lang="en-US" altLang="en-US" b="0" i="0" u="none" strike="noStrike" cap="none" normalizeH="0" baseline="0" dirty="0">
                <a:ln>
                  <a:noFill/>
                </a:ln>
                <a:solidFill>
                  <a:srgbClr val="423F43"/>
                </a:solidFill>
                <a:effectLst/>
                <a:latin typeface="Crimson Pro"/>
              </a:rPr>
              <a:t> and </a:t>
            </a:r>
            <a:r>
              <a:rPr kumimoji="0" lang="en-US" altLang="en-US" b="0" i="0" u="none" strike="noStrike" cap="none" normalizeH="0" baseline="0" dirty="0">
                <a:ln>
                  <a:noFill/>
                </a:ln>
                <a:solidFill>
                  <a:srgbClr val="423F43"/>
                </a:solidFill>
                <a:effectLst/>
                <a:latin typeface="GyrePagellaMathJax_Normal"/>
              </a:rPr>
              <a:t>𝑎</a:t>
            </a:r>
            <a:r>
              <a:rPr kumimoji="0" lang="en-US" altLang="en-US" b="0" i="0" u="none" strike="noStrike" cap="none" normalizeH="0" baseline="-25000" dirty="0">
                <a:ln>
                  <a:noFill/>
                </a:ln>
                <a:solidFill>
                  <a:srgbClr val="423F43"/>
                </a:solidFill>
                <a:effectLst/>
                <a:latin typeface="GyrePagellaMathJax_Main"/>
              </a:rPr>
              <a:t>1</a:t>
            </a:r>
            <a:r>
              <a:rPr kumimoji="0" lang="en-US" altLang="en-US" b="0" i="0" u="none" strike="noStrike" cap="none" normalizeH="0" baseline="0" dirty="0">
                <a:ln>
                  <a:noFill/>
                </a:ln>
                <a:solidFill>
                  <a:srgbClr val="423F43"/>
                </a:solidFill>
                <a:effectLst/>
                <a:latin typeface="Crimson Pro"/>
              </a:rPr>
              <a:t> reflects how sensitive investment is to the interest rate.</a:t>
            </a:r>
          </a:p>
          <a:p>
            <a:pPr marL="363538" marR="0" lvl="0" indent="-363538" algn="l" defTabSz="914400" rtl="0" eaLnBrk="0" fontAlgn="base" latinLnBrk="0" hangingPunct="0">
              <a:lnSpc>
                <a:spcPct val="100000"/>
              </a:lnSpc>
              <a:spcBef>
                <a:spcPct val="0"/>
              </a:spcBef>
              <a:spcAft>
                <a:spcPct val="0"/>
              </a:spcAft>
              <a:buClrTx/>
              <a:buSzTx/>
              <a:buFontTx/>
              <a:buChar char="•"/>
              <a:tabLst/>
            </a:pPr>
            <a:r>
              <a:rPr kumimoji="0" lang="en-US" altLang="en-US" b="0" i="1" u="none" strike="noStrike" cap="none" normalizeH="0" baseline="0" dirty="0">
                <a:ln>
                  <a:noFill/>
                </a:ln>
                <a:solidFill>
                  <a:srgbClr val="423F43"/>
                </a:solidFill>
                <a:effectLst/>
                <a:latin typeface="inherit"/>
              </a:rPr>
              <a:t>Ceteris paribus</a:t>
            </a:r>
            <a:r>
              <a:rPr kumimoji="0" lang="en-US" altLang="en-US" b="0" i="0" u="none" strike="noStrike" cap="none" normalizeH="0" baseline="0" dirty="0">
                <a:ln>
                  <a:noFill/>
                </a:ln>
                <a:solidFill>
                  <a:srgbClr val="423F43"/>
                </a:solidFill>
                <a:effectLst/>
                <a:latin typeface="Crimson Pro"/>
              </a:rPr>
              <a:t>, we assume that a higher interest rate </a:t>
            </a:r>
            <a:r>
              <a:rPr kumimoji="0" lang="en-US" altLang="en-US" b="0" i="1" u="none" strike="noStrike" cap="none" normalizeH="0" baseline="0" dirty="0">
                <a:ln>
                  <a:noFill/>
                </a:ln>
                <a:solidFill>
                  <a:srgbClr val="423F43"/>
                </a:solidFill>
                <a:effectLst/>
                <a:latin typeface="inherit"/>
              </a:rPr>
              <a:t>reduces</a:t>
            </a:r>
            <a:r>
              <a:rPr kumimoji="0" lang="en-US" altLang="en-US" b="0" i="0" u="none" strike="noStrike" cap="none" normalizeH="0" baseline="0" dirty="0">
                <a:ln>
                  <a:noFill/>
                </a:ln>
                <a:solidFill>
                  <a:srgbClr val="423F43"/>
                </a:solidFill>
                <a:effectLst/>
                <a:latin typeface="Crimson Pro"/>
              </a:rPr>
              <a:t> investment spending. At this stage, we simply focus on the basic intuition that a higher cost of borrowing for firms will make them less willing to borrow the funds they need to undertake investment</a:t>
            </a:r>
            <a:r>
              <a:rPr lang="en-US" altLang="en-US" dirty="0">
                <a:solidFill>
                  <a:srgbClr val="423F43"/>
                </a:solidFill>
                <a:latin typeface="Crimson Pro"/>
              </a:rPr>
              <a:t>.</a:t>
            </a:r>
          </a:p>
          <a:p>
            <a:pPr marL="363538" indent="-363538">
              <a:lnSpc>
                <a:spcPct val="100000"/>
              </a:lnSpc>
              <a:buFontTx/>
              <a:buChar char="•"/>
            </a:pPr>
            <a:r>
              <a:rPr lang="en-US" altLang="en-US" dirty="0">
                <a:solidFill>
                  <a:srgbClr val="423F43"/>
                </a:solidFill>
                <a:latin typeface="Crimson Pro"/>
              </a:rPr>
              <a:t>All of the influences on investment apart from the interest rate are included in the autonomous investment, </a:t>
            </a:r>
            <a:r>
              <a:rPr lang="en-US" altLang="en-US" sz="2400" dirty="0">
                <a:solidFill>
                  <a:srgbClr val="423F43"/>
                </a:solidFill>
                <a:latin typeface="GyrePagellaMathJax_Normal"/>
              </a:rPr>
              <a:t>𝑎</a:t>
            </a:r>
            <a:r>
              <a:rPr lang="en-US" altLang="en-US" sz="1200" dirty="0">
                <a:solidFill>
                  <a:srgbClr val="423F43"/>
                </a:solidFill>
                <a:latin typeface="GyrePagellaMathJax_Main"/>
              </a:rPr>
              <a:t>0</a:t>
            </a:r>
            <a:r>
              <a:rPr lang="en-US" altLang="en-US" sz="1800" dirty="0"/>
              <a:t> </a:t>
            </a:r>
            <a:endParaRPr lang="en-US" altLang="en-US" sz="3200" dirty="0"/>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rgbClr val="423F43"/>
              </a:solidFill>
              <a:latin typeface="Crimson Pro"/>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rgbClr val="423F43"/>
              </a:solidFill>
              <a:effectLst/>
              <a:latin typeface="Crimson Pr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9457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A9F7486-CD59-2B02-6EDB-B4C8340811A2}"/>
              </a:ext>
            </a:extLst>
          </p:cNvPr>
          <p:cNvSpPr>
            <a:spLocks noGrp="1"/>
          </p:cNvSpPr>
          <p:nvPr>
            <p:ph type="title"/>
          </p:nvPr>
        </p:nvSpPr>
        <p:spPr>
          <a:xfrm>
            <a:off x="643277" y="649224"/>
            <a:ext cx="6700951" cy="1481328"/>
          </a:xfrm>
        </p:spPr>
        <p:txBody>
          <a:bodyPr vert="horz" lIns="91440" tIns="45720" rIns="91440" bIns="45720" rtlCol="0" anchor="b">
            <a:normAutofit fontScale="90000"/>
          </a:bodyPr>
          <a:lstStyle/>
          <a:p>
            <a:r>
              <a:rPr lang="en-US" sz="5400" b="1" kern="1200" dirty="0">
                <a:solidFill>
                  <a:schemeClr val="tx1"/>
                </a:solidFill>
                <a:latin typeface="+mj-lt"/>
                <a:ea typeface="+mj-ea"/>
                <a:cs typeface="+mj-cs"/>
              </a:rPr>
              <a:t>Assume </a:t>
            </a:r>
            <a:r>
              <a:rPr lang="en-US" sz="5400" b="1" i="1" kern="1200" dirty="0">
                <a:solidFill>
                  <a:schemeClr val="tx1"/>
                </a:solidFill>
                <a:latin typeface="+mj-lt"/>
                <a:ea typeface="+mj-ea"/>
                <a:cs typeface="+mj-cs"/>
              </a:rPr>
              <a:t>r </a:t>
            </a:r>
            <a:r>
              <a:rPr lang="en-US" sz="5400" b="1" kern="1200" dirty="0">
                <a:solidFill>
                  <a:schemeClr val="tx1"/>
                </a:solidFill>
                <a:latin typeface="+mj-lt"/>
                <a:ea typeface="+mj-ea"/>
                <a:cs typeface="+mj-cs"/>
              </a:rPr>
              <a:t>increases</a:t>
            </a:r>
            <a:r>
              <a:rPr lang="en-US" sz="5400" b="1" i="1" kern="1200" dirty="0">
                <a:solidFill>
                  <a:schemeClr val="tx1"/>
                </a:solidFill>
                <a:latin typeface="+mj-lt"/>
                <a:ea typeface="+mj-ea"/>
                <a:cs typeface="+mj-cs"/>
              </a:rPr>
              <a:t>  </a:t>
            </a:r>
            <a:r>
              <a:rPr lang="en-US" sz="5400" b="1" kern="1200" dirty="0">
                <a:solidFill>
                  <a:schemeClr val="tx1"/>
                </a:solidFill>
                <a:latin typeface="+mj-lt"/>
                <a:ea typeface="+mj-ea"/>
                <a:cs typeface="+mj-cs"/>
              </a:rPr>
              <a:t>from</a:t>
            </a:r>
            <a:r>
              <a:rPr lang="en-US" sz="5400" b="1" i="1" kern="1200" dirty="0">
                <a:solidFill>
                  <a:schemeClr val="tx1"/>
                </a:solidFill>
                <a:latin typeface="+mj-lt"/>
                <a:ea typeface="+mj-ea"/>
                <a:cs typeface="+mj-cs"/>
              </a:rPr>
              <a:t> r </a:t>
            </a:r>
            <a:r>
              <a:rPr lang="en-US" sz="5400" b="1" kern="1200" dirty="0">
                <a:solidFill>
                  <a:schemeClr val="tx1"/>
                </a:solidFill>
                <a:latin typeface="+mj-lt"/>
                <a:ea typeface="+mj-ea"/>
                <a:cs typeface="+mj-cs"/>
              </a:rPr>
              <a:t>to</a:t>
            </a:r>
            <a:r>
              <a:rPr lang="en-US" sz="5400" b="1" i="1" kern="1200" dirty="0">
                <a:solidFill>
                  <a:schemeClr val="tx1"/>
                </a:solidFill>
                <a:latin typeface="+mj-lt"/>
                <a:ea typeface="+mj-ea"/>
                <a:cs typeface="+mj-cs"/>
              </a:rPr>
              <a:t> r′…</a:t>
            </a:r>
            <a:endParaRPr lang="en-US" sz="5400" kern="1200" dirty="0">
              <a:solidFill>
                <a:schemeClr val="tx1"/>
              </a:solidFill>
              <a:latin typeface="+mj-lt"/>
              <a:ea typeface="+mj-ea"/>
              <a:cs typeface="+mj-cs"/>
            </a:endParaRPr>
          </a:p>
        </p:txBody>
      </p:sp>
      <p:sp>
        <p:nvSpPr>
          <p:cNvPr id="16"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1CE9142E-B2AF-2084-B52B-452746E6D808}"/>
              </a:ext>
            </a:extLst>
          </p:cNvPr>
          <p:cNvSpPr txBox="1"/>
          <p:nvPr/>
        </p:nvSpPr>
        <p:spPr>
          <a:xfrm>
            <a:off x="3052721" y="2310251"/>
            <a:ext cx="8195849" cy="14465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AD</a:t>
            </a:r>
            <a:r>
              <a:rPr kumimoji="0" lang="en-US" sz="4400" b="0" i="0" u="none" strike="noStrike" kern="1200" cap="none" spc="0" normalizeH="0" baseline="-25000" noProof="0" dirty="0">
                <a:ln>
                  <a:noFill/>
                </a:ln>
                <a:solidFill>
                  <a:prstClr val="black"/>
                </a:solidFill>
                <a:effectLst/>
                <a:uLnTx/>
                <a:uFillTx/>
                <a:latin typeface="Aptos" panose="02110004020202020204"/>
                <a:ea typeface="+mn-ea"/>
                <a:cs typeface="+mn-cs"/>
              </a:rPr>
              <a:t>initial</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7030A0"/>
                </a:solidFill>
                <a:effectLst/>
                <a:uLnTx/>
                <a:uFillTx/>
                <a:latin typeface="Aptos" panose="02110004020202020204"/>
                <a:ea typeface="+mn-ea"/>
                <a:cs typeface="+mn-cs"/>
              </a:rPr>
              <a:t>C</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7030A0"/>
                </a:solidFill>
                <a:effectLst/>
                <a:uLnTx/>
                <a:uFillTx/>
                <a:latin typeface="Aptos" panose="02110004020202020204"/>
                <a:ea typeface="+mn-ea"/>
                <a:cs typeface="+mn-cs"/>
              </a:rPr>
              <a:t>c</a:t>
            </a:r>
            <a:r>
              <a:rPr kumimoji="0" lang="en-US" sz="4400" b="1" i="0" u="none" strike="noStrike" kern="1200" cap="none" spc="0" normalizeH="0" baseline="-25000" noProof="0" dirty="0">
                <a:ln>
                  <a:noFill/>
                </a:ln>
                <a:solidFill>
                  <a:srgbClr val="7030A0"/>
                </a:solidFill>
                <a:effectLst/>
                <a:uLnTx/>
                <a:uFillTx/>
                <a:latin typeface="Aptos" panose="02110004020202020204"/>
                <a:ea typeface="+mn-ea"/>
                <a:cs typeface="+mn-cs"/>
              </a:rPr>
              <a:t>0</a:t>
            </a:r>
            <a:r>
              <a:rPr kumimoji="0" lang="en-US" sz="4400" b="0" i="0" u="none" strike="noStrike" kern="1200" cap="none" spc="0" normalizeH="0" baseline="0" noProof="0" dirty="0">
                <a:ln>
                  <a:noFill/>
                </a:ln>
                <a:solidFill>
                  <a:srgbClr val="7030A0"/>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7030A0"/>
                </a:solidFill>
                <a:effectLst/>
                <a:uLnTx/>
                <a:uFillTx/>
                <a:latin typeface="Aptos" panose="02110004020202020204"/>
                <a:ea typeface="+mn-ea"/>
                <a:cs typeface="+mn-cs"/>
              </a:rPr>
              <a:t>c</a:t>
            </a:r>
            <a:r>
              <a:rPr kumimoji="0" lang="en-US" sz="4400" b="1" i="0" u="none" strike="noStrike" kern="1200" cap="none" spc="0" normalizeH="0" baseline="-25000" noProof="0" dirty="0">
                <a:ln>
                  <a:noFill/>
                </a:ln>
                <a:solidFill>
                  <a:srgbClr val="7030A0"/>
                </a:solidFill>
                <a:effectLst/>
                <a:uLnTx/>
                <a:uFillTx/>
                <a:latin typeface="Aptos" panose="02110004020202020204"/>
                <a:ea typeface="+mn-ea"/>
                <a:cs typeface="+mn-cs"/>
              </a:rPr>
              <a:t>1</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Y</a:t>
            </a:r>
            <a:r>
              <a:rPr kumimoji="0" lang="en-US" sz="4400" b="0" i="0" u="none" strike="noStrike" kern="1200" cap="none" spc="0" normalizeH="0" baseline="0" noProof="0" dirty="0">
                <a:ln>
                  <a:noFill/>
                </a:ln>
                <a:solidFill>
                  <a:srgbClr val="7030A0"/>
                </a:solidFill>
                <a:effectLst/>
                <a:uLnTx/>
                <a:uFillTx/>
                <a:latin typeface="Aptos" panose="02110004020202020204"/>
                <a:ea typeface="+mn-ea"/>
                <a:cs typeface="+mn-cs"/>
              </a:rPr>
              <a:t>  </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𝑎</a:t>
            </a:r>
            <a:r>
              <a:rPr kumimoji="0" lang="en-US" sz="4400" b="1" i="0" u="none" strike="noStrike" kern="1200" cap="none" spc="0" normalizeH="0" baseline="-25000" noProof="0" dirty="0">
                <a:ln>
                  <a:noFill/>
                </a:ln>
                <a:solidFill>
                  <a:srgbClr val="00B050"/>
                </a:solidFill>
                <a:effectLst/>
                <a:uLnTx/>
                <a:uFillTx/>
                <a:latin typeface="Aptos" panose="02110004020202020204"/>
                <a:ea typeface="+mn-ea"/>
                <a:cs typeface="+mn-cs"/>
              </a:rPr>
              <a:t>0</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 </a:t>
            </a:r>
            <a:r>
              <a:rPr kumimoji="0" lang="en-GB" sz="3600" b="1" i="0" u="none" strike="noStrike" kern="1200" cap="none" spc="0" normalizeH="0" baseline="0" noProof="0" dirty="0">
                <a:ln>
                  <a:noFill/>
                </a:ln>
                <a:solidFill>
                  <a:srgbClr val="00B050"/>
                </a:solidFill>
                <a:effectLst/>
                <a:uLnTx/>
                <a:uFillTx/>
                <a:latin typeface="Source Sans Pro" panose="020B0503030403020204" pitchFamily="34" charset="0"/>
                <a:ea typeface="Source Sans Pro" panose="020B0503030403020204" pitchFamily="34" charset="0"/>
                <a:cs typeface="+mn-cs"/>
              </a:rPr>
              <a:t>–</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 𝑎</a:t>
            </a:r>
            <a:r>
              <a:rPr kumimoji="0" lang="en-US" sz="4400" b="1" i="0" u="none" strike="noStrike" kern="1200" cap="none" spc="0" normalizeH="0" baseline="-25000" noProof="0" dirty="0">
                <a:ln>
                  <a:noFill/>
                </a:ln>
                <a:solidFill>
                  <a:srgbClr val="00B050"/>
                </a:solidFill>
                <a:effectLst/>
                <a:uLnTx/>
                <a:uFillTx/>
                <a:latin typeface="Aptos" panose="02110004020202020204"/>
                <a:ea typeface="+mn-ea"/>
                <a:cs typeface="+mn-cs"/>
              </a:rPr>
              <a:t>1</a:t>
            </a:r>
            <a:r>
              <a:rPr kumimoji="0" lang="en-US" sz="4400" b="1" i="1" u="none" strike="noStrike" kern="1200" cap="none" spc="0" normalizeH="0" baseline="0" noProof="0" dirty="0">
                <a:ln>
                  <a:noFill/>
                </a:ln>
                <a:solidFill>
                  <a:srgbClr val="00B050"/>
                </a:solidFill>
                <a:effectLst/>
                <a:uLnTx/>
                <a:uFillTx/>
                <a:latin typeface="Aptos" panose="02110004020202020204"/>
                <a:ea typeface="+mn-ea"/>
                <a:cs typeface="+mn-cs"/>
              </a:rPr>
              <a:t>r</a:t>
            </a:r>
            <a:endParaRPr kumimoji="0" lang="en-ZA" sz="1800" b="0" i="1"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2709D1B3-04EF-8307-B093-3BECC7B75C0C}"/>
              </a:ext>
            </a:extLst>
          </p:cNvPr>
          <p:cNvSpPr txBox="1"/>
          <p:nvPr/>
        </p:nvSpPr>
        <p:spPr>
          <a:xfrm>
            <a:off x="3052720" y="4046629"/>
            <a:ext cx="8195849"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err="1">
                <a:ln>
                  <a:noFill/>
                </a:ln>
                <a:solidFill>
                  <a:prstClr val="black"/>
                </a:solidFill>
                <a:effectLst/>
                <a:uLnTx/>
                <a:uFillTx/>
                <a:latin typeface="Aptos" panose="02110004020202020204"/>
                <a:ea typeface="+mn-ea"/>
                <a:cs typeface="+mn-cs"/>
              </a:rPr>
              <a:t>AD</a:t>
            </a:r>
            <a:r>
              <a:rPr kumimoji="0" lang="en-US" sz="4400" b="0" i="0" u="none" strike="noStrike" kern="1200" cap="none" spc="0" normalizeH="0" baseline="-25000" noProof="0" dirty="0" err="1">
                <a:ln>
                  <a:noFill/>
                </a:ln>
                <a:solidFill>
                  <a:prstClr val="black"/>
                </a:solidFill>
                <a:effectLst/>
                <a:uLnTx/>
                <a:uFillTx/>
                <a:latin typeface="Aptos" panose="02110004020202020204"/>
                <a:ea typeface="+mn-ea"/>
                <a:cs typeface="+mn-cs"/>
              </a:rPr>
              <a:t>new</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7030A0"/>
                </a:solidFill>
                <a:effectLst/>
                <a:uLnTx/>
                <a:uFillTx/>
                <a:latin typeface="Aptos" panose="02110004020202020204"/>
                <a:ea typeface="+mn-ea"/>
                <a:cs typeface="+mn-cs"/>
              </a:rPr>
              <a:t>c</a:t>
            </a:r>
            <a:r>
              <a:rPr kumimoji="0" lang="en-US" sz="4400" b="1" i="0" u="none" strike="noStrike" kern="1200" cap="none" spc="0" normalizeH="0" baseline="-25000" noProof="0" dirty="0">
                <a:ln>
                  <a:noFill/>
                </a:ln>
                <a:solidFill>
                  <a:srgbClr val="7030A0"/>
                </a:solidFill>
                <a:effectLst/>
                <a:uLnTx/>
                <a:uFillTx/>
                <a:latin typeface="Aptos" panose="02110004020202020204"/>
                <a:ea typeface="+mn-ea"/>
                <a:cs typeface="+mn-cs"/>
              </a:rPr>
              <a:t>0</a:t>
            </a:r>
            <a:r>
              <a:rPr kumimoji="0" lang="en-US" sz="4400" b="0" i="0" u="none" strike="noStrike" kern="1200" cap="none" spc="0" normalizeH="0" baseline="0" noProof="0" dirty="0">
                <a:ln>
                  <a:noFill/>
                </a:ln>
                <a:solidFill>
                  <a:srgbClr val="7030A0"/>
                </a:solidFill>
                <a:effectLst/>
                <a:uLnTx/>
                <a:uFillTx/>
                <a:latin typeface="Aptos" panose="02110004020202020204"/>
                <a:ea typeface="+mn-ea"/>
                <a:cs typeface="+mn-cs"/>
              </a:rPr>
              <a:t> + </a:t>
            </a:r>
            <a:r>
              <a:rPr kumimoji="0" lang="en-US" sz="4400" b="1" i="0" u="none" strike="noStrike" kern="1200" cap="none" spc="0" normalizeH="0" baseline="0" noProof="0" dirty="0">
                <a:ln>
                  <a:noFill/>
                </a:ln>
                <a:solidFill>
                  <a:srgbClr val="7030A0"/>
                </a:solidFill>
                <a:effectLst/>
                <a:uLnTx/>
                <a:uFillTx/>
                <a:latin typeface="Aptos" panose="02110004020202020204"/>
                <a:ea typeface="+mn-ea"/>
                <a:cs typeface="+mn-cs"/>
              </a:rPr>
              <a:t>c</a:t>
            </a:r>
            <a:r>
              <a:rPr kumimoji="0" lang="en-US" sz="4400" b="1" i="0" u="none" strike="noStrike" kern="1200" cap="none" spc="0" normalizeH="0" baseline="-25000" noProof="0" dirty="0">
                <a:ln>
                  <a:noFill/>
                </a:ln>
                <a:solidFill>
                  <a:srgbClr val="7030A0"/>
                </a:solidFill>
                <a:effectLst/>
                <a:uLnTx/>
                <a:uFillTx/>
                <a:latin typeface="Aptos" panose="02110004020202020204"/>
                <a:ea typeface="+mn-ea"/>
                <a:cs typeface="+mn-cs"/>
              </a:rPr>
              <a:t>1</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Y</a:t>
            </a:r>
            <a:r>
              <a:rPr kumimoji="0" lang="en-US" sz="4400" b="0" i="0" u="none" strike="noStrike" kern="1200" cap="none" spc="0" normalizeH="0" baseline="0" noProof="0" dirty="0">
                <a:ln>
                  <a:noFill/>
                </a:ln>
                <a:solidFill>
                  <a:srgbClr val="7030A0"/>
                </a:solidFill>
                <a:effectLst/>
                <a:uLnTx/>
                <a:uFillTx/>
                <a:latin typeface="Aptos" panose="02110004020202020204"/>
                <a:ea typeface="+mn-ea"/>
                <a:cs typeface="+mn-cs"/>
              </a:rPr>
              <a:t>  </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𝑎</a:t>
            </a:r>
            <a:r>
              <a:rPr kumimoji="0" lang="en-US" sz="4400" b="1" i="0" u="none" strike="noStrike" kern="1200" cap="none" spc="0" normalizeH="0" baseline="-25000" noProof="0" dirty="0">
                <a:ln>
                  <a:noFill/>
                </a:ln>
                <a:solidFill>
                  <a:srgbClr val="00B050"/>
                </a:solidFill>
                <a:effectLst/>
                <a:uLnTx/>
                <a:uFillTx/>
                <a:latin typeface="Aptos" panose="02110004020202020204"/>
                <a:ea typeface="+mn-ea"/>
                <a:cs typeface="+mn-cs"/>
              </a:rPr>
              <a:t>0</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 </a:t>
            </a:r>
            <a:r>
              <a:rPr kumimoji="0" lang="en-GB" sz="3600" b="1" i="0" u="none" strike="noStrike" kern="1200" cap="none" spc="0" normalizeH="0" baseline="0" noProof="0" dirty="0">
                <a:ln>
                  <a:noFill/>
                </a:ln>
                <a:solidFill>
                  <a:srgbClr val="00B050"/>
                </a:solidFill>
                <a:effectLst/>
                <a:uLnTx/>
                <a:uFillTx/>
                <a:latin typeface="Source Sans Pro" panose="020B0503030403020204" pitchFamily="34" charset="0"/>
                <a:ea typeface="Source Sans Pro" panose="020B0503030403020204" pitchFamily="34" charset="0"/>
                <a:cs typeface="+mn-cs"/>
              </a:rPr>
              <a:t>–</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 𝑎</a:t>
            </a:r>
            <a:r>
              <a:rPr kumimoji="0" lang="en-US" sz="4400" b="1" i="0" u="none" strike="noStrike" kern="1200" cap="none" spc="0" normalizeH="0" baseline="-25000" noProof="0" dirty="0">
                <a:ln>
                  <a:noFill/>
                </a:ln>
                <a:solidFill>
                  <a:srgbClr val="00B050"/>
                </a:solidFill>
                <a:effectLst/>
                <a:uLnTx/>
                <a:uFillTx/>
                <a:latin typeface="Aptos" panose="02110004020202020204"/>
                <a:ea typeface="+mn-ea"/>
                <a:cs typeface="+mn-cs"/>
              </a:rPr>
              <a:t>1</a:t>
            </a:r>
            <a:r>
              <a:rPr kumimoji="0" lang="en-US" sz="4400" b="1" i="1" u="none" strike="noStrike" kern="1200" cap="none" spc="0" normalizeH="0" baseline="0" noProof="0" dirty="0">
                <a:ln>
                  <a:noFill/>
                </a:ln>
                <a:solidFill>
                  <a:srgbClr val="C00000"/>
                </a:solidFill>
                <a:effectLst/>
                <a:uLnTx/>
                <a:uFillTx/>
                <a:latin typeface="Aptos" panose="02110004020202020204"/>
                <a:ea typeface="+mn-ea"/>
                <a:cs typeface="+mn-cs"/>
              </a:rPr>
              <a:t>r</a:t>
            </a:r>
            <a:r>
              <a:rPr kumimoji="0" lang="en-US" sz="4400" b="1" i="0" u="none" strike="noStrike" kern="1200" cap="none" spc="0" normalizeH="0" baseline="0" noProof="0" dirty="0">
                <a:ln>
                  <a:noFill/>
                </a:ln>
                <a:solidFill>
                  <a:srgbClr val="C00000"/>
                </a:solidFill>
                <a:effectLst/>
                <a:uLnTx/>
                <a:uFillTx/>
                <a:latin typeface="Aptos" panose="02110004020202020204"/>
                <a:ea typeface="+mn-ea"/>
                <a:cs typeface="+mn-cs"/>
              </a:rPr>
              <a:t>′</a:t>
            </a:r>
            <a:endParaRPr kumimoji="0" lang="en-ZA" sz="1800" b="0" i="0" u="none" strike="noStrike" kern="1200" cap="none" spc="0" normalizeH="0" baseline="0" noProof="0" dirty="0">
              <a:ln>
                <a:noFill/>
              </a:ln>
              <a:solidFill>
                <a:srgbClr val="C00000"/>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69C23776-6272-906B-1290-8D75D8423280}"/>
              </a:ext>
            </a:extLst>
          </p:cNvPr>
          <p:cNvSpPr txBox="1"/>
          <p:nvPr/>
        </p:nvSpPr>
        <p:spPr>
          <a:xfrm>
            <a:off x="0" y="5100116"/>
            <a:ext cx="12192000" cy="1569660"/>
          </a:xfrm>
          <a:prstGeom prst="rect">
            <a:avLst/>
          </a:prstGeom>
          <a:noFill/>
        </p:spPr>
        <p:txBody>
          <a:bodyPr wrap="square">
            <a:spAutoFit/>
          </a:bodyPr>
          <a:lstStyle/>
          <a:p>
            <a:pPr marL="571500" marR="0" lvl="0" indent="-571500" algn="ctr"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US" sz="4800" b="1" i="1" u="none" strike="noStrike" kern="1200" cap="none" spc="0" normalizeH="0" baseline="0" noProof="0" dirty="0">
                <a:ln>
                  <a:noFill/>
                </a:ln>
                <a:solidFill>
                  <a:srgbClr val="C00000"/>
                </a:solidFill>
                <a:effectLst/>
                <a:uLnTx/>
                <a:uFillTx/>
                <a:latin typeface="Aptos" panose="02110004020202020204"/>
                <a:ea typeface="+mn-ea"/>
                <a:cs typeface="+mn-cs"/>
                <a:sym typeface="Symbol" panose="05050102010706020507" pitchFamily="18" charset="2"/>
              </a:rPr>
              <a:t>r</a:t>
            </a: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sym typeface="Wingdings 3" panose="05040102010807070707" pitchFamily="18" charset="2"/>
              </a:rPr>
              <a:t>  </a:t>
            </a:r>
            <a:r>
              <a:rPr kumimoji="0" lang="en-US" sz="4800" b="1" i="0" u="none" strike="noStrike" kern="1200" cap="none" spc="0" normalizeH="0" baseline="0" noProof="0" dirty="0">
                <a:ln>
                  <a:noFill/>
                </a:ln>
                <a:solidFill>
                  <a:srgbClr val="00B050"/>
                </a:solidFill>
                <a:effectLst/>
                <a:uLnTx/>
                <a:uFillTx/>
                <a:latin typeface="Aptos" panose="02110004020202020204"/>
                <a:ea typeface="+mn-ea"/>
                <a:cs typeface="+mn-cs"/>
                <a:sym typeface="Wingdings 3" panose="05040102010807070707" pitchFamily="18" charset="2"/>
              </a:rPr>
              <a:t>I</a:t>
            </a: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sym typeface="Wingdings 3" panose="05040102010807070707" pitchFamily="18" charset="2"/>
              </a:rPr>
              <a:t>  </a:t>
            </a: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rPr>
              <a:t>AD</a:t>
            </a: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sym typeface="Wingdings 3" panose="05040102010807070707" pitchFamily="18" charset="2"/>
              </a:rPr>
              <a:t></a:t>
            </a:r>
          </a:p>
          <a:p>
            <a:pPr marL="571500" marR="0" lvl="0" indent="-571500" algn="ctr"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sym typeface="Wingdings 3" panose="05040102010807070707" pitchFamily="18" charset="2"/>
              </a:rPr>
              <a:t>AD</a:t>
            </a:r>
            <a:r>
              <a:rPr kumimoji="0" lang="en-US" sz="4800" b="0" i="0" u="none" strike="noStrike" kern="1200" cap="none" spc="0" normalizeH="0" baseline="-25000" noProof="0" dirty="0">
                <a:ln>
                  <a:noFill/>
                </a:ln>
                <a:solidFill>
                  <a:prstClr val="black"/>
                </a:solidFill>
                <a:effectLst/>
                <a:uLnTx/>
                <a:uFillTx/>
                <a:latin typeface="Aptos" panose="02110004020202020204"/>
                <a:ea typeface="+mn-ea"/>
                <a:cs typeface="+mn-cs"/>
              </a:rPr>
              <a:t>new</a:t>
            </a: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rPr>
              <a:t> &lt; AD</a:t>
            </a:r>
            <a:r>
              <a:rPr kumimoji="0" lang="en-US" sz="4800" b="0" i="0" u="none" strike="noStrike" kern="1200" cap="none" spc="0" normalizeH="0" baseline="-25000" noProof="0" dirty="0">
                <a:ln>
                  <a:noFill/>
                </a:ln>
                <a:solidFill>
                  <a:prstClr val="black"/>
                </a:solidFill>
                <a:effectLst/>
                <a:uLnTx/>
                <a:uFillTx/>
                <a:latin typeface="Aptos" panose="02110004020202020204"/>
                <a:ea typeface="+mn-ea"/>
                <a:cs typeface="+mn-cs"/>
              </a:rPr>
              <a:t>initial</a:t>
            </a: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rPr>
              <a:t> 	</a:t>
            </a:r>
            <a:endParaRPr kumimoji="0" lang="en-ZA" sz="2000" b="0" i="0" u="none" strike="noStrike" kern="1200" cap="none" spc="0" normalizeH="0" baseline="0" noProof="0" dirty="0">
              <a:ln>
                <a:noFill/>
              </a:ln>
              <a:solidFill>
                <a:srgbClr val="C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894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5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animEffect transition="in" filter="fade">
                                      <p:cBhvr>
                                        <p:cTn id="27"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P spid="11"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8A33972-5BA6-E304-A0B2-6B524E6F4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DC0CF-9693-3F33-EA3D-20E070F1B978}"/>
              </a:ext>
            </a:extLst>
          </p:cNvPr>
          <p:cNvSpPr>
            <a:spLocks noGrp="1"/>
          </p:cNvSpPr>
          <p:nvPr>
            <p:ph type="title" idx="4294967295"/>
          </p:nvPr>
        </p:nvSpPr>
        <p:spPr>
          <a:xfrm>
            <a:off x="-1" y="-740569"/>
            <a:ext cx="8625385" cy="1532139"/>
          </a:xfrm>
        </p:spPr>
        <p:txBody>
          <a:bodyPr vert="horz" lIns="91440" tIns="45720" rIns="91440" bIns="45720" rtlCol="0" anchor="b">
            <a:normAutofit/>
          </a:bodyPr>
          <a:lstStyle/>
          <a:p>
            <a:r>
              <a:rPr lang="en-US" sz="5400" b="1" kern="1200" dirty="0">
                <a:solidFill>
                  <a:schemeClr val="tx1"/>
                </a:solidFill>
                <a:latin typeface="+mj-lt"/>
                <a:ea typeface="+mj-ea"/>
                <a:cs typeface="+mj-cs"/>
              </a:rPr>
              <a:t>A rise in </a:t>
            </a:r>
            <a:r>
              <a:rPr lang="en-US" sz="5400" b="1" i="1" kern="1200" dirty="0">
                <a:solidFill>
                  <a:schemeClr val="tx1"/>
                </a:solidFill>
                <a:latin typeface="+mj-lt"/>
                <a:ea typeface="+mj-ea"/>
                <a:cs typeface="+mj-cs"/>
              </a:rPr>
              <a:t>r </a:t>
            </a:r>
            <a:r>
              <a:rPr lang="en-US" sz="5400" b="1" kern="1200" dirty="0">
                <a:solidFill>
                  <a:schemeClr val="tx1"/>
                </a:solidFill>
                <a:latin typeface="+mj-lt"/>
                <a:ea typeface="+mj-ea"/>
                <a:cs typeface="+mj-cs"/>
              </a:rPr>
              <a:t>graphically</a:t>
            </a:r>
            <a:endParaRPr lang="en-US" sz="5400" kern="1200" dirty="0">
              <a:solidFill>
                <a:schemeClr val="tx1"/>
              </a:solidFill>
              <a:latin typeface="+mj-lt"/>
              <a:ea typeface="+mj-ea"/>
              <a:cs typeface="+mj-cs"/>
            </a:endParaRPr>
          </a:p>
        </p:txBody>
      </p:sp>
      <p:sp>
        <p:nvSpPr>
          <p:cNvPr id="4" name="Rectangle 3">
            <a:extLst>
              <a:ext uri="{FF2B5EF4-FFF2-40B4-BE49-F238E27FC236}">
                <a16:creationId xmlns:a16="http://schemas.microsoft.com/office/drawing/2014/main" id="{2364E0EB-2169-2B5B-9445-63B8E46F38A4}"/>
              </a:ext>
            </a:extLst>
          </p:cNvPr>
          <p:cNvSpPr/>
          <p:nvPr/>
        </p:nvSpPr>
        <p:spPr>
          <a:xfrm>
            <a:off x="8229600" y="1099930"/>
            <a:ext cx="3432313" cy="13517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C47A49E4-38DB-FA34-8A0F-3CC6ECF6CA55}"/>
              </a:ext>
            </a:extLst>
          </p:cNvPr>
          <p:cNvSpPr/>
          <p:nvPr/>
        </p:nvSpPr>
        <p:spPr>
          <a:xfrm>
            <a:off x="8112503" y="2200257"/>
            <a:ext cx="397565" cy="11926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158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3AFF80-356E-0140-11F0-7957BE9B9D97}"/>
              </a:ext>
            </a:extLst>
          </p:cNvPr>
          <p:cNvPicPr>
            <a:picLocks noChangeAspect="1"/>
          </p:cNvPicPr>
          <p:nvPr/>
        </p:nvPicPr>
        <p:blipFill>
          <a:blip r:embed="rId2"/>
          <a:stretch>
            <a:fillRect/>
          </a:stretch>
        </p:blipFill>
        <p:spPr>
          <a:xfrm>
            <a:off x="6797843" y="198373"/>
            <a:ext cx="5233999" cy="2944124"/>
          </a:xfrm>
          <a:prstGeom prst="rect">
            <a:avLst/>
          </a:prstGeom>
        </p:spPr>
      </p:pic>
      <p:sp>
        <p:nvSpPr>
          <p:cNvPr id="3" name="TextBox 2">
            <a:extLst>
              <a:ext uri="{FF2B5EF4-FFF2-40B4-BE49-F238E27FC236}">
                <a16:creationId xmlns:a16="http://schemas.microsoft.com/office/drawing/2014/main" id="{47AC7194-16E5-8047-E7F5-9A73AD470F3A}"/>
              </a:ext>
            </a:extLst>
          </p:cNvPr>
          <p:cNvSpPr txBox="1"/>
          <p:nvPr/>
        </p:nvSpPr>
        <p:spPr>
          <a:xfrm>
            <a:off x="276727" y="516273"/>
            <a:ext cx="6521116"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rPr>
              <a:t>In step 2 of our exercise, </a:t>
            </a:r>
            <a:r>
              <a:rPr kumimoji="0" lang="en-US" sz="4800" b="1" i="0" u="none" strike="noStrike" kern="1200" cap="none" spc="0" normalizeH="0" baseline="0" noProof="0" dirty="0">
                <a:ln>
                  <a:noFill/>
                </a:ln>
                <a:solidFill>
                  <a:srgbClr val="00B050"/>
                </a:solidFill>
                <a:effectLst/>
                <a:uLnTx/>
                <a:uFillTx/>
                <a:latin typeface="Aptos" panose="02110004020202020204"/>
                <a:ea typeface="+mn-ea"/>
                <a:cs typeface="+mn-cs"/>
              </a:rPr>
              <a:t>I</a:t>
            </a:r>
            <a:r>
              <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rPr>
              <a:t> increased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Arrow: Right 3">
            <a:extLst>
              <a:ext uri="{FF2B5EF4-FFF2-40B4-BE49-F238E27FC236}">
                <a16:creationId xmlns:a16="http://schemas.microsoft.com/office/drawing/2014/main" id="{170E057D-B4E7-0B54-08EA-E3518CC18ED9}"/>
              </a:ext>
            </a:extLst>
          </p:cNvPr>
          <p:cNvSpPr/>
          <p:nvPr/>
        </p:nvSpPr>
        <p:spPr>
          <a:xfrm>
            <a:off x="6749718" y="2237875"/>
            <a:ext cx="372979" cy="372979"/>
          </a:xfrm>
          <a:prstGeom prst="right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953FF735-3D72-38CC-B204-C41D7D40E3D6}"/>
              </a:ext>
            </a:extLst>
          </p:cNvPr>
          <p:cNvSpPr txBox="1"/>
          <p:nvPr/>
        </p:nvSpPr>
        <p:spPr>
          <a:xfrm>
            <a:off x="858253" y="3822924"/>
            <a:ext cx="11333747"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But </a:t>
            </a:r>
            <a:r>
              <a:rPr kumimoji="0" lang="en-US" sz="5400" b="1" i="1" u="none" strike="noStrike" kern="1200" cap="none" spc="0" normalizeH="0" baseline="0" noProof="0" dirty="0">
                <a:ln>
                  <a:noFill/>
                </a:ln>
                <a:solidFill>
                  <a:srgbClr val="C00000"/>
                </a:solidFill>
                <a:effectLst/>
                <a:uLnTx/>
                <a:uFillTx/>
                <a:latin typeface="Aptos" panose="02110004020202020204"/>
                <a:ea typeface="+mn-ea"/>
                <a:cs typeface="+mn-cs"/>
              </a:rPr>
              <a:t>HOW</a:t>
            </a: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 does the multiplier work with an </a:t>
            </a:r>
            <a:r>
              <a:rPr kumimoji="0" lang="en-US" sz="5400" b="1" i="0" u="none" strike="noStrike" kern="1200" cap="none" spc="0" normalizeH="0" baseline="0" noProof="0" dirty="0">
                <a:ln>
                  <a:noFill/>
                </a:ln>
                <a:solidFill>
                  <a:srgbClr val="00B050"/>
                </a:solidFill>
                <a:effectLst/>
                <a:uLnTx/>
                <a:uFillTx/>
                <a:latin typeface="Aptos" panose="02110004020202020204"/>
                <a:ea typeface="+mn-ea"/>
                <a:cs typeface="+mn-cs"/>
              </a:rPr>
              <a:t>I</a:t>
            </a: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 shock? </a:t>
            </a:r>
          </a:p>
        </p:txBody>
      </p:sp>
    </p:spTree>
    <p:extLst>
      <p:ext uri="{BB962C8B-B14F-4D97-AF65-F5344CB8AC3E}">
        <p14:creationId xmlns:p14="http://schemas.microsoft.com/office/powerpoint/2010/main" val="3238398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F238DF-E067-A519-1516-E571B2D8DD4E}"/>
              </a:ext>
            </a:extLst>
          </p:cNvPr>
          <p:cNvSpPr txBox="1"/>
          <p:nvPr/>
        </p:nvSpPr>
        <p:spPr>
          <a:xfrm>
            <a:off x="463826" y="341222"/>
            <a:ext cx="11131826"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5400" b="1" i="1" u="none" strike="noStrike" kern="1200" cap="none" spc="0" normalizeH="0" baseline="0" noProof="0" dirty="0">
                <a:ln>
                  <a:noFill/>
                </a:ln>
                <a:solidFill>
                  <a:prstClr val="black"/>
                </a:solidFill>
                <a:effectLst/>
                <a:uLnTx/>
                <a:uFillTx/>
                <a:latin typeface="Aptos" panose="02110004020202020204"/>
                <a:ea typeface="+mn-ea"/>
                <a:cs typeface="+mn-cs"/>
                <a:hlinkClick r:id="rId3"/>
              </a:rPr>
              <a:t>An aggregate demand shock: A fall in investment </a:t>
            </a:r>
            <a:endParaRPr kumimoji="0" lang="en-ZA" sz="5400" b="1" i="1"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EE1E97C0-1D2B-F49F-3FA5-F1809E5D1AA7}"/>
              </a:ext>
            </a:extLst>
          </p:cNvPr>
          <p:cNvSpPr txBox="1"/>
          <p:nvPr/>
        </p:nvSpPr>
        <p:spPr>
          <a:xfrm>
            <a:off x="53009" y="5518498"/>
            <a:ext cx="12085982" cy="851297"/>
          </a:xfrm>
          <a:prstGeom prst="roundRect">
            <a:avLst/>
          </a:prstGeom>
          <a:noFill/>
          <a:ln w="38100">
            <a:solidFill>
              <a:srgbClr val="C00000"/>
            </a:solidFill>
            <a:prstDash val="sysDot"/>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Assume </a:t>
            </a:r>
            <a:r>
              <a:rPr kumimoji="0" lang="en-US" sz="4400" b="1" i="0" u="none" strike="noStrike" kern="1200" cap="none" spc="0" normalizeH="0" baseline="0" noProof="0" dirty="0">
                <a:ln>
                  <a:noFill/>
                </a:ln>
                <a:solidFill>
                  <a:srgbClr val="00B050"/>
                </a:solidFill>
                <a:effectLst/>
                <a:uLnTx/>
                <a:uFillTx/>
                <a:latin typeface="Aptos" panose="02110004020202020204"/>
                <a:ea typeface="+mn-ea"/>
                <a:cs typeface="+mn-cs"/>
              </a:rPr>
              <a:t>I </a:t>
            </a: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decreases by 15bn euros in figure 3.15</a:t>
            </a:r>
          </a:p>
        </p:txBody>
      </p:sp>
      <p:sp>
        <p:nvSpPr>
          <p:cNvPr id="7" name="TextBox 6">
            <a:extLst>
              <a:ext uri="{FF2B5EF4-FFF2-40B4-BE49-F238E27FC236}">
                <a16:creationId xmlns:a16="http://schemas.microsoft.com/office/drawing/2014/main" id="{34B31F1D-A835-61C7-EF78-35A3DAC7E810}"/>
              </a:ext>
            </a:extLst>
          </p:cNvPr>
          <p:cNvSpPr txBox="1"/>
          <p:nvPr/>
        </p:nvSpPr>
        <p:spPr>
          <a:xfrm>
            <a:off x="523461" y="2191196"/>
            <a:ext cx="11012556"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4000" b="0" i="0" u="none" strike="noStrike" kern="1200" cap="none" spc="0" normalizeH="0" baseline="0" noProof="0" dirty="0">
                <a:ln>
                  <a:noFill/>
                </a:ln>
                <a:solidFill>
                  <a:srgbClr val="423F43"/>
                </a:solidFill>
                <a:effectLst/>
                <a:uLnTx/>
                <a:uFillTx/>
                <a:latin typeface="Crimson Pro"/>
                <a:ea typeface="+mn-ea"/>
                <a:cs typeface="+mn-cs"/>
              </a:rPr>
              <a:t>Remember: </a:t>
            </a:r>
            <a:r>
              <a:rPr kumimoji="0" lang="en-ZA" sz="4000" b="0" i="0" u="sng" strike="noStrike" kern="1200" cap="none" spc="0" normalizeH="0" baseline="0" noProof="0" dirty="0">
                <a:ln>
                  <a:noFill/>
                </a:ln>
                <a:solidFill>
                  <a:srgbClr val="423F43"/>
                </a:solidFill>
                <a:effectLst/>
                <a:uLnTx/>
                <a:uFillTx/>
                <a:latin typeface="Crimson Pro"/>
                <a:ea typeface="+mn-ea"/>
                <a:cs typeface="+mn-cs"/>
              </a:rPr>
              <a:t>∆</a:t>
            </a:r>
            <a:r>
              <a:rPr kumimoji="0" lang="en-ZA" sz="4000" b="1" i="0" u="sng" strike="noStrike" kern="1200" cap="none" spc="0" normalizeH="0" baseline="0" noProof="0" dirty="0">
                <a:ln>
                  <a:noFill/>
                </a:ln>
                <a:solidFill>
                  <a:srgbClr val="7030A0"/>
                </a:solidFill>
                <a:effectLst/>
                <a:uLnTx/>
                <a:uFillTx/>
                <a:latin typeface="Crimson Pro"/>
                <a:ea typeface="+mn-ea"/>
                <a:cs typeface="+mn-cs"/>
              </a:rPr>
              <a:t>c</a:t>
            </a:r>
            <a:r>
              <a:rPr kumimoji="0" lang="en-ZA" sz="4000" b="1" i="0" u="none" strike="noStrike" kern="1200" cap="none" spc="0" normalizeH="0" baseline="-25000" noProof="0" dirty="0">
                <a:ln>
                  <a:noFill/>
                </a:ln>
                <a:solidFill>
                  <a:srgbClr val="7030A0"/>
                </a:solidFill>
                <a:effectLst/>
                <a:uLnTx/>
                <a:uFillTx/>
                <a:latin typeface="Crimson Pro"/>
                <a:ea typeface="+mn-ea"/>
                <a:cs typeface="+mn-cs"/>
              </a:rPr>
              <a:t>0</a:t>
            </a:r>
            <a:r>
              <a:rPr kumimoji="0" lang="en-ZA" sz="4000" b="0" i="0" u="sng" strike="noStrike" kern="1200" cap="none" spc="0" normalizeH="0" baseline="0" noProof="0" dirty="0">
                <a:ln>
                  <a:noFill/>
                </a:ln>
                <a:solidFill>
                  <a:srgbClr val="423F43"/>
                </a:solidFill>
                <a:effectLst/>
                <a:uLnTx/>
                <a:uFillTx/>
                <a:latin typeface="Crimson Pro"/>
                <a:ea typeface="+mn-ea"/>
                <a:cs typeface="+mn-cs"/>
              </a:rPr>
              <a:t> or ∆</a:t>
            </a:r>
            <a:r>
              <a:rPr kumimoji="0" lang="en-ZA" sz="4000" b="1" i="0" u="sng" strike="noStrike" kern="1200" cap="none" spc="0" normalizeH="0" baseline="0" noProof="0" dirty="0">
                <a:ln>
                  <a:noFill/>
                </a:ln>
                <a:solidFill>
                  <a:srgbClr val="00B050"/>
                </a:solidFill>
                <a:effectLst/>
                <a:uLnTx/>
                <a:uFillTx/>
                <a:latin typeface="Crimson Pro"/>
                <a:ea typeface="+mn-ea"/>
                <a:cs typeface="+mn-cs"/>
              </a:rPr>
              <a:t>I</a:t>
            </a:r>
            <a:r>
              <a:rPr kumimoji="0" lang="en-ZA" sz="4000" b="0" i="0" u="sng" strike="noStrike" kern="1200" cap="none" spc="0" normalizeH="0" baseline="0" noProof="0" dirty="0">
                <a:ln>
                  <a:noFill/>
                </a:ln>
                <a:solidFill>
                  <a:srgbClr val="423F43"/>
                </a:solidFill>
                <a:effectLst/>
                <a:uLnTx/>
                <a:uFillTx/>
                <a:latin typeface="Crimson Pro"/>
                <a:ea typeface="+mn-ea"/>
                <a:cs typeface="+mn-cs"/>
              </a:rPr>
              <a:t> </a:t>
            </a:r>
            <a:r>
              <a:rPr kumimoji="0" lang="en-ZA" sz="4000" b="0" i="0" u="none" strike="noStrike" kern="1200" cap="none" spc="0" normalizeH="0" baseline="0" noProof="0" dirty="0">
                <a:ln>
                  <a:noFill/>
                </a:ln>
                <a:solidFill>
                  <a:srgbClr val="423F43"/>
                </a:solidFill>
                <a:effectLst/>
                <a:uLnTx/>
                <a:uFillTx/>
                <a:latin typeface="Crimson Pro"/>
                <a:ea typeface="+mn-ea"/>
                <a:cs typeface="+mn-cs"/>
              </a:rPr>
              <a:t>displace the old equilibrium (Y) since they ∆AD, which in turn alters the level of Y and N</a:t>
            </a:r>
            <a:endParaRPr kumimoji="0" lang="en-ZA" sz="4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33CE763A-9D3E-8FB0-A35C-0636A42582A4}"/>
              </a:ext>
            </a:extLst>
          </p:cNvPr>
          <p:cNvSpPr txBox="1"/>
          <p:nvPr/>
        </p:nvSpPr>
        <p:spPr>
          <a:xfrm>
            <a:off x="2001078" y="4130188"/>
            <a:ext cx="6096000" cy="10156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6000" b="0" i="0" u="none" strike="noStrike" kern="1200" cap="none" spc="0" normalizeH="0" baseline="0" noProof="0" dirty="0">
                <a:ln>
                  <a:noFill/>
                </a:ln>
                <a:solidFill>
                  <a:srgbClr val="423F43"/>
                </a:solidFill>
                <a:effectLst/>
                <a:uLnTx/>
                <a:uFillTx/>
                <a:latin typeface="Crimson Pro"/>
                <a:ea typeface="+mn-ea"/>
                <a:cs typeface="+mn-cs"/>
              </a:rPr>
              <a:t>∆AD</a:t>
            </a:r>
            <a:r>
              <a:rPr kumimoji="0" lang="en-ZA" sz="6000" b="0" i="0" u="none" strike="noStrike" kern="1200" cap="none" spc="0" normalizeH="0" baseline="-25000" noProof="0" dirty="0">
                <a:ln>
                  <a:noFill/>
                </a:ln>
                <a:solidFill>
                  <a:srgbClr val="423F43"/>
                </a:solidFill>
                <a:effectLst/>
                <a:uLnTx/>
                <a:uFillTx/>
                <a:latin typeface="Crimson Pro"/>
                <a:ea typeface="+mn-ea"/>
                <a:cs typeface="+mn-cs"/>
              </a:rPr>
              <a:t>0</a:t>
            </a:r>
            <a:r>
              <a:rPr kumimoji="0" lang="en-ZA" sz="6000" b="0" i="0" u="none" strike="noStrike" kern="1200" cap="none" spc="0" normalizeH="0" baseline="0" noProof="0" dirty="0">
                <a:ln>
                  <a:noFill/>
                </a:ln>
                <a:solidFill>
                  <a:srgbClr val="423F43"/>
                </a:solidFill>
                <a:effectLst/>
                <a:uLnTx/>
                <a:uFillTx/>
                <a:latin typeface="Crimson Pro"/>
                <a:ea typeface="+mn-ea"/>
                <a:cs typeface="+mn-cs"/>
              </a:rPr>
              <a:t> </a:t>
            </a:r>
            <a:r>
              <a:rPr kumimoji="0" lang="en-ZA" sz="6000" b="0" i="0" u="none" strike="noStrike" kern="1200" cap="none" spc="0" normalizeH="0" baseline="0" noProof="0" dirty="0">
                <a:ln>
                  <a:noFill/>
                </a:ln>
                <a:solidFill>
                  <a:srgbClr val="423F43"/>
                </a:solidFill>
                <a:effectLst/>
                <a:uLnTx/>
                <a:uFillTx/>
                <a:latin typeface="Crimson Pro"/>
                <a:ea typeface="+mn-ea"/>
                <a:cs typeface="+mn-cs"/>
                <a:sym typeface="Wingdings 3" panose="05040102010807070707" pitchFamily="18" charset="2"/>
              </a:rPr>
              <a:t> ∆Y</a:t>
            </a:r>
            <a:endParaRPr kumimoji="0" lang="en-ZA" sz="4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392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DBCBF-9AEA-8099-4606-4EC4713119E6}"/>
              </a:ext>
            </a:extLst>
          </p:cNvPr>
          <p:cNvSpPr>
            <a:spLocks noGrp="1"/>
          </p:cNvSpPr>
          <p:nvPr>
            <p:ph type="title"/>
          </p:nvPr>
        </p:nvSpPr>
        <p:spPr>
          <a:xfrm>
            <a:off x="569843" y="192847"/>
            <a:ext cx="11622157" cy="1325563"/>
          </a:xfrm>
        </p:spPr>
        <p:txBody>
          <a:bodyPr>
            <a:normAutofit fontScale="90000"/>
          </a:bodyPr>
          <a:lstStyle/>
          <a:p>
            <a:r>
              <a:rPr lang="en-US" sz="4000" b="1" dirty="0"/>
              <a:t>Summary: An aggregate demand shock: A fall in investment</a:t>
            </a:r>
            <a:br>
              <a:rPr lang="en-US" b="1" dirty="0"/>
            </a:br>
            <a:endParaRPr lang="en-ZA" dirty="0"/>
          </a:p>
        </p:txBody>
      </p:sp>
      <p:sp>
        <p:nvSpPr>
          <p:cNvPr id="4" name="Content Placeholder 3">
            <a:extLst>
              <a:ext uri="{FF2B5EF4-FFF2-40B4-BE49-F238E27FC236}">
                <a16:creationId xmlns:a16="http://schemas.microsoft.com/office/drawing/2014/main" id="{C61370EB-8729-042F-58FA-8E8E200112D6}"/>
              </a:ext>
            </a:extLst>
          </p:cNvPr>
          <p:cNvSpPr>
            <a:spLocks noGrp="1"/>
          </p:cNvSpPr>
          <p:nvPr>
            <p:ph sz="half" idx="1"/>
          </p:nvPr>
        </p:nvSpPr>
        <p:spPr>
          <a:xfrm>
            <a:off x="159026" y="1047645"/>
            <a:ext cx="5860774" cy="5843486"/>
          </a:xfrm>
        </p:spPr>
        <p:txBody>
          <a:bodyPr>
            <a:normAutofit lnSpcReduction="10000"/>
          </a:bodyPr>
          <a:lstStyle/>
          <a:p>
            <a:pPr marL="0" indent="0">
              <a:buNone/>
            </a:pPr>
            <a:r>
              <a:rPr lang="en-US" sz="2000" dirty="0"/>
              <a:t>Remember: when ∆Y</a:t>
            </a:r>
            <a:r>
              <a:rPr lang="en-US" sz="2000" dirty="0">
                <a:sym typeface="Wingdings 3" panose="05040102010807070707" pitchFamily="18" charset="2"/>
              </a:rPr>
              <a:t> ∆AD = MPC x </a:t>
            </a:r>
            <a:r>
              <a:rPr lang="en-US" sz="2000" dirty="0"/>
              <a:t>∆Y</a:t>
            </a:r>
          </a:p>
          <a:p>
            <a:pPr marL="0" indent="0">
              <a:buNone/>
            </a:pPr>
            <a:r>
              <a:rPr lang="en-US" sz="2000" dirty="0"/>
              <a:t>∆I</a:t>
            </a:r>
            <a:r>
              <a:rPr lang="en-US" sz="2000" dirty="0">
                <a:sym typeface="Wingdings 3" panose="05040102010807070707" pitchFamily="18" charset="2"/>
              </a:rPr>
              <a:t> = </a:t>
            </a:r>
            <a:r>
              <a:rPr lang="en-US" sz="2000" dirty="0"/>
              <a:t>€15 billion</a:t>
            </a:r>
          </a:p>
          <a:p>
            <a:r>
              <a:rPr lang="en-US" sz="2000" dirty="0"/>
              <a:t>economy moves vertically downward from D to E. </a:t>
            </a:r>
            <a:r>
              <a:rPr lang="en-US" sz="2000" b="1" dirty="0">
                <a:solidFill>
                  <a:srgbClr val="0070C0"/>
                </a:solidFill>
              </a:rPr>
              <a:t>E</a:t>
            </a:r>
            <a:r>
              <a:rPr lang="en-US" sz="2000" dirty="0"/>
              <a:t> is not an equilibrium (not on 45-degree line)</a:t>
            </a:r>
          </a:p>
          <a:p>
            <a:pPr marL="457200" lvl="1" indent="0">
              <a:buNone/>
            </a:pPr>
            <a:r>
              <a:rPr lang="en-US" sz="1800" dirty="0"/>
              <a:t>AD is below output – increase in unsold goods (change in inventories positive) – national accounts identity still holds at E</a:t>
            </a:r>
          </a:p>
          <a:p>
            <a:pPr marL="457200" lvl="1" indent="0">
              <a:buNone/>
            </a:pPr>
            <a:r>
              <a:rPr lang="en-US" sz="1600" dirty="0"/>
              <a:t>since demand lower; unsold goods piling up – firms cut back production and reduce N</a:t>
            </a:r>
          </a:p>
          <a:p>
            <a:pPr marL="457200" lvl="1" indent="0">
              <a:buNone/>
            </a:pPr>
            <a:r>
              <a:rPr lang="en-US" sz="1600" dirty="0"/>
              <a:t>with output  and N lower, incomes fall by €15 billion</a:t>
            </a:r>
          </a:p>
          <a:p>
            <a:r>
              <a:rPr lang="en-US" sz="2000" dirty="0"/>
              <a:t>This is the move from E to </a:t>
            </a:r>
            <a:r>
              <a:rPr lang="en-US" sz="2000" b="1" dirty="0">
                <a:solidFill>
                  <a:srgbClr val="0070C0"/>
                </a:solidFill>
              </a:rPr>
              <a:t>F</a:t>
            </a:r>
          </a:p>
          <a:p>
            <a:pPr marL="457200" lvl="1" indent="0">
              <a:buNone/>
            </a:pPr>
            <a:r>
              <a:rPr lang="en-US" sz="1600" dirty="0"/>
              <a:t>Less output produced and sold – fewer people are employed </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a:t>
            </a:r>
            <a:r>
              <a:rPr lang="en-US" sz="1600" dirty="0"/>
              <a:t> households’  incomes fall – reduce consumption</a:t>
            </a:r>
          </a:p>
          <a:p>
            <a:pPr marL="457200" lvl="1" indent="0">
              <a:buNone/>
            </a:pPr>
            <a:r>
              <a:rPr lang="en-US" sz="1600" dirty="0"/>
              <a:t>C initially falls by 0,6 x ∆Y</a:t>
            </a:r>
          </a:p>
          <a:p>
            <a:r>
              <a:rPr lang="en-US" sz="2000" dirty="0"/>
              <a:t>This is the distance from F to </a:t>
            </a:r>
            <a:r>
              <a:rPr lang="en-US" sz="2000" b="1" dirty="0">
                <a:solidFill>
                  <a:srgbClr val="0070C0"/>
                </a:solidFill>
              </a:rPr>
              <a:t>G</a:t>
            </a:r>
          </a:p>
          <a:p>
            <a:r>
              <a:rPr lang="en-US" sz="2000" dirty="0"/>
              <a:t>Output </a:t>
            </a:r>
            <a:r>
              <a:rPr lang="en-US" sz="2000" dirty="0">
                <a:sym typeface="Wingdings 3" panose="05040102010807070707" pitchFamily="18" charset="2"/>
              </a:rPr>
              <a:t></a:t>
            </a:r>
            <a:r>
              <a:rPr lang="en-US" sz="2000" dirty="0"/>
              <a:t>, economy moves from G to </a:t>
            </a:r>
            <a:r>
              <a:rPr lang="en-US" sz="2000" b="1" dirty="0">
                <a:solidFill>
                  <a:srgbClr val="0070C0"/>
                </a:solidFill>
              </a:rPr>
              <a:t>H</a:t>
            </a:r>
          </a:p>
          <a:p>
            <a:r>
              <a:rPr lang="en-US" sz="2000" dirty="0"/>
              <a:t>The </a:t>
            </a:r>
            <a:r>
              <a:rPr lang="en-US" sz="2000" b="1" dirty="0">
                <a:solidFill>
                  <a:srgbClr val="0070C0"/>
                </a:solidFill>
              </a:rPr>
              <a:t>process</a:t>
            </a:r>
            <a:r>
              <a:rPr lang="en-US" sz="2000" dirty="0"/>
              <a:t> will go on until the economy reaches point </a:t>
            </a:r>
            <a:r>
              <a:rPr lang="en-US" sz="2000" b="1" dirty="0">
                <a:solidFill>
                  <a:srgbClr val="0070C0"/>
                </a:solidFill>
              </a:rPr>
              <a:t>Z</a:t>
            </a:r>
          </a:p>
          <a:p>
            <a:pPr marL="457200" lvl="1" indent="0">
              <a:buNone/>
            </a:pPr>
            <a:r>
              <a:rPr lang="en-US" sz="1600" dirty="0"/>
              <a:t>This is where the new AD line crosses the 45-degree line—it is the new equilibrium</a:t>
            </a:r>
          </a:p>
          <a:p>
            <a:endParaRPr lang="en-ZA" sz="1800" dirty="0"/>
          </a:p>
          <a:p>
            <a:endParaRPr lang="en-ZA" sz="1800" dirty="0"/>
          </a:p>
        </p:txBody>
      </p:sp>
      <p:pic>
        <p:nvPicPr>
          <p:cNvPr id="6" name="Content Placeholder 5" descr="A diagram of a graph&#10;&#10;Description automatically generated">
            <a:extLst>
              <a:ext uri="{FF2B5EF4-FFF2-40B4-BE49-F238E27FC236}">
                <a16:creationId xmlns:a16="http://schemas.microsoft.com/office/drawing/2014/main" id="{28BB0CDD-6D16-BAB6-1018-7907B5EBC13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02036" y="1113905"/>
            <a:ext cx="6289964" cy="5378970"/>
          </a:xfrm>
          <a:prstGeom prst="rect">
            <a:avLst/>
          </a:prstGeom>
        </p:spPr>
      </p:pic>
    </p:spTree>
    <p:extLst>
      <p:ext uri="{BB962C8B-B14F-4D97-AF65-F5344CB8AC3E}">
        <p14:creationId xmlns:p14="http://schemas.microsoft.com/office/powerpoint/2010/main" val="3665082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2F795-0914-87F8-C671-BE4A1DD90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837A6-80C9-85B3-EE60-A30D41C2D5DF}"/>
              </a:ext>
            </a:extLst>
          </p:cNvPr>
          <p:cNvSpPr>
            <a:spLocks noGrp="1"/>
          </p:cNvSpPr>
          <p:nvPr>
            <p:ph type="title"/>
          </p:nvPr>
        </p:nvSpPr>
        <p:spPr/>
        <p:txBody>
          <a:bodyPr/>
          <a:lstStyle/>
          <a:p>
            <a:pPr algn="ctr"/>
            <a:r>
              <a:rPr lang="en-GB" sz="4400" dirty="0">
                <a:latin typeface="Source Sans Pro" panose="020B0503030403020204" pitchFamily="34" charset="0"/>
                <a:ea typeface="Source Sans Pro" panose="020B0503030403020204" pitchFamily="34" charset="0"/>
              </a:rPr>
              <a:t>Calculating the multiplier: the private economy</a:t>
            </a:r>
            <a:endParaRPr lang="en-GB" dirty="0">
              <a:latin typeface="Source Sans Pro" panose="020B0503030403020204" pitchFamily="34" charset="0"/>
              <a:ea typeface="Source Sans Pro" panose="020B0503030403020204" pitchFamily="34" charset="0"/>
            </a:endParaRPr>
          </a:p>
        </p:txBody>
      </p:sp>
      <p:pic>
        <p:nvPicPr>
          <p:cNvPr id="23554" name="Picture 2">
            <a:extLst>
              <a:ext uri="{FF2B5EF4-FFF2-40B4-BE49-F238E27FC236}">
                <a16:creationId xmlns:a16="http://schemas.microsoft.com/office/drawing/2014/main" id="{4C2D7B11-34BF-5161-E096-F1642849F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625" y="1802298"/>
            <a:ext cx="4379839" cy="1678938"/>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a:extLst>
              <a:ext uri="{FF2B5EF4-FFF2-40B4-BE49-F238E27FC236}">
                <a16:creationId xmlns:a16="http://schemas.microsoft.com/office/drawing/2014/main" id="{550DB77E-A879-D0B4-9C4B-9302E32FBA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424" y="3272959"/>
            <a:ext cx="4242216" cy="1185325"/>
          </a:xfrm>
          <a:prstGeom prst="rect">
            <a:avLst/>
          </a:prstGeom>
          <a:noFill/>
          <a:extLst>
            <a:ext uri="{909E8E84-426E-40DD-AFC4-6F175D3DCCD1}">
              <a14:hiddenFill xmlns:a14="http://schemas.microsoft.com/office/drawing/2010/main">
                <a:solidFill>
                  <a:srgbClr val="FFFFFF"/>
                </a:solidFill>
              </a14:hiddenFill>
            </a:ext>
          </a:extLst>
        </p:spPr>
      </p:pic>
      <p:pic>
        <p:nvPicPr>
          <p:cNvPr id="23558" name="Picture 6">
            <a:extLst>
              <a:ext uri="{FF2B5EF4-FFF2-40B4-BE49-F238E27FC236}">
                <a16:creationId xmlns:a16="http://schemas.microsoft.com/office/drawing/2014/main" id="{88DBDE67-E925-230F-A132-D61A2E08A2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4168246"/>
            <a:ext cx="4765625" cy="1374137"/>
          </a:xfrm>
          <a:prstGeom prst="rect">
            <a:avLst/>
          </a:prstGeom>
          <a:noFill/>
          <a:extLst>
            <a:ext uri="{909E8E84-426E-40DD-AFC4-6F175D3DCCD1}">
              <a14:hiddenFill xmlns:a14="http://schemas.microsoft.com/office/drawing/2010/main">
                <a:solidFill>
                  <a:srgbClr val="FFFFFF"/>
                </a:solidFill>
              </a14:hiddenFill>
            </a:ext>
          </a:extLst>
        </p:spPr>
      </p:pic>
      <p:pic>
        <p:nvPicPr>
          <p:cNvPr id="23560" name="Picture 8">
            <a:extLst>
              <a:ext uri="{FF2B5EF4-FFF2-40B4-BE49-F238E27FC236}">
                <a16:creationId xmlns:a16="http://schemas.microsoft.com/office/drawing/2014/main" id="{19C27B23-C3CF-7845-F751-299CDCF1C9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199" y="5285518"/>
            <a:ext cx="6229203" cy="15519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5A8C024-5882-1B4A-01BD-3769C827617A}"/>
              </a:ext>
            </a:extLst>
          </p:cNvPr>
          <p:cNvPicPr>
            <a:picLocks noChangeAspect="1"/>
          </p:cNvPicPr>
          <p:nvPr/>
        </p:nvPicPr>
        <p:blipFill>
          <a:blip r:embed="rId7"/>
          <a:stretch>
            <a:fillRect/>
          </a:stretch>
        </p:blipFill>
        <p:spPr>
          <a:xfrm>
            <a:off x="6423708" y="1690689"/>
            <a:ext cx="5334368" cy="3000582"/>
          </a:xfrm>
          <a:prstGeom prst="rect">
            <a:avLst/>
          </a:prstGeom>
          <a:ln w="38100">
            <a:solidFill>
              <a:srgbClr val="C00000"/>
            </a:solidFill>
            <a:prstDash val="sysDot"/>
          </a:ln>
        </p:spPr>
      </p:pic>
    </p:spTree>
    <p:extLst>
      <p:ext uri="{BB962C8B-B14F-4D97-AF65-F5344CB8AC3E}">
        <p14:creationId xmlns:p14="http://schemas.microsoft.com/office/powerpoint/2010/main" val="8568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fade">
                                      <p:cBhvr>
                                        <p:cTn id="7" dur="500"/>
                                        <p:tgtEl>
                                          <p:spTgt spid="235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56"/>
                                        </p:tgtEl>
                                        <p:attrNameLst>
                                          <p:attrName>style.visibility</p:attrName>
                                        </p:attrNameLst>
                                      </p:cBhvr>
                                      <p:to>
                                        <p:strVal val="visible"/>
                                      </p:to>
                                    </p:set>
                                    <p:animEffect transition="in" filter="fade">
                                      <p:cBhvr>
                                        <p:cTn id="12" dur="500"/>
                                        <p:tgtEl>
                                          <p:spTgt spid="235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558"/>
                                        </p:tgtEl>
                                        <p:attrNameLst>
                                          <p:attrName>style.visibility</p:attrName>
                                        </p:attrNameLst>
                                      </p:cBhvr>
                                      <p:to>
                                        <p:strVal val="visible"/>
                                      </p:to>
                                    </p:set>
                                    <p:animEffect transition="in" filter="fade">
                                      <p:cBhvr>
                                        <p:cTn id="17" dur="500"/>
                                        <p:tgtEl>
                                          <p:spTgt spid="235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560"/>
                                        </p:tgtEl>
                                        <p:attrNameLst>
                                          <p:attrName>style.visibility</p:attrName>
                                        </p:attrNameLst>
                                      </p:cBhvr>
                                      <p:to>
                                        <p:strVal val="visible"/>
                                      </p:to>
                                    </p:set>
                                    <p:animEffect transition="in" filter="fade">
                                      <p:cBhvr>
                                        <p:cTn id="22" dur="500"/>
                                        <p:tgtEl>
                                          <p:spTgt spid="2356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C805F-F9C6-30B5-3077-69A87282F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7E55A-07D4-F319-4F15-F718280C4D00}"/>
              </a:ext>
            </a:extLst>
          </p:cNvPr>
          <p:cNvSpPr>
            <a:spLocks noGrp="1"/>
          </p:cNvSpPr>
          <p:nvPr>
            <p:ph type="title"/>
          </p:nvPr>
        </p:nvSpPr>
        <p:spPr/>
        <p:txBody>
          <a:bodyPr/>
          <a:lstStyle/>
          <a:p>
            <a:pPr algn="ctr"/>
            <a:r>
              <a:rPr lang="en-GB" sz="4400" dirty="0">
                <a:latin typeface="Source Sans Pro" panose="020B0503030403020204" pitchFamily="34" charset="0"/>
                <a:ea typeface="Source Sans Pro" panose="020B0503030403020204" pitchFamily="34" charset="0"/>
              </a:rPr>
              <a:t>Calculating the multiplier: the private economy</a:t>
            </a:r>
            <a:endParaRPr lang="en-GB" dirty="0">
              <a:latin typeface="Source Sans Pro" panose="020B0503030403020204" pitchFamily="34" charset="0"/>
              <a:ea typeface="Source Sans Pro" panose="020B0503030403020204" pitchFamily="34" charset="0"/>
            </a:endParaRPr>
          </a:p>
        </p:txBody>
      </p:sp>
      <p:pic>
        <p:nvPicPr>
          <p:cNvPr id="23554" name="Picture 2">
            <a:extLst>
              <a:ext uri="{FF2B5EF4-FFF2-40B4-BE49-F238E27FC236}">
                <a16:creationId xmlns:a16="http://schemas.microsoft.com/office/drawing/2014/main" id="{BCFEE932-FB47-4D1D-07FF-341502194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625" y="1802298"/>
            <a:ext cx="4379839" cy="1678938"/>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a:extLst>
              <a:ext uri="{FF2B5EF4-FFF2-40B4-BE49-F238E27FC236}">
                <a16:creationId xmlns:a16="http://schemas.microsoft.com/office/drawing/2014/main" id="{C1C139D3-711D-9C7F-9832-8C8E765762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424" y="3272959"/>
            <a:ext cx="4242216" cy="1185325"/>
          </a:xfrm>
          <a:prstGeom prst="rect">
            <a:avLst/>
          </a:prstGeom>
          <a:noFill/>
          <a:extLst>
            <a:ext uri="{909E8E84-426E-40DD-AFC4-6F175D3DCCD1}">
              <a14:hiddenFill xmlns:a14="http://schemas.microsoft.com/office/drawing/2010/main">
                <a:solidFill>
                  <a:srgbClr val="FFFFFF"/>
                </a:solidFill>
              </a14:hiddenFill>
            </a:ext>
          </a:extLst>
        </p:spPr>
      </p:pic>
      <p:pic>
        <p:nvPicPr>
          <p:cNvPr id="23558" name="Picture 6">
            <a:extLst>
              <a:ext uri="{FF2B5EF4-FFF2-40B4-BE49-F238E27FC236}">
                <a16:creationId xmlns:a16="http://schemas.microsoft.com/office/drawing/2014/main" id="{CDC7007E-59D8-3E3C-C488-B54A126996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4168246"/>
            <a:ext cx="4765625" cy="1374137"/>
          </a:xfrm>
          <a:prstGeom prst="rect">
            <a:avLst/>
          </a:prstGeom>
          <a:noFill/>
          <a:extLst>
            <a:ext uri="{909E8E84-426E-40DD-AFC4-6F175D3DCCD1}">
              <a14:hiddenFill xmlns:a14="http://schemas.microsoft.com/office/drawing/2010/main">
                <a:solidFill>
                  <a:srgbClr val="FFFFFF"/>
                </a:solidFill>
              </a14:hiddenFill>
            </a:ext>
          </a:extLst>
        </p:spPr>
      </p:pic>
      <p:pic>
        <p:nvPicPr>
          <p:cNvPr id="23560" name="Picture 8">
            <a:extLst>
              <a:ext uri="{FF2B5EF4-FFF2-40B4-BE49-F238E27FC236}">
                <a16:creationId xmlns:a16="http://schemas.microsoft.com/office/drawing/2014/main" id="{06ADD606-FCE8-B5D6-C656-A8973BA9F7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199" y="5285518"/>
            <a:ext cx="6229203" cy="15519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50DD891-51DB-0E9F-2139-E30907D2AAFE}"/>
              </a:ext>
            </a:extLst>
          </p:cNvPr>
          <p:cNvSpPr txBox="1"/>
          <p:nvPr/>
        </p:nvSpPr>
        <p:spPr>
          <a:xfrm>
            <a:off x="6573078" y="1812253"/>
            <a:ext cx="5618922" cy="954107"/>
          </a:xfrm>
          <a:prstGeom prst="rect">
            <a:avLst/>
          </a:prstGeom>
          <a:solidFill>
            <a:srgbClr val="00B05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For example, suppose investment changes by an amount </a:t>
            </a:r>
            <a:r>
              <a:rPr kumimoji="0" lang="en-GB" sz="28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sym typeface="Symbol" panose="05050102010706020507" pitchFamily="18" charset="2"/>
              </a:rPr>
              <a:t></a:t>
            </a:r>
            <a:r>
              <a:rPr kumimoji="0" lang="en-GB" sz="2800" b="1" i="0" u="none" strike="noStrike" kern="1200" cap="none" spc="0" normalizeH="0" baseline="0" noProof="0" dirty="0">
                <a:ln>
                  <a:noFill/>
                </a:ln>
                <a:solidFill>
                  <a:prstClr val="white"/>
                </a:solidFill>
                <a:effectLst/>
                <a:uLnTx/>
                <a:uFillTx/>
                <a:latin typeface="Source Sans Pro" panose="020B0503030403020204" pitchFamily="34" charset="0"/>
                <a:ea typeface="Source Sans Pro" panose="020B0503030403020204" pitchFamily="34" charset="0"/>
                <a:cs typeface="+mn-cs"/>
              </a:rPr>
              <a:t>I:</a:t>
            </a:r>
          </a:p>
        </p:txBody>
      </p:sp>
      <p:pic>
        <p:nvPicPr>
          <p:cNvPr id="23562" name="Picture 10">
            <a:extLst>
              <a:ext uri="{FF2B5EF4-FFF2-40B4-BE49-F238E27FC236}">
                <a16:creationId xmlns:a16="http://schemas.microsoft.com/office/drawing/2014/main" id="{0DDB709D-7D7D-2EC0-4326-506067BBE2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73078" y="2932705"/>
            <a:ext cx="5511909" cy="1045362"/>
          </a:xfrm>
          <a:prstGeom prst="rect">
            <a:avLst/>
          </a:prstGeom>
          <a:noFill/>
          <a:extLst>
            <a:ext uri="{909E8E84-426E-40DD-AFC4-6F175D3DCCD1}">
              <a14:hiddenFill xmlns:a14="http://schemas.microsoft.com/office/drawing/2010/main">
                <a:solidFill>
                  <a:srgbClr val="FFFFFF"/>
                </a:solidFill>
              </a14:hiddenFill>
            </a:ext>
          </a:extLst>
        </p:spPr>
      </p:pic>
      <p:pic>
        <p:nvPicPr>
          <p:cNvPr id="23564" name="Picture 12">
            <a:extLst>
              <a:ext uri="{FF2B5EF4-FFF2-40B4-BE49-F238E27FC236}">
                <a16:creationId xmlns:a16="http://schemas.microsoft.com/office/drawing/2014/main" id="{58181844-5FF1-A765-C46C-C1AAC31E64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55874" y="3805088"/>
            <a:ext cx="5453330" cy="1123550"/>
          </a:xfrm>
          <a:prstGeom prst="rect">
            <a:avLst/>
          </a:prstGeom>
          <a:noFill/>
          <a:extLst>
            <a:ext uri="{909E8E84-426E-40DD-AFC4-6F175D3DCCD1}">
              <a14:hiddenFill xmlns:a14="http://schemas.microsoft.com/office/drawing/2010/main">
                <a:solidFill>
                  <a:srgbClr val="FFFFFF"/>
                </a:solidFill>
              </a14:hiddenFill>
            </a:ext>
          </a:extLst>
        </p:spPr>
      </p:pic>
      <p:pic>
        <p:nvPicPr>
          <p:cNvPr id="23568" name="Picture 16">
            <a:extLst>
              <a:ext uri="{FF2B5EF4-FFF2-40B4-BE49-F238E27FC236}">
                <a16:creationId xmlns:a16="http://schemas.microsoft.com/office/drawing/2014/main" id="{4539C12D-15CA-0B8D-2692-D794B9A01FA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66426" y="4815712"/>
            <a:ext cx="2925211" cy="1828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628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62"/>
                                        </p:tgtEl>
                                        <p:attrNameLst>
                                          <p:attrName>style.visibility</p:attrName>
                                        </p:attrNameLst>
                                      </p:cBhvr>
                                      <p:to>
                                        <p:strVal val="visible"/>
                                      </p:to>
                                    </p:set>
                                    <p:animEffect transition="in" filter="fade">
                                      <p:cBhvr>
                                        <p:cTn id="7" dur="500"/>
                                        <p:tgtEl>
                                          <p:spTgt spid="235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64"/>
                                        </p:tgtEl>
                                        <p:attrNameLst>
                                          <p:attrName>style.visibility</p:attrName>
                                        </p:attrNameLst>
                                      </p:cBhvr>
                                      <p:to>
                                        <p:strVal val="visible"/>
                                      </p:to>
                                    </p:set>
                                    <p:animEffect transition="in" filter="fade">
                                      <p:cBhvr>
                                        <p:cTn id="12" dur="500"/>
                                        <p:tgtEl>
                                          <p:spTgt spid="235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568"/>
                                        </p:tgtEl>
                                        <p:attrNameLst>
                                          <p:attrName>style.visibility</p:attrName>
                                        </p:attrNameLst>
                                      </p:cBhvr>
                                      <p:to>
                                        <p:strVal val="visible"/>
                                      </p:to>
                                    </p:set>
                                    <p:animEffect transition="in" filter="fade">
                                      <p:cBhvr>
                                        <p:cTn id="17" dur="500"/>
                                        <p:tgtEl>
                                          <p:spTgt spid="23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877023" y="123462"/>
            <a:ext cx="10515600" cy="1325563"/>
          </a:xfrm>
        </p:spPr>
        <p:txBody>
          <a:bodyPr/>
          <a:lstStyle/>
          <a:p>
            <a:pPr algn="ctr"/>
            <a:r>
              <a:rPr lang="en-GB" sz="4400" dirty="0">
                <a:latin typeface="Source Sans Pro" panose="020B0503030403020204" pitchFamily="34" charset="0"/>
                <a:ea typeface="Source Sans Pro" panose="020B0503030403020204" pitchFamily="34" charset="0"/>
              </a:rPr>
              <a:t>Calculating the multiplier: the private economy</a:t>
            </a:r>
            <a:endParaRPr lang="en-GB" dirty="0">
              <a:latin typeface="Source Sans Pro" panose="020B0503030403020204" pitchFamily="34" charset="0"/>
              <a:ea typeface="Source Sans Pro" panose="020B0503030403020204" pitchFamily="34" charset="0"/>
            </a:endParaRPr>
          </a:p>
        </p:txBody>
      </p:sp>
      <p:pic>
        <p:nvPicPr>
          <p:cNvPr id="4" name="Picture 3">
            <a:extLst>
              <a:ext uri="{FF2B5EF4-FFF2-40B4-BE49-F238E27FC236}">
                <a16:creationId xmlns:a16="http://schemas.microsoft.com/office/drawing/2014/main" id="{2C5F970C-CA9E-B37A-B792-1F02997061B5}"/>
              </a:ext>
            </a:extLst>
          </p:cNvPr>
          <p:cNvPicPr>
            <a:picLocks noChangeAspect="1"/>
          </p:cNvPicPr>
          <p:nvPr/>
        </p:nvPicPr>
        <p:blipFill>
          <a:blip r:embed="rId3"/>
          <a:stretch>
            <a:fillRect/>
          </a:stretch>
        </p:blipFill>
        <p:spPr>
          <a:xfrm>
            <a:off x="7858707" y="1652656"/>
            <a:ext cx="3533916" cy="1987828"/>
          </a:xfrm>
          <a:prstGeom prst="rect">
            <a:avLst/>
          </a:prstGeom>
          <a:ln w="38100">
            <a:solidFill>
              <a:srgbClr val="C00000"/>
            </a:solidFill>
            <a:prstDash val="sysDot"/>
          </a:ln>
        </p:spPr>
      </p:pic>
      <p:pic>
        <p:nvPicPr>
          <p:cNvPr id="7" name="Picture 6">
            <a:extLst>
              <a:ext uri="{FF2B5EF4-FFF2-40B4-BE49-F238E27FC236}">
                <a16:creationId xmlns:a16="http://schemas.microsoft.com/office/drawing/2014/main" id="{E0D824B0-7569-4FA0-2F60-6639AC84C3F7}"/>
              </a:ext>
            </a:extLst>
          </p:cNvPr>
          <p:cNvPicPr>
            <a:picLocks noChangeAspect="1"/>
          </p:cNvPicPr>
          <p:nvPr/>
        </p:nvPicPr>
        <p:blipFill>
          <a:blip r:embed="rId4"/>
          <a:stretch>
            <a:fillRect/>
          </a:stretch>
        </p:blipFill>
        <p:spPr>
          <a:xfrm>
            <a:off x="7568240" y="3777077"/>
            <a:ext cx="4424978" cy="2901122"/>
          </a:xfrm>
          <a:prstGeom prst="rect">
            <a:avLst/>
          </a:prstGeom>
          <a:ln w="38100">
            <a:solidFill>
              <a:srgbClr val="C00000"/>
            </a:solidFill>
            <a:prstDash val="sysDot"/>
          </a:ln>
        </p:spPr>
      </p:pic>
      <p:pic>
        <p:nvPicPr>
          <p:cNvPr id="9" name="Picture 6">
            <a:extLst>
              <a:ext uri="{FF2B5EF4-FFF2-40B4-BE49-F238E27FC236}">
                <a16:creationId xmlns:a16="http://schemas.microsoft.com/office/drawing/2014/main" id="{6FA394EF-BCF1-8A52-635C-0A33544FEA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5037" y="2859877"/>
            <a:ext cx="5350565" cy="1542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268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4479BA-67A2-2720-2672-7B2CC1180547}"/>
              </a:ext>
            </a:extLst>
          </p:cNvPr>
          <p:cNvSpPr txBox="1"/>
          <p:nvPr/>
        </p:nvSpPr>
        <p:spPr>
          <a:xfrm>
            <a:off x="821635" y="941769"/>
            <a:ext cx="6096000"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4000" b="1" i="0" u="none" strike="noStrike" kern="1200" cap="all" spc="0" normalizeH="0" baseline="0" noProof="0" dirty="0">
                <a:ln>
                  <a:noFill/>
                </a:ln>
                <a:solidFill>
                  <a:prstClr val="black"/>
                </a:solidFill>
                <a:effectLst/>
                <a:uLnTx/>
                <a:uFillTx/>
                <a:latin typeface="Source Sans Pro" panose="020B0503030403020204" pitchFamily="34" charset="0"/>
                <a:ea typeface="+mn-ea"/>
                <a:cs typeface="+mn-cs"/>
              </a:rPr>
              <a:t>D</a:t>
            </a:r>
            <a:r>
              <a:rPr kumimoji="0" lang="en-ZA" sz="4000" b="1" i="0" u="none" strike="noStrike" kern="1200" cap="none" spc="0" normalizeH="0" baseline="0" noProof="0" dirty="0">
                <a:ln>
                  <a:noFill/>
                </a:ln>
                <a:solidFill>
                  <a:prstClr val="black"/>
                </a:solidFill>
                <a:effectLst/>
                <a:uLnTx/>
                <a:uFillTx/>
                <a:latin typeface="Source Sans Pro" panose="020B0503030403020204" pitchFamily="34" charset="0"/>
                <a:ea typeface="+mn-ea"/>
                <a:cs typeface="+mn-cs"/>
              </a:rPr>
              <a:t>o</a:t>
            </a:r>
            <a:r>
              <a:rPr kumimoji="0" lang="en-ZA" sz="4000" b="1" i="0" u="none" strike="noStrike" kern="1200" cap="all" spc="0" normalizeH="0" baseline="0" noProof="0" dirty="0">
                <a:ln>
                  <a:noFill/>
                </a:ln>
                <a:solidFill>
                  <a:srgbClr val="F05A5B"/>
                </a:solidFill>
                <a:effectLst/>
                <a:uLnTx/>
                <a:uFillTx/>
                <a:latin typeface="Source Sans Pro" panose="020B0503030403020204" pitchFamily="34" charset="0"/>
                <a:ea typeface="+mn-ea"/>
                <a:cs typeface="+mn-cs"/>
              </a:rPr>
              <a:t> </a:t>
            </a:r>
            <a:r>
              <a:rPr kumimoji="0" lang="en-ZA" sz="4000" b="1" i="0" u="none" strike="noStrike" kern="1200" cap="all" spc="0" normalizeH="0" baseline="0" noProof="0" dirty="0">
                <a:ln>
                  <a:noFill/>
                </a:ln>
                <a:solidFill>
                  <a:srgbClr val="F05A5B"/>
                </a:solidFill>
                <a:effectLst/>
                <a:uLnTx/>
                <a:uFillTx/>
                <a:latin typeface="Source Sans Pro" panose="020B0503030403020204" pitchFamily="34" charset="0"/>
                <a:ea typeface="+mn-ea"/>
                <a:cs typeface="+mn-cs"/>
                <a:hlinkClick r:id="rId2"/>
              </a:rPr>
              <a:t>Question 3.9</a:t>
            </a:r>
            <a:endParaRPr kumimoji="0" lang="en-ZA" sz="4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7761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40396-6432-F134-26D1-F20B039BBECD}"/>
            </a:ext>
          </a:extLst>
        </p:cNvPr>
        <p:cNvGrpSpPr/>
        <p:nvPr/>
      </p:nvGrpSpPr>
      <p:grpSpPr>
        <a:xfrm>
          <a:off x="0" y="0"/>
          <a:ext cx="0" cy="0"/>
          <a:chOff x="0" y="0"/>
          <a:chExt cx="0" cy="0"/>
        </a:xfrm>
      </p:grpSpPr>
      <p:pic>
        <p:nvPicPr>
          <p:cNvPr id="4" name="image3.png" title="Image">
            <a:extLst>
              <a:ext uri="{FF2B5EF4-FFF2-40B4-BE49-F238E27FC236}">
                <a16:creationId xmlns:a16="http://schemas.microsoft.com/office/drawing/2014/main" id="{B3E3ACEF-89BF-CE8D-91F3-F73E22E67FA2}"/>
              </a:ext>
            </a:extLst>
          </p:cNvPr>
          <p:cNvPicPr preferRelativeResize="0"/>
          <p:nvPr/>
        </p:nvPicPr>
        <p:blipFill>
          <a:blip r:embed="rId3" cstate="print"/>
          <a:stretch>
            <a:fillRect/>
          </a:stretch>
        </p:blipFill>
        <p:spPr>
          <a:xfrm>
            <a:off x="502920" y="-148590"/>
            <a:ext cx="11064239" cy="7006590"/>
          </a:xfrm>
          <a:prstGeom prst="rect">
            <a:avLst/>
          </a:prstGeom>
          <a:noFill/>
        </p:spPr>
      </p:pic>
      <p:sp>
        <p:nvSpPr>
          <p:cNvPr id="6" name="TextBox 5">
            <a:extLst>
              <a:ext uri="{FF2B5EF4-FFF2-40B4-BE49-F238E27FC236}">
                <a16:creationId xmlns:a16="http://schemas.microsoft.com/office/drawing/2014/main" id="{8F8C2004-968D-2022-0CBD-043E8050C765}"/>
              </a:ext>
            </a:extLst>
          </p:cNvPr>
          <p:cNvSpPr txBox="1"/>
          <p:nvPr/>
        </p:nvSpPr>
        <p:spPr>
          <a:xfrm>
            <a:off x="2180273" y="17204"/>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❶</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30D762B4-6275-C714-F570-40074DCE2A52}"/>
              </a:ext>
            </a:extLst>
          </p:cNvPr>
          <p:cNvSpPr txBox="1"/>
          <p:nvPr/>
        </p:nvSpPr>
        <p:spPr>
          <a:xfrm>
            <a:off x="808673"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❷</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63745043-308F-6757-4DC7-C870D9F1C72D}"/>
              </a:ext>
            </a:extLst>
          </p:cNvPr>
          <p:cNvSpPr txBox="1"/>
          <p:nvPr/>
        </p:nvSpPr>
        <p:spPr>
          <a:xfrm>
            <a:off x="9585960"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❸</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C46DD3E7-F30E-7BBF-9734-B83F28C224AE}"/>
              </a:ext>
            </a:extLst>
          </p:cNvPr>
          <p:cNvSpPr/>
          <p:nvPr/>
        </p:nvSpPr>
        <p:spPr>
          <a:xfrm>
            <a:off x="0" y="4067260"/>
            <a:ext cx="12192000" cy="3128886"/>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F3C7E909-75F0-9824-B286-2A009A5B17CD}"/>
              </a:ext>
            </a:extLst>
          </p:cNvPr>
          <p:cNvSpPr txBox="1"/>
          <p:nvPr/>
        </p:nvSpPr>
        <p:spPr>
          <a:xfrm>
            <a:off x="971733" y="4179752"/>
            <a:ext cx="10479314" cy="1600438"/>
          </a:xfrm>
          <a:prstGeom prst="roundRect">
            <a:avLst/>
          </a:prstGeom>
          <a:solidFill>
            <a:schemeClr val="bg1"/>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3.8 The multiplier model: </a:t>
            </a:r>
            <a:r>
              <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rPr>
              <a:t>Including the government and net exports</a:t>
            </a:r>
          </a:p>
        </p:txBody>
      </p:sp>
      <p:sp>
        <p:nvSpPr>
          <p:cNvPr id="11" name="Rectangle 10">
            <a:extLst>
              <a:ext uri="{FF2B5EF4-FFF2-40B4-BE49-F238E27FC236}">
                <a16:creationId xmlns:a16="http://schemas.microsoft.com/office/drawing/2014/main" id="{606670BC-B2C7-F100-09ED-6B02E33B6258}"/>
              </a:ext>
            </a:extLst>
          </p:cNvPr>
          <p:cNvSpPr/>
          <p:nvPr/>
        </p:nvSpPr>
        <p:spPr>
          <a:xfrm>
            <a:off x="0" y="-428681"/>
            <a:ext cx="12192000"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5528FE0E-CDCC-3E7B-4414-273A7B9C639F}"/>
              </a:ext>
            </a:extLst>
          </p:cNvPr>
          <p:cNvSpPr/>
          <p:nvPr/>
        </p:nvSpPr>
        <p:spPr>
          <a:xfrm>
            <a:off x="-43542" y="1818608"/>
            <a:ext cx="6415315"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1846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1E8F1-C178-9A37-6D29-E19389DB468C}"/>
              </a:ext>
            </a:extLst>
          </p:cNvPr>
          <p:cNvSpPr>
            <a:spLocks noGrp="1"/>
          </p:cNvSpPr>
          <p:nvPr>
            <p:ph idx="1"/>
          </p:nvPr>
        </p:nvSpPr>
        <p:spPr>
          <a:xfrm>
            <a:off x="877956" y="1348547"/>
            <a:ext cx="10937488" cy="4351338"/>
          </a:xfrm>
        </p:spPr>
        <p:txBody>
          <a:bodyPr>
            <a:normAutofit lnSpcReduction="10000"/>
          </a:bodyPr>
          <a:lstStyle/>
          <a:p>
            <a:pPr marL="0" indent="0">
              <a:buNone/>
            </a:pPr>
            <a:r>
              <a:rPr lang="en-ZA" sz="3600" dirty="0"/>
              <a:t>In Part 1 we looked at the multiplier model in a </a:t>
            </a:r>
            <a:r>
              <a:rPr lang="en-ZA" sz="4000" b="1" dirty="0">
                <a:solidFill>
                  <a:srgbClr val="0070C0"/>
                </a:solidFill>
              </a:rPr>
              <a:t>private</a:t>
            </a:r>
            <a:r>
              <a:rPr lang="en-ZA" sz="3600" dirty="0"/>
              <a:t> economy (only C and I). We are now (Part 2) going to expand our model by adding other components of GDP (</a:t>
            </a:r>
            <a:r>
              <a:rPr lang="en-ZA" sz="3600" b="1" i="1" dirty="0"/>
              <a:t>government</a:t>
            </a:r>
            <a:r>
              <a:rPr lang="en-ZA" sz="3600" dirty="0"/>
              <a:t>, </a:t>
            </a:r>
            <a:r>
              <a:rPr lang="en-ZA" sz="3600" b="1" i="1" dirty="0"/>
              <a:t>net exports</a:t>
            </a:r>
            <a:r>
              <a:rPr lang="en-ZA" sz="3600" dirty="0"/>
              <a:t>). </a:t>
            </a:r>
            <a:br>
              <a:rPr lang="en-ZA" sz="3600" dirty="0"/>
            </a:br>
            <a:r>
              <a:rPr lang="en-ZA" sz="3600" dirty="0"/>
              <a:t>We are then moving from a </a:t>
            </a:r>
            <a:r>
              <a:rPr lang="en-ZA" sz="4000" b="1" dirty="0">
                <a:solidFill>
                  <a:srgbClr val="0070C0"/>
                </a:solidFill>
              </a:rPr>
              <a:t>closed</a:t>
            </a:r>
            <a:r>
              <a:rPr lang="en-ZA" sz="3600" dirty="0"/>
              <a:t> to an </a:t>
            </a:r>
            <a:r>
              <a:rPr lang="en-ZA" sz="4000" b="1" dirty="0">
                <a:solidFill>
                  <a:srgbClr val="0070C0"/>
                </a:solidFill>
              </a:rPr>
              <a:t>open</a:t>
            </a:r>
            <a:r>
              <a:rPr lang="en-ZA" sz="3600" dirty="0"/>
              <a:t> economy. </a:t>
            </a:r>
            <a:br>
              <a:rPr lang="en-ZA" sz="3600" dirty="0"/>
            </a:br>
            <a:endParaRPr lang="en-ZA" sz="3600" dirty="0"/>
          </a:p>
          <a:p>
            <a:pPr marL="0" indent="0">
              <a:buNone/>
            </a:pPr>
            <a:r>
              <a:rPr lang="en-ZA" sz="3600" i="1" dirty="0"/>
              <a:t>South Africa </a:t>
            </a:r>
            <a:r>
              <a:rPr lang="en-ZA" sz="3600" dirty="0"/>
              <a:t>is an open economy and very dependent on imports such as oil.</a:t>
            </a:r>
          </a:p>
        </p:txBody>
      </p:sp>
    </p:spTree>
    <p:extLst>
      <p:ext uri="{BB962C8B-B14F-4D97-AF65-F5344CB8AC3E}">
        <p14:creationId xmlns:p14="http://schemas.microsoft.com/office/powerpoint/2010/main" val="2448668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9EC026-580F-6B3E-6E2A-587E2AC9582F}"/>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22CD454-BAB2-A87B-5011-92240C0E01F2}"/>
              </a:ext>
            </a:extLst>
          </p:cNvPr>
          <p:cNvSpPr txBox="1">
            <a:spLocks/>
          </p:cNvSpPr>
          <p:nvPr/>
        </p:nvSpPr>
        <p:spPr>
          <a:xfrm>
            <a:off x="445363" y="1337012"/>
            <a:ext cx="11503981" cy="25400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36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36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Aggregate demand </a:t>
            </a:r>
            <a:r>
              <a:rPr kumimoji="0" lang="en-GB" sz="36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a:t>
            </a:r>
            <a:r>
              <a:rPr kumimoji="0" lang="en-GB" sz="3600" b="1" i="0" u="none" strike="noStrike" kern="1200" cap="none" spc="0" normalizeH="0" baseline="0" noProof="0" dirty="0">
                <a:ln>
                  <a:noFill/>
                </a:ln>
                <a:solidFill>
                  <a:srgbClr val="C00000"/>
                </a:solidFill>
                <a:effectLst/>
                <a:uLnTx/>
                <a:uFillTx/>
                <a:latin typeface="Source Sans Pro" panose="020B0503030403020204" pitchFamily="34" charset="0"/>
                <a:ea typeface="Source Sans Pro" panose="020B0503030403020204" pitchFamily="34" charset="0"/>
                <a:cs typeface="+mn-cs"/>
              </a:rPr>
              <a:t>AD</a:t>
            </a:r>
            <a:r>
              <a:rPr kumimoji="0" lang="en-GB" sz="36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 is the total demand that comes from households, firms, the government, and other countries for the goods and services the country produces.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80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endParaRPr>
          </a:p>
        </p:txBody>
      </p:sp>
      <p:sp>
        <p:nvSpPr>
          <p:cNvPr id="2" name="Title 1">
            <a:extLst>
              <a:ext uri="{FF2B5EF4-FFF2-40B4-BE49-F238E27FC236}">
                <a16:creationId xmlns:a16="http://schemas.microsoft.com/office/drawing/2014/main" id="{E1645109-CD48-BCFC-D407-31A0881647BB}"/>
              </a:ext>
            </a:extLst>
          </p:cNvPr>
          <p:cNvSpPr>
            <a:spLocks noGrp="1"/>
          </p:cNvSpPr>
          <p:nvPr>
            <p:ph type="title"/>
          </p:nvPr>
        </p:nvSpPr>
        <p:spPr>
          <a:xfrm>
            <a:off x="648070" y="395085"/>
            <a:ext cx="11301274" cy="1102663"/>
          </a:xfrm>
        </p:spPr>
        <p:txBody>
          <a:bodyPr/>
          <a:lstStyle/>
          <a:p>
            <a:pPr algn="ctr"/>
            <a:r>
              <a:rPr lang="en-US" b="1" dirty="0"/>
              <a:t>Aggregate demand</a:t>
            </a:r>
            <a:endParaRPr lang="en-ZA" b="1" dirty="0"/>
          </a:p>
        </p:txBody>
      </p:sp>
      <p:sp>
        <p:nvSpPr>
          <p:cNvPr id="3" name="Content Placeholder 2">
            <a:extLst>
              <a:ext uri="{FF2B5EF4-FFF2-40B4-BE49-F238E27FC236}">
                <a16:creationId xmlns:a16="http://schemas.microsoft.com/office/drawing/2014/main" id="{06B02021-07AA-9A76-40CC-89AE2EFC56B1}"/>
              </a:ext>
            </a:extLst>
          </p:cNvPr>
          <p:cNvSpPr>
            <a:spLocks noGrp="1"/>
          </p:cNvSpPr>
          <p:nvPr>
            <p:ph idx="1"/>
          </p:nvPr>
        </p:nvSpPr>
        <p:spPr>
          <a:xfrm>
            <a:off x="445363" y="3429000"/>
            <a:ext cx="11098567" cy="3429000"/>
          </a:xfrm>
        </p:spPr>
        <p:txBody>
          <a:bodyPr>
            <a:normAutofit/>
          </a:bodyPr>
          <a:lstStyle/>
          <a:p>
            <a:pPr marL="0" indent="0">
              <a:buNone/>
            </a:pPr>
            <a:endParaRPr lang="en-US" dirty="0"/>
          </a:p>
          <a:p>
            <a:pPr marL="0" indent="0">
              <a:buNone/>
            </a:pPr>
            <a:endParaRPr lang="en-US" dirty="0"/>
          </a:p>
          <a:p>
            <a:pPr marL="514350" indent="-514350">
              <a:buFont typeface="+mj-lt"/>
              <a:buAutoNum type="arabicPeriod"/>
            </a:pPr>
            <a:endParaRPr lang="en-ZA" dirty="0"/>
          </a:p>
        </p:txBody>
      </p:sp>
      <p:sp>
        <p:nvSpPr>
          <p:cNvPr id="8" name="Google Shape;242;p36">
            <a:extLst>
              <a:ext uri="{FF2B5EF4-FFF2-40B4-BE49-F238E27FC236}">
                <a16:creationId xmlns:a16="http://schemas.microsoft.com/office/drawing/2014/main" id="{F0199802-7BE0-EF3F-C49B-21A6E0181B48}"/>
              </a:ext>
            </a:extLst>
          </p:cNvPr>
          <p:cNvSpPr txBox="1"/>
          <p:nvPr/>
        </p:nvSpPr>
        <p:spPr>
          <a:xfrm>
            <a:off x="648070" y="4219170"/>
            <a:ext cx="10620103" cy="58477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4000" b="1" i="0" u="sng" strike="noStrike" kern="0" cap="none" spc="0" normalizeH="0" baseline="0" noProof="0" dirty="0">
                <a:ln>
                  <a:noFill/>
                </a:ln>
                <a:solidFill>
                  <a:srgbClr val="C00000"/>
                </a:solidFill>
                <a:effectLst/>
                <a:uLnTx/>
                <a:uFillTx/>
                <a:latin typeface="Calibri"/>
                <a:ea typeface="Calibri"/>
                <a:cs typeface="Calibri"/>
                <a:sym typeface="Calibri"/>
              </a:rPr>
              <a:t>AD</a:t>
            </a:r>
            <a:r>
              <a:rPr kumimoji="0" lang="en-US" sz="4000" b="1" i="0" u="sng" strike="noStrike" kern="0" cap="none" spc="0" normalizeH="0" baseline="0" noProof="0" dirty="0">
                <a:ln>
                  <a:noFill/>
                </a:ln>
                <a:solidFill>
                  <a:srgbClr val="000000"/>
                </a:solidFill>
                <a:effectLst/>
                <a:uLnTx/>
                <a:uFillTx/>
                <a:latin typeface="Calibri"/>
                <a:ea typeface="Calibri"/>
                <a:cs typeface="Calibri"/>
                <a:sym typeface="Calibri"/>
              </a:rPr>
              <a:t> = </a:t>
            </a:r>
            <a:r>
              <a:rPr kumimoji="0" lang="en-US" sz="4000" b="1" i="0" u="sng" strike="noStrike" kern="0" cap="none" spc="0" normalizeH="0" baseline="0" noProof="0" dirty="0">
                <a:ln>
                  <a:noFill/>
                </a:ln>
                <a:solidFill>
                  <a:srgbClr val="7030A0"/>
                </a:solidFill>
                <a:effectLst/>
                <a:uLnTx/>
                <a:uFillTx/>
                <a:latin typeface="Calibri"/>
                <a:ea typeface="Calibri"/>
                <a:cs typeface="Calibri"/>
                <a:sym typeface="Calibri"/>
              </a:rPr>
              <a:t>C</a:t>
            </a:r>
            <a:r>
              <a:rPr kumimoji="0" lang="en-US" sz="4000" b="1" i="0" u="sng" strike="noStrike" kern="0" cap="none" spc="0" normalizeH="0" baseline="0" noProof="0" dirty="0">
                <a:ln>
                  <a:noFill/>
                </a:ln>
                <a:solidFill>
                  <a:srgbClr val="000000"/>
                </a:solidFill>
                <a:effectLst/>
                <a:uLnTx/>
                <a:uFillTx/>
                <a:latin typeface="Calibri"/>
                <a:ea typeface="Calibri"/>
                <a:cs typeface="Calibri"/>
                <a:sym typeface="Calibri"/>
              </a:rPr>
              <a:t> + </a:t>
            </a:r>
            <a:r>
              <a:rPr kumimoji="0" lang="en-US" sz="4000" b="1" i="0" u="sng" strike="noStrike" kern="0" cap="none" spc="0" normalizeH="0" baseline="0" noProof="0" dirty="0">
                <a:ln>
                  <a:noFill/>
                </a:ln>
                <a:solidFill>
                  <a:srgbClr val="00B050"/>
                </a:solidFill>
                <a:effectLst/>
                <a:uLnTx/>
                <a:uFillTx/>
                <a:latin typeface="Calibri"/>
                <a:ea typeface="Calibri"/>
                <a:cs typeface="Calibri"/>
                <a:sym typeface="Calibri"/>
              </a:rPr>
              <a:t>I</a:t>
            </a:r>
            <a:r>
              <a:rPr kumimoji="0" lang="en-US" sz="4000" b="1" i="0" u="sng"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40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1" i="0" u="none" strike="noStrike" kern="0" cap="none" spc="0" normalizeH="0" baseline="0" noProof="0" dirty="0">
                <a:ln>
                  <a:noFill/>
                </a:ln>
                <a:solidFill>
                  <a:srgbClr val="0070C0"/>
                </a:solidFill>
                <a:effectLst/>
                <a:uLnTx/>
                <a:uFillTx/>
                <a:latin typeface="Calibri"/>
                <a:ea typeface="Calibri"/>
                <a:cs typeface="Calibri"/>
                <a:sym typeface="Calibri"/>
              </a:rPr>
              <a:t> G</a:t>
            </a:r>
            <a:r>
              <a:rPr kumimoji="0" lang="en-US" sz="4000" b="1" i="0" u="none" strike="noStrike" kern="0" cap="none" spc="0" normalizeH="0" baseline="0" noProof="0" dirty="0">
                <a:ln>
                  <a:noFill/>
                </a:ln>
                <a:solidFill>
                  <a:srgbClr val="FFFFFF">
                    <a:lumMod val="65000"/>
                  </a:srgbClr>
                </a:solidFill>
                <a:effectLst/>
                <a:uLnTx/>
                <a:uFillTx/>
                <a:latin typeface="Calibri"/>
                <a:ea typeface="Calibri"/>
                <a:cs typeface="Calibri"/>
                <a:sym typeface="Calibri"/>
              </a:rPr>
              <a:t> </a:t>
            </a:r>
            <a:r>
              <a:rPr kumimoji="0" lang="en-US" sz="40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1" i="0" u="none" strike="noStrike" kern="0" cap="none" spc="0" normalizeH="0" baseline="0" noProof="0" dirty="0">
                <a:ln>
                  <a:noFill/>
                </a:ln>
                <a:solidFill>
                  <a:srgbClr val="FFFFFF">
                    <a:lumMod val="65000"/>
                  </a:srgbClr>
                </a:solidFill>
                <a:effectLst/>
                <a:uLnTx/>
                <a:uFillTx/>
                <a:latin typeface="Calibri"/>
                <a:ea typeface="Calibri"/>
                <a:cs typeface="Calibri"/>
                <a:sym typeface="Calibri"/>
              </a:rPr>
              <a:t> </a:t>
            </a:r>
            <a:r>
              <a:rPr kumimoji="0" lang="en-US" sz="4000" b="1" i="0" u="none" strike="noStrike" kern="0" cap="none" spc="0" normalizeH="0" baseline="0" noProof="0" dirty="0">
                <a:ln>
                  <a:noFill/>
                </a:ln>
                <a:solidFill>
                  <a:srgbClr val="0070C0"/>
                </a:solidFill>
                <a:effectLst/>
                <a:uLnTx/>
                <a:uFillTx/>
                <a:latin typeface="Calibri"/>
                <a:ea typeface="Calibri"/>
                <a:cs typeface="Calibri"/>
                <a:sym typeface="Calibri"/>
              </a:rPr>
              <a:t>NX</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4000" b="1"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 name="Rectangle: Rounded Corners 4">
            <a:extLst>
              <a:ext uri="{FF2B5EF4-FFF2-40B4-BE49-F238E27FC236}">
                <a16:creationId xmlns:a16="http://schemas.microsoft.com/office/drawing/2014/main" id="{80991F3D-B44C-C3D8-EB09-643E97A85D67}"/>
              </a:ext>
            </a:extLst>
          </p:cNvPr>
          <p:cNvSpPr/>
          <p:nvPr/>
        </p:nvSpPr>
        <p:spPr>
          <a:xfrm>
            <a:off x="6073340" y="4219170"/>
            <a:ext cx="2170771" cy="731971"/>
          </a:xfrm>
          <a:prstGeom prst="roundRect">
            <a:avLst/>
          </a:prstGeom>
          <a:noFill/>
          <a:ln w="38100">
            <a:solidFill>
              <a:srgbClr val="C0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A37692C5-4546-9579-B465-67930AF6D148}"/>
              </a:ext>
            </a:extLst>
          </p:cNvPr>
          <p:cNvSpPr txBox="1"/>
          <p:nvPr/>
        </p:nvSpPr>
        <p:spPr>
          <a:xfrm>
            <a:off x="4425303" y="4893155"/>
            <a:ext cx="124893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70C0"/>
                </a:solidFill>
                <a:effectLst/>
                <a:uLnTx/>
                <a:uFillTx/>
                <a:latin typeface="Arial"/>
                <a:ea typeface="+mn-ea"/>
                <a:cs typeface="+mn-cs"/>
              </a:rPr>
              <a:t>PART 1</a:t>
            </a:r>
            <a:endParaRPr kumimoji="0" lang="en-ZA" sz="2000" b="1" i="0" u="none" strike="noStrike" kern="1200" cap="none" spc="0" normalizeH="0" baseline="0" noProof="0" dirty="0">
              <a:ln>
                <a:noFill/>
              </a:ln>
              <a:solidFill>
                <a:srgbClr val="0070C0"/>
              </a:solidFill>
              <a:effectLst/>
              <a:uLnTx/>
              <a:uFillTx/>
              <a:latin typeface="Arial"/>
              <a:ea typeface="+mn-ea"/>
              <a:cs typeface="+mn-cs"/>
            </a:endParaRPr>
          </a:p>
        </p:txBody>
      </p:sp>
      <p:sp>
        <p:nvSpPr>
          <p:cNvPr id="7" name="TextBox 6">
            <a:extLst>
              <a:ext uri="{FF2B5EF4-FFF2-40B4-BE49-F238E27FC236}">
                <a16:creationId xmlns:a16="http://schemas.microsoft.com/office/drawing/2014/main" id="{1DA35998-CBC8-04C1-ED49-33E8852ED6AC}"/>
              </a:ext>
            </a:extLst>
          </p:cNvPr>
          <p:cNvSpPr txBox="1"/>
          <p:nvPr/>
        </p:nvSpPr>
        <p:spPr>
          <a:xfrm>
            <a:off x="6517763" y="4893155"/>
            <a:ext cx="124893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70C0"/>
                </a:solidFill>
                <a:effectLst/>
                <a:uLnTx/>
                <a:uFillTx/>
                <a:latin typeface="Arial"/>
                <a:ea typeface="+mn-ea"/>
                <a:cs typeface="+mn-cs"/>
              </a:rPr>
              <a:t>PART 2</a:t>
            </a:r>
            <a:endParaRPr kumimoji="0" lang="en-ZA" sz="2000" b="1" i="0" u="none" strike="noStrike" kern="1200" cap="none" spc="0" normalizeH="0" baseline="0" noProof="0" dirty="0">
              <a:ln>
                <a:noFill/>
              </a:ln>
              <a:solidFill>
                <a:srgbClr val="0070C0"/>
              </a:solidFill>
              <a:effectLst/>
              <a:uLnTx/>
              <a:uFillTx/>
              <a:latin typeface="Arial"/>
              <a:ea typeface="+mn-ea"/>
              <a:cs typeface="+mn-cs"/>
            </a:endParaRPr>
          </a:p>
        </p:txBody>
      </p:sp>
    </p:spTree>
    <p:extLst>
      <p:ext uri="{BB962C8B-B14F-4D97-AF65-F5344CB8AC3E}">
        <p14:creationId xmlns:p14="http://schemas.microsoft.com/office/powerpoint/2010/main" val="393028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5" grpId="0" animBg="1"/>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8FFD-FB51-AB2A-B20A-D023F74DD2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4F59B7-A086-E222-F377-59A2A22FBEC4}"/>
              </a:ext>
            </a:extLst>
          </p:cNvPr>
          <p:cNvSpPr>
            <a:spLocks noGrp="1"/>
          </p:cNvSpPr>
          <p:nvPr>
            <p:ph type="title"/>
          </p:nvPr>
        </p:nvSpPr>
        <p:spPr/>
        <p:txBody>
          <a:bodyPr>
            <a:normAutofit fontScale="90000"/>
          </a:bodyPr>
          <a:lstStyle/>
          <a:p>
            <a:r>
              <a:rPr lang="en-US" dirty="0"/>
              <a:t>Adding Government expenditure (</a:t>
            </a:r>
            <a:r>
              <a:rPr lang="en-US" b="1" dirty="0">
                <a:solidFill>
                  <a:srgbClr val="0070C0"/>
                </a:solidFill>
              </a:rPr>
              <a:t>G</a:t>
            </a:r>
            <a:r>
              <a:rPr lang="en-US" dirty="0"/>
              <a:t>) – working with a closed(public) economy model ….</a:t>
            </a:r>
            <a:endParaRPr lang="en-ZA" dirty="0"/>
          </a:p>
        </p:txBody>
      </p:sp>
    </p:spTree>
    <p:extLst>
      <p:ext uri="{BB962C8B-B14F-4D97-AF65-F5344CB8AC3E}">
        <p14:creationId xmlns:p14="http://schemas.microsoft.com/office/powerpoint/2010/main" val="3713926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14B9CC-F1B5-3632-695B-3F8FA58482E6}"/>
              </a:ext>
            </a:extLst>
          </p:cNvPr>
          <p:cNvSpPr>
            <a:spLocks noGrp="1"/>
          </p:cNvSpPr>
          <p:nvPr>
            <p:ph idx="1"/>
          </p:nvPr>
        </p:nvSpPr>
        <p:spPr/>
        <p:txBody>
          <a:bodyPr>
            <a:normAutofit/>
          </a:bodyPr>
          <a:lstStyle/>
          <a:p>
            <a:pPr marL="0" indent="0">
              <a:buNone/>
            </a:pPr>
            <a:endParaRPr lang="en-US" sz="3600" b="1" dirty="0"/>
          </a:p>
          <a:p>
            <a:pPr marL="0" indent="0">
              <a:buNone/>
            </a:pPr>
            <a:r>
              <a:rPr lang="en-US" sz="3600" b="1" dirty="0"/>
              <a:t>Adding only </a:t>
            </a:r>
            <a:r>
              <a:rPr lang="en-US" sz="4400" b="1" dirty="0">
                <a:solidFill>
                  <a:srgbClr val="C00000"/>
                </a:solidFill>
              </a:rPr>
              <a:t>government expenditure </a:t>
            </a:r>
            <a:r>
              <a:rPr lang="en-US" sz="3600" b="1" dirty="0"/>
              <a:t>to our model means that we still are working with a </a:t>
            </a:r>
            <a:r>
              <a:rPr lang="en-US" sz="4000" b="1" dirty="0">
                <a:solidFill>
                  <a:srgbClr val="0070C0"/>
                </a:solidFill>
              </a:rPr>
              <a:t>closed economy </a:t>
            </a:r>
            <a:r>
              <a:rPr lang="en-US" sz="3600" b="1" dirty="0"/>
              <a:t>(C, I, </a:t>
            </a:r>
            <a:r>
              <a:rPr lang="en-US" sz="4400" b="1" dirty="0">
                <a:solidFill>
                  <a:srgbClr val="C00000"/>
                </a:solidFill>
              </a:rPr>
              <a:t>G</a:t>
            </a:r>
            <a:r>
              <a:rPr lang="en-US" sz="3600" b="1" dirty="0"/>
              <a:t>).</a:t>
            </a:r>
            <a:endParaRPr lang="en-ZA" sz="3600" b="1" dirty="0"/>
          </a:p>
        </p:txBody>
      </p:sp>
    </p:spTree>
    <p:extLst>
      <p:ext uri="{BB962C8B-B14F-4D97-AF65-F5344CB8AC3E}">
        <p14:creationId xmlns:p14="http://schemas.microsoft.com/office/powerpoint/2010/main" val="3326882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A3B86-D3F4-2134-D9C6-DC2076671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B26A9-F6DC-CA27-3309-079824269448}"/>
              </a:ext>
            </a:extLst>
          </p:cNvPr>
          <p:cNvSpPr>
            <a:spLocks noGrp="1"/>
          </p:cNvSpPr>
          <p:nvPr>
            <p:ph type="ctrTitle"/>
          </p:nvPr>
        </p:nvSpPr>
        <p:spPr/>
        <p:txBody>
          <a:bodyPr>
            <a:normAutofit/>
          </a:bodyPr>
          <a:lstStyle/>
          <a:p>
            <a:r>
              <a:rPr lang="en-US" sz="8000" b="1" dirty="0">
                <a:solidFill>
                  <a:schemeClr val="accent6"/>
                </a:solidFill>
              </a:rPr>
              <a:t>Unit 3</a:t>
            </a:r>
          </a:p>
        </p:txBody>
      </p:sp>
      <p:sp>
        <p:nvSpPr>
          <p:cNvPr id="3" name="Subtitle 2">
            <a:extLst>
              <a:ext uri="{FF2B5EF4-FFF2-40B4-BE49-F238E27FC236}">
                <a16:creationId xmlns:a16="http://schemas.microsoft.com/office/drawing/2014/main" id="{331E4092-A236-F707-FCC2-FB0AEF489503}"/>
              </a:ext>
            </a:extLst>
          </p:cNvPr>
          <p:cNvSpPr>
            <a:spLocks noGrp="1"/>
          </p:cNvSpPr>
          <p:nvPr>
            <p:ph type="subTitle" idx="1"/>
          </p:nvPr>
        </p:nvSpPr>
        <p:spPr/>
        <p:txBody>
          <a:bodyPr>
            <a:normAutofit/>
          </a:bodyPr>
          <a:lstStyle/>
          <a:p>
            <a:r>
              <a:rPr lang="en-US" sz="2800" dirty="0"/>
              <a:t>Comprehensive Calculation Exercise </a:t>
            </a:r>
          </a:p>
        </p:txBody>
      </p:sp>
      <p:sp>
        <p:nvSpPr>
          <p:cNvPr id="4" name="Title 2">
            <a:extLst>
              <a:ext uri="{FF2B5EF4-FFF2-40B4-BE49-F238E27FC236}">
                <a16:creationId xmlns:a16="http://schemas.microsoft.com/office/drawing/2014/main" id="{B7D327C9-2BE3-3DBF-BB48-CF1C4B2F8E01}"/>
              </a:ext>
            </a:extLst>
          </p:cNvPr>
          <p:cNvSpPr txBox="1">
            <a:spLocks/>
          </p:cNvSpPr>
          <p:nvPr/>
        </p:nvSpPr>
        <p:spPr>
          <a:xfrm>
            <a:off x="628650" y="-723105"/>
            <a:ext cx="10515600"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ysClr val="windowText" lastClr="000000"/>
                </a:solidFill>
                <a:effectLst/>
                <a:uLnTx/>
                <a:uFillTx/>
                <a:latin typeface="Aptos Display" panose="02110004020202020204"/>
                <a:ea typeface="+mj-ea"/>
                <a:cs typeface="+mj-cs"/>
              </a:rPr>
              <a:t>Now first do exercise 3 (step 3) of the comprehensive exercise …. </a:t>
            </a:r>
            <a:endParaRPr kumimoji="0" lang="en-ZA" sz="6000" b="0" i="0" u="none" strike="noStrike" kern="1200" cap="none" spc="0" normalizeH="0" baseline="0" noProof="0" dirty="0">
              <a:ln>
                <a:noFill/>
              </a:ln>
              <a:solidFill>
                <a:sysClr val="windowText" lastClr="000000"/>
              </a:solidFill>
              <a:effectLst/>
              <a:uLnTx/>
              <a:uFillTx/>
              <a:latin typeface="Aptos Display" panose="02110004020202020204"/>
              <a:ea typeface="+mj-ea"/>
              <a:cs typeface="+mj-cs"/>
            </a:endParaRPr>
          </a:p>
        </p:txBody>
      </p:sp>
    </p:spTree>
    <p:extLst>
      <p:ext uri="{BB962C8B-B14F-4D97-AF65-F5344CB8AC3E}">
        <p14:creationId xmlns:p14="http://schemas.microsoft.com/office/powerpoint/2010/main" val="3684689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C35C56-C569-544A-A7AB-AC3AFFDA011A}"/>
              </a:ext>
            </a:extLst>
          </p:cNvPr>
          <p:cNvSpPr>
            <a:spLocks noGrp="1"/>
          </p:cNvSpPr>
          <p:nvPr>
            <p:ph idx="1"/>
          </p:nvPr>
        </p:nvSpPr>
        <p:spPr/>
        <p:txBody>
          <a:bodyPr>
            <a:normAutofit/>
          </a:bodyPr>
          <a:lstStyle/>
          <a:p>
            <a:pPr marL="0" indent="0" algn="ctr">
              <a:buNone/>
            </a:pPr>
            <a:r>
              <a:rPr lang="en-ZA" sz="4000" b="1" dirty="0">
                <a:solidFill>
                  <a:schemeClr val="dk1"/>
                </a:solidFill>
                <a:ea typeface="Calibri"/>
                <a:cs typeface="Calibri"/>
                <a:sym typeface="Calibri"/>
              </a:rPr>
              <a:t>We now add </a:t>
            </a:r>
            <a:r>
              <a:rPr lang="en-ZA" sz="4400" b="1" dirty="0">
                <a:solidFill>
                  <a:srgbClr val="0070C0"/>
                </a:solidFill>
                <a:ea typeface="Calibri"/>
                <a:cs typeface="Calibri"/>
                <a:sym typeface="Calibri"/>
              </a:rPr>
              <a:t>government spending </a:t>
            </a:r>
            <a:r>
              <a:rPr lang="en-ZA" sz="4000" b="1" dirty="0">
                <a:solidFill>
                  <a:schemeClr val="dk1"/>
                </a:solidFill>
                <a:ea typeface="Calibri"/>
                <a:cs typeface="Calibri"/>
                <a:sym typeface="Calibri"/>
              </a:rPr>
              <a:t>(taxes = 0) to consider this closed economy</a:t>
            </a:r>
          </a:p>
          <a:p>
            <a:pPr marL="0" indent="0" algn="ctr">
              <a:buNone/>
            </a:pPr>
            <a:br>
              <a:rPr lang="en-US" sz="3600" b="1" dirty="0"/>
            </a:br>
            <a:r>
              <a:rPr lang="en-ZA" sz="4000" b="1" dirty="0"/>
              <a:t>AD = C + I + G  = Y</a:t>
            </a:r>
          </a:p>
          <a:p>
            <a:pPr marL="0" indent="0" algn="ctr">
              <a:buNone/>
            </a:pPr>
            <a:r>
              <a:rPr lang="en-ZA" sz="4000" b="1" dirty="0">
                <a:ea typeface="+mj-ea"/>
                <a:cs typeface="+mj-cs"/>
              </a:rPr>
              <a:t>      					</a:t>
            </a:r>
            <a:br>
              <a:rPr lang="en-ZA" sz="3600" b="1" dirty="0">
                <a:solidFill>
                  <a:schemeClr val="dk1"/>
                </a:solidFill>
                <a:ea typeface="Calibri"/>
                <a:cs typeface="Calibri"/>
                <a:sym typeface="Calibri"/>
              </a:rPr>
            </a:br>
            <a:endParaRPr lang="en-US" sz="3600" b="1"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FD3E15A-D587-BF46-8666-166CA74D24B6}"/>
                  </a:ext>
                </a:extLst>
              </p:cNvPr>
              <p:cNvSpPr txBox="1"/>
              <p:nvPr/>
            </p:nvSpPr>
            <p:spPr>
              <a:xfrm>
                <a:off x="5567247" y="4348477"/>
                <a:ext cx="6094140" cy="2086277"/>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ZA" sz="4000" b="1" i="0" u="none" strike="noStrike" kern="1200" cap="none" spc="0" normalizeH="0" baseline="0" noProof="0" dirty="0">
                    <a:ln>
                      <a:noFill/>
                    </a:ln>
                    <a:solidFill>
                      <a:prstClr val="black"/>
                    </a:solidFill>
                    <a:effectLst/>
                    <a:uLnTx/>
                    <a:uFillTx/>
                    <a:latin typeface="Calibri" panose="020F0502020204030204"/>
                    <a:ea typeface="+mn-ea"/>
                    <a:cs typeface="+mn-cs"/>
                  </a:rPr>
                  <a:t> = c</a:t>
                </a:r>
                <a:r>
                  <a:rPr kumimoji="0" lang="en-ZA" sz="4000" b="1" i="0" u="none" strike="noStrike" kern="1200" cap="none" spc="0" normalizeH="0" baseline="-25000" noProof="0" dirty="0">
                    <a:ln>
                      <a:noFill/>
                    </a:ln>
                    <a:solidFill>
                      <a:prstClr val="black"/>
                    </a:solidFill>
                    <a:effectLst/>
                    <a:uLnTx/>
                    <a:uFillTx/>
                    <a:latin typeface="Calibri" panose="020F0502020204030204"/>
                    <a:ea typeface="+mn-ea"/>
                    <a:cs typeface="+mn-cs"/>
                  </a:rPr>
                  <a:t>0</a:t>
                </a:r>
                <a:r>
                  <a:rPr kumimoji="0" lang="en-ZA" sz="4000" b="1" i="0" u="none" strike="noStrike" kern="1200" cap="none" spc="0" normalizeH="0" baseline="0" noProof="0" dirty="0">
                    <a:ln>
                      <a:noFill/>
                    </a:ln>
                    <a:solidFill>
                      <a:prstClr val="black"/>
                    </a:solidFill>
                    <a:effectLst/>
                    <a:uLnTx/>
                    <a:uFillTx/>
                    <a:latin typeface="Calibri" panose="020F0502020204030204"/>
                    <a:ea typeface="+mn-ea"/>
                    <a:cs typeface="+mn-cs"/>
                  </a:rPr>
                  <a:t> +c</a:t>
                </a:r>
                <a:r>
                  <a:rPr kumimoji="0" lang="en-ZA" sz="4000" b="1" i="0" u="none" strike="noStrike" kern="1200" cap="none" spc="0" normalizeH="0" baseline="-25000" noProof="0" dirty="0">
                    <a:ln>
                      <a:noFill/>
                    </a:ln>
                    <a:solidFill>
                      <a:prstClr val="black"/>
                    </a:solidFill>
                    <a:effectLst/>
                    <a:uLnTx/>
                    <a:uFillTx/>
                    <a:latin typeface="Calibri" panose="020F0502020204030204"/>
                    <a:ea typeface="+mn-ea"/>
                    <a:cs typeface="+mn-cs"/>
                  </a:rPr>
                  <a:t>1</a:t>
                </a:r>
                <a:r>
                  <a:rPr kumimoji="0" lang="en-ZA" sz="4000" b="1" i="0" u="none" strike="noStrike" kern="1200" cap="none" spc="0" normalizeH="0" baseline="0" noProof="0" dirty="0">
                    <a:ln>
                      <a:noFill/>
                    </a:ln>
                    <a:solidFill>
                      <a:prstClr val="black"/>
                    </a:solidFill>
                    <a:effectLst/>
                    <a:uLnTx/>
                    <a:uFillTx/>
                    <a:latin typeface="Calibri" panose="020F0502020204030204"/>
                    <a:ea typeface="+mn-ea"/>
                    <a:cs typeface="+mn-cs"/>
                  </a:rPr>
                  <a:t>Y+I+G</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ZA" sz="3600" b="1" i="0" u="none" strike="noStrike" kern="1200" cap="none" spc="0" normalizeH="0" baseline="0" noProof="0" dirty="0">
                    <a:ln>
                      <a:noFill/>
                    </a:ln>
                    <a:solidFill>
                      <a:prstClr val="black"/>
                    </a:solidFill>
                    <a:effectLst/>
                    <a:uLnTx/>
                    <a:uFillTx/>
                    <a:latin typeface="Calibri" panose="020F0502020204030204"/>
                    <a:ea typeface="Calibri"/>
                    <a:cs typeface="Calibri"/>
                    <a:sym typeface="Calibri"/>
                  </a:rPr>
                  <a:t>                                       		     	</a:t>
                </a:r>
                <a:r>
                  <a:rPr kumimoji="0" lang="en-ZA" sz="4000" b="1" i="0" u="none" strike="noStrike" kern="1200" cap="none" spc="0" normalizeH="0" baseline="0" noProof="0" dirty="0">
                    <a:ln>
                      <a:noFill/>
                    </a:ln>
                    <a:solidFill>
                      <a:prstClr val="black"/>
                    </a:solidFill>
                    <a:effectLst/>
                    <a:uLnTx/>
                    <a:uFillTx/>
                    <a:latin typeface="Calibri" panose="020F0502020204030204"/>
                    <a:ea typeface="+mn-ea"/>
                    <a:cs typeface="+mn-cs"/>
                    <a:sym typeface="Calibri"/>
                  </a:rPr>
                  <a:t>=</a:t>
                </a:r>
                <a:r>
                  <a:rPr kumimoji="0" lang="en-ZA" sz="3600" b="1" i="0" u="none" strike="noStrike" kern="1200" cap="none" spc="0" normalizeH="0" baseline="0" noProof="0" dirty="0">
                    <a:ln>
                      <a:noFill/>
                    </a:ln>
                    <a:solidFill>
                      <a:prstClr val="black"/>
                    </a:solidFill>
                    <a:effectLst/>
                    <a:uLnTx/>
                    <a:uFillTx/>
                    <a:latin typeface="Calibri" panose="020F0502020204030204"/>
                    <a:ea typeface="Calibri"/>
                    <a:cs typeface="Calibri"/>
                    <a:sym typeface="Calibri"/>
                  </a:rPr>
                  <a:t> </a:t>
                </a:r>
                <a14:m>
                  <m:oMath xmlns:m="http://schemas.openxmlformats.org/officeDocument/2006/math">
                    <m:f>
                      <m:fPr>
                        <m:ctrlPr>
                          <a:rPr kumimoji="0" lang="en-ZA"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Calibri"/>
                            <a:sym typeface="Calibri"/>
                          </a:rPr>
                        </m:ctrlPr>
                      </m:fPr>
                      <m:num>
                        <m:r>
                          <a:rPr kumimoji="0" lang="en-ZA"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Calibri"/>
                            <a:sym typeface="Calibri"/>
                          </a:rPr>
                          <m:t>𝟏</m:t>
                        </m:r>
                      </m:num>
                      <m:den>
                        <m:r>
                          <m:rPr>
                            <m:nor/>
                          </m:rPr>
                          <a:rPr kumimoji="0" lang="en-ZA" sz="3600" b="1" i="0" u="none" strike="noStrike" kern="1200" cap="none" spc="0" normalizeH="0" baseline="0" noProof="0" dirty="0" smtClean="0">
                            <a:ln>
                              <a:noFill/>
                            </a:ln>
                            <a:solidFill>
                              <a:prstClr val="black"/>
                            </a:solidFill>
                            <a:effectLst/>
                            <a:uLnTx/>
                            <a:uFillTx/>
                            <a:latin typeface="Calibri" panose="020F0502020204030204"/>
                            <a:ea typeface="+mn-ea"/>
                            <a:cs typeface="Calibri"/>
                            <a:sym typeface="Calibri"/>
                          </a:rPr>
                          <m:t>(1 − </m:t>
                        </m:r>
                        <m:r>
                          <m:rPr>
                            <m:nor/>
                          </m:rPr>
                          <a:rPr kumimoji="0" lang="en-ZA" sz="3600" b="1" i="0" u="none" strike="noStrike" kern="1200" cap="none" spc="0" normalizeH="0" baseline="0" noProof="0" dirty="0" smtClean="0">
                            <a:ln>
                              <a:noFill/>
                            </a:ln>
                            <a:solidFill>
                              <a:prstClr val="black"/>
                            </a:solidFill>
                            <a:effectLst/>
                            <a:uLnTx/>
                            <a:uFillTx/>
                            <a:latin typeface="Calibri" panose="020F0502020204030204"/>
                            <a:ea typeface="Calibri"/>
                            <a:cs typeface="Calibri"/>
                            <a:sym typeface="Calibri"/>
                          </a:rPr>
                          <m:t>c</m:t>
                        </m:r>
                        <m:r>
                          <m:rPr>
                            <m:nor/>
                          </m:rPr>
                          <a:rPr kumimoji="0" lang="en-ZA" sz="3600" b="1" i="0" u="none" strike="noStrike" kern="1200" cap="none" spc="0" normalizeH="0" baseline="-25000" noProof="0" dirty="0" smtClean="0">
                            <a:ln>
                              <a:noFill/>
                            </a:ln>
                            <a:solidFill>
                              <a:prstClr val="black"/>
                            </a:solidFill>
                            <a:effectLst/>
                            <a:uLnTx/>
                            <a:uFillTx/>
                            <a:latin typeface="Calibri" panose="020F0502020204030204"/>
                            <a:ea typeface="Calibri"/>
                            <a:cs typeface="Calibri"/>
                            <a:sym typeface="Calibri"/>
                          </a:rPr>
                          <m:t>1</m:t>
                        </m:r>
                        <m:r>
                          <m:rPr>
                            <m:nor/>
                          </m:rPr>
                          <a:rPr kumimoji="0" lang="en-ZA" sz="3600" b="1" i="0" u="none" strike="noStrike" kern="1200" cap="none" spc="0" normalizeH="0" baseline="0" noProof="0" dirty="0" smtClean="0">
                            <a:ln>
                              <a:noFill/>
                            </a:ln>
                            <a:solidFill>
                              <a:prstClr val="black"/>
                            </a:solidFill>
                            <a:effectLst/>
                            <a:uLnTx/>
                            <a:uFillTx/>
                            <a:latin typeface="Calibri" panose="020F0502020204030204"/>
                            <a:ea typeface="Calibri"/>
                            <a:cs typeface="Calibri"/>
                            <a:sym typeface="Calibri"/>
                          </a:rPr>
                          <m:t>)</m:t>
                        </m:r>
                      </m:den>
                    </m:f>
                  </m:oMath>
                </a14:m>
                <a:r>
                  <a:rPr kumimoji="0" lang="en-ZA" sz="3600" b="1" i="0" u="none" strike="noStrike" kern="1200" cap="none" spc="0" normalizeH="0" baseline="0" noProof="0" dirty="0">
                    <a:ln>
                      <a:noFill/>
                    </a:ln>
                    <a:solidFill>
                      <a:prstClr val="black"/>
                    </a:solidFill>
                    <a:effectLst/>
                    <a:uLnTx/>
                    <a:uFillTx/>
                    <a:latin typeface="Calibri" panose="020F0502020204030204"/>
                    <a:ea typeface="Calibri"/>
                    <a:cs typeface="Calibri"/>
                    <a:sym typeface="Calibri"/>
                  </a:rPr>
                  <a:t> (c</a:t>
                </a:r>
                <a:r>
                  <a:rPr kumimoji="0" lang="en-ZA" sz="3600" b="1" i="0" u="none" strike="noStrike" kern="1200" cap="none" spc="0" normalizeH="0" baseline="-25000" noProof="0" dirty="0">
                    <a:ln>
                      <a:noFill/>
                    </a:ln>
                    <a:solidFill>
                      <a:prstClr val="black"/>
                    </a:solidFill>
                    <a:effectLst/>
                    <a:uLnTx/>
                    <a:uFillTx/>
                    <a:latin typeface="Calibri" panose="020F0502020204030204"/>
                    <a:ea typeface="Calibri"/>
                    <a:cs typeface="Calibri"/>
                    <a:sym typeface="Calibri"/>
                  </a:rPr>
                  <a:t>0 </a:t>
                </a:r>
                <a:r>
                  <a:rPr kumimoji="0" lang="en-ZA" sz="3600" b="1" i="0" u="none" strike="noStrike" kern="1200" cap="none" spc="0" normalizeH="0" baseline="0" noProof="0" dirty="0">
                    <a:ln>
                      <a:noFill/>
                    </a:ln>
                    <a:solidFill>
                      <a:prstClr val="black"/>
                    </a:solidFill>
                    <a:effectLst/>
                    <a:uLnTx/>
                    <a:uFillTx/>
                    <a:latin typeface="Calibri" panose="020F0502020204030204"/>
                    <a:ea typeface="Calibri"/>
                    <a:cs typeface="Calibri"/>
                    <a:sym typeface="Calibri"/>
                  </a:rPr>
                  <a:t>+ I +G)</a:t>
                </a:r>
                <a:endPar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8FD3E15A-D587-BF46-8666-166CA74D24B6}"/>
                  </a:ext>
                </a:extLst>
              </p:cNvPr>
              <p:cNvSpPr txBox="1">
                <a:spLocks noRot="1" noChangeAspect="1" noMove="1" noResize="1" noEditPoints="1" noAdjustHandles="1" noChangeArrowheads="1" noChangeShapeType="1" noTextEdit="1"/>
              </p:cNvSpPr>
              <p:nvPr/>
            </p:nvSpPr>
            <p:spPr>
              <a:xfrm>
                <a:off x="5567247" y="4348477"/>
                <a:ext cx="6094140" cy="2086277"/>
              </a:xfrm>
              <a:prstGeom prst="rect">
                <a:avLst/>
              </a:prstGeom>
              <a:blipFill>
                <a:blip r:embed="rId3"/>
                <a:stretch>
                  <a:fillRect t="-8163" b="-2915"/>
                </a:stretch>
              </a:blipFill>
            </p:spPr>
            <p:txBody>
              <a:bodyPr/>
              <a:lstStyle/>
              <a:p>
                <a:r>
                  <a:rPr lang="en-ZA">
                    <a:noFill/>
                  </a:rPr>
                  <a:t> </a:t>
                </a:r>
              </a:p>
            </p:txBody>
          </p:sp>
        </mc:Fallback>
      </mc:AlternateContent>
    </p:spTree>
    <p:extLst>
      <p:ext uri="{BB962C8B-B14F-4D97-AF65-F5344CB8AC3E}">
        <p14:creationId xmlns:p14="http://schemas.microsoft.com/office/powerpoint/2010/main" val="384690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60D5AEB1-4D28-9F4B-8922-B9B693EEAF78}"/>
                  </a:ext>
                </a:extLst>
              </p:cNvPr>
              <p:cNvGraphicFramePr>
                <a:graphicFrameLocks noGrp="1"/>
              </p:cNvGraphicFramePr>
              <p:nvPr/>
            </p:nvGraphicFramePr>
            <p:xfrm>
              <a:off x="53650" y="267906"/>
              <a:ext cx="12084699" cy="5819945"/>
            </p:xfrm>
            <a:graphic>
              <a:graphicData uri="http://schemas.openxmlformats.org/drawingml/2006/table">
                <a:tbl>
                  <a:tblPr firstRow="1" bandRow="1">
                    <a:tableStyleId>{10A1B5D5-9B99-4C35-A422-299274C87663}</a:tableStyleId>
                  </a:tblPr>
                  <a:tblGrid>
                    <a:gridCol w="2655683">
                      <a:extLst>
                        <a:ext uri="{9D8B030D-6E8A-4147-A177-3AD203B41FA5}">
                          <a16:colId xmlns:a16="http://schemas.microsoft.com/office/drawing/2014/main" val="4146491054"/>
                        </a:ext>
                      </a:extLst>
                    </a:gridCol>
                    <a:gridCol w="2105263">
                      <a:extLst>
                        <a:ext uri="{9D8B030D-6E8A-4147-A177-3AD203B41FA5}">
                          <a16:colId xmlns:a16="http://schemas.microsoft.com/office/drawing/2014/main" val="2953857035"/>
                        </a:ext>
                      </a:extLst>
                    </a:gridCol>
                    <a:gridCol w="3769158">
                      <a:extLst>
                        <a:ext uri="{9D8B030D-6E8A-4147-A177-3AD203B41FA5}">
                          <a16:colId xmlns:a16="http://schemas.microsoft.com/office/drawing/2014/main" val="990169853"/>
                        </a:ext>
                      </a:extLst>
                    </a:gridCol>
                    <a:gridCol w="3554595">
                      <a:extLst>
                        <a:ext uri="{9D8B030D-6E8A-4147-A177-3AD203B41FA5}">
                          <a16:colId xmlns:a16="http://schemas.microsoft.com/office/drawing/2014/main" val="3248950206"/>
                        </a:ext>
                      </a:extLst>
                    </a:gridCol>
                  </a:tblGrid>
                  <a:tr h="904854">
                    <a:tc>
                      <a:txBody>
                        <a:bodyPr/>
                        <a:lstStyle/>
                        <a:p>
                          <a:pPr algn="ctr"/>
                          <a:r>
                            <a:rPr lang="en-US" sz="2400" b="0"/>
                            <a:t>Economy modelled</a:t>
                          </a:r>
                        </a:p>
                      </a:txBody>
                      <a:tcPr anchor="ctr"/>
                    </a:tc>
                    <a:tc>
                      <a:txBody>
                        <a:bodyPr/>
                        <a:lstStyle/>
                        <a:p>
                          <a:pPr algn="ctr"/>
                          <a:r>
                            <a:rPr lang="en-US" sz="2400" b="0"/>
                            <a:t>GDP components </a:t>
                          </a:r>
                        </a:p>
                      </a:txBody>
                      <a:tcPr anchor="ctr"/>
                    </a:tc>
                    <a:tc>
                      <a:txBody>
                        <a:bodyPr/>
                        <a:lstStyle/>
                        <a:p>
                          <a:pPr algn="ctr"/>
                          <a:r>
                            <a:rPr lang="en-US" sz="2400" b="1"/>
                            <a:t>AD = Y  </a:t>
                          </a:r>
                          <a:r>
                            <a:rPr lang="en-US" sz="2400" b="0"/>
                            <a:t>equation </a:t>
                          </a:r>
                        </a:p>
                      </a:txBody>
                      <a:tcPr anchor="ctr"/>
                    </a:tc>
                    <a:tc>
                      <a:txBody>
                        <a:bodyPr/>
                        <a:lstStyle/>
                        <a:p>
                          <a:pPr algn="ctr"/>
                          <a:r>
                            <a:rPr lang="en-US" sz="2400" b="0"/>
                            <a:t>Multiplier Equation</a:t>
                          </a:r>
                        </a:p>
                        <a:p>
                          <a:pPr marL="0" indent="0" algn="ctr">
                            <a:buNone/>
                          </a:pPr>
                          <a:r>
                            <a:rPr lang="en-US" sz="2400" b="0" u="sng"/>
                            <a:t>∆GDP</a:t>
                          </a:r>
                        </a:p>
                        <a:p>
                          <a:pPr marL="0" indent="0" algn="ctr">
                            <a:buNone/>
                          </a:pPr>
                          <a:r>
                            <a:rPr lang="en-US" sz="2400" b="0"/>
                            <a:t>∆AD </a:t>
                          </a:r>
                        </a:p>
                      </a:txBody>
                      <a:tcPr anchor="ctr"/>
                    </a:tc>
                    <a:extLst>
                      <a:ext uri="{0D108BD9-81ED-4DB2-BD59-A6C34878D82A}">
                        <a16:rowId xmlns:a16="http://schemas.microsoft.com/office/drawing/2014/main" val="1831411999"/>
                      </a:ext>
                    </a:extLst>
                  </a:tr>
                  <a:tr h="735387">
                    <a:tc>
                      <a:txBody>
                        <a:bodyPr/>
                        <a:lstStyle/>
                        <a:p>
                          <a:pPr algn="ctr"/>
                          <a:r>
                            <a:rPr lang="en-US" sz="2400" b="0"/>
                            <a:t>Private Economy</a:t>
                          </a:r>
                        </a:p>
                      </a:txBody>
                      <a:tcPr anchor="ctr"/>
                    </a:tc>
                    <a:tc>
                      <a:txBody>
                        <a:bodyPr/>
                        <a:lstStyle/>
                        <a:p>
                          <a:pPr algn="ctr"/>
                          <a:r>
                            <a:rPr lang="en-US" sz="2800" b="0"/>
                            <a:t>C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𝑐</a:t>
                          </a:r>
                          <a:r>
                            <a:rPr lang="en-ZA" sz="2000" b="0" kern="1200" baseline="-25000">
                              <a:solidFill>
                                <a:schemeClr val="dk1"/>
                              </a:solidFill>
                              <a:effectLst/>
                            </a:rPr>
                            <a:t>0</a:t>
                          </a:r>
                          <a:r>
                            <a:rPr lang="en-ZA" sz="2000" b="0" kern="1200">
                              <a:solidFill>
                                <a:schemeClr val="dk1"/>
                              </a:solidFill>
                              <a:effectLst/>
                            </a:rPr>
                            <a:t> + 𝑐</a:t>
                          </a:r>
                          <a:r>
                            <a:rPr lang="en-ZA" sz="2000" b="0" kern="1200" baseline="-25000">
                              <a:solidFill>
                                <a:schemeClr val="dk1"/>
                              </a:solidFill>
                              <a:effectLst/>
                            </a:rPr>
                            <a:t>1</a:t>
                          </a:r>
                          <a:r>
                            <a:rPr lang="en-ZA" sz="2000" b="0" kern="1200">
                              <a:solidFill>
                                <a:schemeClr val="dk1"/>
                              </a:solidFill>
                              <a:effectLst/>
                            </a:rPr>
                            <a:t>Y</a:t>
                          </a:r>
                        </a:p>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sym typeface="Calibri"/>
                            </a:rPr>
                            <a:t>=</a:t>
                          </a:r>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a:t>
                          </a:r>
                          <a:endParaRPr kumimoji="0" lang="en-ZA" sz="20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sym typeface="Arial"/>
                          </a:endParaRPr>
                        </a:p>
                      </a:txBody>
                      <a:tcPr/>
                    </a:tc>
                    <a:tc>
                      <a:txBody>
                        <a:bodyPr/>
                        <a:lstStyle/>
                        <a:p>
                          <a:pPr algn="ctr"/>
                          <a14:m>
                            <m:oMathPara xmlns:m="http://schemas.openxmlformats.org/officeDocument/2006/math">
                              <m:oMathParaPr>
                                <m:jc m:val="centerGroup"/>
                              </m:oMathParaPr>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m:oMathPara>
                          </a14:m>
                          <a:endParaRPr lang="en-US" sz="2800" b="0"/>
                        </a:p>
                      </a:txBody>
                      <a:tcPr anchor="ctr"/>
                    </a:tc>
                    <a:extLst>
                      <a:ext uri="{0D108BD9-81ED-4DB2-BD59-A6C34878D82A}">
                        <a16:rowId xmlns:a16="http://schemas.microsoft.com/office/drawing/2014/main" val="2706616369"/>
                      </a:ext>
                    </a:extLst>
                  </a:tr>
                  <a:tr h="7729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t>Private Economy</a:t>
                          </a:r>
                        </a:p>
                      </a:txBody>
                      <a:tcPr anchor="ctr"/>
                    </a:tc>
                    <a:tc>
                      <a:txBody>
                        <a:bodyPr/>
                        <a:lstStyle/>
                        <a:p>
                          <a:pPr algn="ctr"/>
                          <a:r>
                            <a:rPr lang="en-US" sz="2800" b="0"/>
                            <a:t>C + I</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𝑐</a:t>
                          </a:r>
                          <a:r>
                            <a:rPr lang="en-ZA" sz="2000" b="0" kern="1200" baseline="-25000">
                              <a:solidFill>
                                <a:schemeClr val="dk1"/>
                              </a:solidFill>
                              <a:effectLst/>
                            </a:rPr>
                            <a:t>0</a:t>
                          </a:r>
                          <a:r>
                            <a:rPr lang="en-ZA" sz="2000" b="0" kern="1200">
                              <a:solidFill>
                                <a:schemeClr val="dk1"/>
                              </a:solidFill>
                              <a:effectLst/>
                            </a:rPr>
                            <a:t> + 𝑐</a:t>
                          </a:r>
                          <a:r>
                            <a:rPr lang="en-ZA" sz="2000" b="0" kern="1200" baseline="-25000">
                              <a:solidFill>
                                <a:schemeClr val="dk1"/>
                              </a:solidFill>
                              <a:effectLst/>
                            </a:rPr>
                            <a:t>1</a:t>
                          </a:r>
                          <a:r>
                            <a:rPr lang="en-ZA" sz="2000" b="0" kern="1200">
                              <a:solidFill>
                                <a:schemeClr val="dk1"/>
                              </a:solidFill>
                              <a:effectLst/>
                            </a:rPr>
                            <a:t>Y + I </a:t>
                          </a:r>
                          <a:endParaRPr lang="en-ZA" sz="2000" b="0">
                            <a:effectLst/>
                          </a:endParaRPr>
                        </a:p>
                        <a:p>
                          <a:pPr algn="l"/>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 + I) </a:t>
                          </a:r>
                          <a:endParaRPr lang="en-US" sz="2000" b="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m:oMathPara>
                          </a14:m>
                          <a:endParaRPr lang="en-US" sz="2800" b="0"/>
                        </a:p>
                      </a:txBody>
                      <a:tcPr anchor="ctr"/>
                    </a:tc>
                    <a:extLst>
                      <a:ext uri="{0D108BD9-81ED-4DB2-BD59-A6C34878D82A}">
                        <a16:rowId xmlns:a16="http://schemas.microsoft.com/office/drawing/2014/main" val="1270163588"/>
                      </a:ext>
                    </a:extLst>
                  </a:tr>
                  <a:tr h="735387">
                    <a:tc>
                      <a:txBody>
                        <a:bodyPr/>
                        <a:lstStyle/>
                        <a:p>
                          <a:pPr algn="ctr"/>
                          <a:r>
                            <a:rPr lang="en-US" sz="2400" b="0"/>
                            <a:t>Closed Economy</a:t>
                          </a:r>
                        </a:p>
                        <a:p>
                          <a:pPr algn="ctr"/>
                          <a:r>
                            <a:rPr lang="en-US" sz="1800" b="0"/>
                            <a:t>(t = 0)</a:t>
                          </a:r>
                        </a:p>
                      </a:txBody>
                      <a:tcPr anchor="ctr"/>
                    </a:tc>
                    <a:tc>
                      <a:txBody>
                        <a:bodyPr/>
                        <a:lstStyle/>
                        <a:p>
                          <a:pPr algn="ctr"/>
                          <a:r>
                            <a:rPr lang="en-US" sz="2800" b="0"/>
                            <a:t>C+I+G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c</a:t>
                          </a:r>
                          <a:r>
                            <a:rPr lang="en-ZA" sz="2000" b="0" kern="1200" baseline="-25000">
                              <a:solidFill>
                                <a:schemeClr val="dk1"/>
                              </a:solidFill>
                              <a:effectLst/>
                            </a:rPr>
                            <a:t>0</a:t>
                          </a:r>
                          <a:r>
                            <a:rPr lang="en-ZA" sz="2000" b="0" kern="1200">
                              <a:solidFill>
                                <a:schemeClr val="dk1"/>
                              </a:solidFill>
                              <a:effectLst/>
                            </a:rPr>
                            <a:t> +c</a:t>
                          </a:r>
                          <a:r>
                            <a:rPr lang="en-ZA" sz="2000" b="0" kern="1200" baseline="-25000">
                              <a:solidFill>
                                <a:schemeClr val="dk1"/>
                              </a:solidFill>
                              <a:effectLst/>
                            </a:rPr>
                            <a:t>1</a:t>
                          </a:r>
                          <a:r>
                            <a:rPr lang="en-ZA" sz="2000" b="0" kern="1200">
                              <a:solidFill>
                                <a:schemeClr val="dk1"/>
                              </a:solidFill>
                              <a:effectLst/>
                            </a:rPr>
                            <a:t>Y+I+G </a:t>
                          </a:r>
                          <a:endParaRPr lang="en-ZA" sz="2000" b="0">
                            <a:effectLst/>
                          </a:endParaRPr>
                        </a:p>
                        <a:p>
                          <a:pPr algn="l"/>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 I+ G)</a:t>
                          </a:r>
                          <a:endParaRPr lang="en-US" sz="2000" b="0"/>
                        </a:p>
                      </a:txBody>
                      <a:tcPr/>
                    </a:tc>
                    <a:tc>
                      <a:txBody>
                        <a:bodyPr/>
                        <a:lstStyle/>
                        <a:p>
                          <a:pPr algn="ctr"/>
                          <a:r>
                            <a:rPr lang="en-ZA" sz="2800" b="0">
                              <a:solidFill>
                                <a:schemeClr val="dk1"/>
                              </a:solidFill>
                              <a:sym typeface="Calibri"/>
                            </a:rPr>
                            <a:t> </a:t>
                          </a:r>
                          <a14:m>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a14:m>
                          <a:r>
                            <a:rPr lang="en-ZA" sz="2800" b="0">
                              <a:solidFill>
                                <a:schemeClr val="dk1"/>
                              </a:solidFill>
                              <a:sym typeface="Calibri"/>
                            </a:rPr>
                            <a:t> </a:t>
                          </a:r>
                          <a:endParaRPr lang="en-US" sz="2800" b="0"/>
                        </a:p>
                      </a:txBody>
                      <a:tcPr anchor="ctr"/>
                    </a:tc>
                    <a:extLst>
                      <a:ext uri="{0D108BD9-81ED-4DB2-BD59-A6C34878D82A}">
                        <a16:rowId xmlns:a16="http://schemas.microsoft.com/office/drawing/2014/main" val="1403591218"/>
                      </a:ext>
                    </a:extLst>
                  </a:tr>
                  <a:tr h="1125713">
                    <a:tc>
                      <a:txBody>
                        <a:bodyPr/>
                        <a:lstStyle/>
                        <a:p>
                          <a:pPr algn="ctr"/>
                          <a:endParaRPr lang="en-US" sz="2400" b="0"/>
                        </a:p>
                      </a:txBody>
                      <a:tcPr anchor="ctr"/>
                    </a:tc>
                    <a:tc>
                      <a:txBody>
                        <a:bodyPr/>
                        <a:lstStyle/>
                        <a:p>
                          <a:pPr algn="ctr"/>
                          <a:endParaRPr lang="en-US" sz="2800" b="0"/>
                        </a:p>
                      </a:txBody>
                      <a:tcPr anchor="ctr"/>
                    </a:tc>
                    <a:tc>
                      <a:txBody>
                        <a:bodyPr/>
                        <a:lstStyle/>
                        <a:p>
                          <a:pPr algn="l"/>
                          <a:endParaRPr lang="en-US" sz="2000" b="0"/>
                        </a:p>
                      </a:txBody>
                      <a:tcPr/>
                    </a:tc>
                    <a:tc>
                      <a:txBody>
                        <a:bodyPr/>
                        <a:lstStyle/>
                        <a:p>
                          <a:pPr algn="ctr"/>
                          <a:endParaRPr lang="en-US" sz="2800" b="0"/>
                        </a:p>
                      </a:txBody>
                      <a:tcPr anchor="ctr"/>
                    </a:tc>
                    <a:extLst>
                      <a:ext uri="{0D108BD9-81ED-4DB2-BD59-A6C34878D82A}">
                        <a16:rowId xmlns:a16="http://schemas.microsoft.com/office/drawing/2014/main" val="809790387"/>
                      </a:ext>
                    </a:extLst>
                  </a:tr>
                  <a:tr h="735387">
                    <a:tc>
                      <a:txBody>
                        <a:bodyPr/>
                        <a:lstStyle/>
                        <a:p>
                          <a:pPr algn="ctr"/>
                          <a:endParaRPr lang="en-US" sz="2400" b="0"/>
                        </a:p>
                      </a:txBody>
                      <a:tcPr anchor="ctr"/>
                    </a:tc>
                    <a:tc>
                      <a:txBody>
                        <a:bodyPr/>
                        <a:lstStyle/>
                        <a:p>
                          <a:pPr algn="ctr"/>
                          <a:endParaRPr lang="en-US" sz="2800" b="0"/>
                        </a:p>
                      </a:txBody>
                      <a:tcPr anchor="ctr"/>
                    </a:tc>
                    <a:tc>
                      <a:txBody>
                        <a:bodyPr/>
                        <a:lstStyle/>
                        <a:p>
                          <a:pPr algn="l"/>
                          <a:endParaRPr lang="en-US" sz="2000" b="0"/>
                        </a:p>
                      </a:txBody>
                      <a:tcPr/>
                    </a:tc>
                    <a:tc>
                      <a:txBody>
                        <a:bodyPr/>
                        <a:lstStyle/>
                        <a:p>
                          <a:pPr algn="ctr"/>
                          <a:endParaRPr lang="en-US" sz="2800" b="0"/>
                        </a:p>
                      </a:txBody>
                      <a:tcPr anchor="ctr"/>
                    </a:tc>
                    <a:extLst>
                      <a:ext uri="{0D108BD9-81ED-4DB2-BD59-A6C34878D82A}">
                        <a16:rowId xmlns:a16="http://schemas.microsoft.com/office/drawing/2014/main" val="1344669104"/>
                      </a:ext>
                    </a:extLst>
                  </a:tr>
                </a:tbl>
              </a:graphicData>
            </a:graphic>
          </p:graphicFrame>
        </mc:Choice>
        <mc:Fallback xmlns="">
          <p:graphicFrame>
            <p:nvGraphicFramePr>
              <p:cNvPr id="4" name="Table 4">
                <a:extLst>
                  <a:ext uri="{FF2B5EF4-FFF2-40B4-BE49-F238E27FC236}">
                    <a16:creationId xmlns:a16="http://schemas.microsoft.com/office/drawing/2014/main" id="{60D5AEB1-4D28-9F4B-8922-B9B693EEAF78}"/>
                  </a:ext>
                </a:extLst>
              </p:cNvPr>
              <p:cNvGraphicFramePr>
                <a:graphicFrameLocks noGrp="1"/>
              </p:cNvGraphicFramePr>
              <p:nvPr>
                <p:extLst>
                  <p:ext uri="{D42A27DB-BD31-4B8C-83A1-F6EECF244321}">
                    <p14:modId xmlns:p14="http://schemas.microsoft.com/office/powerpoint/2010/main" val="2371339486"/>
                  </p:ext>
                </p:extLst>
              </p:nvPr>
            </p:nvGraphicFramePr>
            <p:xfrm>
              <a:off x="53650" y="267906"/>
              <a:ext cx="12084699" cy="5819945"/>
            </p:xfrm>
            <a:graphic>
              <a:graphicData uri="http://schemas.openxmlformats.org/drawingml/2006/table">
                <a:tbl>
                  <a:tblPr firstRow="1" bandRow="1">
                    <a:tableStyleId>{10A1B5D5-9B99-4C35-A422-299274C87663}</a:tableStyleId>
                  </a:tblPr>
                  <a:tblGrid>
                    <a:gridCol w="2655683">
                      <a:extLst>
                        <a:ext uri="{9D8B030D-6E8A-4147-A177-3AD203B41FA5}">
                          <a16:colId xmlns:a16="http://schemas.microsoft.com/office/drawing/2014/main" val="4146491054"/>
                        </a:ext>
                      </a:extLst>
                    </a:gridCol>
                    <a:gridCol w="2105263">
                      <a:extLst>
                        <a:ext uri="{9D8B030D-6E8A-4147-A177-3AD203B41FA5}">
                          <a16:colId xmlns:a16="http://schemas.microsoft.com/office/drawing/2014/main" val="2953857035"/>
                        </a:ext>
                      </a:extLst>
                    </a:gridCol>
                    <a:gridCol w="3769158">
                      <a:extLst>
                        <a:ext uri="{9D8B030D-6E8A-4147-A177-3AD203B41FA5}">
                          <a16:colId xmlns:a16="http://schemas.microsoft.com/office/drawing/2014/main" val="990169853"/>
                        </a:ext>
                      </a:extLst>
                    </a:gridCol>
                    <a:gridCol w="3554595">
                      <a:extLst>
                        <a:ext uri="{9D8B030D-6E8A-4147-A177-3AD203B41FA5}">
                          <a16:colId xmlns:a16="http://schemas.microsoft.com/office/drawing/2014/main" val="3248950206"/>
                        </a:ext>
                      </a:extLst>
                    </a:gridCol>
                  </a:tblGrid>
                  <a:tr h="1188720">
                    <a:tc>
                      <a:txBody>
                        <a:bodyPr/>
                        <a:lstStyle/>
                        <a:p>
                          <a:pPr algn="ctr"/>
                          <a:r>
                            <a:rPr lang="en-US" sz="2400" b="0"/>
                            <a:t>Economy modelled</a:t>
                          </a:r>
                        </a:p>
                      </a:txBody>
                      <a:tcPr anchor="ctr"/>
                    </a:tc>
                    <a:tc>
                      <a:txBody>
                        <a:bodyPr/>
                        <a:lstStyle/>
                        <a:p>
                          <a:pPr algn="ctr"/>
                          <a:r>
                            <a:rPr lang="en-US" sz="2400" b="0"/>
                            <a:t>GDP components </a:t>
                          </a:r>
                        </a:p>
                      </a:txBody>
                      <a:tcPr anchor="ctr"/>
                    </a:tc>
                    <a:tc>
                      <a:txBody>
                        <a:bodyPr/>
                        <a:lstStyle/>
                        <a:p>
                          <a:pPr algn="ctr"/>
                          <a:r>
                            <a:rPr lang="en-US" sz="2400" b="1"/>
                            <a:t>AD = Y  </a:t>
                          </a:r>
                          <a:r>
                            <a:rPr lang="en-US" sz="2400" b="0"/>
                            <a:t>equation </a:t>
                          </a:r>
                        </a:p>
                      </a:txBody>
                      <a:tcPr anchor="ctr"/>
                    </a:tc>
                    <a:tc>
                      <a:txBody>
                        <a:bodyPr/>
                        <a:lstStyle/>
                        <a:p>
                          <a:pPr algn="ctr"/>
                          <a:r>
                            <a:rPr lang="en-US" sz="2400" b="0"/>
                            <a:t>Multiplier Equation</a:t>
                          </a:r>
                        </a:p>
                        <a:p>
                          <a:pPr marL="0" indent="0" algn="ctr">
                            <a:buNone/>
                          </a:pPr>
                          <a:r>
                            <a:rPr lang="en-US" sz="2400" b="0" u="sng"/>
                            <a:t>∆GDP</a:t>
                          </a:r>
                        </a:p>
                        <a:p>
                          <a:pPr marL="0" indent="0" algn="ctr">
                            <a:buNone/>
                          </a:pPr>
                          <a:r>
                            <a:rPr lang="en-US" sz="2400" b="0"/>
                            <a:t>∆AD </a:t>
                          </a:r>
                        </a:p>
                      </a:txBody>
                      <a:tcPr anchor="ctr"/>
                    </a:tc>
                    <a:extLst>
                      <a:ext uri="{0D108BD9-81ED-4DB2-BD59-A6C34878D82A}">
                        <a16:rowId xmlns:a16="http://schemas.microsoft.com/office/drawing/2014/main" val="1831411999"/>
                      </a:ext>
                    </a:extLst>
                  </a:tr>
                  <a:tr h="950151">
                    <a:tc>
                      <a:txBody>
                        <a:bodyPr/>
                        <a:lstStyle/>
                        <a:p>
                          <a:pPr algn="ctr"/>
                          <a:r>
                            <a:rPr lang="en-US" sz="2400" b="0"/>
                            <a:t>Private Economy</a:t>
                          </a:r>
                        </a:p>
                      </a:txBody>
                      <a:tcPr anchor="ctr"/>
                    </a:tc>
                    <a:tc>
                      <a:txBody>
                        <a:bodyPr/>
                        <a:lstStyle/>
                        <a:p>
                          <a:pPr algn="ctr"/>
                          <a:r>
                            <a:rPr lang="en-US" sz="2800" b="0"/>
                            <a:t>C </a:t>
                          </a:r>
                        </a:p>
                      </a:txBody>
                      <a:tcPr anchor="ctr"/>
                    </a:tc>
                    <a:tc>
                      <a:txBody>
                        <a:bodyPr/>
                        <a:lstStyle/>
                        <a:p>
                          <a:endParaRPr lang="en-US"/>
                        </a:p>
                      </a:txBody>
                      <a:tcPr>
                        <a:blipFill>
                          <a:blip r:embed="rId2"/>
                          <a:stretch>
                            <a:fillRect l="-126699" t="-129487" r="-94822" b="-389103"/>
                          </a:stretch>
                        </a:blipFill>
                      </a:tcPr>
                    </a:tc>
                    <a:tc>
                      <a:txBody>
                        <a:bodyPr/>
                        <a:lstStyle/>
                        <a:p>
                          <a:endParaRPr lang="en-US"/>
                        </a:p>
                      </a:txBody>
                      <a:tcPr anchor="ctr">
                        <a:blipFill>
                          <a:blip r:embed="rId2"/>
                          <a:stretch>
                            <a:fillRect l="-239897" t="-129487" r="-342" b="-389103"/>
                          </a:stretch>
                        </a:blipFill>
                      </a:tcPr>
                    </a:tc>
                    <a:extLst>
                      <a:ext uri="{0D108BD9-81ED-4DB2-BD59-A6C34878D82A}">
                        <a16:rowId xmlns:a16="http://schemas.microsoft.com/office/drawing/2014/main" val="2706616369"/>
                      </a:ext>
                    </a:extLst>
                  </a:tr>
                  <a:tr h="9501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t>Private Economy</a:t>
                          </a:r>
                        </a:p>
                      </a:txBody>
                      <a:tcPr anchor="ctr"/>
                    </a:tc>
                    <a:tc>
                      <a:txBody>
                        <a:bodyPr/>
                        <a:lstStyle/>
                        <a:p>
                          <a:pPr algn="ctr"/>
                          <a:r>
                            <a:rPr lang="en-US" sz="2800" b="0"/>
                            <a:t>C + I</a:t>
                          </a:r>
                        </a:p>
                      </a:txBody>
                      <a:tcPr anchor="ctr"/>
                    </a:tc>
                    <a:tc>
                      <a:txBody>
                        <a:bodyPr/>
                        <a:lstStyle/>
                        <a:p>
                          <a:endParaRPr lang="en-US"/>
                        </a:p>
                      </a:txBody>
                      <a:tcPr>
                        <a:blipFill>
                          <a:blip r:embed="rId2"/>
                          <a:stretch>
                            <a:fillRect l="-126699" t="-229487" r="-94822" b="-289103"/>
                          </a:stretch>
                        </a:blipFill>
                      </a:tcPr>
                    </a:tc>
                    <a:tc>
                      <a:txBody>
                        <a:bodyPr/>
                        <a:lstStyle/>
                        <a:p>
                          <a:endParaRPr lang="en-US"/>
                        </a:p>
                      </a:txBody>
                      <a:tcPr anchor="ctr">
                        <a:blipFill>
                          <a:blip r:embed="rId2"/>
                          <a:stretch>
                            <a:fillRect l="-239897" t="-229487" r="-342" b="-289103"/>
                          </a:stretch>
                        </a:blipFill>
                      </a:tcPr>
                    </a:tc>
                    <a:extLst>
                      <a:ext uri="{0D108BD9-81ED-4DB2-BD59-A6C34878D82A}">
                        <a16:rowId xmlns:a16="http://schemas.microsoft.com/office/drawing/2014/main" val="1270163588"/>
                      </a:ext>
                    </a:extLst>
                  </a:tr>
                  <a:tr h="869823">
                    <a:tc>
                      <a:txBody>
                        <a:bodyPr/>
                        <a:lstStyle/>
                        <a:p>
                          <a:pPr algn="ctr"/>
                          <a:r>
                            <a:rPr lang="en-US" sz="2400" b="0"/>
                            <a:t>Closed Economy</a:t>
                          </a:r>
                        </a:p>
                        <a:p>
                          <a:pPr algn="ctr"/>
                          <a:r>
                            <a:rPr lang="en-US" sz="1800" b="0"/>
                            <a:t>(t = 0)</a:t>
                          </a:r>
                        </a:p>
                      </a:txBody>
                      <a:tcPr anchor="ctr"/>
                    </a:tc>
                    <a:tc>
                      <a:txBody>
                        <a:bodyPr/>
                        <a:lstStyle/>
                        <a:p>
                          <a:pPr algn="ctr"/>
                          <a:r>
                            <a:rPr lang="en-US" sz="2800" b="0"/>
                            <a:t>C+I+G</a:t>
                          </a:r>
                        </a:p>
                      </a:txBody>
                      <a:tcPr anchor="ctr"/>
                    </a:tc>
                    <a:tc>
                      <a:txBody>
                        <a:bodyPr/>
                        <a:lstStyle/>
                        <a:p>
                          <a:endParaRPr lang="en-US"/>
                        </a:p>
                      </a:txBody>
                      <a:tcPr>
                        <a:blipFill>
                          <a:blip r:embed="rId2"/>
                          <a:stretch>
                            <a:fillRect l="-126699" t="-359441" r="-94822" b="-215385"/>
                          </a:stretch>
                        </a:blipFill>
                      </a:tcPr>
                    </a:tc>
                    <a:tc>
                      <a:txBody>
                        <a:bodyPr/>
                        <a:lstStyle/>
                        <a:p>
                          <a:endParaRPr lang="en-US"/>
                        </a:p>
                      </a:txBody>
                      <a:tcPr anchor="ctr">
                        <a:blipFill>
                          <a:blip r:embed="rId2"/>
                          <a:stretch>
                            <a:fillRect l="-239897" t="-359441" r="-342" b="-215385"/>
                          </a:stretch>
                        </a:blipFill>
                      </a:tcPr>
                    </a:tc>
                    <a:extLst>
                      <a:ext uri="{0D108BD9-81ED-4DB2-BD59-A6C34878D82A}">
                        <a16:rowId xmlns:a16="http://schemas.microsoft.com/office/drawing/2014/main" val="1403591218"/>
                      </a:ext>
                    </a:extLst>
                  </a:tr>
                  <a:tr h="1125713">
                    <a:tc>
                      <a:txBody>
                        <a:bodyPr/>
                        <a:lstStyle/>
                        <a:p>
                          <a:pPr algn="ctr"/>
                          <a:endParaRPr lang="en-US" sz="2400" b="0"/>
                        </a:p>
                      </a:txBody>
                      <a:tcPr anchor="ctr"/>
                    </a:tc>
                    <a:tc>
                      <a:txBody>
                        <a:bodyPr/>
                        <a:lstStyle/>
                        <a:p>
                          <a:pPr algn="ctr"/>
                          <a:endParaRPr lang="en-US" sz="2800" b="0"/>
                        </a:p>
                      </a:txBody>
                      <a:tcPr anchor="ctr"/>
                    </a:tc>
                    <a:tc>
                      <a:txBody>
                        <a:bodyPr/>
                        <a:lstStyle/>
                        <a:p>
                          <a:pPr algn="l"/>
                          <a:endParaRPr lang="en-US" sz="2000" b="0"/>
                        </a:p>
                      </a:txBody>
                      <a:tcPr/>
                    </a:tc>
                    <a:tc>
                      <a:txBody>
                        <a:bodyPr/>
                        <a:lstStyle/>
                        <a:p>
                          <a:pPr algn="ctr"/>
                          <a:endParaRPr lang="en-US" sz="2800" b="0"/>
                        </a:p>
                      </a:txBody>
                      <a:tcPr anchor="ctr"/>
                    </a:tc>
                    <a:extLst>
                      <a:ext uri="{0D108BD9-81ED-4DB2-BD59-A6C34878D82A}">
                        <a16:rowId xmlns:a16="http://schemas.microsoft.com/office/drawing/2014/main" val="809790387"/>
                      </a:ext>
                    </a:extLst>
                  </a:tr>
                  <a:tr h="735387">
                    <a:tc>
                      <a:txBody>
                        <a:bodyPr/>
                        <a:lstStyle/>
                        <a:p>
                          <a:pPr algn="ctr"/>
                          <a:endParaRPr lang="en-US" sz="2400" b="0"/>
                        </a:p>
                      </a:txBody>
                      <a:tcPr anchor="ctr"/>
                    </a:tc>
                    <a:tc>
                      <a:txBody>
                        <a:bodyPr/>
                        <a:lstStyle/>
                        <a:p>
                          <a:pPr algn="ctr"/>
                          <a:endParaRPr lang="en-US" sz="2800" b="0"/>
                        </a:p>
                      </a:txBody>
                      <a:tcPr anchor="ctr"/>
                    </a:tc>
                    <a:tc>
                      <a:txBody>
                        <a:bodyPr/>
                        <a:lstStyle/>
                        <a:p>
                          <a:pPr algn="l"/>
                          <a:endParaRPr lang="en-US" sz="2000" b="0"/>
                        </a:p>
                      </a:txBody>
                      <a:tcPr/>
                    </a:tc>
                    <a:tc>
                      <a:txBody>
                        <a:bodyPr/>
                        <a:lstStyle/>
                        <a:p>
                          <a:pPr algn="ctr"/>
                          <a:endParaRPr lang="en-US" sz="2800" b="0"/>
                        </a:p>
                      </a:txBody>
                      <a:tcPr anchor="ctr"/>
                    </a:tc>
                    <a:extLst>
                      <a:ext uri="{0D108BD9-81ED-4DB2-BD59-A6C34878D82A}">
                        <a16:rowId xmlns:a16="http://schemas.microsoft.com/office/drawing/2014/main" val="1344669104"/>
                      </a:ext>
                    </a:extLst>
                  </a:tr>
                </a:tbl>
              </a:graphicData>
            </a:graphic>
          </p:graphicFrame>
        </mc:Fallback>
      </mc:AlternateContent>
      <p:sp>
        <p:nvSpPr>
          <p:cNvPr id="2" name="Rectangle 1">
            <a:extLst>
              <a:ext uri="{FF2B5EF4-FFF2-40B4-BE49-F238E27FC236}">
                <a16:creationId xmlns:a16="http://schemas.microsoft.com/office/drawing/2014/main" id="{7AB1EE4B-70DE-8055-C779-436205AFDF51}"/>
              </a:ext>
            </a:extLst>
          </p:cNvPr>
          <p:cNvSpPr/>
          <p:nvPr/>
        </p:nvSpPr>
        <p:spPr>
          <a:xfrm>
            <a:off x="53650" y="3311611"/>
            <a:ext cx="12084699" cy="963827"/>
          </a:xfrm>
          <a:prstGeom prst="rect">
            <a:avLst/>
          </a:prstGeom>
          <a:noFill/>
          <a:ln w="57150" cap="flat" cmpd="sng" algn="ctr">
            <a:solidFill>
              <a:srgbClr val="FF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9648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F6B69C-873A-EA44-BA4A-5E9FDD09FCB2}"/>
              </a:ext>
            </a:extLst>
          </p:cNvPr>
          <p:cNvSpPr>
            <a:spLocks noGrp="1"/>
          </p:cNvSpPr>
          <p:nvPr>
            <p:ph idx="1"/>
          </p:nvPr>
        </p:nvSpPr>
        <p:spPr>
          <a:xfrm>
            <a:off x="606459" y="2367233"/>
            <a:ext cx="10515600" cy="4242551"/>
          </a:xfrm>
        </p:spPr>
        <p:txBody>
          <a:bodyPr/>
          <a:lstStyle/>
          <a:p>
            <a:pPr marL="514350" indent="-514350">
              <a:buFont typeface="+mj-lt"/>
              <a:buAutoNum type="arabicPeriod"/>
            </a:pPr>
            <a:r>
              <a:rPr lang="en-ZA"/>
              <a:t>What is the equation for the AD function?</a:t>
            </a:r>
          </a:p>
          <a:p>
            <a:pPr marL="514350" indent="-514350">
              <a:buFont typeface="+mj-lt"/>
              <a:buAutoNum type="arabicPeriod"/>
            </a:pPr>
            <a:r>
              <a:rPr lang="en-ZA"/>
              <a:t>What will happen to Y if government spending increases by 200?</a:t>
            </a:r>
          </a:p>
          <a:p>
            <a:pPr marL="514350" indent="-514350">
              <a:buFont typeface="+mj-lt"/>
              <a:buAutoNum type="arabicPeriod"/>
            </a:pPr>
            <a:r>
              <a:rPr lang="en-ZA"/>
              <a:t>Where is the new level of equilibrium income?</a:t>
            </a:r>
          </a:p>
          <a:p>
            <a:pPr marL="514350" indent="-514350">
              <a:buFont typeface="+mj-lt"/>
              <a:buAutoNum type="arabicPeriod"/>
            </a:pPr>
            <a:r>
              <a:rPr lang="en-ZA"/>
              <a:t>Use a graph to illustrate your answers. </a:t>
            </a:r>
          </a:p>
          <a:p>
            <a:endParaRPr lang="en-US" b="1"/>
          </a:p>
          <a:p>
            <a:endParaRPr lang="en-US"/>
          </a:p>
        </p:txBody>
      </p:sp>
      <p:sp>
        <p:nvSpPr>
          <p:cNvPr id="4" name="Title 1">
            <a:extLst>
              <a:ext uri="{FF2B5EF4-FFF2-40B4-BE49-F238E27FC236}">
                <a16:creationId xmlns:a16="http://schemas.microsoft.com/office/drawing/2014/main" id="{8BFE6BCB-E8B6-47D4-B860-97F49B851509}"/>
              </a:ext>
            </a:extLst>
          </p:cNvPr>
          <p:cNvSpPr txBox="1">
            <a:spLocks/>
          </p:cNvSpPr>
          <p:nvPr/>
        </p:nvSpPr>
        <p:spPr>
          <a:xfrm>
            <a:off x="606459" y="-1001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Calibri Light" panose="020F0302020204030204"/>
                <a:ea typeface="+mj-ea"/>
                <a:cs typeface="+mj-cs"/>
              </a:rPr>
              <a:t>Exercise 3  (Step 3)</a:t>
            </a:r>
          </a:p>
        </p:txBody>
      </p:sp>
      <p:sp>
        <p:nvSpPr>
          <p:cNvPr id="5" name="TextBox 4">
            <a:extLst>
              <a:ext uri="{FF2B5EF4-FFF2-40B4-BE49-F238E27FC236}">
                <a16:creationId xmlns:a16="http://schemas.microsoft.com/office/drawing/2014/main" id="{008329D2-334D-4394-B4AD-E4FB17CDF9B7}"/>
              </a:ext>
            </a:extLst>
          </p:cNvPr>
          <p:cNvSpPr txBox="1"/>
          <p:nvPr/>
        </p:nvSpPr>
        <p:spPr>
          <a:xfrm>
            <a:off x="214604" y="957694"/>
            <a:ext cx="11585541" cy="1106970"/>
          </a:xfrm>
          <a:prstGeom prst="rect">
            <a:avLst/>
          </a:prstGeom>
          <a:noFill/>
          <a:ln>
            <a:solidFill>
              <a:srgbClr val="00B050"/>
            </a:solidFill>
          </a:ln>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Information: </a:t>
            </a:r>
            <a:r>
              <a:rPr kumimoji="0" lang="en-ZA" sz="3200" b="1"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ZA" sz="3200" b="1" i="0" u="none" strike="noStrike" kern="1200" cap="none" spc="0" normalizeH="0" baseline="0" noProof="0">
                <a:ln>
                  <a:noFill/>
                </a:ln>
                <a:solidFill>
                  <a:prstClr val="black"/>
                </a:solidFill>
                <a:effectLst/>
                <a:uLnTx/>
                <a:uFillTx/>
                <a:latin typeface="Calibri" panose="020F0502020204030204"/>
                <a:ea typeface="+mn-ea"/>
                <a:cs typeface="+mn-cs"/>
              </a:rPr>
              <a:t>When Y = 0, C = 400; when Y = 1000, C = 1000; I = 250; </a:t>
            </a:r>
            <a:r>
              <a:rPr kumimoji="0" lang="en-ZA" sz="3200" b="1" i="0" u="none" strike="noStrike" kern="1200" cap="none" spc="0" normalizeH="0" baseline="0" noProof="0">
                <a:ln>
                  <a:noFill/>
                </a:ln>
                <a:solidFill>
                  <a:srgbClr val="0070C0"/>
                </a:solidFill>
                <a:effectLst/>
                <a:uLnTx/>
                <a:uFillTx/>
                <a:latin typeface="Calibri" panose="020F0502020204030204"/>
                <a:ea typeface="+mn-ea"/>
                <a:cs typeface="+mn-cs"/>
              </a:rPr>
              <a:t>G = 100</a:t>
            </a:r>
            <a:endParaRPr kumimoji="0" lang="en-US" sz="3200" b="1" i="0" u="none" strike="noStrike" kern="1200" cap="none" spc="0" normalizeH="0" baseline="0" noProof="0">
              <a:ln>
                <a:noFill/>
              </a:ln>
              <a:solidFill>
                <a:srgbClr val="0070C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2010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7DDE0B-C56F-AC13-8554-856C74D27148}"/>
              </a:ext>
            </a:extLst>
          </p:cNvPr>
          <p:cNvSpPr>
            <a:spLocks noGrp="1"/>
          </p:cNvSpPr>
          <p:nvPr>
            <p:ph type="title"/>
          </p:nvPr>
        </p:nvSpPr>
        <p:spPr>
          <a:xfrm>
            <a:off x="838200" y="219353"/>
            <a:ext cx="10515600" cy="1325563"/>
          </a:xfrm>
        </p:spPr>
        <p:txBody>
          <a:bodyPr/>
          <a:lstStyle/>
          <a:p>
            <a:r>
              <a:rPr lang="en-US" dirty="0"/>
              <a:t>But for G to happen – </a:t>
            </a:r>
            <a:r>
              <a:rPr lang="en-US" sz="5400" b="1" dirty="0">
                <a:solidFill>
                  <a:srgbClr val="C00000"/>
                </a:solidFill>
              </a:rPr>
              <a:t>T </a:t>
            </a:r>
            <a:r>
              <a:rPr lang="en-US" dirty="0"/>
              <a:t>is necessary …. </a:t>
            </a:r>
            <a:endParaRPr lang="en-ZA" dirty="0"/>
          </a:p>
        </p:txBody>
      </p:sp>
      <p:sp>
        <p:nvSpPr>
          <p:cNvPr id="5" name="Content Placeholder 4">
            <a:extLst>
              <a:ext uri="{FF2B5EF4-FFF2-40B4-BE49-F238E27FC236}">
                <a16:creationId xmlns:a16="http://schemas.microsoft.com/office/drawing/2014/main" id="{CFB97E81-DC44-E968-40D3-0DF5DF96923E}"/>
              </a:ext>
            </a:extLst>
          </p:cNvPr>
          <p:cNvSpPr>
            <a:spLocks noGrp="1"/>
          </p:cNvSpPr>
          <p:nvPr>
            <p:ph idx="1"/>
          </p:nvPr>
        </p:nvSpPr>
        <p:spPr>
          <a:xfrm>
            <a:off x="838200" y="1431235"/>
            <a:ext cx="7392006" cy="1746638"/>
          </a:xfrm>
        </p:spPr>
        <p:txBody>
          <a:bodyPr>
            <a:normAutofit/>
          </a:bodyPr>
          <a:lstStyle/>
          <a:p>
            <a:pPr marL="0" indent="0">
              <a:buNone/>
            </a:pPr>
            <a:r>
              <a:rPr lang="en-US" sz="3200" dirty="0"/>
              <a:t>C </a:t>
            </a:r>
            <a:r>
              <a:rPr lang="en-ZA" sz="3200" dirty="0"/>
              <a:t>depends on post-tax income – i.e. disposable income </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a:t>
            </a:r>
            <a:r>
              <a:rPr lang="en-ZA" sz="3200" dirty="0"/>
              <a:t> </a:t>
            </a:r>
            <a:r>
              <a:rPr lang="en-ZA" sz="6600" dirty="0"/>
              <a:t>Y</a:t>
            </a:r>
            <a:r>
              <a:rPr lang="en-ZA" sz="6600" baseline="-25000" dirty="0"/>
              <a:t>d</a:t>
            </a:r>
            <a:endParaRPr lang="en-ZA" sz="3200" baseline="-25000" dirty="0"/>
          </a:p>
        </p:txBody>
      </p:sp>
      <p:sp>
        <p:nvSpPr>
          <p:cNvPr id="8" name="TextBox 7">
            <a:extLst>
              <a:ext uri="{FF2B5EF4-FFF2-40B4-BE49-F238E27FC236}">
                <a16:creationId xmlns:a16="http://schemas.microsoft.com/office/drawing/2014/main" id="{0D49595D-6738-26A5-8730-B57DC1496830}"/>
              </a:ext>
            </a:extLst>
          </p:cNvPr>
          <p:cNvSpPr txBox="1"/>
          <p:nvPr/>
        </p:nvSpPr>
        <p:spPr>
          <a:xfrm>
            <a:off x="5712293" y="1771472"/>
            <a:ext cx="2517913"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prstClr val="black"/>
                </a:solidFill>
                <a:effectLst/>
                <a:uLnTx/>
                <a:uFillTx/>
                <a:latin typeface="Aptos" panose="02110004020202020204"/>
                <a:ea typeface="+mn-ea"/>
                <a:cs typeface="+mn-cs"/>
              </a:rPr>
              <a:t>Y - T</a:t>
            </a:r>
            <a:endParaRPr kumimoji="0" lang="en-ZA" sz="6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2D8BC79E-6610-5599-22D9-E510CCEB43A9}"/>
              </a:ext>
            </a:extLst>
          </p:cNvPr>
          <p:cNvSpPr txBox="1"/>
          <p:nvPr/>
        </p:nvSpPr>
        <p:spPr>
          <a:xfrm>
            <a:off x="5377069" y="1956138"/>
            <a:ext cx="838201"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13" name="Rectangle 1">
            <a:extLst>
              <a:ext uri="{FF2B5EF4-FFF2-40B4-BE49-F238E27FC236}">
                <a16:creationId xmlns:a16="http://schemas.microsoft.com/office/drawing/2014/main" id="{72BFDB1B-1E9B-96A2-71C4-19FB2EE26C67}"/>
              </a:ext>
            </a:extLst>
          </p:cNvPr>
          <p:cNvSpPr>
            <a:spLocks noChangeArrowheads="1"/>
          </p:cNvSpPr>
          <p:nvPr/>
        </p:nvSpPr>
        <p:spPr bwMode="auto">
          <a:xfrm>
            <a:off x="8230206" y="1425223"/>
            <a:ext cx="4070902" cy="1985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423F43"/>
                </a:solidFill>
                <a:effectLst/>
                <a:uLnTx/>
                <a:uFillTx/>
                <a:latin typeface="Crimson Pro"/>
                <a:ea typeface="+mn-ea"/>
                <a:cs typeface="+mn-cs"/>
              </a:rPr>
              <a:t>government charges a tax,</a:t>
            </a:r>
            <a:r>
              <a:rPr kumimoji="0" lang="en-US" altLang="en-US" sz="2800" b="1" i="0" u="none" strike="noStrike" kern="1200" cap="none" spc="0" normalizeH="0" baseline="0" noProof="0" dirty="0">
                <a:ln>
                  <a:noFill/>
                </a:ln>
                <a:solidFill>
                  <a:srgbClr val="423F43"/>
                </a:solidFill>
                <a:effectLst/>
                <a:uLnTx/>
                <a:uFillTx/>
                <a:latin typeface="Crimson Pro"/>
                <a:ea typeface="+mn-ea"/>
                <a:cs typeface="+mn-cs"/>
              </a:rPr>
              <a:t> </a:t>
            </a:r>
            <a:r>
              <a:rPr kumimoji="0" lang="en-US" altLang="en-US" sz="2400" b="1" i="0" u="none" strike="noStrike" kern="1200" cap="none" spc="0" normalizeH="0" baseline="0" noProof="0" dirty="0">
                <a:ln>
                  <a:noFill/>
                </a:ln>
                <a:solidFill>
                  <a:srgbClr val="423F43"/>
                </a:solidFill>
                <a:effectLst/>
                <a:uLnTx/>
                <a:uFillTx/>
                <a:latin typeface="GyrePagellaMathJax_Normal"/>
                <a:ea typeface="+mn-ea"/>
                <a:cs typeface="+mn-cs"/>
              </a:rPr>
              <a:t>𝑡</a:t>
            </a:r>
            <a:r>
              <a:rPr kumimoji="0" lang="en-US" altLang="en-US" sz="2800" b="0" i="0" u="none" strike="noStrike" kern="1200" cap="none" spc="0" normalizeH="0" baseline="0" noProof="0" dirty="0">
                <a:ln>
                  <a:noFill/>
                </a:ln>
                <a:solidFill>
                  <a:srgbClr val="423F43"/>
                </a:solidFill>
                <a:effectLst/>
                <a:uLnTx/>
                <a:uFillTx/>
                <a:latin typeface="Crimson Pro"/>
                <a:ea typeface="+mn-ea"/>
                <a:cs typeface="+mn-cs"/>
              </a:rPr>
              <a:t>, which we assume is proportional to income</a:t>
            </a:r>
          </a:p>
          <a:p>
            <a:pPr>
              <a:defRPr/>
            </a:pPr>
            <a:r>
              <a:rPr kumimoji="0" lang="en-US" altLang="en-US" sz="2800" b="0" i="0" u="none" strike="noStrike" kern="1200" cap="none" spc="0" normalizeH="0" baseline="0" noProof="0" dirty="0">
                <a:ln>
                  <a:noFill/>
                </a:ln>
                <a:solidFill>
                  <a:srgbClr val="423F43"/>
                </a:solidFill>
                <a:effectLst/>
                <a:uLnTx/>
                <a:uFillTx/>
                <a:latin typeface="Crimson Pro"/>
                <a:ea typeface="+mn-ea"/>
                <a:cs typeface="+mn-cs"/>
              </a:rPr>
              <a:t>T = </a:t>
            </a:r>
            <a:r>
              <a:rPr lang="en-US" altLang="en-US" sz="2800" i="1" dirty="0" err="1">
                <a:solidFill>
                  <a:srgbClr val="423F43"/>
                </a:solidFill>
                <a:latin typeface="Crimson Pro"/>
              </a:rPr>
              <a:t>t</a:t>
            </a:r>
            <a:r>
              <a:rPr lang="en-US" altLang="en-US" sz="2800" dirty="0" err="1">
                <a:solidFill>
                  <a:srgbClr val="423F43"/>
                </a:solidFill>
                <a:latin typeface="Crimson Pro"/>
              </a:rPr>
              <a:t>Y</a:t>
            </a:r>
            <a:endParaRPr lang="en-US" altLang="en-US" sz="2800" b="0" i="0" u="none" strike="noStrike" kern="1200" cap="none" spc="0" normalizeH="0" baseline="0" noProof="0" dirty="0" err="1">
              <a:ln>
                <a:noFill/>
              </a:ln>
              <a:solidFill>
                <a:srgbClr val="423F43"/>
              </a:solidFill>
              <a:effectLst/>
              <a:uLnTx/>
              <a:uFillTx/>
              <a:latin typeface="Crimson Pr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endPar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4" name="Arrow: Down 13">
            <a:extLst>
              <a:ext uri="{FF2B5EF4-FFF2-40B4-BE49-F238E27FC236}">
                <a16:creationId xmlns:a16="http://schemas.microsoft.com/office/drawing/2014/main" id="{56563C23-4C91-BF20-19E7-77CCAA3B3412}"/>
              </a:ext>
            </a:extLst>
          </p:cNvPr>
          <p:cNvSpPr/>
          <p:nvPr/>
        </p:nvSpPr>
        <p:spPr>
          <a:xfrm>
            <a:off x="6819900" y="2610398"/>
            <a:ext cx="516835" cy="7050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1CD0A76D-3B45-7E95-3F4D-BD2AD91352F0}"/>
              </a:ext>
            </a:extLst>
          </p:cNvPr>
          <p:cNvSpPr txBox="1"/>
          <p:nvPr/>
        </p:nvSpPr>
        <p:spPr>
          <a:xfrm>
            <a:off x="5377069" y="3258657"/>
            <a:ext cx="838201"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16" name="TextBox 15">
            <a:extLst>
              <a:ext uri="{FF2B5EF4-FFF2-40B4-BE49-F238E27FC236}">
                <a16:creationId xmlns:a16="http://schemas.microsoft.com/office/drawing/2014/main" id="{385A1C09-9C4D-1B0E-47CA-9F96E91C9CE0}"/>
              </a:ext>
            </a:extLst>
          </p:cNvPr>
          <p:cNvSpPr txBox="1"/>
          <p:nvPr/>
        </p:nvSpPr>
        <p:spPr>
          <a:xfrm>
            <a:off x="5981699" y="3121834"/>
            <a:ext cx="2937014"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prstClr val="black"/>
                </a:solidFill>
                <a:effectLst/>
                <a:uLnTx/>
                <a:uFillTx/>
                <a:latin typeface="Aptos" panose="02110004020202020204"/>
                <a:ea typeface="+mn-ea"/>
                <a:cs typeface="+mn-cs"/>
              </a:rPr>
              <a:t>(1 – </a:t>
            </a:r>
            <a:r>
              <a:rPr kumimoji="0" lang="en-US" sz="6600" b="0" i="1" u="none" strike="noStrike" kern="1200" cap="none" spc="0" normalizeH="0" baseline="0" noProof="0" dirty="0">
                <a:ln>
                  <a:noFill/>
                </a:ln>
                <a:solidFill>
                  <a:prstClr val="black"/>
                </a:solidFill>
                <a:effectLst/>
                <a:uLnTx/>
                <a:uFillTx/>
                <a:latin typeface="Aptos" panose="02110004020202020204"/>
                <a:ea typeface="+mn-ea"/>
                <a:cs typeface="+mn-cs"/>
              </a:rPr>
              <a:t>t</a:t>
            </a:r>
            <a:r>
              <a:rPr kumimoji="0" lang="en-US" sz="6600" b="0" i="0" u="none" strike="noStrike" kern="1200" cap="none" spc="0" normalizeH="0" baseline="0" noProof="0" dirty="0">
                <a:ln>
                  <a:noFill/>
                </a:ln>
                <a:solidFill>
                  <a:prstClr val="black"/>
                </a:solidFill>
                <a:effectLst/>
                <a:uLnTx/>
                <a:uFillTx/>
                <a:latin typeface="Aptos" panose="02110004020202020204"/>
                <a:ea typeface="+mn-ea"/>
                <a:cs typeface="+mn-cs"/>
              </a:rPr>
              <a:t>) Y</a:t>
            </a:r>
            <a:endParaRPr kumimoji="0" lang="en-ZA" sz="6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TextBox 16">
            <a:extLst>
              <a:ext uri="{FF2B5EF4-FFF2-40B4-BE49-F238E27FC236}">
                <a16:creationId xmlns:a16="http://schemas.microsoft.com/office/drawing/2014/main" id="{CDBAF042-DF70-1C33-F789-B9C3539EE294}"/>
              </a:ext>
            </a:extLst>
          </p:cNvPr>
          <p:cNvSpPr txBox="1"/>
          <p:nvPr/>
        </p:nvSpPr>
        <p:spPr>
          <a:xfrm>
            <a:off x="838200" y="4746558"/>
            <a:ext cx="12192000" cy="21236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C	= c</a:t>
            </a:r>
            <a:r>
              <a:rPr kumimoji="0" lang="en-US" sz="6000" b="0" i="0" u="none" strike="noStrike" kern="1200" cap="none" spc="0" normalizeH="0" baseline="-25000" noProof="0" dirty="0">
                <a:ln>
                  <a:noFill/>
                </a:ln>
                <a:solidFill>
                  <a:prstClr val="black"/>
                </a:solidFill>
                <a:effectLst/>
                <a:uLnTx/>
                <a:uFillTx/>
                <a:latin typeface="Aptos" panose="02110004020202020204"/>
                <a:ea typeface="+mn-ea"/>
                <a:cs typeface="+mn-cs"/>
              </a:rPr>
              <a:t>0</a:t>
            </a: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 + c</a:t>
            </a:r>
            <a:r>
              <a:rPr kumimoji="0" lang="en-US" sz="6000" b="0" i="0" u="none" strike="noStrike" kern="1200" cap="none" spc="0" normalizeH="0" baseline="-25000" noProof="0" dirty="0">
                <a:ln>
                  <a:noFill/>
                </a:ln>
                <a:solidFill>
                  <a:prstClr val="black"/>
                </a:solidFill>
                <a:effectLst/>
                <a:uLnTx/>
                <a:uFillTx/>
                <a:latin typeface="Aptos" panose="02110004020202020204"/>
                <a:ea typeface="+mn-ea"/>
                <a:cs typeface="+mn-cs"/>
              </a:rPr>
              <a:t>1</a:t>
            </a: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Y</a:t>
            </a:r>
            <a:r>
              <a:rPr kumimoji="0" lang="en-US" sz="6000" b="0" i="0" u="none" strike="noStrike" kern="1200" cap="none" spc="0" normalizeH="0" baseline="-25000" noProof="0" dirty="0">
                <a:ln>
                  <a:noFill/>
                </a:ln>
                <a:solidFill>
                  <a:prstClr val="black"/>
                </a:solidFill>
                <a:effectLst/>
                <a:uLnTx/>
                <a:uFillTx/>
                <a:latin typeface="Aptos" panose="02110004020202020204"/>
                <a:ea typeface="+mn-ea"/>
                <a:cs typeface="+mn-cs"/>
              </a:rPr>
              <a:t>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6600" b="1" i="0" u="none" strike="noStrike" kern="1200" cap="none" spc="0" normalizeH="0" baseline="0" noProof="0" dirty="0">
                <a:ln>
                  <a:noFill/>
                </a:ln>
                <a:solidFill>
                  <a:prstClr val="black"/>
                </a:solidFill>
                <a:effectLst/>
                <a:uLnTx/>
                <a:uFillTx/>
                <a:latin typeface="Aptos" panose="02110004020202020204"/>
                <a:ea typeface="+mn-ea"/>
                <a:cs typeface="+mn-cs"/>
              </a:rPr>
              <a:t>C	= c</a:t>
            </a:r>
            <a:r>
              <a:rPr kumimoji="0" lang="en-US" sz="6600" b="1" i="0" u="none" strike="noStrike" kern="1200" cap="none" spc="0" normalizeH="0" baseline="-25000" noProof="0" dirty="0">
                <a:ln>
                  <a:noFill/>
                </a:ln>
                <a:solidFill>
                  <a:prstClr val="black"/>
                </a:solidFill>
                <a:effectLst/>
                <a:uLnTx/>
                <a:uFillTx/>
                <a:latin typeface="Aptos" panose="02110004020202020204"/>
                <a:ea typeface="+mn-ea"/>
                <a:cs typeface="+mn-cs"/>
              </a:rPr>
              <a:t>0</a:t>
            </a:r>
            <a:r>
              <a:rPr kumimoji="0" lang="en-US" sz="6600" b="1" i="0" u="none" strike="noStrike" kern="1200" cap="none" spc="0" normalizeH="0" baseline="0" noProof="0" dirty="0">
                <a:ln>
                  <a:noFill/>
                </a:ln>
                <a:solidFill>
                  <a:prstClr val="black"/>
                </a:solidFill>
                <a:effectLst/>
                <a:uLnTx/>
                <a:uFillTx/>
                <a:latin typeface="Aptos" panose="02110004020202020204"/>
                <a:ea typeface="+mn-ea"/>
                <a:cs typeface="+mn-cs"/>
              </a:rPr>
              <a:t> + c</a:t>
            </a:r>
            <a:r>
              <a:rPr kumimoji="0" lang="en-US" sz="6600" b="1" i="0" u="none" strike="noStrike" kern="1200" cap="none" spc="0" normalizeH="0" baseline="-25000" noProof="0" dirty="0">
                <a:ln>
                  <a:noFill/>
                </a:ln>
                <a:solidFill>
                  <a:prstClr val="black"/>
                </a:solidFill>
                <a:effectLst/>
                <a:uLnTx/>
                <a:uFillTx/>
                <a:latin typeface="Aptos" panose="02110004020202020204"/>
                <a:ea typeface="+mn-ea"/>
                <a:cs typeface="+mn-cs"/>
              </a:rPr>
              <a:t>1</a:t>
            </a:r>
            <a:r>
              <a:rPr kumimoji="0" lang="en-US" sz="6600" b="1" i="0" u="none" strike="noStrike" kern="1200" cap="none" spc="0" normalizeH="0" baseline="0" noProof="0" dirty="0">
                <a:ln>
                  <a:noFill/>
                </a:ln>
                <a:solidFill>
                  <a:prstClr val="black"/>
                </a:solidFill>
                <a:effectLst/>
                <a:uLnTx/>
                <a:uFillTx/>
                <a:latin typeface="Aptos" panose="02110004020202020204"/>
                <a:ea typeface="+mn-ea"/>
                <a:cs typeface="+mn-cs"/>
              </a:rPr>
              <a:t>(1 – </a:t>
            </a:r>
            <a:r>
              <a:rPr kumimoji="0" lang="en-US" sz="6600" b="1" i="1" u="none" strike="noStrike" kern="1200" cap="none" spc="0" normalizeH="0" baseline="0" noProof="0" dirty="0">
                <a:ln>
                  <a:noFill/>
                </a:ln>
                <a:solidFill>
                  <a:prstClr val="black"/>
                </a:solidFill>
                <a:effectLst/>
                <a:uLnTx/>
                <a:uFillTx/>
                <a:latin typeface="Aptos" panose="02110004020202020204"/>
                <a:ea typeface="+mn-ea"/>
                <a:cs typeface="+mn-cs"/>
              </a:rPr>
              <a:t>t</a:t>
            </a:r>
            <a:r>
              <a:rPr kumimoji="0" lang="en-US" sz="6600" b="1" i="0" u="none" strike="noStrike" kern="1200" cap="none" spc="0" normalizeH="0" baseline="0" noProof="0" dirty="0">
                <a:ln>
                  <a:noFill/>
                </a:ln>
                <a:solidFill>
                  <a:prstClr val="black"/>
                </a:solidFill>
                <a:effectLst/>
                <a:uLnTx/>
                <a:uFillTx/>
                <a:latin typeface="Aptos" panose="02110004020202020204"/>
                <a:ea typeface="+mn-ea"/>
                <a:cs typeface="+mn-cs"/>
              </a:rPr>
              <a:t>) Y</a:t>
            </a:r>
            <a:endParaRPr kumimoji="0" lang="en-ZA" sz="66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1E537377-8717-EBB2-E4C1-C69B01630C7D}"/>
              </a:ext>
            </a:extLst>
          </p:cNvPr>
          <p:cNvSpPr txBox="1"/>
          <p:nvPr/>
        </p:nvSpPr>
        <p:spPr>
          <a:xfrm>
            <a:off x="838200" y="3879983"/>
            <a:ext cx="11353800" cy="1200329"/>
          </a:xfrm>
          <a:prstGeom prst="rect">
            <a:avLst/>
          </a:prstGeom>
          <a:noFill/>
        </p:spPr>
        <p:txBody>
          <a:bodyPr wrap="square">
            <a:spAutoFit/>
          </a:bodyPr>
          <a:lstStyle/>
          <a:p>
            <a:pPr marL="857250" marR="0" lvl="0" indent="-8572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sym typeface="Symbol" panose="05050102010706020507" pitchFamily="18" charset="2"/>
              </a:rPr>
              <a:t>C changes in the 3 sector model with income tax being charged:</a:t>
            </a:r>
          </a:p>
        </p:txBody>
      </p:sp>
    </p:spTree>
    <p:extLst>
      <p:ext uri="{BB962C8B-B14F-4D97-AF65-F5344CB8AC3E}">
        <p14:creationId xmlns:p14="http://schemas.microsoft.com/office/powerpoint/2010/main" val="197380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p:bldP spid="12" grpId="0"/>
      <p:bldP spid="13" grpId="0"/>
      <p:bldP spid="14" grpId="0" animBg="1"/>
      <p:bldP spid="15" grpId="0"/>
      <p:bldP spid="16" grpId="0"/>
      <p:bldP spid="17" grpId="0"/>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1" name="Google Shape;241;p36"/>
          <p:cNvSpPr txBox="1"/>
          <p:nvPr/>
        </p:nvSpPr>
        <p:spPr>
          <a:xfrm>
            <a:off x="940526" y="2782388"/>
            <a:ext cx="10084526" cy="353943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Government enters </a:t>
            </a:r>
            <a:r>
              <a:rPr kumimoji="0" lang="en-US" sz="3600" b="1" i="0" u="none" strike="noStrike" kern="0" cap="none" spc="0" normalizeH="0" baseline="0" noProof="0" dirty="0">
                <a:ln>
                  <a:noFill/>
                </a:ln>
                <a:solidFill>
                  <a:srgbClr val="000000"/>
                </a:solidFill>
                <a:effectLst/>
                <a:uLnTx/>
                <a:uFillTx/>
                <a:latin typeface="Calibri"/>
                <a:ea typeface="Calibri"/>
                <a:cs typeface="Calibri"/>
                <a:sym typeface="Calibri"/>
              </a:rPr>
              <a:t>AD</a:t>
            </a: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via:</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203200" algn="l" defTabSz="914400" rtl="0" eaLnBrk="1" fontAlgn="auto" latinLnBrk="0" hangingPunct="1">
              <a:lnSpc>
                <a:spcPct val="100000"/>
              </a:lnSpc>
              <a:spcBef>
                <a:spcPts val="0"/>
              </a:spcBef>
              <a:spcAft>
                <a:spcPts val="0"/>
              </a:spcAft>
              <a:buClr>
                <a:srgbClr val="000000"/>
              </a:buClr>
              <a:buSzPts val="3200"/>
              <a:buFont typeface="Arial"/>
              <a:buChar char="•"/>
              <a:tabLst/>
              <a:defRPr/>
            </a:pP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3200" b="0" i="0" u="sng" strike="noStrike" kern="0" cap="none" spc="0" normalizeH="0" baseline="0" noProof="0" dirty="0">
                <a:ln>
                  <a:noFill/>
                </a:ln>
                <a:solidFill>
                  <a:srgbClr val="000000"/>
                </a:solidFill>
                <a:effectLst/>
                <a:uLnTx/>
                <a:uFillTx/>
                <a:latin typeface="Calibri"/>
                <a:ea typeface="Calibri"/>
                <a:cs typeface="Calibri"/>
                <a:sym typeface="Calibri"/>
              </a:rPr>
              <a:t>Government expenditure (G)</a:t>
            </a: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exogenous; shifts AD curve upwards</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203200" algn="l" defTabSz="914400" rtl="0" eaLnBrk="1" fontAlgn="auto" latinLnBrk="0" hangingPunct="1">
              <a:lnSpc>
                <a:spcPct val="100000"/>
              </a:lnSpc>
              <a:spcBef>
                <a:spcPts val="0"/>
              </a:spcBef>
              <a:spcAft>
                <a:spcPts val="0"/>
              </a:spcAft>
              <a:buClr>
                <a:srgbClr val="000000"/>
              </a:buClr>
              <a:buSzPts val="3200"/>
              <a:buFont typeface="Arial"/>
              <a:buChar char="•"/>
              <a:tabLst/>
              <a:defRPr/>
            </a:pP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3200" b="0" i="0" u="sng" strike="noStrike" kern="0" cap="none" spc="0" normalizeH="0" baseline="0" noProof="0" dirty="0">
                <a:ln>
                  <a:noFill/>
                </a:ln>
                <a:solidFill>
                  <a:srgbClr val="000000"/>
                </a:solidFill>
                <a:effectLst/>
                <a:uLnTx/>
                <a:uFillTx/>
                <a:latin typeface="Calibri"/>
                <a:ea typeface="Calibri"/>
                <a:cs typeface="Calibri"/>
                <a:sym typeface="Calibri"/>
              </a:rPr>
              <a:t>Consumption (C)</a:t>
            </a: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household’s MPC relates to </a:t>
            </a:r>
            <a:r>
              <a:rPr kumimoji="0" lang="en-US" sz="3200" b="0" i="1" u="none" strike="noStrike" kern="0" cap="none" spc="0" normalizeH="0" baseline="0" noProof="0" dirty="0">
                <a:ln>
                  <a:noFill/>
                </a:ln>
                <a:solidFill>
                  <a:srgbClr val="000000"/>
                </a:solidFill>
                <a:effectLst/>
                <a:uLnTx/>
                <a:uFillTx/>
                <a:latin typeface="Calibri"/>
                <a:ea typeface="Calibri"/>
                <a:cs typeface="Calibri"/>
                <a:sym typeface="Calibri"/>
              </a:rPr>
              <a:t>disposable income</a:t>
            </a: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(1-</a:t>
            </a:r>
            <a:r>
              <a:rPr kumimoji="0" lang="en-US" sz="3200" b="1" i="1" u="none" strike="noStrike" kern="0" cap="none" spc="0" normalizeH="0" baseline="0" noProof="0" dirty="0">
                <a:ln>
                  <a:noFill/>
                </a:ln>
                <a:solidFill>
                  <a:srgbClr val="C00000"/>
                </a:solidFill>
                <a:effectLst/>
                <a:uLnTx/>
                <a:uFillTx/>
                <a:latin typeface="Calibri"/>
                <a:ea typeface="Calibri"/>
                <a:cs typeface="Calibri"/>
                <a:sym typeface="Calibri"/>
              </a:rPr>
              <a:t>t</a:t>
            </a: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)Y</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203200" algn="l" defTabSz="914400" rtl="0" eaLnBrk="1" fontAlgn="auto" latinLnBrk="0" hangingPunct="1">
              <a:lnSpc>
                <a:spcPct val="100000"/>
              </a:lnSpc>
              <a:spcBef>
                <a:spcPts val="0"/>
              </a:spcBef>
              <a:spcAft>
                <a:spcPts val="0"/>
              </a:spcAft>
              <a:buClr>
                <a:srgbClr val="000000"/>
              </a:buClr>
              <a:buSzPts val="3200"/>
              <a:buFont typeface="Arial"/>
              <a:buChar char="•"/>
              <a:tabLst/>
              <a:defRPr/>
            </a:pP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3200" b="0" i="0" u="sng" strike="noStrike" kern="0" cap="none" spc="0" normalizeH="0" baseline="0" noProof="0" dirty="0">
                <a:ln>
                  <a:noFill/>
                </a:ln>
                <a:solidFill>
                  <a:srgbClr val="000000"/>
                </a:solidFill>
                <a:effectLst/>
                <a:uLnTx/>
                <a:uFillTx/>
                <a:latin typeface="Calibri"/>
                <a:ea typeface="Calibri"/>
                <a:cs typeface="Calibri"/>
                <a:sym typeface="Calibri"/>
              </a:rPr>
              <a:t>Investment (I)</a:t>
            </a: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depends on the interest rate and </a:t>
            </a:r>
            <a:r>
              <a:rPr kumimoji="0" lang="en-US" sz="3200" b="0" i="1" u="none" strike="noStrike" kern="0" cap="none" spc="0" normalizeH="0" baseline="0" noProof="0" dirty="0">
                <a:ln>
                  <a:noFill/>
                </a:ln>
                <a:solidFill>
                  <a:srgbClr val="000000"/>
                </a:solidFill>
                <a:effectLst/>
                <a:uLnTx/>
                <a:uFillTx/>
                <a:latin typeface="Calibri"/>
                <a:ea typeface="Calibri"/>
                <a:cs typeface="Calibri"/>
                <a:sym typeface="Calibri"/>
              </a:rPr>
              <a:t>after-tax</a:t>
            </a: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rate of profit</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42" name="Google Shape;242;p36"/>
          <p:cNvSpPr txBox="1"/>
          <p:nvPr/>
        </p:nvSpPr>
        <p:spPr>
          <a:xfrm>
            <a:off x="705394" y="1785523"/>
            <a:ext cx="10620103" cy="58477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1" i="0" u="none" strike="noStrike" kern="0" cap="none" spc="0" normalizeH="0" baseline="0" noProof="0" dirty="0">
                <a:ln>
                  <a:noFill/>
                </a:ln>
                <a:solidFill>
                  <a:srgbClr val="000000"/>
                </a:solidFill>
                <a:effectLst/>
                <a:uLnTx/>
                <a:uFillTx/>
                <a:latin typeface="Calibri"/>
                <a:ea typeface="Calibri"/>
                <a:cs typeface="Calibri"/>
                <a:sym typeface="Calibri"/>
              </a:rPr>
              <a:t>AD = C + I + </a:t>
            </a:r>
            <a:r>
              <a:rPr kumimoji="0" lang="en-US" sz="4400" b="1" i="0" u="none" strike="noStrike" kern="1200" cap="none" spc="0" normalizeH="0" baseline="0" noProof="0" dirty="0">
                <a:ln>
                  <a:noFill/>
                </a:ln>
                <a:solidFill>
                  <a:srgbClr val="C00000"/>
                </a:solidFill>
                <a:effectLst/>
                <a:uLnTx/>
                <a:uFillTx/>
                <a:latin typeface="Aptos" panose="02110004020202020204"/>
                <a:ea typeface="+mn-ea"/>
                <a:cs typeface="+mn-cs"/>
                <a:sym typeface="Calibri"/>
              </a:rPr>
              <a:t>G</a:t>
            </a:r>
            <a:r>
              <a:rPr kumimoji="0" lang="en-US" sz="3200" b="1" i="0" u="none" strike="noStrike" kern="0" cap="none" spc="0" normalizeH="0" baseline="0" noProof="0" dirty="0">
                <a:ln>
                  <a:noFill/>
                </a:ln>
                <a:solidFill>
                  <a:srgbClr val="000000"/>
                </a:solidFill>
                <a:effectLst/>
                <a:uLnTx/>
                <a:uFillTx/>
                <a:latin typeface="Calibri"/>
                <a:ea typeface="Calibri"/>
                <a:cs typeface="Calibri"/>
                <a:sym typeface="Calibri"/>
              </a:rPr>
              <a:t> </a:t>
            </a:r>
            <a:endParaRPr kumimoji="0" sz="3200" b="1"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14293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1">
                                            <p:txEl>
                                              <p:pRg st="2" end="2"/>
                                            </p:txEl>
                                          </p:spTgt>
                                        </p:tgtEl>
                                        <p:attrNameLst>
                                          <p:attrName>style.visibility</p:attrName>
                                        </p:attrNameLst>
                                      </p:cBhvr>
                                      <p:to>
                                        <p:strVal val="visible"/>
                                      </p:to>
                                    </p:set>
                                    <p:animEffect transition="in" filter="fade">
                                      <p:cBhvr>
                                        <p:cTn id="7" dur="500"/>
                                        <p:tgtEl>
                                          <p:spTgt spid="24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1">
                                            <p:txEl>
                                              <p:pRg st="3" end="3"/>
                                            </p:txEl>
                                          </p:spTgt>
                                        </p:tgtEl>
                                        <p:attrNameLst>
                                          <p:attrName>style.visibility</p:attrName>
                                        </p:attrNameLst>
                                      </p:cBhvr>
                                      <p:to>
                                        <p:strVal val="visible"/>
                                      </p:to>
                                    </p:set>
                                    <p:animEffect transition="in" filter="fade">
                                      <p:cBhvr>
                                        <p:cTn id="12" dur="500"/>
                                        <p:tgtEl>
                                          <p:spTgt spid="24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6"/>
          <p:cNvSpPr txBox="1">
            <a:spLocks noGrp="1"/>
          </p:cNvSpPr>
          <p:nvPr>
            <p:ph type="title"/>
          </p:nvPr>
        </p:nvSpPr>
        <p:spPr>
          <a:xfrm>
            <a:off x="838200" y="574182"/>
            <a:ext cx="10515600" cy="93564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800"/>
              <a:buFont typeface="Calibri"/>
              <a:buNone/>
            </a:pPr>
            <a:r>
              <a:rPr lang="en-US" sz="4800" b="0" i="0" u="none" strike="noStrike" cap="none" dirty="0">
                <a:solidFill>
                  <a:schemeClr val="dk1"/>
                </a:solidFill>
                <a:latin typeface="Calibri"/>
                <a:ea typeface="Calibri"/>
                <a:cs typeface="Calibri"/>
                <a:sym typeface="Calibri"/>
              </a:rPr>
              <a:t>Adding the government to aggregate demand:</a:t>
            </a:r>
            <a:r>
              <a:rPr lang="en-US" sz="4800" b="0" i="1" u="none" strike="noStrike" cap="none" dirty="0">
                <a:solidFill>
                  <a:schemeClr val="dk1"/>
                </a:solidFill>
                <a:latin typeface="Calibri"/>
                <a:ea typeface="Calibri"/>
                <a:cs typeface="Calibri"/>
                <a:sym typeface="Calibri"/>
              </a:rPr>
              <a:t> the components</a:t>
            </a:r>
            <a:endParaRPr sz="4800" b="0" i="1" u="none" strike="noStrike" cap="none" dirty="0">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41" name="Google Shape;241;p36"/>
              <p:cNvSpPr txBox="1"/>
              <p:nvPr/>
            </p:nvSpPr>
            <p:spPr>
              <a:xfrm>
                <a:off x="1053737" y="3318570"/>
                <a:ext cx="10084526" cy="353943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Consumption (C):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ZA" sz="3200" b="0" i="0" u="none" strike="noStrike" kern="0" cap="none" spc="0" normalizeH="0" baseline="0" noProof="0" dirty="0">
                  <a:ln>
                    <a:noFill/>
                  </a:ln>
                  <a:solidFill>
                    <a:srgbClr val="000000"/>
                  </a:solidFill>
                  <a:effectLst/>
                  <a:uLnTx/>
                  <a:uFillTx/>
                  <a:latin typeface="Calibri"/>
                  <a:ea typeface="+mn-ea"/>
                  <a:cs typeface="Calibri"/>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C = </a:t>
                </a:r>
                <a14:m>
                  <m:oMath xmlns:m="http://schemas.openxmlformats.org/officeDocument/2006/math">
                    <m:sSub>
                      <m:sSubPr>
                        <m:ctrlPr>
                          <a:rPr kumimoji="0" lang="en-ZA" sz="32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Calibri"/>
                            <a:sym typeface="Arial"/>
                          </a:rPr>
                        </m:ctrlPr>
                      </m:sSubPr>
                      <m:e>
                        <m:r>
                          <a:rPr kumimoji="0" lang="en-ZA" sz="32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Calibri"/>
                            <a:sym typeface="Arial"/>
                          </a:rPr>
                          <m:t>𝑐</m:t>
                        </m:r>
                      </m:e>
                      <m:sub>
                        <m:r>
                          <a:rPr kumimoji="0" lang="en-ZA" sz="32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Calibri"/>
                            <a:sym typeface="Arial"/>
                          </a:rPr>
                          <m:t>0</m:t>
                        </m:r>
                      </m:sub>
                    </m:sSub>
                  </m:oMath>
                </a14:m>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 + </a:t>
                </a:r>
                <a14:m>
                  <m:oMath xmlns:m="http://schemas.openxmlformats.org/officeDocument/2006/math">
                    <m:sSub>
                      <m:sSubPr>
                        <m:ctrlPr>
                          <a:rPr kumimoji="0" lang="en-ZA" sz="3200" b="0" i="1" u="none" strike="noStrike" kern="0" cap="none" spc="0" normalizeH="0" baseline="0" noProof="0">
                            <a:ln>
                              <a:noFill/>
                            </a:ln>
                            <a:solidFill>
                              <a:srgbClr val="000000"/>
                            </a:solidFill>
                            <a:effectLst/>
                            <a:uLnTx/>
                            <a:uFillTx/>
                            <a:latin typeface="Cambria Math" panose="02040503050406030204" pitchFamily="18" charset="0"/>
                            <a:ea typeface="+mn-ea"/>
                            <a:cs typeface="Calibri"/>
                            <a:sym typeface="Arial"/>
                          </a:rPr>
                        </m:ctrlPr>
                      </m:sSubPr>
                      <m:e>
                        <m:r>
                          <a:rPr kumimoji="0" lang="en-ZA" sz="3200" b="0" i="1" u="none" strike="noStrike" kern="0" cap="none" spc="0" normalizeH="0" baseline="0" noProof="0">
                            <a:ln>
                              <a:noFill/>
                            </a:ln>
                            <a:solidFill>
                              <a:srgbClr val="000000"/>
                            </a:solidFill>
                            <a:effectLst/>
                            <a:uLnTx/>
                            <a:uFillTx/>
                            <a:latin typeface="Cambria Math" panose="02040503050406030204" pitchFamily="18" charset="0"/>
                            <a:ea typeface="+mn-ea"/>
                            <a:cs typeface="Calibri"/>
                            <a:sym typeface="Arial"/>
                          </a:rPr>
                          <m:t>𝑐</m:t>
                        </m:r>
                      </m:e>
                      <m:sub>
                        <m:r>
                          <a:rPr kumimoji="0" lang="en-ZA" sz="32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Calibri"/>
                            <a:sym typeface="Arial"/>
                          </a:rPr>
                          <m:t>1</m:t>
                        </m:r>
                      </m:sub>
                    </m:sSub>
                  </m:oMath>
                </a14:m>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(1 - </a:t>
                </a:r>
                <a:r>
                  <a:rPr kumimoji="0" lang="en-ZA" sz="3200" b="1" i="1" u="none" strike="noStrike" kern="0" cap="none" spc="0" normalizeH="0" baseline="0" noProof="0" dirty="0">
                    <a:ln>
                      <a:noFill/>
                    </a:ln>
                    <a:solidFill>
                      <a:srgbClr val="C00000"/>
                    </a:solidFill>
                    <a:effectLst/>
                    <a:uLnTx/>
                    <a:uFillTx/>
                    <a:latin typeface="Calibri"/>
                    <a:ea typeface="+mn-ea"/>
                    <a:cs typeface="Calibri"/>
                    <a:sym typeface="Arial"/>
                  </a:rPr>
                  <a:t>t</a:t>
                </a: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 Y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ZA" sz="3200" b="0" i="0" u="none" strike="noStrike" kern="0" cap="none" spc="0" normalizeH="0" baseline="0" noProof="0" dirty="0">
                  <a:ln>
                    <a:noFill/>
                  </a:ln>
                  <a:solidFill>
                    <a:srgbClr val="000000"/>
                  </a:solidFill>
                  <a:effectLst/>
                  <a:uLnTx/>
                  <a:uFillTx/>
                  <a:latin typeface="Calibri"/>
                  <a:ea typeface="+mn-ea"/>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ZA" sz="3200" b="0" i="0" u="none" strike="noStrike" kern="0" cap="none" spc="0" normalizeH="0" baseline="0" noProof="0" dirty="0">
                  <a:ln>
                    <a:noFill/>
                  </a:ln>
                  <a:solidFill>
                    <a:srgbClr val="000000"/>
                  </a:solidFill>
                  <a:effectLst/>
                  <a:uLnTx/>
                  <a:uFillTx/>
                  <a:latin typeface="Calibri"/>
                  <a:ea typeface="+mn-ea"/>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ZA" sz="3200" b="0" i="0" u="none" strike="noStrike" kern="0" cap="none" spc="0" normalizeH="0" baseline="0" noProof="0" dirty="0">
                  <a:ln>
                    <a:noFill/>
                  </a:ln>
                  <a:solidFill>
                    <a:srgbClr val="000000"/>
                  </a:solidFill>
                  <a:effectLst/>
                  <a:uLnTx/>
                  <a:uFillTx/>
                  <a:latin typeface="Calibri"/>
                  <a:ea typeface="+mn-ea"/>
                  <a:cs typeface="Calibri"/>
                  <a:sym typeface="Arial"/>
                </a:endParaRPr>
              </a:p>
            </p:txBody>
          </p:sp>
        </mc:Choice>
        <mc:Fallback xmlns="">
          <p:sp>
            <p:nvSpPr>
              <p:cNvPr id="241" name="Google Shape;241;p36"/>
              <p:cNvSpPr txBox="1">
                <a:spLocks noRot="1" noChangeAspect="1" noMove="1" noResize="1" noEditPoints="1" noAdjustHandles="1" noChangeArrowheads="1" noChangeShapeType="1" noTextEdit="1"/>
              </p:cNvSpPr>
              <p:nvPr/>
            </p:nvSpPr>
            <p:spPr>
              <a:xfrm>
                <a:off x="1053737" y="3318570"/>
                <a:ext cx="10084526" cy="3539430"/>
              </a:xfrm>
              <a:prstGeom prst="rect">
                <a:avLst/>
              </a:prstGeom>
              <a:blipFill>
                <a:blip r:embed="rId3"/>
                <a:stretch>
                  <a:fillRect l="-1572" t="-2238"/>
                </a:stretch>
              </a:blipFill>
              <a:ln>
                <a:noFill/>
              </a:ln>
            </p:spPr>
            <p:txBody>
              <a:bodyPr/>
              <a:lstStyle/>
              <a:p>
                <a:r>
                  <a:rPr lang="en-ZA">
                    <a:noFill/>
                  </a:rPr>
                  <a:t> </a:t>
                </a:r>
              </a:p>
            </p:txBody>
          </p:sp>
        </mc:Fallback>
      </mc:AlternateContent>
      <p:sp>
        <p:nvSpPr>
          <p:cNvPr id="242" name="Google Shape;242;p36"/>
          <p:cNvSpPr txBox="1"/>
          <p:nvPr/>
        </p:nvSpPr>
        <p:spPr>
          <a:xfrm>
            <a:off x="709921" y="2183959"/>
            <a:ext cx="10620103" cy="58477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1" i="0" u="none" strike="noStrike" kern="0" cap="none" spc="0" normalizeH="0" baseline="0" noProof="0" dirty="0">
                <a:ln>
                  <a:noFill/>
                </a:ln>
                <a:solidFill>
                  <a:srgbClr val="000000"/>
                </a:solidFill>
                <a:effectLst/>
                <a:uLnTx/>
                <a:uFillTx/>
                <a:latin typeface="Calibri"/>
                <a:ea typeface="Calibri"/>
                <a:cs typeface="Calibri"/>
                <a:sym typeface="Calibri"/>
              </a:rPr>
              <a:t>AD = C + I + </a:t>
            </a:r>
            <a:r>
              <a:rPr kumimoji="0" lang="en-US" sz="4400" b="1" i="0" u="none" strike="noStrike" kern="1200" cap="none" spc="0" normalizeH="0" baseline="0" noProof="0" dirty="0">
                <a:ln>
                  <a:noFill/>
                </a:ln>
                <a:solidFill>
                  <a:srgbClr val="C00000"/>
                </a:solidFill>
                <a:effectLst/>
                <a:uLnTx/>
                <a:uFillTx/>
                <a:latin typeface="Aptos" panose="02110004020202020204"/>
                <a:ea typeface="+mn-ea"/>
                <a:cs typeface="+mn-cs"/>
                <a:sym typeface="Calibri"/>
              </a:rPr>
              <a:t>G</a:t>
            </a:r>
            <a:r>
              <a:rPr kumimoji="0" lang="en-US" sz="4000" b="1" i="0" u="none" strike="noStrike" kern="0" cap="none" spc="0" normalizeH="0" baseline="0" noProof="0" dirty="0">
                <a:ln>
                  <a:noFill/>
                </a:ln>
                <a:solidFill>
                  <a:srgbClr val="000000"/>
                </a:solidFill>
                <a:effectLst/>
                <a:uLnTx/>
                <a:uFillTx/>
                <a:latin typeface="Calibri"/>
                <a:ea typeface="Calibri"/>
                <a:cs typeface="Calibri"/>
                <a:sym typeface="Calibri"/>
              </a:rPr>
              <a:t> </a:t>
            </a:r>
            <a:endParaRPr kumimoji="0" sz="4000" b="1"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 name="Right Brace 1">
            <a:extLst>
              <a:ext uri="{FF2B5EF4-FFF2-40B4-BE49-F238E27FC236}">
                <a16:creationId xmlns:a16="http://schemas.microsoft.com/office/drawing/2014/main" id="{49CE8914-8054-42E8-B4DC-F157BB5E042B}"/>
              </a:ext>
            </a:extLst>
          </p:cNvPr>
          <p:cNvSpPr/>
          <p:nvPr/>
        </p:nvSpPr>
        <p:spPr>
          <a:xfrm rot="5400000">
            <a:off x="6740526" y="4976207"/>
            <a:ext cx="612470" cy="311356"/>
          </a:xfrm>
          <a:prstGeom prst="rightBrac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af-ZA" sz="1400" b="0" i="0" u="none" strike="noStrike" kern="0" cap="none" spc="0" normalizeH="0" baseline="0" noProof="0">
              <a:ln>
                <a:noFill/>
              </a:ln>
              <a:solidFill>
                <a:srgbClr val="4472C4">
                  <a:lumMod val="75000"/>
                </a:srgbClr>
              </a:solidFill>
              <a:effectLst/>
              <a:uLnTx/>
              <a:uFillTx/>
              <a:latin typeface="Arial"/>
              <a:ea typeface="+mn-ea"/>
              <a:cs typeface="+mn-cs"/>
              <a:sym typeface="Arial"/>
            </a:endParaRPr>
          </a:p>
        </p:txBody>
      </p:sp>
      <p:sp>
        <p:nvSpPr>
          <p:cNvPr id="6" name="Right Brace 5">
            <a:extLst>
              <a:ext uri="{FF2B5EF4-FFF2-40B4-BE49-F238E27FC236}">
                <a16:creationId xmlns:a16="http://schemas.microsoft.com/office/drawing/2014/main" id="{72DB034C-F4BF-4E85-B93B-03C73A4D90AE}"/>
              </a:ext>
            </a:extLst>
          </p:cNvPr>
          <p:cNvSpPr/>
          <p:nvPr/>
        </p:nvSpPr>
        <p:spPr>
          <a:xfrm rot="5400000">
            <a:off x="7316861" y="4872512"/>
            <a:ext cx="311085" cy="217361"/>
          </a:xfrm>
          <a:prstGeom prst="rightBrac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af-ZA" sz="1400" b="0" i="0" u="none" strike="noStrike" kern="0" cap="none" spc="0" normalizeH="0" baseline="0" noProof="0">
              <a:ln>
                <a:noFill/>
              </a:ln>
              <a:solidFill>
                <a:srgbClr val="000000"/>
              </a:solidFill>
              <a:effectLst/>
              <a:uLnTx/>
              <a:uFillTx/>
              <a:latin typeface="Arial"/>
              <a:ea typeface="+mn-ea"/>
              <a:cs typeface="+mn-cs"/>
              <a:sym typeface="Arial"/>
            </a:endParaRPr>
          </a:p>
        </p:txBody>
      </p:sp>
      <p:sp>
        <p:nvSpPr>
          <p:cNvPr id="7" name="Right Brace 6">
            <a:extLst>
              <a:ext uri="{FF2B5EF4-FFF2-40B4-BE49-F238E27FC236}">
                <a16:creationId xmlns:a16="http://schemas.microsoft.com/office/drawing/2014/main" id="{C1A558DA-A010-445A-ACB7-5D1392153EC0}"/>
              </a:ext>
            </a:extLst>
          </p:cNvPr>
          <p:cNvSpPr/>
          <p:nvPr/>
        </p:nvSpPr>
        <p:spPr>
          <a:xfrm rot="16200000">
            <a:off x="6851326" y="3557638"/>
            <a:ext cx="382374" cy="1239879"/>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af-ZA" sz="1400" b="0" i="0" u="none" strike="noStrike" kern="0" cap="none" spc="0" normalizeH="0" baseline="0" noProof="0">
              <a:ln>
                <a:noFill/>
              </a:ln>
              <a:solidFill>
                <a:srgbClr val="000000"/>
              </a:solidFill>
              <a:effectLst/>
              <a:uLnTx/>
              <a:uFillTx/>
              <a:latin typeface="Arial"/>
              <a:ea typeface="+mn-ea"/>
              <a:cs typeface="+mn-cs"/>
              <a:sym typeface="Arial"/>
            </a:endParaRPr>
          </a:p>
        </p:txBody>
      </p:sp>
      <p:sp>
        <p:nvSpPr>
          <p:cNvPr id="3" name="TextBox 2">
            <a:extLst>
              <a:ext uri="{FF2B5EF4-FFF2-40B4-BE49-F238E27FC236}">
                <a16:creationId xmlns:a16="http://schemas.microsoft.com/office/drawing/2014/main" id="{BB804D57-1A75-4F22-8E82-4078AEDC52C5}"/>
              </a:ext>
            </a:extLst>
          </p:cNvPr>
          <p:cNvSpPr txBox="1"/>
          <p:nvPr/>
        </p:nvSpPr>
        <p:spPr>
          <a:xfrm>
            <a:off x="5925259" y="3595858"/>
            <a:ext cx="225697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af-ZA" sz="1400" b="1" i="0" u="none" strike="noStrike" kern="0" cap="none" spc="0" normalizeH="0" baseline="0" noProof="0" dirty="0" err="1">
                <a:ln>
                  <a:noFill/>
                </a:ln>
                <a:solidFill>
                  <a:srgbClr val="000000"/>
                </a:solidFill>
                <a:effectLst/>
                <a:uLnTx/>
                <a:uFillTx/>
                <a:latin typeface="Arial"/>
                <a:ea typeface="+mn-ea"/>
                <a:cs typeface="Arial"/>
                <a:sym typeface="Arial"/>
              </a:rPr>
              <a:t>disposable</a:t>
            </a:r>
            <a:r>
              <a:rPr kumimoji="0" lang="af-ZA" sz="1400" b="1" i="0" u="none" strike="noStrike" kern="0" cap="none" spc="0" normalizeH="0" baseline="0" noProof="0" dirty="0">
                <a:ln>
                  <a:noFill/>
                </a:ln>
                <a:solidFill>
                  <a:srgbClr val="000000"/>
                </a:solidFill>
                <a:effectLst/>
                <a:uLnTx/>
                <a:uFillTx/>
                <a:latin typeface="Arial"/>
                <a:ea typeface="+mn-ea"/>
                <a:cs typeface="Arial"/>
                <a:sym typeface="Arial"/>
              </a:rPr>
              <a:t> </a:t>
            </a:r>
            <a:r>
              <a:rPr kumimoji="0" lang="af-ZA" sz="1400" b="1" i="0" u="none" strike="noStrike" kern="0" cap="none" spc="0" normalizeH="0" baseline="0" noProof="0" dirty="0" err="1">
                <a:ln>
                  <a:noFill/>
                </a:ln>
                <a:solidFill>
                  <a:srgbClr val="000000"/>
                </a:solidFill>
                <a:effectLst/>
                <a:uLnTx/>
                <a:uFillTx/>
                <a:latin typeface="Arial"/>
                <a:ea typeface="+mn-ea"/>
                <a:cs typeface="Arial"/>
                <a:sym typeface="Arial"/>
              </a:rPr>
              <a:t>income</a:t>
            </a:r>
            <a:r>
              <a:rPr kumimoji="0" lang="af-ZA" sz="1400" b="1" i="0" u="none" strike="noStrike" kern="0" cap="none" spc="0" normalizeH="0" baseline="0" noProof="0" dirty="0">
                <a:ln>
                  <a:noFill/>
                </a:ln>
                <a:solidFill>
                  <a:srgbClr val="000000"/>
                </a:solidFill>
                <a:effectLst/>
                <a:uLnTx/>
                <a:uFillTx/>
                <a:latin typeface="Arial"/>
                <a:ea typeface="+mn-ea"/>
                <a:cs typeface="Arial"/>
                <a:sym typeface="Arial"/>
              </a:rPr>
              <a:t> (</a:t>
            </a:r>
            <a:r>
              <a:rPr kumimoji="0" lang="af-ZA" sz="1400" b="1" i="0" u="none" strike="noStrike" kern="0" cap="none" spc="0" normalizeH="0" baseline="0" noProof="0" dirty="0" err="1">
                <a:ln>
                  <a:noFill/>
                </a:ln>
                <a:solidFill>
                  <a:srgbClr val="000000"/>
                </a:solidFill>
                <a:effectLst/>
                <a:uLnTx/>
                <a:uFillTx/>
                <a:latin typeface="Arial"/>
                <a:ea typeface="+mn-ea"/>
                <a:cs typeface="Arial"/>
                <a:sym typeface="Arial"/>
              </a:rPr>
              <a:t>Y</a:t>
            </a:r>
            <a:r>
              <a:rPr kumimoji="0" lang="af-ZA" sz="1400" b="1" i="0" u="none" strike="noStrike" kern="0" cap="none" spc="0" normalizeH="0" baseline="-25000" noProof="0" dirty="0" err="1">
                <a:ln>
                  <a:noFill/>
                </a:ln>
                <a:solidFill>
                  <a:srgbClr val="000000"/>
                </a:solidFill>
                <a:effectLst/>
                <a:uLnTx/>
                <a:uFillTx/>
                <a:latin typeface="Arial"/>
                <a:ea typeface="+mn-ea"/>
                <a:cs typeface="Arial"/>
                <a:sym typeface="Arial"/>
              </a:rPr>
              <a:t>d</a:t>
            </a:r>
            <a:r>
              <a:rPr kumimoji="0" lang="af-ZA" sz="1400" b="1" i="0" u="none" strike="noStrike" kern="0" cap="none" spc="0" normalizeH="0" baseline="0" noProof="0" dirty="0">
                <a:ln>
                  <a:noFill/>
                </a:ln>
                <a:solidFill>
                  <a:srgbClr val="000000"/>
                </a:solidFill>
                <a:effectLst/>
                <a:uLnTx/>
                <a:uFillTx/>
                <a:latin typeface="Arial"/>
                <a:ea typeface="+mn-ea"/>
                <a:cs typeface="Arial"/>
                <a:sym typeface="Arial"/>
              </a:rPr>
              <a:t>)</a:t>
            </a:r>
          </a:p>
        </p:txBody>
      </p:sp>
      <p:sp>
        <p:nvSpPr>
          <p:cNvPr id="9" name="TextBox 8">
            <a:extLst>
              <a:ext uri="{FF2B5EF4-FFF2-40B4-BE49-F238E27FC236}">
                <a16:creationId xmlns:a16="http://schemas.microsoft.com/office/drawing/2014/main" id="{9D5DE297-2E65-4C8D-84EA-37C7EB5B7BAE}"/>
              </a:ext>
            </a:extLst>
          </p:cNvPr>
          <p:cNvSpPr txBox="1"/>
          <p:nvPr/>
        </p:nvSpPr>
        <p:spPr>
          <a:xfrm>
            <a:off x="7080510" y="5116073"/>
            <a:ext cx="1076919" cy="382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af-ZA" sz="1400" b="1" i="0" u="none" strike="noStrike" kern="0" cap="none" spc="0" normalizeH="0" baseline="0" noProof="0" dirty="0" err="1">
                <a:ln>
                  <a:noFill/>
                </a:ln>
                <a:solidFill>
                  <a:srgbClr val="000000"/>
                </a:solidFill>
                <a:effectLst/>
                <a:uLnTx/>
                <a:uFillTx/>
                <a:latin typeface="Arial"/>
                <a:ea typeface="+mn-ea"/>
                <a:cs typeface="Arial"/>
                <a:sym typeface="Arial"/>
              </a:rPr>
              <a:t>income</a:t>
            </a:r>
            <a:endParaRPr kumimoji="0" lang="af-ZA" sz="1400" b="1"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0" name="TextBox 9">
            <a:extLst>
              <a:ext uri="{FF2B5EF4-FFF2-40B4-BE49-F238E27FC236}">
                <a16:creationId xmlns:a16="http://schemas.microsoft.com/office/drawing/2014/main" id="{AEEC92E8-4CC5-4109-B732-573D56458FB1}"/>
              </a:ext>
            </a:extLst>
          </p:cNvPr>
          <p:cNvSpPr txBox="1"/>
          <p:nvPr/>
        </p:nvSpPr>
        <p:spPr>
          <a:xfrm>
            <a:off x="6848875" y="5420766"/>
            <a:ext cx="5148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af-ZA" sz="1400" b="1" i="0" u="none" strike="noStrike" kern="0" cap="none" spc="0" normalizeH="0" baseline="0" noProof="0" dirty="0" err="1">
                <a:ln>
                  <a:noFill/>
                </a:ln>
                <a:solidFill>
                  <a:srgbClr val="000000"/>
                </a:solidFill>
                <a:effectLst/>
                <a:uLnTx/>
                <a:uFillTx/>
                <a:latin typeface="Arial"/>
                <a:ea typeface="+mn-ea"/>
                <a:cs typeface="Arial"/>
                <a:sym typeface="Arial"/>
              </a:rPr>
              <a:t>tax</a:t>
            </a:r>
            <a:endParaRPr kumimoji="0" lang="af-ZA" sz="1400" b="1"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 name="Right Brace 3">
            <a:extLst>
              <a:ext uri="{FF2B5EF4-FFF2-40B4-BE49-F238E27FC236}">
                <a16:creationId xmlns:a16="http://schemas.microsoft.com/office/drawing/2014/main" id="{58765555-C385-42E4-B741-8789D4BE40E8}"/>
              </a:ext>
            </a:extLst>
          </p:cNvPr>
          <p:cNvSpPr/>
          <p:nvPr/>
        </p:nvSpPr>
        <p:spPr>
          <a:xfrm rot="5400000">
            <a:off x="6017683" y="4823091"/>
            <a:ext cx="315935" cy="311354"/>
          </a:xfrm>
          <a:prstGeom prst="rightBrace">
            <a:avLst/>
          </a:prstGeom>
          <a:ln/>
        </p:spPr>
        <p:style>
          <a:lnRef idx="1">
            <a:schemeClr val="accent4"/>
          </a:lnRef>
          <a:fillRef idx="0">
            <a:schemeClr val="accent4"/>
          </a:fillRef>
          <a:effectRef idx="0">
            <a:schemeClr val="accent4"/>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af-ZA" sz="1400" b="0" i="0" u="none" strike="noStrike" kern="0" cap="none" spc="0" normalizeH="0" baseline="0" noProof="0">
              <a:ln>
                <a:noFill/>
              </a:ln>
              <a:solidFill>
                <a:srgbClr val="000000"/>
              </a:solidFill>
              <a:effectLst/>
              <a:uLnTx/>
              <a:uFillTx/>
              <a:latin typeface="Arial"/>
              <a:ea typeface="+mn-ea"/>
              <a:cs typeface="+mn-cs"/>
              <a:sym typeface="Arial"/>
            </a:endParaRPr>
          </a:p>
        </p:txBody>
      </p:sp>
      <p:sp>
        <p:nvSpPr>
          <p:cNvPr id="5" name="Right Brace 4">
            <a:extLst>
              <a:ext uri="{FF2B5EF4-FFF2-40B4-BE49-F238E27FC236}">
                <a16:creationId xmlns:a16="http://schemas.microsoft.com/office/drawing/2014/main" id="{CEDF652A-FDB0-464A-A63B-89C3806D4C9F}"/>
              </a:ext>
            </a:extLst>
          </p:cNvPr>
          <p:cNvSpPr/>
          <p:nvPr/>
        </p:nvSpPr>
        <p:spPr>
          <a:xfrm rot="5400000">
            <a:off x="5257681" y="4804853"/>
            <a:ext cx="311085" cy="311355"/>
          </a:xfrm>
          <a:prstGeom prst="rightBrac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af-ZA" sz="1400" b="0" i="0" u="none" strike="noStrike" kern="0" cap="none" spc="0" normalizeH="0" baseline="0" noProof="0">
              <a:ln>
                <a:noFill/>
              </a:ln>
              <a:solidFill>
                <a:srgbClr val="000000"/>
              </a:solidFill>
              <a:effectLst/>
              <a:uLnTx/>
              <a:uFillTx/>
              <a:latin typeface="Arial"/>
              <a:ea typeface="+mn-ea"/>
              <a:cs typeface="+mn-cs"/>
              <a:sym typeface="Arial"/>
            </a:endParaRPr>
          </a:p>
        </p:txBody>
      </p:sp>
      <p:sp>
        <p:nvSpPr>
          <p:cNvPr id="12" name="TextBox 11">
            <a:extLst>
              <a:ext uri="{FF2B5EF4-FFF2-40B4-BE49-F238E27FC236}">
                <a16:creationId xmlns:a16="http://schemas.microsoft.com/office/drawing/2014/main" id="{A78AF7E8-FC11-4E40-97C8-DBFE8F55DAB6}"/>
              </a:ext>
            </a:extLst>
          </p:cNvPr>
          <p:cNvSpPr txBox="1"/>
          <p:nvPr/>
        </p:nvSpPr>
        <p:spPr>
          <a:xfrm>
            <a:off x="5910559" y="5114976"/>
            <a:ext cx="8192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af-ZA" sz="1400" b="1" i="0" u="none" strike="noStrike" kern="0" cap="none" spc="0" normalizeH="0" baseline="0" noProof="0" dirty="0">
                <a:ln>
                  <a:noFill/>
                </a:ln>
                <a:solidFill>
                  <a:srgbClr val="000000"/>
                </a:solidFill>
                <a:effectLst/>
                <a:uLnTx/>
                <a:uFillTx/>
                <a:latin typeface="Arial"/>
                <a:ea typeface="+mn-ea"/>
                <a:cs typeface="Arial"/>
                <a:sym typeface="Arial"/>
              </a:rPr>
              <a:t>MPC</a:t>
            </a:r>
          </a:p>
        </p:txBody>
      </p:sp>
      <p:sp>
        <p:nvSpPr>
          <p:cNvPr id="14" name="TextBox 13">
            <a:extLst>
              <a:ext uri="{FF2B5EF4-FFF2-40B4-BE49-F238E27FC236}">
                <a16:creationId xmlns:a16="http://schemas.microsoft.com/office/drawing/2014/main" id="{9DB9B649-54AF-4333-9863-44E0D855A957}"/>
              </a:ext>
            </a:extLst>
          </p:cNvPr>
          <p:cNvSpPr txBox="1"/>
          <p:nvPr/>
        </p:nvSpPr>
        <p:spPr>
          <a:xfrm>
            <a:off x="4482928" y="5123439"/>
            <a:ext cx="144233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af-ZA" sz="1400" b="1" i="0" u="none" strike="noStrike" kern="0" cap="none" spc="0" normalizeH="0" baseline="0" noProof="0" dirty="0" err="1">
                <a:ln>
                  <a:noFill/>
                </a:ln>
                <a:solidFill>
                  <a:srgbClr val="000000"/>
                </a:solidFill>
                <a:effectLst/>
                <a:uLnTx/>
                <a:uFillTx/>
                <a:latin typeface="Arial"/>
                <a:ea typeface="+mn-ea"/>
                <a:cs typeface="Arial"/>
                <a:sym typeface="Arial"/>
              </a:rPr>
              <a:t>autonomous</a:t>
            </a:r>
            <a:r>
              <a:rPr kumimoji="0" lang="af-ZA" sz="1400" b="1" i="0" u="none" strike="noStrike" kern="0" cap="none" spc="0" normalizeH="0" baseline="0" noProof="0" dirty="0">
                <a:ln>
                  <a:noFill/>
                </a:ln>
                <a:solidFill>
                  <a:srgbClr val="000000"/>
                </a:solidFill>
                <a:effectLst/>
                <a:uLnTx/>
                <a:uFillTx/>
                <a:latin typeface="Arial"/>
                <a:ea typeface="+mn-ea"/>
                <a:cs typeface="Arial"/>
                <a:sym typeface="Arial"/>
              </a:rPr>
              <a:t> </a:t>
            </a:r>
            <a:r>
              <a:rPr kumimoji="0" lang="af-ZA" sz="1400" b="1" i="0" u="none" strike="noStrike" kern="0" cap="none" spc="0" normalizeH="0" baseline="0" noProof="0" dirty="0" err="1">
                <a:ln>
                  <a:noFill/>
                </a:ln>
                <a:solidFill>
                  <a:srgbClr val="000000"/>
                </a:solidFill>
                <a:effectLst/>
                <a:uLnTx/>
                <a:uFillTx/>
                <a:latin typeface="Arial"/>
                <a:ea typeface="+mn-ea"/>
                <a:cs typeface="Arial"/>
                <a:sym typeface="Arial"/>
              </a:rPr>
              <a:t>consumption</a:t>
            </a:r>
            <a:endParaRPr kumimoji="0" lang="af-ZA" sz="1400" b="1"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 name="Slide Number Placeholder 7">
            <a:extLst>
              <a:ext uri="{FF2B5EF4-FFF2-40B4-BE49-F238E27FC236}">
                <a16:creationId xmlns:a16="http://schemas.microsoft.com/office/drawing/2014/main" id="{9FB582E0-E3EE-4F84-A1F2-CEA40294FCD0}"/>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af-ZA"/>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FDE6EA43-0C70-46B1-927F-F8EB0B895575}" type="slidenum">
              <a:rPr kumimoji="0" lang="af-ZA" sz="1200" b="0" i="0" u="none" strike="noStrike" kern="1200" cap="none" spc="0" normalizeH="0" baseline="0" noProof="0" smtClean="0">
                <a:ln>
                  <a:noFill/>
                </a:ln>
                <a:solidFill>
                  <a:srgbClr val="000000">
                    <a:tint val="75000"/>
                  </a:srgbClr>
                </a:solidFill>
                <a:effectLst/>
                <a:uLnTx/>
                <a:uFillTx/>
                <a:latin typeface="Arial"/>
                <a:ea typeface="+mn-ea"/>
                <a:cs typeface="+mn-cs"/>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lang="af-ZA" sz="1200" b="0" i="0" u="none" strike="noStrike" kern="1200" cap="none" spc="0" normalizeH="0" baseline="0" noProof="0">
              <a:ln>
                <a:noFill/>
              </a:ln>
              <a:solidFill>
                <a:srgbClr val="000000">
                  <a:tint val="75000"/>
                </a:srgbClr>
              </a:solidFill>
              <a:effectLst/>
              <a:uLnTx/>
              <a:uFillTx/>
              <a:latin typeface="Arial"/>
              <a:ea typeface="+mn-ea"/>
              <a:cs typeface="+mn-cs"/>
              <a:sym typeface="Aria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90340FA-2754-C505-3F7D-F0A51C801EFE}"/>
                  </a:ext>
                </a:extLst>
              </p:cNvPr>
              <p:cNvSpPr txBox="1"/>
              <p:nvPr/>
            </p:nvSpPr>
            <p:spPr>
              <a:xfrm>
                <a:off x="8847438" y="2059659"/>
                <a:ext cx="315406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Paying </a:t>
                </a:r>
                <a:r>
                  <a:rPr kumimoji="0" lang="en-US" sz="2400" b="1" i="0" u="none" strike="noStrike" kern="1200" cap="none" spc="0" normalizeH="0" baseline="0" noProof="0" dirty="0">
                    <a:ln>
                      <a:noFill/>
                    </a:ln>
                    <a:solidFill>
                      <a:srgbClr val="C00000"/>
                    </a:solidFill>
                    <a:effectLst/>
                    <a:uLnTx/>
                    <a:uFillTx/>
                    <a:latin typeface="Aptos" panose="02110004020202020204"/>
                    <a:ea typeface="+mn-ea"/>
                    <a:cs typeface="+mn-cs"/>
                  </a:rPr>
                  <a:t>tax</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on income </a:t>
                </a:r>
                <a:r>
                  <a:rPr kumimoji="0" lang="en-US" sz="2400" b="1" i="1" u="none" strike="noStrike" kern="1200" cap="none" spc="0" normalizeH="0" baseline="0" noProof="0" dirty="0">
                    <a:ln>
                      <a:noFill/>
                    </a:ln>
                    <a:solidFill>
                      <a:prstClr val="black"/>
                    </a:solidFill>
                    <a:effectLst/>
                    <a:uLnTx/>
                    <a:uFillTx/>
                    <a:latin typeface="Aptos" panose="02110004020202020204"/>
                    <a:ea typeface="+mn-ea"/>
                    <a:cs typeface="+mn-cs"/>
                  </a:rPr>
                  <a:t>de</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creases induced consumption.</a:t>
                </a:r>
                <a:b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Y</a:t>
                </a:r>
                <a14:m>
                  <m:oMath xmlns:m="http://schemas.openxmlformats.org/officeDocument/2006/math">
                    <m:r>
                      <a:rPr kumimoji="0" lang="en-US" sz="2400" b="0" i="1" u="none" strike="noStrike" kern="1200" cap="none" spc="0" normalizeH="0" baseline="-25000" noProof="0" dirty="0" smtClean="0">
                        <a:ln>
                          <a:noFill/>
                        </a:ln>
                        <a:solidFill>
                          <a:prstClr val="black"/>
                        </a:solidFill>
                        <a:effectLst/>
                        <a:uLnTx/>
                        <a:uFillTx/>
                        <a:latin typeface="Cambria Math" panose="02040503050406030204" pitchFamily="18" charset="0"/>
                        <a:ea typeface="+mn-ea"/>
                        <a:cs typeface="+mn-cs"/>
                      </a:rPr>
                      <m:t>𝑑</m:t>
                    </m:r>
                  </m:oMath>
                </a14:m>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2400" b="1" i="0" u="none" strike="noStrike" kern="1200" cap="none" spc="0" normalizeH="0" baseline="0" noProof="0" dirty="0">
                    <a:ln>
                      <a:noFill/>
                    </a:ln>
                    <a:solidFill>
                      <a:srgbClr val="C00000"/>
                    </a:solidFill>
                    <a:effectLst/>
                    <a:uLnTx/>
                    <a:uFillTx/>
                    <a:latin typeface="Aptos" panose="02110004020202020204"/>
                    <a:ea typeface="+mn-ea"/>
                    <a:cs typeface="+mn-cs"/>
                  </a:rPr>
                  <a:t>tax</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deducted from income</a:t>
                </a:r>
                <a:endParaRPr kumimoji="0" lang="en-ZA"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1" name="TextBox 10">
                <a:extLst>
                  <a:ext uri="{FF2B5EF4-FFF2-40B4-BE49-F238E27FC236}">
                    <a16:creationId xmlns:a16="http://schemas.microsoft.com/office/drawing/2014/main" id="{C90340FA-2754-C505-3F7D-F0A51C801EFE}"/>
                  </a:ext>
                </a:extLst>
              </p:cNvPr>
              <p:cNvSpPr txBox="1">
                <a:spLocks noRot="1" noChangeAspect="1" noMove="1" noResize="1" noEditPoints="1" noAdjustHandles="1" noChangeArrowheads="1" noChangeShapeType="1" noTextEdit="1"/>
              </p:cNvSpPr>
              <p:nvPr/>
            </p:nvSpPr>
            <p:spPr>
              <a:xfrm>
                <a:off x="8847438" y="2059659"/>
                <a:ext cx="3154062" cy="1938992"/>
              </a:xfrm>
              <a:prstGeom prst="rect">
                <a:avLst/>
              </a:prstGeom>
              <a:blipFill>
                <a:blip r:embed="rId4"/>
                <a:stretch>
                  <a:fillRect l="-2896" t="-2516" b="-6289"/>
                </a:stretch>
              </a:blipFill>
            </p:spPr>
            <p:txBody>
              <a:bodyPr/>
              <a:lstStyle/>
              <a:p>
                <a:r>
                  <a:rPr lang="en-ZA">
                    <a:noFill/>
                  </a:rPr>
                  <a:t> </a:t>
                </a:r>
              </a:p>
            </p:txBody>
          </p:sp>
        </mc:Fallback>
      </mc:AlternateContent>
    </p:spTree>
    <p:extLst>
      <p:ext uri="{BB962C8B-B14F-4D97-AF65-F5344CB8AC3E}">
        <p14:creationId xmlns:p14="http://schemas.microsoft.com/office/powerpoint/2010/main" val="185243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1">
                                            <p:txEl>
                                              <p:pRg st="0" end="0"/>
                                            </p:txEl>
                                          </p:spTgt>
                                        </p:tgtEl>
                                        <p:attrNameLst>
                                          <p:attrName>style.visibility</p:attrName>
                                        </p:attrNameLst>
                                      </p:cBhvr>
                                      <p:to>
                                        <p:strVal val="visible"/>
                                      </p:to>
                                    </p:set>
                                    <p:animEffect transition="in" filter="fade">
                                      <p:cBhvr>
                                        <p:cTn id="7" dur="500"/>
                                        <p:tgtEl>
                                          <p:spTgt spid="2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1">
                                            <p:txEl>
                                              <p:pRg st="2" end="2"/>
                                            </p:txEl>
                                          </p:spTgt>
                                        </p:tgtEl>
                                        <p:attrNameLst>
                                          <p:attrName>style.visibility</p:attrName>
                                        </p:attrNameLst>
                                      </p:cBhvr>
                                      <p:to>
                                        <p:strVal val="visible"/>
                                      </p:to>
                                    </p:set>
                                    <p:animEffect transition="in" filter="fade">
                                      <p:cBhvr>
                                        <p:cTn id="12" dur="500"/>
                                        <p:tgtEl>
                                          <p:spTgt spid="24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 grpId="0" build="p" bldLvl="2"/>
      <p:bldP spid="2" grpId="0" animBg="1"/>
      <p:bldP spid="6" grpId="0" animBg="1"/>
      <p:bldP spid="7" grpId="0" animBg="1"/>
      <p:bldP spid="3" grpId="0"/>
      <p:bldP spid="9" grpId="0"/>
      <p:bldP spid="10" grpId="0"/>
      <p:bldP spid="4" grpId="0" animBg="1"/>
      <p:bldP spid="5" grpId="0" animBg="1"/>
      <p:bldP spid="12" grpId="0"/>
      <p:bldP spid="14"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7C114-87C9-C8C3-10DB-88CA1DFC0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A1D9C-8378-79E7-5928-81C29BEB9441}"/>
              </a:ext>
            </a:extLst>
          </p:cNvPr>
          <p:cNvSpPr>
            <a:spLocks noGrp="1"/>
          </p:cNvSpPr>
          <p:nvPr>
            <p:ph type="ctrTitle"/>
          </p:nvPr>
        </p:nvSpPr>
        <p:spPr/>
        <p:txBody>
          <a:bodyPr>
            <a:normAutofit/>
          </a:bodyPr>
          <a:lstStyle/>
          <a:p>
            <a:r>
              <a:rPr lang="en-US" sz="8000" b="1" dirty="0">
                <a:solidFill>
                  <a:schemeClr val="accent6"/>
                </a:solidFill>
              </a:rPr>
              <a:t>Unit 3</a:t>
            </a:r>
          </a:p>
        </p:txBody>
      </p:sp>
      <p:sp>
        <p:nvSpPr>
          <p:cNvPr id="3" name="Subtitle 2">
            <a:extLst>
              <a:ext uri="{FF2B5EF4-FFF2-40B4-BE49-F238E27FC236}">
                <a16:creationId xmlns:a16="http://schemas.microsoft.com/office/drawing/2014/main" id="{283B8E16-0951-1F62-5CA5-911EAB263406}"/>
              </a:ext>
            </a:extLst>
          </p:cNvPr>
          <p:cNvSpPr>
            <a:spLocks noGrp="1"/>
          </p:cNvSpPr>
          <p:nvPr>
            <p:ph type="subTitle" idx="1"/>
          </p:nvPr>
        </p:nvSpPr>
        <p:spPr/>
        <p:txBody>
          <a:bodyPr>
            <a:normAutofit/>
          </a:bodyPr>
          <a:lstStyle/>
          <a:p>
            <a:r>
              <a:rPr lang="en-US" sz="2800" dirty="0"/>
              <a:t>Comprehensive Calculation Exercise </a:t>
            </a:r>
          </a:p>
        </p:txBody>
      </p:sp>
      <p:sp>
        <p:nvSpPr>
          <p:cNvPr id="4" name="Title 2">
            <a:extLst>
              <a:ext uri="{FF2B5EF4-FFF2-40B4-BE49-F238E27FC236}">
                <a16:creationId xmlns:a16="http://schemas.microsoft.com/office/drawing/2014/main" id="{A85CE5E7-5FE8-1619-C2F6-FC4726F04F73}"/>
              </a:ext>
            </a:extLst>
          </p:cNvPr>
          <p:cNvSpPr txBox="1">
            <a:spLocks/>
          </p:cNvSpPr>
          <p:nvPr/>
        </p:nvSpPr>
        <p:spPr>
          <a:xfrm>
            <a:off x="628650" y="-723105"/>
            <a:ext cx="10515600"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ysClr val="windowText" lastClr="000000"/>
                </a:solidFill>
                <a:effectLst/>
                <a:uLnTx/>
                <a:uFillTx/>
                <a:latin typeface="Aptos Display" panose="02110004020202020204"/>
                <a:ea typeface="+mj-ea"/>
                <a:cs typeface="+mj-cs"/>
              </a:rPr>
              <a:t>Now first do exercise 4 (step 4) of the comprehensive exercise …. </a:t>
            </a:r>
            <a:endParaRPr kumimoji="0" lang="en-ZA" sz="6000" b="0" i="0" u="none" strike="noStrike" kern="1200" cap="none" spc="0" normalizeH="0" baseline="0" noProof="0" dirty="0">
              <a:ln>
                <a:noFill/>
              </a:ln>
              <a:solidFill>
                <a:sysClr val="windowText" lastClr="000000"/>
              </a:solidFill>
              <a:effectLst/>
              <a:uLnTx/>
              <a:uFillTx/>
              <a:latin typeface="Aptos Display" panose="02110004020202020204"/>
              <a:ea typeface="+mj-ea"/>
              <a:cs typeface="+mj-cs"/>
            </a:endParaRPr>
          </a:p>
        </p:txBody>
      </p:sp>
    </p:spTree>
    <p:extLst>
      <p:ext uri="{BB962C8B-B14F-4D97-AF65-F5344CB8AC3E}">
        <p14:creationId xmlns:p14="http://schemas.microsoft.com/office/powerpoint/2010/main" val="995408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C35C56-C569-544A-A7AB-AC3AFFDA011A}"/>
                  </a:ext>
                </a:extLst>
              </p:cNvPr>
              <p:cNvSpPr>
                <a:spLocks noGrp="1"/>
              </p:cNvSpPr>
              <p:nvPr>
                <p:ph idx="1"/>
              </p:nvPr>
            </p:nvSpPr>
            <p:spPr/>
            <p:txBody>
              <a:bodyPr>
                <a:normAutofit fontScale="92500"/>
              </a:bodyPr>
              <a:lstStyle/>
              <a:p>
                <a:pPr marL="0" indent="0" algn="ctr">
                  <a:buNone/>
                </a:pPr>
                <a:r>
                  <a:rPr lang="en-ZA" sz="4300" b="1">
                    <a:solidFill>
                      <a:schemeClr val="dk1"/>
                    </a:solidFill>
                    <a:ea typeface="Calibri"/>
                    <a:cs typeface="Calibri"/>
                    <a:sym typeface="Calibri"/>
                  </a:rPr>
                  <a:t>We now introduce </a:t>
                </a:r>
                <a:r>
                  <a:rPr lang="en-ZA" sz="4800" b="1">
                    <a:solidFill>
                      <a:srgbClr val="0070C0"/>
                    </a:solidFill>
                    <a:ea typeface="Calibri"/>
                    <a:cs typeface="Calibri"/>
                    <a:sym typeface="Calibri"/>
                  </a:rPr>
                  <a:t>taxes</a:t>
                </a:r>
                <a:r>
                  <a:rPr lang="en-ZA" sz="4300" b="1">
                    <a:solidFill>
                      <a:schemeClr val="dk1"/>
                    </a:solidFill>
                    <a:ea typeface="Calibri"/>
                    <a:cs typeface="Calibri"/>
                    <a:sym typeface="Calibri"/>
                  </a:rPr>
                  <a:t> to this closed economy</a:t>
                </a:r>
              </a:p>
              <a:p>
                <a:pPr marL="0" indent="0" algn="ctr">
                  <a:buNone/>
                </a:pPr>
                <a:br>
                  <a:rPr lang="en-US" sz="3600" b="1"/>
                </a:br>
                <a:r>
                  <a:rPr lang="en-ZA" sz="4000" b="1"/>
                  <a:t>Y = AD = C + I + G</a:t>
                </a:r>
              </a:p>
              <a:p>
                <a:pPr marL="0" indent="0" algn="ctr">
                  <a:buNone/>
                </a:pPr>
                <a:r>
                  <a:rPr lang="en-ZA" sz="4000" b="1">
                    <a:ea typeface="+mj-ea"/>
                    <a:cs typeface="+mj-cs"/>
                  </a:rPr>
                  <a:t>		       = c</a:t>
                </a:r>
                <a:r>
                  <a:rPr lang="en-ZA" sz="4000" b="1" baseline="-25000">
                    <a:ea typeface="+mj-ea"/>
                    <a:cs typeface="+mj-cs"/>
                  </a:rPr>
                  <a:t>0</a:t>
                </a:r>
                <a:r>
                  <a:rPr lang="en-ZA" sz="4000" b="1">
                    <a:ea typeface="+mj-ea"/>
                    <a:cs typeface="+mj-cs"/>
                  </a:rPr>
                  <a:t> + c</a:t>
                </a:r>
                <a:r>
                  <a:rPr lang="en-ZA" sz="4000" b="1" baseline="-25000">
                    <a:ea typeface="+mj-ea"/>
                    <a:cs typeface="+mj-cs"/>
                  </a:rPr>
                  <a:t>1</a:t>
                </a:r>
                <a:r>
                  <a:rPr lang="en-ZA" sz="4000" b="1">
                    <a:ea typeface="+mj-ea"/>
                    <a:cs typeface="+mj-cs"/>
                  </a:rPr>
                  <a:t>Y + I + G</a:t>
                </a:r>
              </a:p>
              <a:p>
                <a:pPr marL="0" indent="0" algn="ctr">
                  <a:buNone/>
                </a:pPr>
                <a:endParaRPr lang="en-ZA" sz="900" b="1">
                  <a:solidFill>
                    <a:schemeClr val="dk1"/>
                  </a:solidFill>
                  <a:ea typeface="Calibri"/>
                  <a:cs typeface="Calibri"/>
                  <a:sym typeface="Calibri"/>
                </a:endParaRPr>
              </a:p>
              <a:p>
                <a:pPr marL="0" indent="0" algn="ctr">
                  <a:buNone/>
                </a:pPr>
                <a:r>
                  <a:rPr lang="en-ZA" sz="3600" b="1">
                    <a:solidFill>
                      <a:schemeClr val="dk1"/>
                    </a:solidFill>
                    <a:ea typeface="Calibri"/>
                    <a:cs typeface="Calibri"/>
                    <a:sym typeface="Calibri"/>
                  </a:rPr>
                  <a:t>				   </a:t>
                </a:r>
                <a:r>
                  <a:rPr lang="en-ZA" sz="4000" b="1">
                    <a:ea typeface="+mj-ea"/>
                    <a:cs typeface="+mj-cs"/>
                    <a:sym typeface="Calibri"/>
                  </a:rPr>
                  <a:t>=</a:t>
                </a:r>
                <a:r>
                  <a:rPr lang="en-ZA" sz="3600" b="1">
                    <a:solidFill>
                      <a:schemeClr val="dk1"/>
                    </a:solidFill>
                    <a:ea typeface="Calibri"/>
                    <a:cs typeface="Calibri"/>
                    <a:sym typeface="Calibri"/>
                  </a:rPr>
                  <a:t> </a:t>
                </a:r>
                <a14:m>
                  <m:oMath xmlns:m="http://schemas.openxmlformats.org/officeDocument/2006/math">
                    <m:f>
                      <m:fPr>
                        <m:ctrlPr>
                          <a:rPr lang="en-ZA" sz="3600" b="1" i="1" smtClean="0">
                            <a:solidFill>
                              <a:schemeClr val="dk1"/>
                            </a:solidFill>
                            <a:latin typeface="Cambria Math" panose="02040503050406030204" pitchFamily="18" charset="0"/>
                            <a:cs typeface="Calibri"/>
                            <a:sym typeface="Calibri"/>
                          </a:rPr>
                        </m:ctrlPr>
                      </m:fPr>
                      <m:num>
                        <m:r>
                          <a:rPr lang="en-ZA" sz="3600" b="1" i="1" smtClean="0">
                            <a:solidFill>
                              <a:schemeClr val="dk1"/>
                            </a:solidFill>
                            <a:latin typeface="Cambria Math" panose="02040503050406030204" pitchFamily="18" charset="0"/>
                            <a:cs typeface="Calibri"/>
                            <a:sym typeface="Calibri"/>
                          </a:rPr>
                          <m:t>𝟏</m:t>
                        </m:r>
                      </m:num>
                      <m:den>
                        <m:r>
                          <m:rPr>
                            <m:nor/>
                          </m:rPr>
                          <a:rPr lang="en-US" sz="3600" b="1" i="0" smtClean="0">
                            <a:solidFill>
                              <a:schemeClr val="dk1"/>
                            </a:solidFill>
                            <a:latin typeface="Cambria Math" panose="02040503050406030204" pitchFamily="18" charset="0"/>
                            <a:cs typeface="Calibri"/>
                            <a:sym typeface="Calibri"/>
                          </a:rPr>
                          <m:t>[</m:t>
                        </m:r>
                        <m:r>
                          <m:rPr>
                            <m:nor/>
                          </m:rPr>
                          <a:rPr lang="en-ZA" sz="3600" b="1" dirty="0" smtClean="0">
                            <a:solidFill>
                              <a:schemeClr val="dk1"/>
                            </a:solidFill>
                            <a:cs typeface="Calibri"/>
                            <a:sym typeface="Calibri"/>
                          </a:rPr>
                          <m:t>1 − </m:t>
                        </m:r>
                        <m:r>
                          <m:rPr>
                            <m:nor/>
                          </m:rPr>
                          <a:rPr lang="en-ZA" sz="3600" b="1" dirty="0" smtClean="0">
                            <a:solidFill>
                              <a:schemeClr val="dk1"/>
                            </a:solidFill>
                            <a:ea typeface="Calibri"/>
                            <a:cs typeface="Calibri"/>
                            <a:sym typeface="Calibri"/>
                          </a:rPr>
                          <m:t>c</m:t>
                        </m:r>
                        <m:r>
                          <m:rPr>
                            <m:nor/>
                          </m:rPr>
                          <a:rPr lang="en-ZA" sz="3600" b="1" baseline="-25000" dirty="0" smtClean="0">
                            <a:solidFill>
                              <a:schemeClr val="dk1"/>
                            </a:solidFill>
                            <a:ea typeface="Calibri"/>
                            <a:cs typeface="Calibri"/>
                            <a:sym typeface="Calibri"/>
                          </a:rPr>
                          <m:t>1</m:t>
                        </m:r>
                        <m:r>
                          <m:rPr>
                            <m:nor/>
                          </m:rPr>
                          <a:rPr lang="en-ZA" sz="3600" b="1" dirty="0" smtClean="0">
                            <a:solidFill>
                              <a:schemeClr val="dk1"/>
                            </a:solidFill>
                            <a:ea typeface="Calibri"/>
                            <a:cs typeface="Calibri"/>
                            <a:sym typeface="Calibri"/>
                          </a:rPr>
                          <m:t>(1 − </m:t>
                        </m:r>
                        <m:r>
                          <m:rPr>
                            <m:nor/>
                          </m:rPr>
                          <a:rPr lang="en-ZA" sz="3600" b="1" dirty="0" smtClean="0">
                            <a:solidFill>
                              <a:schemeClr val="dk1"/>
                            </a:solidFill>
                            <a:ea typeface="Calibri"/>
                            <a:cs typeface="Calibri"/>
                            <a:sym typeface="Calibri"/>
                          </a:rPr>
                          <m:t>t</m:t>
                        </m:r>
                        <m:r>
                          <m:rPr>
                            <m:nor/>
                          </m:rPr>
                          <a:rPr lang="en-ZA" sz="3600" b="1" dirty="0" smtClean="0">
                            <a:solidFill>
                              <a:schemeClr val="dk1"/>
                            </a:solidFill>
                            <a:ea typeface="Calibri"/>
                            <a:cs typeface="Calibri"/>
                            <a:sym typeface="Calibri"/>
                          </a:rPr>
                          <m:t>)</m:t>
                        </m:r>
                        <m:r>
                          <m:rPr>
                            <m:nor/>
                          </m:rPr>
                          <a:rPr lang="en-US" sz="3600" b="1" i="0" dirty="0" smtClean="0">
                            <a:solidFill>
                              <a:schemeClr val="dk1"/>
                            </a:solidFill>
                            <a:ea typeface="Calibri"/>
                            <a:cs typeface="Calibri"/>
                            <a:sym typeface="Calibri"/>
                          </a:rPr>
                          <m:t>]</m:t>
                        </m:r>
                      </m:den>
                    </m:f>
                  </m:oMath>
                </a14:m>
                <a:r>
                  <a:rPr lang="en-ZA" sz="3600" b="1">
                    <a:solidFill>
                      <a:schemeClr val="dk1"/>
                    </a:solidFill>
                    <a:ea typeface="Calibri"/>
                    <a:cs typeface="Calibri"/>
                    <a:sym typeface="Calibri"/>
                  </a:rPr>
                  <a:t> (c</a:t>
                </a:r>
                <a:r>
                  <a:rPr lang="en-ZA" sz="3600" b="1" baseline="-25000">
                    <a:solidFill>
                      <a:schemeClr val="dk1"/>
                    </a:solidFill>
                    <a:ea typeface="Calibri"/>
                    <a:cs typeface="Calibri"/>
                    <a:sym typeface="Calibri"/>
                  </a:rPr>
                  <a:t>0 </a:t>
                </a:r>
                <a:r>
                  <a:rPr lang="en-ZA" sz="3600" b="1">
                    <a:solidFill>
                      <a:schemeClr val="dk1"/>
                    </a:solidFill>
                    <a:ea typeface="Calibri"/>
                    <a:cs typeface="Calibri"/>
                    <a:sym typeface="Calibri"/>
                  </a:rPr>
                  <a:t>+ I + G)</a:t>
                </a:r>
                <a:br>
                  <a:rPr lang="en-ZA" sz="3600" b="1">
                    <a:solidFill>
                      <a:schemeClr val="dk1"/>
                    </a:solidFill>
                    <a:ea typeface="Calibri"/>
                    <a:cs typeface="Calibri"/>
                    <a:sym typeface="Calibri"/>
                  </a:rPr>
                </a:br>
                <a:endParaRPr lang="en-US" sz="3600" b="1"/>
              </a:p>
            </p:txBody>
          </p:sp>
        </mc:Choice>
        <mc:Fallback xmlns="">
          <p:sp>
            <p:nvSpPr>
              <p:cNvPr id="3" name="Content Placeholder 2">
                <a:extLst>
                  <a:ext uri="{FF2B5EF4-FFF2-40B4-BE49-F238E27FC236}">
                    <a16:creationId xmlns:a16="http://schemas.microsoft.com/office/drawing/2014/main" id="{AFC35C56-C569-544A-A7AB-AC3AFFDA011A}"/>
                  </a:ext>
                </a:extLst>
              </p:cNvPr>
              <p:cNvSpPr>
                <a:spLocks noGrp="1" noRot="1" noChangeAspect="1" noMove="1" noResize="1" noEditPoints="1" noAdjustHandles="1" noChangeArrowheads="1" noChangeShapeType="1" noTextEdit="1"/>
              </p:cNvSpPr>
              <p:nvPr>
                <p:ph idx="1"/>
              </p:nvPr>
            </p:nvSpPr>
            <p:spPr>
              <a:blipFill>
                <a:blip r:embed="rId2"/>
                <a:stretch>
                  <a:fillRect l="-1275" t="-4342" r="-1159"/>
                </a:stretch>
              </a:blipFill>
            </p:spPr>
            <p:txBody>
              <a:bodyPr/>
              <a:lstStyle/>
              <a:p>
                <a:r>
                  <a:rPr lang="en-ZA">
                    <a:noFill/>
                  </a:rPr>
                  <a:t> </a:t>
                </a:r>
              </a:p>
            </p:txBody>
          </p:sp>
        </mc:Fallback>
      </mc:AlternateContent>
    </p:spTree>
    <p:extLst>
      <p:ext uri="{BB962C8B-B14F-4D97-AF65-F5344CB8AC3E}">
        <p14:creationId xmlns:p14="http://schemas.microsoft.com/office/powerpoint/2010/main" val="752394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60D5AEB1-4D28-9F4B-8922-B9B693EEAF78}"/>
                  </a:ext>
                </a:extLst>
              </p:cNvPr>
              <p:cNvGraphicFramePr>
                <a:graphicFrameLocks noGrp="1"/>
              </p:cNvGraphicFramePr>
              <p:nvPr/>
            </p:nvGraphicFramePr>
            <p:xfrm>
              <a:off x="53650" y="267906"/>
              <a:ext cx="12084699" cy="5868855"/>
            </p:xfrm>
            <a:graphic>
              <a:graphicData uri="http://schemas.openxmlformats.org/drawingml/2006/table">
                <a:tbl>
                  <a:tblPr firstRow="1" bandRow="1">
                    <a:tableStyleId>{10A1B5D5-9B99-4C35-A422-299274C87663}</a:tableStyleId>
                  </a:tblPr>
                  <a:tblGrid>
                    <a:gridCol w="2655683">
                      <a:extLst>
                        <a:ext uri="{9D8B030D-6E8A-4147-A177-3AD203B41FA5}">
                          <a16:colId xmlns:a16="http://schemas.microsoft.com/office/drawing/2014/main" val="4146491054"/>
                        </a:ext>
                      </a:extLst>
                    </a:gridCol>
                    <a:gridCol w="2105263">
                      <a:extLst>
                        <a:ext uri="{9D8B030D-6E8A-4147-A177-3AD203B41FA5}">
                          <a16:colId xmlns:a16="http://schemas.microsoft.com/office/drawing/2014/main" val="2953857035"/>
                        </a:ext>
                      </a:extLst>
                    </a:gridCol>
                    <a:gridCol w="3769158">
                      <a:extLst>
                        <a:ext uri="{9D8B030D-6E8A-4147-A177-3AD203B41FA5}">
                          <a16:colId xmlns:a16="http://schemas.microsoft.com/office/drawing/2014/main" val="990169853"/>
                        </a:ext>
                      </a:extLst>
                    </a:gridCol>
                    <a:gridCol w="3554595">
                      <a:extLst>
                        <a:ext uri="{9D8B030D-6E8A-4147-A177-3AD203B41FA5}">
                          <a16:colId xmlns:a16="http://schemas.microsoft.com/office/drawing/2014/main" val="3248950206"/>
                        </a:ext>
                      </a:extLst>
                    </a:gridCol>
                  </a:tblGrid>
                  <a:tr h="904854">
                    <a:tc>
                      <a:txBody>
                        <a:bodyPr/>
                        <a:lstStyle/>
                        <a:p>
                          <a:pPr algn="ctr"/>
                          <a:r>
                            <a:rPr lang="en-US" sz="2400" b="0"/>
                            <a:t>Economy modelled</a:t>
                          </a:r>
                        </a:p>
                      </a:txBody>
                      <a:tcPr anchor="ctr"/>
                    </a:tc>
                    <a:tc>
                      <a:txBody>
                        <a:bodyPr/>
                        <a:lstStyle/>
                        <a:p>
                          <a:pPr algn="ctr"/>
                          <a:r>
                            <a:rPr lang="en-US" sz="2400" b="0"/>
                            <a:t>GDP components </a:t>
                          </a:r>
                        </a:p>
                      </a:txBody>
                      <a:tcPr anchor="ctr"/>
                    </a:tc>
                    <a:tc>
                      <a:txBody>
                        <a:bodyPr/>
                        <a:lstStyle/>
                        <a:p>
                          <a:pPr algn="ctr"/>
                          <a:r>
                            <a:rPr lang="en-US" sz="2400" b="1"/>
                            <a:t>AD = Y  </a:t>
                          </a:r>
                          <a:r>
                            <a:rPr lang="en-US" sz="2400" b="0"/>
                            <a:t>equation </a:t>
                          </a:r>
                        </a:p>
                      </a:txBody>
                      <a:tcPr anchor="ctr"/>
                    </a:tc>
                    <a:tc>
                      <a:txBody>
                        <a:bodyPr/>
                        <a:lstStyle/>
                        <a:p>
                          <a:pPr algn="ctr"/>
                          <a:r>
                            <a:rPr lang="en-US" sz="2400" b="0"/>
                            <a:t>Multiplier Equation</a:t>
                          </a:r>
                        </a:p>
                        <a:p>
                          <a:pPr marL="0" indent="0" algn="ctr">
                            <a:buNone/>
                          </a:pPr>
                          <a:r>
                            <a:rPr lang="en-US" sz="2400" b="0" u="sng"/>
                            <a:t>∆GDP</a:t>
                          </a:r>
                        </a:p>
                        <a:p>
                          <a:pPr marL="0" indent="0" algn="ctr">
                            <a:buNone/>
                          </a:pPr>
                          <a:r>
                            <a:rPr lang="en-US" sz="2400" b="0"/>
                            <a:t>∆AD </a:t>
                          </a:r>
                        </a:p>
                      </a:txBody>
                      <a:tcPr anchor="ctr"/>
                    </a:tc>
                    <a:extLst>
                      <a:ext uri="{0D108BD9-81ED-4DB2-BD59-A6C34878D82A}">
                        <a16:rowId xmlns:a16="http://schemas.microsoft.com/office/drawing/2014/main" val="1831411999"/>
                      </a:ext>
                    </a:extLst>
                  </a:tr>
                  <a:tr h="735387">
                    <a:tc>
                      <a:txBody>
                        <a:bodyPr/>
                        <a:lstStyle/>
                        <a:p>
                          <a:pPr algn="ctr"/>
                          <a:r>
                            <a:rPr lang="en-US" sz="2400" b="0"/>
                            <a:t>Private Economy</a:t>
                          </a:r>
                        </a:p>
                      </a:txBody>
                      <a:tcPr anchor="ctr"/>
                    </a:tc>
                    <a:tc>
                      <a:txBody>
                        <a:bodyPr/>
                        <a:lstStyle/>
                        <a:p>
                          <a:pPr algn="ctr"/>
                          <a:r>
                            <a:rPr lang="en-US" sz="2800" b="0"/>
                            <a:t>C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𝑐</a:t>
                          </a:r>
                          <a:r>
                            <a:rPr lang="en-ZA" sz="2000" b="0" kern="1200" baseline="-25000">
                              <a:solidFill>
                                <a:schemeClr val="dk1"/>
                              </a:solidFill>
                              <a:effectLst/>
                            </a:rPr>
                            <a:t>0</a:t>
                          </a:r>
                          <a:r>
                            <a:rPr lang="en-ZA" sz="2000" b="0" kern="1200">
                              <a:solidFill>
                                <a:schemeClr val="dk1"/>
                              </a:solidFill>
                              <a:effectLst/>
                            </a:rPr>
                            <a:t> + 𝑐</a:t>
                          </a:r>
                          <a:r>
                            <a:rPr lang="en-ZA" sz="2000" b="0" kern="1200" baseline="-25000">
                              <a:solidFill>
                                <a:schemeClr val="dk1"/>
                              </a:solidFill>
                              <a:effectLst/>
                            </a:rPr>
                            <a:t>1</a:t>
                          </a:r>
                          <a:r>
                            <a:rPr lang="en-ZA" sz="2000" b="0" kern="1200">
                              <a:solidFill>
                                <a:schemeClr val="dk1"/>
                              </a:solidFill>
                              <a:effectLst/>
                            </a:rPr>
                            <a:t>Y</a:t>
                          </a:r>
                        </a:p>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sym typeface="Calibri"/>
                            </a:rPr>
                            <a:t>=</a:t>
                          </a:r>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a:t>
                          </a:r>
                          <a:endParaRPr kumimoji="0" lang="en-ZA" sz="20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sym typeface="Arial"/>
                          </a:endParaRPr>
                        </a:p>
                      </a:txBody>
                      <a:tcPr/>
                    </a:tc>
                    <a:tc>
                      <a:txBody>
                        <a:bodyPr/>
                        <a:lstStyle/>
                        <a:p>
                          <a:pPr algn="ctr"/>
                          <a14:m>
                            <m:oMathPara xmlns:m="http://schemas.openxmlformats.org/officeDocument/2006/math">
                              <m:oMathParaPr>
                                <m:jc m:val="centerGroup"/>
                              </m:oMathParaPr>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m:oMathPara>
                          </a14:m>
                          <a:endParaRPr lang="en-US" sz="2800" b="0"/>
                        </a:p>
                      </a:txBody>
                      <a:tcPr anchor="ctr"/>
                    </a:tc>
                    <a:extLst>
                      <a:ext uri="{0D108BD9-81ED-4DB2-BD59-A6C34878D82A}">
                        <a16:rowId xmlns:a16="http://schemas.microsoft.com/office/drawing/2014/main" val="2706616369"/>
                      </a:ext>
                    </a:extLst>
                  </a:tr>
                  <a:tr h="7729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t>Private Economy</a:t>
                          </a:r>
                        </a:p>
                      </a:txBody>
                      <a:tcPr anchor="ctr"/>
                    </a:tc>
                    <a:tc>
                      <a:txBody>
                        <a:bodyPr/>
                        <a:lstStyle/>
                        <a:p>
                          <a:pPr algn="ctr"/>
                          <a:r>
                            <a:rPr lang="en-US" sz="2800" b="0"/>
                            <a:t>C + I</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𝑐</a:t>
                          </a:r>
                          <a:r>
                            <a:rPr lang="en-ZA" sz="2000" b="0" kern="1200" baseline="-25000">
                              <a:solidFill>
                                <a:schemeClr val="dk1"/>
                              </a:solidFill>
                              <a:effectLst/>
                            </a:rPr>
                            <a:t>0</a:t>
                          </a:r>
                          <a:r>
                            <a:rPr lang="en-ZA" sz="2000" b="0" kern="1200">
                              <a:solidFill>
                                <a:schemeClr val="dk1"/>
                              </a:solidFill>
                              <a:effectLst/>
                            </a:rPr>
                            <a:t> + 𝑐</a:t>
                          </a:r>
                          <a:r>
                            <a:rPr lang="en-ZA" sz="2000" b="0" kern="1200" baseline="-25000">
                              <a:solidFill>
                                <a:schemeClr val="dk1"/>
                              </a:solidFill>
                              <a:effectLst/>
                            </a:rPr>
                            <a:t>1</a:t>
                          </a:r>
                          <a:r>
                            <a:rPr lang="en-ZA" sz="2000" b="0" kern="1200">
                              <a:solidFill>
                                <a:schemeClr val="dk1"/>
                              </a:solidFill>
                              <a:effectLst/>
                            </a:rPr>
                            <a:t>Y + I </a:t>
                          </a:r>
                          <a:endParaRPr lang="en-ZA" sz="2000" b="0">
                            <a:effectLst/>
                          </a:endParaRPr>
                        </a:p>
                        <a:p>
                          <a:pPr algn="l"/>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 + I) </a:t>
                          </a:r>
                          <a:endParaRPr lang="en-US" sz="2000" b="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m:oMathPara>
                          </a14:m>
                          <a:endParaRPr lang="en-US" sz="2800" b="0"/>
                        </a:p>
                      </a:txBody>
                      <a:tcPr anchor="ctr"/>
                    </a:tc>
                    <a:extLst>
                      <a:ext uri="{0D108BD9-81ED-4DB2-BD59-A6C34878D82A}">
                        <a16:rowId xmlns:a16="http://schemas.microsoft.com/office/drawing/2014/main" val="1270163588"/>
                      </a:ext>
                    </a:extLst>
                  </a:tr>
                  <a:tr h="735387">
                    <a:tc>
                      <a:txBody>
                        <a:bodyPr/>
                        <a:lstStyle/>
                        <a:p>
                          <a:pPr algn="ctr"/>
                          <a:r>
                            <a:rPr lang="en-US" sz="2400" b="0"/>
                            <a:t>Closed Economy</a:t>
                          </a:r>
                        </a:p>
                        <a:p>
                          <a:pPr algn="ctr"/>
                          <a:r>
                            <a:rPr lang="en-US" sz="1800" b="0"/>
                            <a:t>(T = 0)</a:t>
                          </a:r>
                        </a:p>
                      </a:txBody>
                      <a:tcPr anchor="ctr"/>
                    </a:tc>
                    <a:tc>
                      <a:txBody>
                        <a:bodyPr/>
                        <a:lstStyle/>
                        <a:p>
                          <a:pPr algn="ctr"/>
                          <a:r>
                            <a:rPr lang="en-US" sz="2800" b="0"/>
                            <a:t>C+I+G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c</a:t>
                          </a:r>
                          <a:r>
                            <a:rPr lang="en-ZA" sz="2000" b="0" kern="1200" baseline="-25000">
                              <a:solidFill>
                                <a:schemeClr val="dk1"/>
                              </a:solidFill>
                              <a:effectLst/>
                            </a:rPr>
                            <a:t>0</a:t>
                          </a:r>
                          <a:r>
                            <a:rPr lang="en-ZA" sz="2000" b="0" kern="1200">
                              <a:solidFill>
                                <a:schemeClr val="dk1"/>
                              </a:solidFill>
                              <a:effectLst/>
                            </a:rPr>
                            <a:t> +c</a:t>
                          </a:r>
                          <a:r>
                            <a:rPr lang="en-ZA" sz="2000" b="0" kern="1200" baseline="-25000">
                              <a:solidFill>
                                <a:schemeClr val="dk1"/>
                              </a:solidFill>
                              <a:effectLst/>
                            </a:rPr>
                            <a:t>1</a:t>
                          </a:r>
                          <a:r>
                            <a:rPr lang="en-ZA" sz="2000" b="0" kern="1200">
                              <a:solidFill>
                                <a:schemeClr val="dk1"/>
                              </a:solidFill>
                              <a:effectLst/>
                            </a:rPr>
                            <a:t>Y+I+G </a:t>
                          </a:r>
                          <a:endParaRPr lang="en-ZA" sz="2000" b="0">
                            <a:effectLst/>
                          </a:endParaRPr>
                        </a:p>
                        <a:p>
                          <a:pPr algn="l"/>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 I+ G)</a:t>
                          </a:r>
                          <a:endParaRPr lang="en-US" sz="2000" b="0"/>
                        </a:p>
                      </a:txBody>
                      <a:tcPr/>
                    </a:tc>
                    <a:tc>
                      <a:txBody>
                        <a:bodyPr/>
                        <a:lstStyle/>
                        <a:p>
                          <a:pPr algn="ctr"/>
                          <a:r>
                            <a:rPr lang="en-ZA" sz="2800" b="0">
                              <a:solidFill>
                                <a:schemeClr val="dk1"/>
                              </a:solidFill>
                              <a:sym typeface="Calibri"/>
                            </a:rPr>
                            <a:t> </a:t>
                          </a:r>
                          <a14:m>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a14:m>
                          <a:r>
                            <a:rPr lang="en-ZA" sz="2800" b="0">
                              <a:solidFill>
                                <a:schemeClr val="dk1"/>
                              </a:solidFill>
                              <a:sym typeface="Calibri"/>
                            </a:rPr>
                            <a:t> </a:t>
                          </a:r>
                          <a:endParaRPr lang="en-US" sz="2800" b="0"/>
                        </a:p>
                      </a:txBody>
                      <a:tcPr anchor="ctr"/>
                    </a:tc>
                    <a:extLst>
                      <a:ext uri="{0D108BD9-81ED-4DB2-BD59-A6C34878D82A}">
                        <a16:rowId xmlns:a16="http://schemas.microsoft.com/office/drawing/2014/main" val="1403591218"/>
                      </a:ext>
                    </a:extLst>
                  </a:tr>
                  <a:tr h="1125713">
                    <a:tc>
                      <a:txBody>
                        <a:bodyPr/>
                        <a:lstStyle/>
                        <a:p>
                          <a:pPr algn="ctr"/>
                          <a:r>
                            <a:rPr lang="en-US" sz="2400" b="0"/>
                            <a:t>Closed economy </a:t>
                          </a:r>
                          <a:r>
                            <a:rPr lang="en-US" sz="2000" b="0"/>
                            <a:t>(taxes considered)</a:t>
                          </a:r>
                          <a:endParaRPr lang="en-US" sz="2400" b="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t>C+I+G</a:t>
                          </a:r>
                        </a:p>
                        <a:p>
                          <a:pPr algn="ctr"/>
                          <a:endParaRPr lang="en-US" sz="2800" b="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=c</a:t>
                          </a:r>
                          <a:r>
                            <a:rPr lang="en-ZA" sz="2000" b="0" kern="1200" baseline="-25000">
                              <a:solidFill>
                                <a:schemeClr val="dk1"/>
                              </a:solidFill>
                              <a:effectLst/>
                            </a:rPr>
                            <a:t>0</a:t>
                          </a:r>
                          <a:r>
                            <a:rPr lang="en-ZA" sz="2000" b="0" kern="1200">
                              <a:solidFill>
                                <a:schemeClr val="dk1"/>
                              </a:solidFill>
                              <a:effectLst/>
                            </a:rPr>
                            <a:t> +c</a:t>
                          </a:r>
                          <a:r>
                            <a:rPr lang="en-ZA" sz="2000" b="0" kern="1200" baseline="-25000">
                              <a:solidFill>
                                <a:schemeClr val="dk1"/>
                              </a:solidFill>
                              <a:effectLst/>
                            </a:rPr>
                            <a:t>1</a:t>
                          </a:r>
                          <a:r>
                            <a:rPr lang="en-ZA" sz="2000" b="0" kern="1200">
                              <a:solidFill>
                                <a:schemeClr val="dk1"/>
                              </a:solidFill>
                              <a:effectLst/>
                            </a:rPr>
                            <a:t>(1-t)Y+I+G </a:t>
                          </a:r>
                        </a:p>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(1 − </m:t>
                                  </m:r>
                                  <m:r>
                                    <m:rPr>
                                      <m:nor/>
                                    </m:rPr>
                                    <a:rPr lang="en-ZA" sz="2000" b="0" dirty="0" smtClean="0">
                                      <a:solidFill>
                                        <a:schemeClr val="dk1"/>
                                      </a:solidFill>
                                      <a:sym typeface="Calibri"/>
                                    </a:rPr>
                                    <m:t>t</m:t>
                                  </m:r>
                                  <m:r>
                                    <m:rPr>
                                      <m:nor/>
                                    </m:rPr>
                                    <a:rPr lang="en-ZA" sz="2000" b="0" dirty="0" smtClean="0">
                                      <a:solidFill>
                                        <a:schemeClr val="dk1"/>
                                      </a:solidFill>
                                      <a:sym typeface="Calibri"/>
                                    </a:rPr>
                                    <m:t>) </m:t>
                                  </m:r>
                                </m:den>
                              </m:f>
                            </m:oMath>
                          </a14:m>
                          <a:r>
                            <a:rPr lang="en-ZA" sz="2000" b="0">
                              <a:solidFill>
                                <a:schemeClr val="dk1"/>
                              </a:solidFill>
                              <a:sym typeface="Calibri"/>
                            </a:rPr>
                            <a:t> (c</a:t>
                          </a:r>
                          <a:r>
                            <a:rPr lang="en-ZA" sz="2000" b="0" baseline="-25000">
                              <a:solidFill>
                                <a:schemeClr val="dk1"/>
                              </a:solidFill>
                              <a:sym typeface="Calibri"/>
                            </a:rPr>
                            <a:t>0 </a:t>
                          </a:r>
                          <a:r>
                            <a:rPr lang="en-ZA" sz="2000" b="0">
                              <a:solidFill>
                                <a:schemeClr val="dk1"/>
                              </a:solidFill>
                              <a:sym typeface="Calibri"/>
                            </a:rPr>
                            <a:t>+ I + G )</a:t>
                          </a:r>
                        </a:p>
                        <a:p>
                          <a:pPr algn="l"/>
                          <a:endParaRPr lang="en-US" sz="2000" b="0"/>
                        </a:p>
                      </a:txBody>
                      <a:tcPr/>
                    </a:tc>
                    <a:tc>
                      <a:txBody>
                        <a:bodyPr/>
                        <a:lstStyle/>
                        <a:p>
                          <a:pPr algn="ctr"/>
                          <a14:m>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(1 − </m:t>
                                  </m:r>
                                  <m:r>
                                    <m:rPr>
                                      <m:nor/>
                                    </m:rPr>
                                    <a:rPr lang="en-ZA" sz="2800" b="0" dirty="0" smtClean="0">
                                      <a:solidFill>
                                        <a:schemeClr val="dk1"/>
                                      </a:solidFill>
                                      <a:sym typeface="Calibri"/>
                                    </a:rPr>
                                    <m:t>t</m:t>
                                  </m:r>
                                  <m:r>
                                    <m:rPr>
                                      <m:nor/>
                                    </m:rPr>
                                    <a:rPr lang="en-ZA" sz="2800" b="0" dirty="0" smtClean="0">
                                      <a:solidFill>
                                        <a:schemeClr val="dk1"/>
                                      </a:solidFill>
                                      <a:sym typeface="Calibri"/>
                                    </a:rPr>
                                    <m:t>)</m:t>
                                  </m:r>
                                </m:den>
                              </m:f>
                            </m:oMath>
                          </a14:m>
                          <a:r>
                            <a:rPr lang="en-ZA" sz="2800" b="0">
                              <a:solidFill>
                                <a:schemeClr val="dk1"/>
                              </a:solidFill>
                              <a:sym typeface="Calibri"/>
                            </a:rPr>
                            <a:t> </a:t>
                          </a:r>
                          <a:endParaRPr lang="en-US" sz="2800" b="0"/>
                        </a:p>
                      </a:txBody>
                      <a:tcPr anchor="ctr"/>
                    </a:tc>
                    <a:extLst>
                      <a:ext uri="{0D108BD9-81ED-4DB2-BD59-A6C34878D82A}">
                        <a16:rowId xmlns:a16="http://schemas.microsoft.com/office/drawing/2014/main" val="809790387"/>
                      </a:ext>
                    </a:extLst>
                  </a:tr>
                  <a:tr h="735387">
                    <a:tc>
                      <a:txBody>
                        <a:bodyPr/>
                        <a:lstStyle/>
                        <a:p>
                          <a:pPr algn="ctr"/>
                          <a:endParaRPr lang="en-US" sz="2400" b="0"/>
                        </a:p>
                      </a:txBody>
                      <a:tcPr anchor="ctr"/>
                    </a:tc>
                    <a:tc>
                      <a:txBody>
                        <a:bodyPr/>
                        <a:lstStyle/>
                        <a:p>
                          <a:pPr algn="ctr"/>
                          <a:endParaRPr lang="en-US" sz="2800" b="0"/>
                        </a:p>
                      </a:txBody>
                      <a:tcPr anchor="ctr"/>
                    </a:tc>
                    <a:tc>
                      <a:txBody>
                        <a:bodyPr/>
                        <a:lstStyle/>
                        <a:p>
                          <a:pPr algn="l"/>
                          <a:endParaRPr lang="en-US" sz="2000" b="0"/>
                        </a:p>
                      </a:txBody>
                      <a:tcPr/>
                    </a:tc>
                    <a:tc>
                      <a:txBody>
                        <a:bodyPr/>
                        <a:lstStyle/>
                        <a:p>
                          <a:pPr algn="ctr"/>
                          <a:endParaRPr lang="en-US" sz="2800" b="0"/>
                        </a:p>
                      </a:txBody>
                      <a:tcPr anchor="ctr"/>
                    </a:tc>
                    <a:extLst>
                      <a:ext uri="{0D108BD9-81ED-4DB2-BD59-A6C34878D82A}">
                        <a16:rowId xmlns:a16="http://schemas.microsoft.com/office/drawing/2014/main" val="1344669104"/>
                      </a:ext>
                    </a:extLst>
                  </a:tr>
                </a:tbl>
              </a:graphicData>
            </a:graphic>
          </p:graphicFrame>
        </mc:Choice>
        <mc:Fallback xmlns="">
          <p:graphicFrame>
            <p:nvGraphicFramePr>
              <p:cNvPr id="4" name="Table 4">
                <a:extLst>
                  <a:ext uri="{FF2B5EF4-FFF2-40B4-BE49-F238E27FC236}">
                    <a16:creationId xmlns:a16="http://schemas.microsoft.com/office/drawing/2014/main" id="{60D5AEB1-4D28-9F4B-8922-B9B693EEAF78}"/>
                  </a:ext>
                </a:extLst>
              </p:cNvPr>
              <p:cNvGraphicFramePr>
                <a:graphicFrameLocks noGrp="1"/>
              </p:cNvGraphicFramePr>
              <p:nvPr>
                <p:extLst>
                  <p:ext uri="{D42A27DB-BD31-4B8C-83A1-F6EECF244321}">
                    <p14:modId xmlns:p14="http://schemas.microsoft.com/office/powerpoint/2010/main" val="523648063"/>
                  </p:ext>
                </p:extLst>
              </p:nvPr>
            </p:nvGraphicFramePr>
            <p:xfrm>
              <a:off x="53650" y="267906"/>
              <a:ext cx="12084699" cy="5868855"/>
            </p:xfrm>
            <a:graphic>
              <a:graphicData uri="http://schemas.openxmlformats.org/drawingml/2006/table">
                <a:tbl>
                  <a:tblPr firstRow="1" bandRow="1">
                    <a:tableStyleId>{10A1B5D5-9B99-4C35-A422-299274C87663}</a:tableStyleId>
                  </a:tblPr>
                  <a:tblGrid>
                    <a:gridCol w="2655683">
                      <a:extLst>
                        <a:ext uri="{9D8B030D-6E8A-4147-A177-3AD203B41FA5}">
                          <a16:colId xmlns:a16="http://schemas.microsoft.com/office/drawing/2014/main" val="4146491054"/>
                        </a:ext>
                      </a:extLst>
                    </a:gridCol>
                    <a:gridCol w="2105263">
                      <a:extLst>
                        <a:ext uri="{9D8B030D-6E8A-4147-A177-3AD203B41FA5}">
                          <a16:colId xmlns:a16="http://schemas.microsoft.com/office/drawing/2014/main" val="2953857035"/>
                        </a:ext>
                      </a:extLst>
                    </a:gridCol>
                    <a:gridCol w="3769158">
                      <a:extLst>
                        <a:ext uri="{9D8B030D-6E8A-4147-A177-3AD203B41FA5}">
                          <a16:colId xmlns:a16="http://schemas.microsoft.com/office/drawing/2014/main" val="990169853"/>
                        </a:ext>
                      </a:extLst>
                    </a:gridCol>
                    <a:gridCol w="3554595">
                      <a:extLst>
                        <a:ext uri="{9D8B030D-6E8A-4147-A177-3AD203B41FA5}">
                          <a16:colId xmlns:a16="http://schemas.microsoft.com/office/drawing/2014/main" val="3248950206"/>
                        </a:ext>
                      </a:extLst>
                    </a:gridCol>
                  </a:tblGrid>
                  <a:tr h="1188720">
                    <a:tc>
                      <a:txBody>
                        <a:bodyPr/>
                        <a:lstStyle/>
                        <a:p>
                          <a:pPr algn="ctr"/>
                          <a:r>
                            <a:rPr lang="en-US" sz="2400" b="0"/>
                            <a:t>Economy modelled</a:t>
                          </a:r>
                        </a:p>
                      </a:txBody>
                      <a:tcPr anchor="ctr"/>
                    </a:tc>
                    <a:tc>
                      <a:txBody>
                        <a:bodyPr/>
                        <a:lstStyle/>
                        <a:p>
                          <a:pPr algn="ctr"/>
                          <a:r>
                            <a:rPr lang="en-US" sz="2400" b="0"/>
                            <a:t>GDP components </a:t>
                          </a:r>
                        </a:p>
                      </a:txBody>
                      <a:tcPr anchor="ctr"/>
                    </a:tc>
                    <a:tc>
                      <a:txBody>
                        <a:bodyPr/>
                        <a:lstStyle/>
                        <a:p>
                          <a:pPr algn="ctr"/>
                          <a:r>
                            <a:rPr lang="en-US" sz="2400" b="1"/>
                            <a:t>AD = Y  </a:t>
                          </a:r>
                          <a:r>
                            <a:rPr lang="en-US" sz="2400" b="0"/>
                            <a:t>equation </a:t>
                          </a:r>
                        </a:p>
                      </a:txBody>
                      <a:tcPr anchor="ctr"/>
                    </a:tc>
                    <a:tc>
                      <a:txBody>
                        <a:bodyPr/>
                        <a:lstStyle/>
                        <a:p>
                          <a:pPr algn="ctr"/>
                          <a:r>
                            <a:rPr lang="en-US" sz="2400" b="0"/>
                            <a:t>Multiplier Equation</a:t>
                          </a:r>
                        </a:p>
                        <a:p>
                          <a:pPr marL="0" indent="0" algn="ctr">
                            <a:buNone/>
                          </a:pPr>
                          <a:r>
                            <a:rPr lang="en-US" sz="2400" b="0" u="sng"/>
                            <a:t>∆GDP</a:t>
                          </a:r>
                        </a:p>
                        <a:p>
                          <a:pPr marL="0" indent="0" algn="ctr">
                            <a:buNone/>
                          </a:pPr>
                          <a:r>
                            <a:rPr lang="en-US" sz="2400" b="0"/>
                            <a:t>∆AD </a:t>
                          </a:r>
                        </a:p>
                      </a:txBody>
                      <a:tcPr anchor="ctr"/>
                    </a:tc>
                    <a:extLst>
                      <a:ext uri="{0D108BD9-81ED-4DB2-BD59-A6C34878D82A}">
                        <a16:rowId xmlns:a16="http://schemas.microsoft.com/office/drawing/2014/main" val="1831411999"/>
                      </a:ext>
                    </a:extLst>
                  </a:tr>
                  <a:tr h="950151">
                    <a:tc>
                      <a:txBody>
                        <a:bodyPr/>
                        <a:lstStyle/>
                        <a:p>
                          <a:pPr algn="ctr"/>
                          <a:r>
                            <a:rPr lang="en-US" sz="2400" b="0"/>
                            <a:t>Private Economy</a:t>
                          </a:r>
                        </a:p>
                      </a:txBody>
                      <a:tcPr anchor="ctr"/>
                    </a:tc>
                    <a:tc>
                      <a:txBody>
                        <a:bodyPr/>
                        <a:lstStyle/>
                        <a:p>
                          <a:pPr algn="ctr"/>
                          <a:r>
                            <a:rPr lang="en-US" sz="2800" b="0"/>
                            <a:t>C </a:t>
                          </a:r>
                        </a:p>
                      </a:txBody>
                      <a:tcPr anchor="ctr"/>
                    </a:tc>
                    <a:tc>
                      <a:txBody>
                        <a:bodyPr/>
                        <a:lstStyle/>
                        <a:p>
                          <a:endParaRPr lang="en-US"/>
                        </a:p>
                      </a:txBody>
                      <a:tcPr>
                        <a:blipFill>
                          <a:blip r:embed="rId2"/>
                          <a:stretch>
                            <a:fillRect l="-126699" t="-129487" r="-94822" b="-394231"/>
                          </a:stretch>
                        </a:blipFill>
                      </a:tcPr>
                    </a:tc>
                    <a:tc>
                      <a:txBody>
                        <a:bodyPr/>
                        <a:lstStyle/>
                        <a:p>
                          <a:endParaRPr lang="en-US"/>
                        </a:p>
                      </a:txBody>
                      <a:tcPr anchor="ctr">
                        <a:blipFill>
                          <a:blip r:embed="rId2"/>
                          <a:stretch>
                            <a:fillRect l="-239897" t="-129487" r="-342" b="-394231"/>
                          </a:stretch>
                        </a:blipFill>
                      </a:tcPr>
                    </a:tc>
                    <a:extLst>
                      <a:ext uri="{0D108BD9-81ED-4DB2-BD59-A6C34878D82A}">
                        <a16:rowId xmlns:a16="http://schemas.microsoft.com/office/drawing/2014/main" val="2706616369"/>
                      </a:ext>
                    </a:extLst>
                  </a:tr>
                  <a:tr h="9501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t>Private Economy</a:t>
                          </a:r>
                        </a:p>
                      </a:txBody>
                      <a:tcPr anchor="ctr"/>
                    </a:tc>
                    <a:tc>
                      <a:txBody>
                        <a:bodyPr/>
                        <a:lstStyle/>
                        <a:p>
                          <a:pPr algn="ctr"/>
                          <a:r>
                            <a:rPr lang="en-US" sz="2800" b="0"/>
                            <a:t>C + I</a:t>
                          </a:r>
                        </a:p>
                      </a:txBody>
                      <a:tcPr anchor="ctr"/>
                    </a:tc>
                    <a:tc>
                      <a:txBody>
                        <a:bodyPr/>
                        <a:lstStyle/>
                        <a:p>
                          <a:endParaRPr lang="en-US"/>
                        </a:p>
                      </a:txBody>
                      <a:tcPr>
                        <a:blipFill>
                          <a:blip r:embed="rId2"/>
                          <a:stretch>
                            <a:fillRect l="-126699" t="-229487" r="-94822" b="-294231"/>
                          </a:stretch>
                        </a:blipFill>
                      </a:tcPr>
                    </a:tc>
                    <a:tc>
                      <a:txBody>
                        <a:bodyPr/>
                        <a:lstStyle/>
                        <a:p>
                          <a:endParaRPr lang="en-US"/>
                        </a:p>
                      </a:txBody>
                      <a:tcPr anchor="ctr">
                        <a:blipFill>
                          <a:blip r:embed="rId2"/>
                          <a:stretch>
                            <a:fillRect l="-239897" t="-229487" r="-342" b="-294231"/>
                          </a:stretch>
                        </a:blipFill>
                      </a:tcPr>
                    </a:tc>
                    <a:extLst>
                      <a:ext uri="{0D108BD9-81ED-4DB2-BD59-A6C34878D82A}">
                        <a16:rowId xmlns:a16="http://schemas.microsoft.com/office/drawing/2014/main" val="1270163588"/>
                      </a:ext>
                    </a:extLst>
                  </a:tr>
                  <a:tr h="869823">
                    <a:tc>
                      <a:txBody>
                        <a:bodyPr/>
                        <a:lstStyle/>
                        <a:p>
                          <a:pPr algn="ctr"/>
                          <a:r>
                            <a:rPr lang="en-US" sz="2400" b="0"/>
                            <a:t>Closed Economy</a:t>
                          </a:r>
                        </a:p>
                        <a:p>
                          <a:pPr algn="ctr"/>
                          <a:r>
                            <a:rPr lang="en-US" sz="1800" b="0"/>
                            <a:t>(T = 0)</a:t>
                          </a:r>
                        </a:p>
                      </a:txBody>
                      <a:tcPr anchor="ctr"/>
                    </a:tc>
                    <a:tc>
                      <a:txBody>
                        <a:bodyPr/>
                        <a:lstStyle/>
                        <a:p>
                          <a:pPr algn="ctr"/>
                          <a:r>
                            <a:rPr lang="en-US" sz="2800" b="0"/>
                            <a:t>C+I+G</a:t>
                          </a:r>
                        </a:p>
                      </a:txBody>
                      <a:tcPr anchor="ctr"/>
                    </a:tc>
                    <a:tc>
                      <a:txBody>
                        <a:bodyPr/>
                        <a:lstStyle/>
                        <a:p>
                          <a:endParaRPr lang="en-US"/>
                        </a:p>
                      </a:txBody>
                      <a:tcPr>
                        <a:blipFill>
                          <a:blip r:embed="rId2"/>
                          <a:stretch>
                            <a:fillRect l="-126699" t="-359441" r="-94822" b="-220979"/>
                          </a:stretch>
                        </a:blipFill>
                      </a:tcPr>
                    </a:tc>
                    <a:tc>
                      <a:txBody>
                        <a:bodyPr/>
                        <a:lstStyle/>
                        <a:p>
                          <a:endParaRPr lang="en-US"/>
                        </a:p>
                      </a:txBody>
                      <a:tcPr anchor="ctr">
                        <a:blipFill>
                          <a:blip r:embed="rId2"/>
                          <a:stretch>
                            <a:fillRect l="-239897" t="-359441" r="-342" b="-220979"/>
                          </a:stretch>
                        </a:blipFill>
                      </a:tcPr>
                    </a:tc>
                    <a:extLst>
                      <a:ext uri="{0D108BD9-81ED-4DB2-BD59-A6C34878D82A}">
                        <a16:rowId xmlns:a16="http://schemas.microsoft.com/office/drawing/2014/main" val="1403591218"/>
                      </a:ext>
                    </a:extLst>
                  </a:tr>
                  <a:tr h="1174623">
                    <a:tc>
                      <a:txBody>
                        <a:bodyPr/>
                        <a:lstStyle/>
                        <a:p>
                          <a:pPr algn="ctr"/>
                          <a:r>
                            <a:rPr lang="en-US" sz="2400" b="0"/>
                            <a:t>Closed economy </a:t>
                          </a:r>
                          <a:r>
                            <a:rPr lang="en-US" sz="2000" b="0"/>
                            <a:t>(taxes considered)</a:t>
                          </a:r>
                          <a:endParaRPr lang="en-US" sz="2400" b="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t>C+I+G</a:t>
                          </a:r>
                        </a:p>
                        <a:p>
                          <a:pPr algn="ctr"/>
                          <a:endParaRPr lang="en-US" sz="2800" b="0"/>
                        </a:p>
                      </a:txBody>
                      <a:tcPr anchor="ctr"/>
                    </a:tc>
                    <a:tc>
                      <a:txBody>
                        <a:bodyPr/>
                        <a:lstStyle/>
                        <a:p>
                          <a:endParaRPr lang="en-US"/>
                        </a:p>
                      </a:txBody>
                      <a:tcPr>
                        <a:blipFill>
                          <a:blip r:embed="rId2"/>
                          <a:stretch>
                            <a:fillRect l="-126699" t="-340415" r="-94822" b="-63731"/>
                          </a:stretch>
                        </a:blipFill>
                      </a:tcPr>
                    </a:tc>
                    <a:tc>
                      <a:txBody>
                        <a:bodyPr/>
                        <a:lstStyle/>
                        <a:p>
                          <a:endParaRPr lang="en-US"/>
                        </a:p>
                      </a:txBody>
                      <a:tcPr anchor="ctr">
                        <a:blipFill>
                          <a:blip r:embed="rId2"/>
                          <a:stretch>
                            <a:fillRect l="-239897" t="-340415" r="-342" b="-63731"/>
                          </a:stretch>
                        </a:blipFill>
                      </a:tcPr>
                    </a:tc>
                    <a:extLst>
                      <a:ext uri="{0D108BD9-81ED-4DB2-BD59-A6C34878D82A}">
                        <a16:rowId xmlns:a16="http://schemas.microsoft.com/office/drawing/2014/main" val="809790387"/>
                      </a:ext>
                    </a:extLst>
                  </a:tr>
                  <a:tr h="735387">
                    <a:tc>
                      <a:txBody>
                        <a:bodyPr/>
                        <a:lstStyle/>
                        <a:p>
                          <a:pPr algn="ctr"/>
                          <a:endParaRPr lang="en-US" sz="2400" b="0"/>
                        </a:p>
                      </a:txBody>
                      <a:tcPr anchor="ctr"/>
                    </a:tc>
                    <a:tc>
                      <a:txBody>
                        <a:bodyPr/>
                        <a:lstStyle/>
                        <a:p>
                          <a:pPr algn="ctr"/>
                          <a:endParaRPr lang="en-US" sz="2800" b="0"/>
                        </a:p>
                      </a:txBody>
                      <a:tcPr anchor="ctr"/>
                    </a:tc>
                    <a:tc>
                      <a:txBody>
                        <a:bodyPr/>
                        <a:lstStyle/>
                        <a:p>
                          <a:pPr algn="l"/>
                          <a:endParaRPr lang="en-US" sz="2000" b="0"/>
                        </a:p>
                      </a:txBody>
                      <a:tcPr/>
                    </a:tc>
                    <a:tc>
                      <a:txBody>
                        <a:bodyPr/>
                        <a:lstStyle/>
                        <a:p>
                          <a:pPr algn="ctr"/>
                          <a:endParaRPr lang="en-US" sz="2800" b="0"/>
                        </a:p>
                      </a:txBody>
                      <a:tcPr anchor="ctr"/>
                    </a:tc>
                    <a:extLst>
                      <a:ext uri="{0D108BD9-81ED-4DB2-BD59-A6C34878D82A}">
                        <a16:rowId xmlns:a16="http://schemas.microsoft.com/office/drawing/2014/main" val="1344669104"/>
                      </a:ext>
                    </a:extLst>
                  </a:tr>
                </a:tbl>
              </a:graphicData>
            </a:graphic>
          </p:graphicFrame>
        </mc:Fallback>
      </mc:AlternateContent>
      <p:sp>
        <p:nvSpPr>
          <p:cNvPr id="2" name="Rectangle 1">
            <a:extLst>
              <a:ext uri="{FF2B5EF4-FFF2-40B4-BE49-F238E27FC236}">
                <a16:creationId xmlns:a16="http://schemas.microsoft.com/office/drawing/2014/main" id="{13D68BBB-E41B-60A7-2152-A60D81D5B179}"/>
              </a:ext>
            </a:extLst>
          </p:cNvPr>
          <p:cNvSpPr/>
          <p:nvPr/>
        </p:nvSpPr>
        <p:spPr>
          <a:xfrm>
            <a:off x="0" y="4194477"/>
            <a:ext cx="12084699" cy="1186820"/>
          </a:xfrm>
          <a:prstGeom prst="rect">
            <a:avLst/>
          </a:prstGeom>
          <a:noFill/>
          <a:ln w="57150" cap="flat" cmpd="sng" algn="ctr">
            <a:solidFill>
              <a:srgbClr val="FF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1936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F6B69C-873A-EA44-BA4A-5E9FDD09FCB2}"/>
              </a:ext>
            </a:extLst>
          </p:cNvPr>
          <p:cNvSpPr>
            <a:spLocks noGrp="1"/>
          </p:cNvSpPr>
          <p:nvPr>
            <p:ph idx="1"/>
          </p:nvPr>
        </p:nvSpPr>
        <p:spPr>
          <a:xfrm>
            <a:off x="754224" y="2864498"/>
            <a:ext cx="10515600" cy="4124228"/>
          </a:xfrm>
        </p:spPr>
        <p:txBody>
          <a:bodyPr/>
          <a:lstStyle/>
          <a:p>
            <a:pPr marL="514350" indent="-514350">
              <a:buFont typeface="+mj-lt"/>
              <a:buAutoNum type="arabicPeriod"/>
            </a:pPr>
            <a:r>
              <a:rPr lang="en-ZA"/>
              <a:t>What is the equation of the AD function?</a:t>
            </a:r>
          </a:p>
          <a:p>
            <a:pPr marL="514350" indent="-514350">
              <a:buFont typeface="+mj-lt"/>
              <a:buAutoNum type="arabicPeriod"/>
            </a:pPr>
            <a:r>
              <a:rPr lang="en-ZA"/>
              <a:t>Calculate the value of the multiplier.</a:t>
            </a:r>
          </a:p>
          <a:p>
            <a:pPr marL="514350" indent="-514350">
              <a:buFont typeface="+mj-lt"/>
              <a:buAutoNum type="arabicPeriod"/>
            </a:pPr>
            <a:r>
              <a:rPr lang="en-ZA"/>
              <a:t>What will happen if G decreases by 50; what will be the change in Y?</a:t>
            </a:r>
          </a:p>
          <a:p>
            <a:pPr marL="514350" indent="-514350">
              <a:buFont typeface="+mj-lt"/>
              <a:buAutoNum type="arabicPeriod"/>
            </a:pPr>
            <a:r>
              <a:rPr lang="en-ZA"/>
              <a:t>Where is the new equilibrium level of income?</a:t>
            </a:r>
          </a:p>
          <a:p>
            <a:pPr marL="514350" indent="-514350">
              <a:buFont typeface="+mj-lt"/>
              <a:buAutoNum type="arabicPeriod"/>
            </a:pPr>
            <a:r>
              <a:rPr lang="en-ZA"/>
              <a:t>Use a graph to illustrate your answers. </a:t>
            </a:r>
          </a:p>
          <a:p>
            <a:endParaRPr lang="en-US" b="1"/>
          </a:p>
          <a:p>
            <a:endParaRPr lang="en-US"/>
          </a:p>
        </p:txBody>
      </p:sp>
      <p:sp>
        <p:nvSpPr>
          <p:cNvPr id="6" name="Title 1">
            <a:extLst>
              <a:ext uri="{FF2B5EF4-FFF2-40B4-BE49-F238E27FC236}">
                <a16:creationId xmlns:a16="http://schemas.microsoft.com/office/drawing/2014/main" id="{9B24779D-2351-4603-8023-5916776F7277}"/>
              </a:ext>
            </a:extLst>
          </p:cNvPr>
          <p:cNvSpPr txBox="1">
            <a:spLocks/>
          </p:cNvSpPr>
          <p:nvPr/>
        </p:nvSpPr>
        <p:spPr>
          <a:xfrm>
            <a:off x="606459" y="-1001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Calibri Light" panose="020F0302020204030204"/>
                <a:ea typeface="+mj-ea"/>
                <a:cs typeface="+mj-cs"/>
              </a:rPr>
              <a:t>Exercise 4  (Step 4)</a:t>
            </a:r>
          </a:p>
        </p:txBody>
      </p:sp>
      <p:sp>
        <p:nvSpPr>
          <p:cNvPr id="7" name="TextBox 6">
            <a:extLst>
              <a:ext uri="{FF2B5EF4-FFF2-40B4-BE49-F238E27FC236}">
                <a16:creationId xmlns:a16="http://schemas.microsoft.com/office/drawing/2014/main" id="{1C3BAC4A-ABDF-4811-A047-4B50D5175714}"/>
              </a:ext>
            </a:extLst>
          </p:cNvPr>
          <p:cNvSpPr txBox="1"/>
          <p:nvPr/>
        </p:nvSpPr>
        <p:spPr>
          <a:xfrm>
            <a:off x="214604" y="957694"/>
            <a:ext cx="11585541" cy="1678408"/>
          </a:xfrm>
          <a:prstGeom prst="rect">
            <a:avLst/>
          </a:prstGeom>
          <a:noFill/>
          <a:ln>
            <a:solidFill>
              <a:srgbClr val="00B050"/>
            </a:solidFill>
          </a:ln>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Information: </a:t>
            </a:r>
            <a:r>
              <a:rPr kumimoji="0" lang="en-ZA" sz="3200" b="1" i="0" u="none" strike="noStrike" kern="1200" cap="none" spc="0" normalizeH="0" baseline="0" noProof="0">
                <a:ln>
                  <a:noFill/>
                </a:ln>
                <a:solidFill>
                  <a:prstClr val="black"/>
                </a:solidFill>
                <a:effectLst/>
                <a:uLnTx/>
                <a:uFillTx/>
                <a:latin typeface="Calibri" panose="020F0502020204030204"/>
                <a:ea typeface="+mn-ea"/>
                <a:cs typeface="+mn-cs"/>
              </a:rPr>
              <a:t> </a:t>
            </a:r>
          </a:p>
          <a:p>
            <a:pPr marL="1790700" marR="0" lvl="0" indent="-1071563" algn="l" defTabSz="914400" rtl="0" eaLnBrk="1" fontAlgn="auto" latinLnBrk="0" hangingPunct="1">
              <a:lnSpc>
                <a:spcPct val="90000"/>
              </a:lnSpc>
              <a:spcBef>
                <a:spcPts val="1000"/>
              </a:spcBef>
              <a:spcAft>
                <a:spcPts val="0"/>
              </a:spcAft>
              <a:buClrTx/>
              <a:buSzTx/>
              <a:buFontTx/>
              <a:buNone/>
              <a:tabLst/>
              <a:defRPr/>
            </a:pPr>
            <a:r>
              <a:rPr kumimoji="0" lang="en-ZA" sz="3200" b="1" i="0" u="none" strike="noStrike" kern="1200" cap="none" spc="0" normalizeH="0" baseline="0" noProof="0">
                <a:ln>
                  <a:noFill/>
                </a:ln>
                <a:solidFill>
                  <a:prstClr val="black"/>
                </a:solidFill>
                <a:effectLst/>
                <a:uLnTx/>
                <a:uFillTx/>
                <a:latin typeface="Calibri" panose="020F0502020204030204"/>
                <a:ea typeface="+mn-ea"/>
                <a:cs typeface="+mn-cs"/>
              </a:rPr>
              <a:t>When Y = 0, C = 400; when Y = 1000, C = 1000; I = 250; </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3200" b="1" i="0" u="none" strike="noStrike" kern="1200" cap="none" spc="0" normalizeH="0" baseline="0" noProof="0">
                <a:ln>
                  <a:noFill/>
                </a:ln>
                <a:solidFill>
                  <a:prstClr val="black"/>
                </a:solidFill>
                <a:effectLst/>
                <a:uLnTx/>
                <a:uFillTx/>
                <a:latin typeface="Calibri" panose="020F0502020204030204"/>
                <a:ea typeface="+mn-ea"/>
                <a:cs typeface="+mn-cs"/>
              </a:rPr>
              <a:t>		G = 100; </a:t>
            </a:r>
            <a:r>
              <a:rPr kumimoji="0" lang="en-ZA" sz="3200" b="1" i="0" u="none" strike="noStrike" kern="1200" cap="none" spc="0" normalizeH="0" baseline="0" noProof="0">
                <a:ln>
                  <a:noFill/>
                </a:ln>
                <a:solidFill>
                  <a:srgbClr val="0070C0"/>
                </a:solidFill>
                <a:effectLst/>
                <a:uLnTx/>
                <a:uFillTx/>
                <a:latin typeface="Calibri" panose="020F0502020204030204"/>
                <a:ea typeface="+mn-ea"/>
                <a:cs typeface="+mn-cs"/>
              </a:rPr>
              <a:t>t = 0,15</a:t>
            </a:r>
            <a:endParaRPr kumimoji="0" lang="en-US" sz="3200" b="1" i="0" u="none" strike="noStrike" kern="1200" cap="none" spc="0" normalizeH="0" baseline="0" noProof="0">
              <a:ln>
                <a:noFill/>
              </a:ln>
              <a:solidFill>
                <a:srgbClr val="0070C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63021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04634-9440-C02B-7BED-4B9F40178522}"/>
              </a:ext>
            </a:extLst>
          </p:cNvPr>
          <p:cNvSpPr>
            <a:spLocks noGrp="1"/>
          </p:cNvSpPr>
          <p:nvPr>
            <p:ph type="title"/>
          </p:nvPr>
        </p:nvSpPr>
        <p:spPr/>
        <p:txBody>
          <a:bodyPr/>
          <a:lstStyle/>
          <a:p>
            <a:pPr algn="ctr"/>
            <a:r>
              <a:rPr lang="en-US" dirty="0"/>
              <a:t>Effect of </a:t>
            </a:r>
            <a:r>
              <a:rPr lang="en-US" b="1" dirty="0">
                <a:solidFill>
                  <a:srgbClr val="0070C0"/>
                </a:solidFill>
              </a:rPr>
              <a:t>tax</a:t>
            </a:r>
            <a:r>
              <a:rPr lang="en-US" dirty="0"/>
              <a:t> on the multiplier:</a:t>
            </a:r>
            <a:endParaRPr lang="en-ZA" dirty="0"/>
          </a:p>
        </p:txBody>
      </p:sp>
      <p:sp>
        <p:nvSpPr>
          <p:cNvPr id="3" name="Text Placeholder 2">
            <a:extLst>
              <a:ext uri="{FF2B5EF4-FFF2-40B4-BE49-F238E27FC236}">
                <a16:creationId xmlns:a16="http://schemas.microsoft.com/office/drawing/2014/main" id="{60DA0ABE-739D-1A4A-446B-1B178EB75521}"/>
              </a:ext>
            </a:extLst>
          </p:cNvPr>
          <p:cNvSpPr>
            <a:spLocks noGrp="1"/>
          </p:cNvSpPr>
          <p:nvPr>
            <p:ph type="body" idx="1"/>
          </p:nvPr>
        </p:nvSpPr>
        <p:spPr/>
        <p:txBody>
          <a:bodyPr/>
          <a:lstStyle/>
          <a:p>
            <a:pPr marL="0" indent="0">
              <a:buNone/>
            </a:pPr>
            <a:r>
              <a:rPr lang="en-US" dirty="0"/>
              <a:t>Information: </a:t>
            </a:r>
            <a:br>
              <a:rPr lang="en-US" dirty="0"/>
            </a:br>
            <a:r>
              <a:rPr lang="en-US" sz="2800" b="1" dirty="0"/>
              <a:t>When Y= 0, C = 400 and when Y = 1000, C = 1000, I = 500, G = 600 and the tax rate is </a:t>
            </a:r>
            <a:r>
              <a:rPr lang="en-US" sz="2800" b="1" dirty="0">
                <a:solidFill>
                  <a:srgbClr val="0070C0"/>
                </a:solidFill>
              </a:rPr>
              <a:t>25</a:t>
            </a:r>
            <a:r>
              <a:rPr lang="en-US" sz="2800" b="1" dirty="0"/>
              <a:t>%</a:t>
            </a:r>
          </a:p>
          <a:p>
            <a:pPr marL="565150" indent="-514350">
              <a:buFont typeface="+mj-lt"/>
              <a:buAutoNum type="arabicPeriod"/>
            </a:pPr>
            <a:r>
              <a:rPr lang="en-US" b="1" dirty="0"/>
              <a:t>Determine</a:t>
            </a:r>
            <a:r>
              <a:rPr lang="en-US" dirty="0"/>
              <a:t> and graphically </a:t>
            </a:r>
            <a:r>
              <a:rPr lang="en-US" b="1" dirty="0"/>
              <a:t>illustrate</a:t>
            </a:r>
            <a:r>
              <a:rPr lang="en-US" dirty="0"/>
              <a:t> the </a:t>
            </a:r>
            <a:r>
              <a:rPr lang="en-US" u="sng" dirty="0"/>
              <a:t>AD function </a:t>
            </a:r>
            <a:r>
              <a:rPr lang="en-US" dirty="0"/>
              <a:t>in the goods market </a:t>
            </a:r>
          </a:p>
          <a:p>
            <a:pPr marL="565150" indent="-514350">
              <a:buFont typeface="+mj-lt"/>
              <a:buAutoNum type="arabicPeriod"/>
            </a:pPr>
            <a:r>
              <a:rPr lang="en-US" dirty="0"/>
              <a:t>Calculate the </a:t>
            </a:r>
            <a:r>
              <a:rPr lang="en-US" u="sng" dirty="0"/>
              <a:t>multiplier</a:t>
            </a:r>
            <a:r>
              <a:rPr lang="en-US" dirty="0"/>
              <a:t> </a:t>
            </a:r>
            <a:r>
              <a:rPr lang="en-US" i="1" dirty="0"/>
              <a:t>without</a:t>
            </a:r>
            <a:r>
              <a:rPr lang="en-US" dirty="0"/>
              <a:t> Government expenditure</a:t>
            </a:r>
          </a:p>
          <a:p>
            <a:pPr marL="565150" indent="-514350">
              <a:buFont typeface="+mj-lt"/>
              <a:buAutoNum type="arabicPeriod"/>
            </a:pPr>
            <a:r>
              <a:rPr lang="en-US" dirty="0"/>
              <a:t>Calculate the </a:t>
            </a:r>
            <a:r>
              <a:rPr lang="en-US" u="sng" dirty="0"/>
              <a:t>multiplier</a:t>
            </a:r>
            <a:r>
              <a:rPr lang="en-US" dirty="0"/>
              <a:t> in a </a:t>
            </a:r>
            <a:r>
              <a:rPr lang="en-US" i="1" dirty="0"/>
              <a:t>3 sector model </a:t>
            </a:r>
          </a:p>
          <a:p>
            <a:pPr marL="565150" indent="-514350">
              <a:buFont typeface="+mj-lt"/>
              <a:buAutoNum type="arabicPeriod"/>
            </a:pPr>
            <a:r>
              <a:rPr lang="en-US" dirty="0"/>
              <a:t>Describe the effect tax had on the function of the multiplier.</a:t>
            </a:r>
            <a:endParaRPr lang="en-US" sz="2800" dirty="0"/>
          </a:p>
          <a:p>
            <a:endParaRPr lang="en-US" dirty="0"/>
          </a:p>
          <a:p>
            <a:endParaRPr lang="en-ZA" dirty="0"/>
          </a:p>
        </p:txBody>
      </p:sp>
      <p:sp>
        <p:nvSpPr>
          <p:cNvPr id="4" name="TextBox 3">
            <a:extLst>
              <a:ext uri="{FF2B5EF4-FFF2-40B4-BE49-F238E27FC236}">
                <a16:creationId xmlns:a16="http://schemas.microsoft.com/office/drawing/2014/main" id="{3B560668-F5BD-33C1-068D-D01D28AFADC7}"/>
              </a:ext>
            </a:extLst>
          </p:cNvPr>
          <p:cNvSpPr txBox="1"/>
          <p:nvPr/>
        </p:nvSpPr>
        <p:spPr>
          <a:xfrm rot="19809780">
            <a:off x="-580536" y="501248"/>
            <a:ext cx="3627939" cy="461665"/>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Try this Question </a:t>
            </a:r>
            <a:endParaRPr kumimoji="0" lang="en-ZA"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6351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638CB53-69D6-3CFE-E77A-F48B61AAEBF1}"/>
              </a:ext>
            </a:extLst>
          </p:cNvPr>
          <p:cNvSpPr>
            <a:spLocks noGrp="1"/>
          </p:cNvSpPr>
          <p:nvPr>
            <p:ph type="title"/>
          </p:nvPr>
        </p:nvSpPr>
        <p:spPr>
          <a:xfrm>
            <a:off x="643278" y="649224"/>
            <a:ext cx="5584334" cy="1481328"/>
          </a:xfrm>
        </p:spPr>
        <p:txBody>
          <a:bodyPr vert="horz" lIns="91440" tIns="45720" rIns="91440" bIns="45720" rtlCol="0" anchor="b">
            <a:normAutofit fontScale="90000"/>
          </a:bodyPr>
          <a:lstStyle/>
          <a:p>
            <a:r>
              <a:rPr lang="en-US" sz="5400" b="1" kern="1200" dirty="0">
                <a:solidFill>
                  <a:schemeClr val="tx1"/>
                </a:solidFill>
                <a:latin typeface="+mj-lt"/>
                <a:ea typeface="+mj-ea"/>
                <a:cs typeface="+mj-cs"/>
              </a:rPr>
              <a:t>Assume </a:t>
            </a:r>
            <a:r>
              <a:rPr lang="en-US" sz="5400" b="1" i="1" kern="1200" dirty="0">
                <a:solidFill>
                  <a:schemeClr val="tx1"/>
                </a:solidFill>
                <a:latin typeface="+mj-lt"/>
                <a:ea typeface="+mj-ea"/>
                <a:cs typeface="+mj-cs"/>
              </a:rPr>
              <a:t>t</a:t>
            </a:r>
            <a:r>
              <a:rPr lang="en-US" sz="5400" b="1" kern="1200" dirty="0">
                <a:solidFill>
                  <a:schemeClr val="tx1"/>
                </a:solidFill>
                <a:latin typeface="+mj-lt"/>
                <a:ea typeface="+mj-ea"/>
                <a:cs typeface="+mj-cs"/>
              </a:rPr>
              <a:t> decreases from </a:t>
            </a:r>
            <a:r>
              <a:rPr lang="en-US" sz="5400" b="1" i="1" kern="1200" dirty="0">
                <a:solidFill>
                  <a:schemeClr val="tx1"/>
                </a:solidFill>
                <a:latin typeface="+mj-lt"/>
                <a:ea typeface="+mj-ea"/>
                <a:cs typeface="+mj-cs"/>
              </a:rPr>
              <a:t>t to t′</a:t>
            </a:r>
            <a:endParaRPr lang="en-US" sz="5400" i="1" kern="1200" dirty="0">
              <a:solidFill>
                <a:schemeClr val="tx1"/>
              </a:solidFill>
              <a:latin typeface="+mj-lt"/>
              <a:ea typeface="+mj-ea"/>
              <a:cs typeface="+mj-cs"/>
            </a:endParaRPr>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1">
            <a:extLst>
              <a:ext uri="{FF2B5EF4-FFF2-40B4-BE49-F238E27FC236}">
                <a16:creationId xmlns:a16="http://schemas.microsoft.com/office/drawing/2014/main" id="{0FCD81A7-3D17-724C-BD7C-7233F478F50A}"/>
              </a:ext>
            </a:extLst>
          </p:cNvPr>
          <p:cNvSpPr>
            <a:spLocks noGrp="1" noChangeArrowheads="1"/>
          </p:cNvSpPr>
          <p:nvPr>
            <p:ph sz="half" idx="1"/>
          </p:nvPr>
        </p:nvSpPr>
        <p:spPr bwMode="auto">
          <a:xfrm>
            <a:off x="858806" y="2798064"/>
            <a:ext cx="10856115" cy="4059936"/>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ctr" eaLnBrk="1" hangingPunct="1">
              <a:spcAft>
                <a:spcPts val="600"/>
              </a:spcAft>
              <a:buNone/>
            </a:pPr>
            <a:r>
              <a:rPr lang="en-US" altLang="en-US" sz="4000" dirty="0">
                <a:latin typeface="+mn-lt"/>
                <a:sym typeface="Wingdings 3" panose="05040102010807070707" pitchFamily="18" charset="2"/>
              </a:rPr>
              <a:t></a:t>
            </a:r>
            <a:r>
              <a:rPr lang="en-US" altLang="en-US" sz="4000" dirty="0">
                <a:latin typeface="+mn-lt"/>
              </a:rPr>
              <a:t>∆𝑡 to 𝑡′ increases the size of the multiplier</a:t>
            </a:r>
          </a:p>
          <a:p>
            <a:pPr marL="0" indent="0" algn="ctr" eaLnBrk="1" hangingPunct="1">
              <a:spcAft>
                <a:spcPts val="600"/>
              </a:spcAft>
              <a:buNone/>
            </a:pPr>
            <a:r>
              <a:rPr lang="en-US" altLang="en-US" dirty="0">
                <a:latin typeface="+mn-lt"/>
              </a:rPr>
              <a:t>(more household income is available to spend on goods and services)</a:t>
            </a:r>
          </a:p>
          <a:p>
            <a:pPr marL="0" indent="0" algn="ctr" eaLnBrk="1" hangingPunct="1">
              <a:spcAft>
                <a:spcPts val="600"/>
              </a:spcAft>
              <a:buNone/>
            </a:pPr>
            <a:r>
              <a:rPr lang="en-US" altLang="en-US" sz="4000" dirty="0">
                <a:latin typeface="+mn-lt"/>
              </a:rPr>
              <a:t>AD is steeper </a:t>
            </a:r>
          </a:p>
          <a:p>
            <a:pPr marL="0" indent="0" algn="ctr" eaLnBrk="1" hangingPunct="1">
              <a:spcAft>
                <a:spcPts val="600"/>
              </a:spcAft>
              <a:buNone/>
            </a:pPr>
            <a:r>
              <a:rPr lang="en-US" altLang="en-US" sz="3200" dirty="0">
                <a:latin typeface="+mn-lt"/>
              </a:rPr>
              <a:t>indirect effects of any changes in the intercept (𝑐</a:t>
            </a:r>
            <a:r>
              <a:rPr lang="en-US" altLang="en-US" sz="3200" baseline="-25000" dirty="0">
                <a:latin typeface="+mn-lt"/>
              </a:rPr>
              <a:t>0</a:t>
            </a:r>
            <a:r>
              <a:rPr lang="en-US" altLang="en-US" sz="3200" dirty="0">
                <a:latin typeface="+mn-lt"/>
              </a:rPr>
              <a:t>, 𝑎</a:t>
            </a:r>
            <a:r>
              <a:rPr lang="en-US" altLang="en-US" sz="3200" baseline="-25000" dirty="0">
                <a:latin typeface="+mn-lt"/>
              </a:rPr>
              <a:t>0</a:t>
            </a:r>
            <a:r>
              <a:rPr lang="en-US" altLang="en-US" sz="3200" dirty="0">
                <a:latin typeface="+mn-lt"/>
              </a:rPr>
              <a:t>, 𝐺, 𝑋, 𝑟) </a:t>
            </a:r>
          </a:p>
          <a:p>
            <a:pPr marL="0" indent="0" algn="ctr" eaLnBrk="1" hangingPunct="1">
              <a:spcAft>
                <a:spcPts val="600"/>
              </a:spcAft>
              <a:buNone/>
            </a:pPr>
            <a:r>
              <a:rPr lang="en-US" altLang="en-US" sz="3200" dirty="0">
                <a:latin typeface="+mn-lt"/>
              </a:rPr>
              <a:t>on Y and N are now larger</a:t>
            </a:r>
          </a:p>
          <a:p>
            <a:pPr marL="0" indent="0" algn="ctr" eaLnBrk="1" hangingPunct="1">
              <a:spcAft>
                <a:spcPts val="600"/>
              </a:spcAft>
              <a:buNone/>
            </a:pPr>
            <a:r>
              <a:rPr lang="en-US" altLang="en-US" sz="3200" dirty="0">
                <a:latin typeface="+mn-lt"/>
              </a:rPr>
              <a:t>new goods market equilibrium is at a higher level of output</a:t>
            </a:r>
            <a:endParaRPr kumimoji="0" lang="en-US" altLang="en-US" sz="3200" b="0" i="0" u="none" strike="noStrike" cap="none" normalizeH="0" baseline="0" dirty="0">
              <a:ln>
                <a:noFill/>
              </a:ln>
              <a:effectLst/>
              <a:latin typeface="+mn-lt"/>
            </a:endParaRPr>
          </a:p>
        </p:txBody>
      </p:sp>
    </p:spTree>
    <p:extLst>
      <p:ext uri="{BB962C8B-B14F-4D97-AF65-F5344CB8AC3E}">
        <p14:creationId xmlns:p14="http://schemas.microsoft.com/office/powerpoint/2010/main" val="237688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73866573-237B-FB4F-A484-D4BEAC9BB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DB879-7236-BFDD-414B-906B03A4AB62}"/>
              </a:ext>
            </a:extLst>
          </p:cNvPr>
          <p:cNvSpPr>
            <a:spLocks noGrp="1"/>
          </p:cNvSpPr>
          <p:nvPr>
            <p:ph type="title" idx="4294967295"/>
          </p:nvPr>
        </p:nvSpPr>
        <p:spPr>
          <a:xfrm>
            <a:off x="0" y="-596900"/>
            <a:ext cx="11690350" cy="1481138"/>
          </a:xfrm>
        </p:spPr>
        <p:txBody>
          <a:bodyPr vert="horz" lIns="91440" tIns="45720" rIns="91440" bIns="45720" rtlCol="0" anchor="b">
            <a:normAutofit fontScale="90000"/>
          </a:bodyPr>
          <a:lstStyle/>
          <a:p>
            <a:r>
              <a:rPr lang="en-US" sz="5400" b="1" kern="1200" dirty="0">
                <a:solidFill>
                  <a:schemeClr val="tx1"/>
                </a:solidFill>
                <a:latin typeface="+mj-lt"/>
                <a:ea typeface="+mj-ea"/>
                <a:cs typeface="+mj-cs"/>
              </a:rPr>
              <a:t>Assume </a:t>
            </a:r>
            <a:r>
              <a:rPr lang="en-US" sz="5400" b="1" i="1" kern="1200" dirty="0">
                <a:solidFill>
                  <a:schemeClr val="tx1"/>
                </a:solidFill>
                <a:latin typeface="+mj-lt"/>
                <a:ea typeface="+mj-ea"/>
                <a:cs typeface="+mj-cs"/>
              </a:rPr>
              <a:t>t</a:t>
            </a:r>
            <a:r>
              <a:rPr lang="en-US" sz="5400" b="1" kern="1200" dirty="0">
                <a:solidFill>
                  <a:schemeClr val="tx1"/>
                </a:solidFill>
                <a:latin typeface="+mj-lt"/>
                <a:ea typeface="+mj-ea"/>
                <a:cs typeface="+mj-cs"/>
              </a:rPr>
              <a:t> decreases from </a:t>
            </a:r>
            <a:r>
              <a:rPr lang="en-US" sz="5400" b="1" i="1" kern="1200" dirty="0">
                <a:solidFill>
                  <a:schemeClr val="tx1"/>
                </a:solidFill>
                <a:latin typeface="+mj-lt"/>
                <a:ea typeface="+mj-ea"/>
                <a:cs typeface="+mj-cs"/>
              </a:rPr>
              <a:t>t to t′ </a:t>
            </a:r>
            <a:r>
              <a:rPr lang="en-US" sz="5400" b="1" kern="1200" dirty="0">
                <a:solidFill>
                  <a:schemeClr val="tx1"/>
                </a:solidFill>
                <a:latin typeface="+mj-lt"/>
                <a:ea typeface="+mj-ea"/>
                <a:cs typeface="+mj-cs"/>
              </a:rPr>
              <a:t>graphically</a:t>
            </a:r>
            <a:endParaRPr lang="en-US" sz="5400" kern="1200" dirty="0">
              <a:solidFill>
                <a:schemeClr val="tx1"/>
              </a:solidFill>
              <a:latin typeface="+mj-lt"/>
              <a:ea typeface="+mj-ea"/>
              <a:cs typeface="+mj-cs"/>
            </a:endParaRPr>
          </a:p>
        </p:txBody>
      </p:sp>
      <p:sp>
        <p:nvSpPr>
          <p:cNvPr id="4" name="Rectangle: Rounded Corners 3">
            <a:extLst>
              <a:ext uri="{FF2B5EF4-FFF2-40B4-BE49-F238E27FC236}">
                <a16:creationId xmlns:a16="http://schemas.microsoft.com/office/drawing/2014/main" id="{510FA240-EB39-15D1-9A6D-6A02CBB5B773}"/>
              </a:ext>
            </a:extLst>
          </p:cNvPr>
          <p:cNvSpPr/>
          <p:nvPr/>
        </p:nvSpPr>
        <p:spPr>
          <a:xfrm>
            <a:off x="10310192" y="463826"/>
            <a:ext cx="1020418" cy="104692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0220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DA59B-3367-4EF3-DDD7-4E7D200047CF}"/>
              </a:ext>
            </a:extLst>
          </p:cNvPr>
          <p:cNvSpPr>
            <a:spLocks noGrp="1"/>
          </p:cNvSpPr>
          <p:nvPr>
            <p:ph type="title"/>
          </p:nvPr>
        </p:nvSpPr>
        <p:spPr/>
        <p:txBody>
          <a:bodyPr/>
          <a:lstStyle/>
          <a:p>
            <a:pPr algn="ctr"/>
            <a:r>
              <a:rPr lang="en-US" dirty="0"/>
              <a:t>Opening up the economy:</a:t>
            </a:r>
            <a:endParaRPr lang="en-ZA" dirty="0"/>
          </a:p>
        </p:txBody>
      </p:sp>
      <p:sp>
        <p:nvSpPr>
          <p:cNvPr id="3" name="Content Placeholder 2">
            <a:extLst>
              <a:ext uri="{FF2B5EF4-FFF2-40B4-BE49-F238E27FC236}">
                <a16:creationId xmlns:a16="http://schemas.microsoft.com/office/drawing/2014/main" id="{12E4A5EA-2484-2169-6734-9B6D300F39CE}"/>
              </a:ext>
            </a:extLst>
          </p:cNvPr>
          <p:cNvSpPr>
            <a:spLocks noGrp="1"/>
          </p:cNvSpPr>
          <p:nvPr>
            <p:ph idx="1"/>
          </p:nvPr>
        </p:nvSpPr>
        <p:spPr>
          <a:xfrm>
            <a:off x="838199" y="1825625"/>
            <a:ext cx="10731759" cy="4351338"/>
          </a:xfrm>
        </p:spPr>
        <p:txBody>
          <a:bodyPr>
            <a:normAutofit/>
          </a:bodyPr>
          <a:lstStyle/>
          <a:p>
            <a:r>
              <a:rPr lang="en-US" sz="3600" dirty="0"/>
              <a:t>When we move from a closed to an open economy Exports (products manufactured in the country) and Imports (products manufactured in other countries) come into play.</a:t>
            </a:r>
          </a:p>
          <a:p>
            <a:r>
              <a:rPr lang="en-US" sz="3600" dirty="0"/>
              <a:t>As income increases so does imports – we therefore have a </a:t>
            </a:r>
          </a:p>
          <a:p>
            <a:pPr marL="0" indent="0" algn="ctr">
              <a:buNone/>
            </a:pPr>
            <a:r>
              <a:rPr lang="en-US" sz="4000" b="1" dirty="0">
                <a:solidFill>
                  <a:srgbClr val="0070C0"/>
                </a:solidFill>
              </a:rPr>
              <a:t>marginal propensity to import (</a:t>
            </a:r>
            <a:r>
              <a:rPr lang="en-US" sz="4000" b="1" i="1" dirty="0">
                <a:solidFill>
                  <a:srgbClr val="0070C0"/>
                </a:solidFill>
              </a:rPr>
              <a:t>m</a:t>
            </a:r>
            <a:r>
              <a:rPr lang="en-US" sz="4000" b="1" dirty="0">
                <a:solidFill>
                  <a:srgbClr val="0070C0"/>
                </a:solidFill>
              </a:rPr>
              <a:t>)</a:t>
            </a:r>
          </a:p>
        </p:txBody>
      </p:sp>
    </p:spTree>
    <p:extLst>
      <p:ext uri="{BB962C8B-B14F-4D97-AF65-F5344CB8AC3E}">
        <p14:creationId xmlns:p14="http://schemas.microsoft.com/office/powerpoint/2010/main" val="17026086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E995C-07F0-E887-A5F6-7C7481C01D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E5C684-B482-61D3-FB4B-318D560B76F4}"/>
              </a:ext>
            </a:extLst>
          </p:cNvPr>
          <p:cNvSpPr>
            <a:spLocks noGrp="1"/>
          </p:cNvSpPr>
          <p:nvPr>
            <p:ph type="title"/>
          </p:nvPr>
        </p:nvSpPr>
        <p:spPr/>
        <p:txBody>
          <a:bodyPr>
            <a:normAutofit/>
          </a:bodyPr>
          <a:lstStyle/>
          <a:p>
            <a:r>
              <a:rPr lang="en-US" dirty="0"/>
              <a:t>Adding Net Exports (</a:t>
            </a:r>
            <a:r>
              <a:rPr lang="en-US" b="1" dirty="0">
                <a:solidFill>
                  <a:srgbClr val="0070C0"/>
                </a:solidFill>
              </a:rPr>
              <a:t>NX </a:t>
            </a:r>
            <a:r>
              <a:rPr lang="en-US" b="1" dirty="0"/>
              <a:t>=</a:t>
            </a:r>
            <a:r>
              <a:rPr lang="en-US" b="1" dirty="0">
                <a:solidFill>
                  <a:srgbClr val="0070C0"/>
                </a:solidFill>
              </a:rPr>
              <a:t> X </a:t>
            </a:r>
            <a:r>
              <a:rPr lang="en-US" b="1" dirty="0"/>
              <a:t>–</a:t>
            </a:r>
            <a:r>
              <a:rPr lang="en-US" b="1" dirty="0">
                <a:solidFill>
                  <a:srgbClr val="0070C0"/>
                </a:solidFill>
              </a:rPr>
              <a:t> M</a:t>
            </a:r>
            <a:r>
              <a:rPr lang="en-US" dirty="0"/>
              <a:t>) – working with an open economy model ….</a:t>
            </a:r>
            <a:endParaRPr lang="en-ZA" dirty="0"/>
          </a:p>
        </p:txBody>
      </p:sp>
    </p:spTree>
    <p:extLst>
      <p:ext uri="{BB962C8B-B14F-4D97-AF65-F5344CB8AC3E}">
        <p14:creationId xmlns:p14="http://schemas.microsoft.com/office/powerpoint/2010/main" val="395346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14B9CC-F1B5-3632-695B-3F8FA58482E6}"/>
              </a:ext>
            </a:extLst>
          </p:cNvPr>
          <p:cNvSpPr>
            <a:spLocks noGrp="1"/>
          </p:cNvSpPr>
          <p:nvPr>
            <p:ph idx="1"/>
          </p:nvPr>
        </p:nvSpPr>
        <p:spPr>
          <a:xfrm>
            <a:off x="838200" y="831712"/>
            <a:ext cx="10515600" cy="4351338"/>
          </a:xfrm>
        </p:spPr>
        <p:txBody>
          <a:bodyPr>
            <a:noAutofit/>
          </a:bodyPr>
          <a:lstStyle/>
          <a:p>
            <a:pPr marL="0" indent="0">
              <a:buNone/>
            </a:pPr>
            <a:endParaRPr lang="en-US" sz="4000" b="1" dirty="0"/>
          </a:p>
          <a:p>
            <a:pPr marL="0" indent="0">
              <a:buNone/>
            </a:pPr>
            <a:endParaRPr lang="en-US" sz="4000" b="1" dirty="0"/>
          </a:p>
          <a:p>
            <a:pPr marL="0" indent="0">
              <a:buNone/>
            </a:pPr>
            <a:r>
              <a:rPr lang="en-US" sz="4000" b="1" dirty="0"/>
              <a:t>Net Exports (NX) = </a:t>
            </a:r>
            <a:r>
              <a:rPr lang="en-US" sz="4000" b="1" dirty="0" err="1"/>
              <a:t>E</a:t>
            </a:r>
            <a:r>
              <a:rPr lang="en-US" sz="6600" b="1" dirty="0" err="1">
                <a:solidFill>
                  <a:srgbClr val="C00000"/>
                </a:solidFill>
              </a:rPr>
              <a:t>X</a:t>
            </a:r>
            <a:r>
              <a:rPr lang="en-US" sz="4000" b="1" dirty="0" err="1"/>
              <a:t>ports</a:t>
            </a:r>
            <a:r>
              <a:rPr lang="en-US" sz="4000" b="1" dirty="0"/>
              <a:t> - </a:t>
            </a:r>
            <a:r>
              <a:rPr lang="en-US" sz="4000" b="1" dirty="0" err="1"/>
              <a:t>I</a:t>
            </a:r>
            <a:r>
              <a:rPr lang="en-US" sz="6600" b="1" dirty="0" err="1">
                <a:solidFill>
                  <a:srgbClr val="C00000"/>
                </a:solidFill>
              </a:rPr>
              <a:t>M</a:t>
            </a:r>
            <a:r>
              <a:rPr lang="en-US" sz="4000" b="1" dirty="0" err="1"/>
              <a:t>ports</a:t>
            </a:r>
            <a:endParaRPr lang="en-US" sz="4000" b="1" dirty="0"/>
          </a:p>
          <a:p>
            <a:pPr marL="0" indent="0">
              <a:buNone/>
            </a:pPr>
            <a:endParaRPr lang="en-US" sz="4000" b="1" dirty="0"/>
          </a:p>
          <a:p>
            <a:pPr marL="0" indent="0">
              <a:buNone/>
            </a:pPr>
            <a:r>
              <a:rPr lang="en-US" sz="4000" b="1" dirty="0"/>
              <a:t>Adding net exports to our model means that we are working with an </a:t>
            </a:r>
            <a:r>
              <a:rPr lang="en-US" sz="4800" b="1" dirty="0">
                <a:solidFill>
                  <a:schemeClr val="accent4">
                    <a:lumMod val="75000"/>
                  </a:schemeClr>
                </a:solidFill>
              </a:rPr>
              <a:t>open</a:t>
            </a:r>
            <a:r>
              <a:rPr lang="en-US" sz="4000" b="1" dirty="0">
                <a:solidFill>
                  <a:schemeClr val="accent4">
                    <a:lumMod val="75000"/>
                  </a:schemeClr>
                </a:solidFill>
              </a:rPr>
              <a:t> economy </a:t>
            </a:r>
            <a:r>
              <a:rPr lang="en-US" sz="4000" b="1" dirty="0"/>
              <a:t>(C, I, G, NX).</a:t>
            </a:r>
            <a:endParaRPr lang="en-ZA" sz="4000" b="1" dirty="0"/>
          </a:p>
        </p:txBody>
      </p:sp>
    </p:spTree>
    <p:extLst>
      <p:ext uri="{BB962C8B-B14F-4D97-AF65-F5344CB8AC3E}">
        <p14:creationId xmlns:p14="http://schemas.microsoft.com/office/powerpoint/2010/main" val="3276616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7"/>
          <p:cNvSpPr txBox="1">
            <a:spLocks noGrp="1"/>
          </p:cNvSpPr>
          <p:nvPr>
            <p:ph type="title"/>
          </p:nvPr>
        </p:nvSpPr>
        <p:spPr>
          <a:xfrm>
            <a:off x="866422" y="365125"/>
            <a:ext cx="10515600" cy="93564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800"/>
              <a:buFont typeface="Calibri"/>
              <a:buNone/>
            </a:pPr>
            <a:r>
              <a:rPr lang="en-US" sz="4800" b="0" i="0" u="none" strike="noStrike" cap="none" dirty="0">
                <a:solidFill>
                  <a:schemeClr val="dk1"/>
                </a:solidFill>
                <a:latin typeface="Calibri"/>
                <a:ea typeface="Calibri"/>
                <a:cs typeface="Calibri"/>
                <a:sym typeface="Calibri"/>
              </a:rPr>
              <a:t>Net exports and aggregate demand</a:t>
            </a:r>
            <a:endParaRPr sz="4800" b="0" i="0" u="none" strike="noStrike" cap="none" dirty="0">
              <a:solidFill>
                <a:schemeClr val="dk1"/>
              </a:solidFill>
              <a:latin typeface="Calibri"/>
              <a:ea typeface="Calibri"/>
              <a:cs typeface="Calibri"/>
              <a:sym typeface="Calibri"/>
            </a:endParaRPr>
          </a:p>
        </p:txBody>
      </p:sp>
      <p:sp>
        <p:nvSpPr>
          <p:cNvPr id="248" name="Google Shape;248;p37"/>
          <p:cNvSpPr txBox="1"/>
          <p:nvPr/>
        </p:nvSpPr>
        <p:spPr>
          <a:xfrm>
            <a:off x="613954" y="2953445"/>
            <a:ext cx="10698480" cy="353943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Exports are taken as exogenous.</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32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Imports depend on domestic income.</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32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1" i="0" u="none" strike="noStrike" kern="0" cap="none" spc="0" normalizeH="0" baseline="0" noProof="0" dirty="0">
                <a:ln>
                  <a:noFill/>
                </a:ln>
                <a:solidFill>
                  <a:srgbClr val="000000"/>
                </a:solidFill>
                <a:effectLst/>
                <a:uLnTx/>
                <a:uFillTx/>
                <a:latin typeface="Calibri"/>
                <a:ea typeface="Calibri"/>
                <a:cs typeface="Calibri"/>
                <a:sym typeface="Calibri"/>
              </a:rPr>
              <a:t>Marginal propensity to import (</a:t>
            </a:r>
            <a:r>
              <a:rPr kumimoji="0" lang="en-US" sz="3200" b="1" i="1" u="none" strike="noStrike" kern="0" cap="none" spc="0" normalizeH="0" baseline="0" noProof="0" dirty="0">
                <a:ln>
                  <a:noFill/>
                </a:ln>
                <a:solidFill>
                  <a:srgbClr val="0070C0"/>
                </a:solidFill>
                <a:effectLst/>
                <a:uLnTx/>
                <a:uFillTx/>
                <a:latin typeface="Calibri"/>
                <a:ea typeface="Calibri"/>
                <a:cs typeface="Calibri"/>
                <a:sym typeface="Calibri"/>
              </a:rPr>
              <a:t>m</a:t>
            </a:r>
            <a:r>
              <a:rPr kumimoji="0" lang="en-US" sz="32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 The fraction of each additional unit of income that is spent on imports</a:t>
            </a:r>
            <a:endParaRPr kumimoji="0" sz="32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3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49" name="Google Shape;249;p37"/>
          <p:cNvSpPr txBox="1"/>
          <p:nvPr/>
        </p:nvSpPr>
        <p:spPr>
          <a:xfrm>
            <a:off x="692331" y="1667958"/>
            <a:ext cx="10620103" cy="1077218"/>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t>AD = C + I + G + NX</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1" i="0" u="none" strike="noStrike" kern="0" cap="none" spc="0" normalizeH="0" baseline="0" noProof="0" dirty="0">
                <a:ln>
                  <a:noFill/>
                </a:ln>
                <a:solidFill>
                  <a:srgbClr val="000000"/>
                </a:solidFill>
                <a:effectLst/>
                <a:uLnTx/>
                <a:uFillTx/>
                <a:latin typeface="Calibri"/>
                <a:ea typeface="Calibri"/>
                <a:cs typeface="Calibri"/>
                <a:sym typeface="Calibri"/>
              </a:rPr>
              <a:t>NX = exports - imports</a:t>
            </a:r>
            <a:endParaRPr kumimoji="0" sz="3200" b="1"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8">
                                            <p:txEl>
                                              <p:pRg st="0" end="0"/>
                                            </p:txEl>
                                          </p:spTgt>
                                        </p:tgtEl>
                                        <p:attrNameLst>
                                          <p:attrName>style.visibility</p:attrName>
                                        </p:attrNameLst>
                                      </p:cBhvr>
                                      <p:to>
                                        <p:strVal val="visible"/>
                                      </p:to>
                                    </p:set>
                                    <p:animEffect transition="in" filter="fade">
                                      <p:cBhvr>
                                        <p:cTn id="7" dur="500"/>
                                        <p:tgtEl>
                                          <p:spTgt spid="2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8">
                                            <p:txEl>
                                              <p:pRg st="2" end="2"/>
                                            </p:txEl>
                                          </p:spTgt>
                                        </p:tgtEl>
                                        <p:attrNameLst>
                                          <p:attrName>style.visibility</p:attrName>
                                        </p:attrNameLst>
                                      </p:cBhvr>
                                      <p:to>
                                        <p:strVal val="visible"/>
                                      </p:to>
                                    </p:set>
                                    <p:animEffect transition="in" filter="fade">
                                      <p:cBhvr>
                                        <p:cTn id="12" dur="500"/>
                                        <p:tgtEl>
                                          <p:spTgt spid="24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8">
                                            <p:txEl>
                                              <p:pRg st="4" end="4"/>
                                            </p:txEl>
                                          </p:spTgt>
                                        </p:tgtEl>
                                        <p:attrNameLst>
                                          <p:attrName>style.visibility</p:attrName>
                                        </p:attrNameLst>
                                      </p:cBhvr>
                                      <p:to>
                                        <p:strVal val="visible"/>
                                      </p:to>
                                    </p:set>
                                    <p:animEffect transition="in" filter="fade">
                                      <p:cBhvr>
                                        <p:cTn id="17" dur="500"/>
                                        <p:tgtEl>
                                          <p:spTgt spid="2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4" name="Picture 3" descr="A math equations and formulas&#10;&#10;Description automatically generated with medium confidence">
            <a:extLst>
              <a:ext uri="{FF2B5EF4-FFF2-40B4-BE49-F238E27FC236}">
                <a16:creationId xmlns:a16="http://schemas.microsoft.com/office/drawing/2014/main" id="{74F85F43-A76E-C3CC-D0E2-55E776DE7A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8183" y="1019501"/>
            <a:ext cx="9778808" cy="1831843"/>
          </a:xfrm>
          <a:prstGeom prst="rect">
            <a:avLst/>
          </a:prstGeom>
        </p:spPr>
      </p:pic>
      <p:sp>
        <p:nvSpPr>
          <p:cNvPr id="240" name="Google Shape;240;p36"/>
          <p:cNvSpPr txBox="1">
            <a:spLocks noGrp="1"/>
          </p:cNvSpPr>
          <p:nvPr>
            <p:ph type="title"/>
          </p:nvPr>
        </p:nvSpPr>
        <p:spPr>
          <a:xfrm>
            <a:off x="0" y="136525"/>
            <a:ext cx="12192000" cy="93564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800"/>
              <a:buFont typeface="Calibri"/>
              <a:buNone/>
            </a:pPr>
            <a:r>
              <a:rPr lang="en-US" sz="4800" b="0" i="0" u="none" strike="noStrike" cap="none" dirty="0">
                <a:solidFill>
                  <a:schemeClr val="dk1"/>
                </a:solidFill>
                <a:latin typeface="Calibri"/>
                <a:ea typeface="Calibri"/>
                <a:cs typeface="Calibri"/>
                <a:sym typeface="Calibri"/>
              </a:rPr>
              <a:t>Adding government to aggregate demand: </a:t>
            </a:r>
            <a:br>
              <a:rPr lang="en-US" sz="4800" b="0" i="0" u="none" strike="noStrike" cap="none" dirty="0">
                <a:solidFill>
                  <a:schemeClr val="dk1"/>
                </a:solidFill>
                <a:latin typeface="Calibri"/>
                <a:ea typeface="Calibri"/>
                <a:cs typeface="Calibri"/>
                <a:sym typeface="Calibri"/>
              </a:rPr>
            </a:br>
            <a:r>
              <a:rPr lang="en-US" sz="4800" b="0" i="1" u="none" strike="noStrike" cap="none" dirty="0">
                <a:solidFill>
                  <a:schemeClr val="dk1"/>
                </a:solidFill>
                <a:latin typeface="Calibri"/>
                <a:ea typeface="Calibri"/>
                <a:cs typeface="Calibri"/>
                <a:sym typeface="Calibri"/>
              </a:rPr>
              <a:t>the components</a:t>
            </a:r>
            <a:endParaRPr sz="4800" b="0" i="1" u="none" strike="noStrike" cap="none" dirty="0">
              <a:solidFill>
                <a:schemeClr val="dk1"/>
              </a:solidFill>
              <a:latin typeface="Calibri"/>
              <a:ea typeface="Calibri"/>
              <a:cs typeface="Calibri"/>
              <a:sym typeface="Calibri"/>
            </a:endParaRPr>
          </a:p>
        </p:txBody>
      </p:sp>
      <p:sp>
        <p:nvSpPr>
          <p:cNvPr id="241" name="Google Shape;241;p36"/>
          <p:cNvSpPr txBox="1"/>
          <p:nvPr/>
        </p:nvSpPr>
        <p:spPr>
          <a:xfrm>
            <a:off x="1053737" y="2241307"/>
            <a:ext cx="10084526" cy="4168495"/>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Consumption (C)</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 Planned Investment (I)</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 Government expenditure (G)</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 Net exports (NX):</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  net exports = X – M</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ZA" sz="3200" b="0" i="0" u="none" strike="noStrike" kern="0" cap="none" spc="0" normalizeH="0" baseline="0" noProof="0" dirty="0">
                <a:ln>
                  <a:noFill/>
                </a:ln>
                <a:solidFill>
                  <a:srgbClr val="000000"/>
                </a:solidFill>
                <a:effectLst/>
                <a:uLnTx/>
                <a:uFillTx/>
                <a:latin typeface="Calibri"/>
                <a:ea typeface="+mn-ea"/>
                <a:cs typeface="Calibri"/>
                <a:sym typeface="Arial"/>
              </a:rPr>
              <a:t>                        = X – </a:t>
            </a:r>
            <a:r>
              <a:rPr kumimoji="0" lang="en-ZA" sz="3200" b="1" i="0" u="none" strike="noStrike" kern="0" cap="none" spc="0" normalizeH="0" baseline="0" noProof="0" dirty="0" err="1">
                <a:ln>
                  <a:noFill/>
                </a:ln>
                <a:solidFill>
                  <a:srgbClr val="0070C0"/>
                </a:solidFill>
                <a:effectLst/>
                <a:uLnTx/>
                <a:uFillTx/>
                <a:latin typeface="Calibri"/>
                <a:ea typeface="+mn-ea"/>
                <a:cs typeface="Calibri"/>
                <a:sym typeface="Arial"/>
              </a:rPr>
              <a:t>m</a:t>
            </a:r>
            <a:r>
              <a:rPr kumimoji="0" lang="en-ZA" sz="3200" b="0" i="0" u="none" strike="noStrike" kern="0" cap="none" spc="0" normalizeH="0" baseline="0" noProof="0" dirty="0" err="1">
                <a:ln>
                  <a:noFill/>
                </a:ln>
                <a:solidFill>
                  <a:srgbClr val="000000"/>
                </a:solidFill>
                <a:effectLst/>
                <a:uLnTx/>
                <a:uFillTx/>
                <a:latin typeface="Calibri"/>
                <a:ea typeface="+mn-ea"/>
                <a:cs typeface="Calibri"/>
                <a:sym typeface="Arial"/>
              </a:rPr>
              <a:t>Y</a:t>
            </a:r>
            <a:endParaRPr kumimoji="0" lang="en-ZA" sz="3200" b="0" i="0" u="none" strike="noStrike" kern="0" cap="none" spc="0" normalizeH="0" baseline="0" noProof="0" dirty="0">
              <a:ln>
                <a:noFill/>
              </a:ln>
              <a:solidFill>
                <a:srgbClr val="000000"/>
              </a:solidFill>
              <a:effectLst/>
              <a:uLnTx/>
              <a:uFillTx/>
              <a:latin typeface="Calibri"/>
              <a:ea typeface="+mn-ea"/>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ZA" sz="2800" b="0" i="0" u="none" strike="noStrike" kern="0" cap="none" spc="0" normalizeH="0" baseline="0" noProof="0" dirty="0">
                <a:ln>
                  <a:noFill/>
                </a:ln>
                <a:solidFill>
                  <a:srgbClr val="000000"/>
                </a:solidFill>
                <a:effectLst/>
                <a:uLnTx/>
                <a:uFillTx/>
                <a:latin typeface="Calibri"/>
                <a:ea typeface="+mn-ea"/>
                <a:cs typeface="Calibri"/>
                <a:sym typeface="Arial"/>
              </a:rPr>
              <a:t>X = Exports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ZA" sz="2800" b="0" i="0" u="none" strike="noStrike" kern="0" cap="none" spc="0" normalizeH="0" baseline="0" noProof="0" dirty="0">
                <a:ln>
                  <a:noFill/>
                </a:ln>
                <a:solidFill>
                  <a:srgbClr val="000000"/>
                </a:solidFill>
                <a:effectLst/>
                <a:uLnTx/>
                <a:uFillTx/>
                <a:latin typeface="Calibri"/>
                <a:ea typeface="+mn-ea"/>
                <a:cs typeface="Calibri"/>
                <a:sym typeface="Arial"/>
              </a:rPr>
              <a:t>M = Imports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ZA" sz="2800" b="1" i="0" u="none" strike="noStrike" kern="0" cap="none" spc="0" normalizeH="0" baseline="0" noProof="0" dirty="0">
                <a:ln>
                  <a:noFill/>
                </a:ln>
                <a:solidFill>
                  <a:srgbClr val="0070C0"/>
                </a:solidFill>
                <a:effectLst/>
                <a:uLnTx/>
                <a:uFillTx/>
                <a:latin typeface="Calibri"/>
                <a:ea typeface="+mn-ea"/>
                <a:cs typeface="Calibri"/>
                <a:sym typeface="Arial"/>
              </a:rPr>
              <a:t>m =</a:t>
            </a:r>
            <a:r>
              <a:rPr kumimoji="0" lang="en-ZA" sz="2800" b="0" i="0" u="none" strike="noStrike" kern="0" cap="none" spc="0" normalizeH="0" baseline="0" noProof="0" dirty="0">
                <a:ln>
                  <a:noFill/>
                </a:ln>
                <a:solidFill>
                  <a:srgbClr val="0070C0"/>
                </a:solidFill>
                <a:effectLst/>
                <a:uLnTx/>
                <a:uFillTx/>
                <a:latin typeface="Calibri"/>
                <a:ea typeface="+mn-ea"/>
                <a:cs typeface="Calibri"/>
                <a:sym typeface="Arial"/>
              </a:rPr>
              <a:t> </a:t>
            </a:r>
            <a:r>
              <a:rPr kumimoji="0" lang="en-ZA" sz="2800" b="1" i="0" u="none" strike="noStrike" kern="0" cap="none" spc="0" normalizeH="0" baseline="0" noProof="0" dirty="0">
                <a:ln>
                  <a:noFill/>
                </a:ln>
                <a:solidFill>
                  <a:srgbClr val="0070C0"/>
                </a:solidFill>
                <a:effectLst/>
                <a:uLnTx/>
                <a:uFillTx/>
                <a:latin typeface="Calibri"/>
                <a:ea typeface="+mn-ea"/>
                <a:cs typeface="Calibri"/>
                <a:sym typeface="Arial"/>
              </a:rPr>
              <a:t>marginal propensity to import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ZA" sz="2800" b="0" i="0" u="none" strike="noStrike" kern="0" cap="none" spc="0" normalizeH="0" baseline="0" noProof="0" dirty="0">
                <a:ln>
                  <a:noFill/>
                </a:ln>
                <a:solidFill>
                  <a:srgbClr val="000000"/>
                </a:solidFill>
                <a:effectLst/>
                <a:uLnTx/>
                <a:uFillTx/>
                <a:latin typeface="Calibri"/>
                <a:ea typeface="+mn-ea"/>
                <a:cs typeface="Calibri"/>
                <a:sym typeface="Arial"/>
              </a:rPr>
              <a:t>Y = Income</a:t>
            </a:r>
          </a:p>
        </p:txBody>
      </p:sp>
      <p:sp>
        <p:nvSpPr>
          <p:cNvPr id="2" name="Slide Number Placeholder 1">
            <a:extLst>
              <a:ext uri="{FF2B5EF4-FFF2-40B4-BE49-F238E27FC236}">
                <a16:creationId xmlns:a16="http://schemas.microsoft.com/office/drawing/2014/main" id="{219FDD66-3B29-4695-91B4-325118EA31AD}"/>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af-ZA"/>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FDE6EA43-0C70-46B1-927F-F8EB0B895575}" type="slidenum">
              <a:rPr kumimoji="0" lang="af-ZA" sz="1200" b="0" i="0" u="none" strike="noStrike" kern="1200" cap="none" spc="0" normalizeH="0" baseline="0" noProof="0" smtClean="0">
                <a:ln>
                  <a:noFill/>
                </a:ln>
                <a:solidFill>
                  <a:srgbClr val="000000">
                    <a:tint val="75000"/>
                  </a:srgbClr>
                </a:solidFill>
                <a:effectLst/>
                <a:uLnTx/>
                <a:uFillTx/>
                <a:latin typeface="Arial"/>
                <a:ea typeface="+mn-ea"/>
                <a:cs typeface="+mn-cs"/>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37</a:t>
            </a:fld>
            <a:endParaRPr kumimoji="0" lang="af-ZA" sz="1200" b="0" i="0" u="none" strike="noStrike" kern="1200" cap="none" spc="0" normalizeH="0" baseline="0" noProof="0">
              <a:ln>
                <a:noFill/>
              </a:ln>
              <a:solidFill>
                <a:srgbClr val="000000">
                  <a:tint val="75000"/>
                </a:srgbClr>
              </a:solidFill>
              <a:effectLst/>
              <a:uLnTx/>
              <a:uFillTx/>
              <a:latin typeface="Arial"/>
              <a:ea typeface="+mn-ea"/>
              <a:cs typeface="+mn-cs"/>
              <a:sym typeface="Arial"/>
            </a:endParaRPr>
          </a:p>
        </p:txBody>
      </p:sp>
    </p:spTree>
    <p:extLst>
      <p:ext uri="{BB962C8B-B14F-4D97-AF65-F5344CB8AC3E}">
        <p14:creationId xmlns:p14="http://schemas.microsoft.com/office/powerpoint/2010/main" val="87813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1">
                                            <p:txEl>
                                              <p:pRg st="0" end="0"/>
                                            </p:txEl>
                                          </p:spTgt>
                                        </p:tgtEl>
                                        <p:attrNameLst>
                                          <p:attrName>style.visibility</p:attrName>
                                        </p:attrNameLst>
                                      </p:cBhvr>
                                      <p:to>
                                        <p:strVal val="visible"/>
                                      </p:to>
                                    </p:set>
                                    <p:animEffect transition="in" filter="fade">
                                      <p:cBhvr>
                                        <p:cTn id="7" dur="500"/>
                                        <p:tgtEl>
                                          <p:spTgt spid="2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1">
                                            <p:txEl>
                                              <p:pRg st="1" end="1"/>
                                            </p:txEl>
                                          </p:spTgt>
                                        </p:tgtEl>
                                        <p:attrNameLst>
                                          <p:attrName>style.visibility</p:attrName>
                                        </p:attrNameLst>
                                      </p:cBhvr>
                                      <p:to>
                                        <p:strVal val="visible"/>
                                      </p:to>
                                    </p:set>
                                    <p:animEffect transition="in" filter="fade">
                                      <p:cBhvr>
                                        <p:cTn id="12" dur="500"/>
                                        <p:tgtEl>
                                          <p:spTgt spid="2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1">
                                            <p:txEl>
                                              <p:pRg st="2" end="2"/>
                                            </p:txEl>
                                          </p:spTgt>
                                        </p:tgtEl>
                                        <p:attrNameLst>
                                          <p:attrName>style.visibility</p:attrName>
                                        </p:attrNameLst>
                                      </p:cBhvr>
                                      <p:to>
                                        <p:strVal val="visible"/>
                                      </p:to>
                                    </p:set>
                                    <p:animEffect transition="in" filter="fade">
                                      <p:cBhvr>
                                        <p:cTn id="17" dur="500"/>
                                        <p:tgtEl>
                                          <p:spTgt spid="2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1">
                                            <p:txEl>
                                              <p:pRg st="3" end="3"/>
                                            </p:txEl>
                                          </p:spTgt>
                                        </p:tgtEl>
                                        <p:attrNameLst>
                                          <p:attrName>style.visibility</p:attrName>
                                        </p:attrNameLst>
                                      </p:cBhvr>
                                      <p:to>
                                        <p:strVal val="visible"/>
                                      </p:to>
                                    </p:set>
                                    <p:animEffect transition="in" filter="fade">
                                      <p:cBhvr>
                                        <p:cTn id="22" dur="500"/>
                                        <p:tgtEl>
                                          <p:spTgt spid="2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1">
                                            <p:txEl>
                                              <p:pRg st="4" end="4"/>
                                            </p:txEl>
                                          </p:spTgt>
                                        </p:tgtEl>
                                        <p:attrNameLst>
                                          <p:attrName>style.visibility</p:attrName>
                                        </p:attrNameLst>
                                      </p:cBhvr>
                                      <p:to>
                                        <p:strVal val="visible"/>
                                      </p:to>
                                    </p:set>
                                    <p:animEffect transition="in" filter="fade">
                                      <p:cBhvr>
                                        <p:cTn id="27" dur="500"/>
                                        <p:tgtEl>
                                          <p:spTgt spid="24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1">
                                            <p:txEl>
                                              <p:pRg st="5" end="5"/>
                                            </p:txEl>
                                          </p:spTgt>
                                        </p:tgtEl>
                                        <p:attrNameLst>
                                          <p:attrName>style.visibility</p:attrName>
                                        </p:attrNameLst>
                                      </p:cBhvr>
                                      <p:to>
                                        <p:strVal val="visible"/>
                                      </p:to>
                                    </p:set>
                                    <p:animEffect transition="in" filter="fade">
                                      <p:cBhvr>
                                        <p:cTn id="32" dur="500"/>
                                        <p:tgtEl>
                                          <p:spTgt spid="24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41">
                                            <p:txEl>
                                              <p:pRg st="6" end="6"/>
                                            </p:txEl>
                                          </p:spTgt>
                                        </p:tgtEl>
                                        <p:attrNameLst>
                                          <p:attrName>style.visibility</p:attrName>
                                        </p:attrNameLst>
                                      </p:cBhvr>
                                      <p:to>
                                        <p:strVal val="visible"/>
                                      </p:to>
                                    </p:set>
                                    <p:animEffect transition="in" filter="fade">
                                      <p:cBhvr>
                                        <p:cTn id="42" dur="500"/>
                                        <p:tgtEl>
                                          <p:spTgt spid="241">
                                            <p:txEl>
                                              <p:pRg st="6" end="6"/>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1">
                                            <p:txEl>
                                              <p:pRg st="7" end="7"/>
                                            </p:txEl>
                                          </p:spTgt>
                                        </p:tgtEl>
                                        <p:attrNameLst>
                                          <p:attrName>style.visibility</p:attrName>
                                        </p:attrNameLst>
                                      </p:cBhvr>
                                      <p:to>
                                        <p:strVal val="visible"/>
                                      </p:to>
                                    </p:set>
                                    <p:animEffect transition="in" filter="fade">
                                      <p:cBhvr>
                                        <p:cTn id="45" dur="500"/>
                                        <p:tgtEl>
                                          <p:spTgt spid="241">
                                            <p:txEl>
                                              <p:pRg st="7" end="7"/>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1">
                                            <p:txEl>
                                              <p:pRg st="8" end="8"/>
                                            </p:txEl>
                                          </p:spTgt>
                                        </p:tgtEl>
                                        <p:attrNameLst>
                                          <p:attrName>style.visibility</p:attrName>
                                        </p:attrNameLst>
                                      </p:cBhvr>
                                      <p:to>
                                        <p:strVal val="visible"/>
                                      </p:to>
                                    </p:set>
                                    <p:animEffect transition="in" filter="fade">
                                      <p:cBhvr>
                                        <p:cTn id="48" dur="500"/>
                                        <p:tgtEl>
                                          <p:spTgt spid="241">
                                            <p:txEl>
                                              <p:pRg st="8" end="8"/>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1">
                                            <p:txEl>
                                              <p:pRg st="9" end="9"/>
                                            </p:txEl>
                                          </p:spTgt>
                                        </p:tgtEl>
                                        <p:attrNameLst>
                                          <p:attrName>style.visibility</p:attrName>
                                        </p:attrNameLst>
                                      </p:cBhvr>
                                      <p:to>
                                        <p:strVal val="visible"/>
                                      </p:to>
                                    </p:set>
                                    <p:animEffect transition="in" filter="fade">
                                      <p:cBhvr>
                                        <p:cTn id="51" dur="500"/>
                                        <p:tgtEl>
                                          <p:spTgt spid="24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B5A51-583E-CB8D-4283-66AED7165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ADA01-1F0D-DD58-644B-F6E6005C59BD}"/>
              </a:ext>
            </a:extLst>
          </p:cNvPr>
          <p:cNvSpPr>
            <a:spLocks noGrp="1"/>
          </p:cNvSpPr>
          <p:nvPr>
            <p:ph type="ctrTitle"/>
          </p:nvPr>
        </p:nvSpPr>
        <p:spPr/>
        <p:txBody>
          <a:bodyPr>
            <a:normAutofit/>
          </a:bodyPr>
          <a:lstStyle/>
          <a:p>
            <a:r>
              <a:rPr lang="en-US" sz="8000" b="1" dirty="0">
                <a:solidFill>
                  <a:schemeClr val="accent6"/>
                </a:solidFill>
              </a:rPr>
              <a:t>Unit 3</a:t>
            </a:r>
          </a:p>
        </p:txBody>
      </p:sp>
      <p:sp>
        <p:nvSpPr>
          <p:cNvPr id="3" name="Subtitle 2">
            <a:extLst>
              <a:ext uri="{FF2B5EF4-FFF2-40B4-BE49-F238E27FC236}">
                <a16:creationId xmlns:a16="http://schemas.microsoft.com/office/drawing/2014/main" id="{A5C40B96-601E-8DB6-8C8D-37F430FAEE1C}"/>
              </a:ext>
            </a:extLst>
          </p:cNvPr>
          <p:cNvSpPr>
            <a:spLocks noGrp="1"/>
          </p:cNvSpPr>
          <p:nvPr>
            <p:ph type="subTitle" idx="1"/>
          </p:nvPr>
        </p:nvSpPr>
        <p:spPr/>
        <p:txBody>
          <a:bodyPr>
            <a:normAutofit/>
          </a:bodyPr>
          <a:lstStyle/>
          <a:p>
            <a:r>
              <a:rPr lang="en-US" sz="2800" dirty="0"/>
              <a:t>Comprehensive Calculation Exercise </a:t>
            </a:r>
          </a:p>
        </p:txBody>
      </p:sp>
      <p:sp>
        <p:nvSpPr>
          <p:cNvPr id="4" name="Title 2">
            <a:extLst>
              <a:ext uri="{FF2B5EF4-FFF2-40B4-BE49-F238E27FC236}">
                <a16:creationId xmlns:a16="http://schemas.microsoft.com/office/drawing/2014/main" id="{448A8EEB-342E-20AB-E317-A953C6079850}"/>
              </a:ext>
            </a:extLst>
          </p:cNvPr>
          <p:cNvSpPr txBox="1">
            <a:spLocks/>
          </p:cNvSpPr>
          <p:nvPr/>
        </p:nvSpPr>
        <p:spPr>
          <a:xfrm>
            <a:off x="628650" y="-723105"/>
            <a:ext cx="10515600"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ysClr val="windowText" lastClr="000000"/>
                </a:solidFill>
                <a:effectLst/>
                <a:uLnTx/>
                <a:uFillTx/>
                <a:latin typeface="Aptos Display" panose="02110004020202020204"/>
                <a:ea typeface="+mj-ea"/>
                <a:cs typeface="+mj-cs"/>
              </a:rPr>
              <a:t>Now first do exercise 5 (step 5) of the comprehensive exercise …. </a:t>
            </a:r>
            <a:endParaRPr kumimoji="0" lang="en-ZA" sz="6000" b="0" i="0" u="none" strike="noStrike" kern="1200" cap="none" spc="0" normalizeH="0" baseline="0" noProof="0" dirty="0">
              <a:ln>
                <a:noFill/>
              </a:ln>
              <a:solidFill>
                <a:sysClr val="windowText" lastClr="000000"/>
              </a:solidFill>
              <a:effectLst/>
              <a:uLnTx/>
              <a:uFillTx/>
              <a:latin typeface="Aptos Display" panose="02110004020202020204"/>
              <a:ea typeface="+mj-ea"/>
              <a:cs typeface="+mj-cs"/>
            </a:endParaRPr>
          </a:p>
        </p:txBody>
      </p:sp>
    </p:spTree>
    <p:extLst>
      <p:ext uri="{BB962C8B-B14F-4D97-AF65-F5344CB8AC3E}">
        <p14:creationId xmlns:p14="http://schemas.microsoft.com/office/powerpoint/2010/main" val="566862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F833E-22E9-D346-95DE-6C43566BDADE}"/>
              </a:ext>
            </a:extLst>
          </p:cNvPr>
          <p:cNvSpPr>
            <a:spLocks noGrp="1"/>
          </p:cNvSpPr>
          <p:nvPr>
            <p:ph type="title"/>
          </p:nvPr>
        </p:nvSpPr>
        <p:spPr/>
        <p:txBody>
          <a:bodyPr>
            <a:normAutofit/>
          </a:bodyPr>
          <a:lstStyle/>
          <a:p>
            <a:r>
              <a:rPr lang="en-ZA" b="1">
                <a:solidFill>
                  <a:schemeClr val="dk1"/>
                </a:solidFill>
                <a:ea typeface="Calibri"/>
                <a:cs typeface="Calibri"/>
                <a:sym typeface="Calibri"/>
              </a:rPr>
              <a:t>We now </a:t>
            </a:r>
            <a:r>
              <a:rPr lang="en-ZA" b="1">
                <a:solidFill>
                  <a:srgbClr val="0070C0"/>
                </a:solidFill>
                <a:latin typeface="+mn-lt"/>
                <a:cs typeface="Calibri"/>
                <a:sym typeface="Calibri"/>
              </a:rPr>
              <a:t>net</a:t>
            </a:r>
            <a:r>
              <a:rPr lang="en-ZA" b="1">
                <a:solidFill>
                  <a:schemeClr val="dk1"/>
                </a:solidFill>
                <a:ea typeface="Calibri"/>
                <a:cs typeface="Calibri"/>
                <a:sym typeface="Calibri"/>
              </a:rPr>
              <a:t> </a:t>
            </a:r>
            <a:r>
              <a:rPr lang="en-ZA" b="1">
                <a:solidFill>
                  <a:srgbClr val="0070C0"/>
                </a:solidFill>
                <a:latin typeface="+mn-lt"/>
                <a:cs typeface="Calibri"/>
                <a:sym typeface="Calibri"/>
              </a:rPr>
              <a:t>exports (X-M),</a:t>
            </a:r>
            <a:r>
              <a:rPr lang="en-ZA" b="1">
                <a:solidFill>
                  <a:schemeClr val="dk1"/>
                </a:solidFill>
                <a:ea typeface="Calibri"/>
                <a:cs typeface="Calibri"/>
                <a:sym typeface="Calibri"/>
              </a:rPr>
              <a:t> and the economy becomes an open economy </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C8D130-191B-7044-93D0-000CEBFDB374}"/>
                  </a:ext>
                </a:extLst>
              </p:cNvPr>
              <p:cNvSpPr>
                <a:spLocks noGrp="1"/>
              </p:cNvSpPr>
              <p:nvPr>
                <p:ph idx="1"/>
              </p:nvPr>
            </p:nvSpPr>
            <p:spPr>
              <a:xfrm>
                <a:off x="838199" y="1825625"/>
                <a:ext cx="11072149" cy="4351338"/>
              </a:xfrm>
            </p:spPr>
            <p:txBody>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3300" b="1">
                  <a:solidFill>
                    <a:prstClr val="black"/>
                  </a:solidFill>
                  <a:latin typeface="Calibri" panose="020F0502020204030204"/>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ZA" sz="3700" b="1" i="0" u="none" strike="noStrike" kern="1200" cap="none" spc="0" normalizeH="0" baseline="0" noProof="0">
                    <a:ln>
                      <a:noFill/>
                    </a:ln>
                    <a:solidFill>
                      <a:prstClr val="black"/>
                    </a:solidFill>
                    <a:effectLst/>
                    <a:uLnTx/>
                    <a:uFillTx/>
                    <a:latin typeface="Calibri" panose="020F0502020204030204"/>
                    <a:ea typeface="+mn-ea"/>
                    <a:cs typeface="+mn-cs"/>
                  </a:rPr>
                  <a:t>AD  =  Y</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ZA" sz="3700" b="1" i="0" u="none" strike="noStrike" kern="1200" cap="none" spc="0" normalizeH="0" baseline="0" noProof="0">
                    <a:ln>
                      <a:noFill/>
                    </a:ln>
                    <a:solidFill>
                      <a:prstClr val="black"/>
                    </a:solidFill>
                    <a:effectLst/>
                    <a:uLnTx/>
                    <a:uFillTx/>
                    <a:latin typeface="Calibri" panose="020F0502020204030204"/>
                    <a:ea typeface="+mn-ea"/>
                    <a:cs typeface="+mn-cs"/>
                  </a:rPr>
                  <a:t>		</a:t>
                </a:r>
                <a:r>
                  <a:rPr lang="en-ZA" sz="3700" b="1">
                    <a:solidFill>
                      <a:prstClr val="black"/>
                    </a:solidFill>
                    <a:latin typeface="Calibri" panose="020F0502020204030204"/>
                  </a:rPr>
                  <a:t>                      </a:t>
                </a:r>
                <a:r>
                  <a:rPr kumimoji="0" lang="en-ZA" sz="3700" b="1" i="0" u="none" strike="noStrike" kern="1200" cap="none" spc="0" normalizeH="0" baseline="0" noProof="0">
                    <a:ln>
                      <a:noFill/>
                    </a:ln>
                    <a:solidFill>
                      <a:prstClr val="black"/>
                    </a:solidFill>
                    <a:effectLst/>
                    <a:uLnTx/>
                    <a:uFillTx/>
                    <a:latin typeface="Calibri" panose="020F0502020204030204"/>
                    <a:ea typeface="+mn-ea"/>
                    <a:cs typeface="+mn-cs"/>
                  </a:rPr>
                  <a:t>= c</a:t>
                </a:r>
                <a:r>
                  <a:rPr kumimoji="0" lang="en-ZA" sz="3700" b="1" i="0" u="none" strike="noStrike" kern="1200" cap="none" spc="0" normalizeH="0" baseline="-25000" noProof="0">
                    <a:ln>
                      <a:noFill/>
                    </a:ln>
                    <a:solidFill>
                      <a:prstClr val="black"/>
                    </a:solidFill>
                    <a:effectLst/>
                    <a:uLnTx/>
                    <a:uFillTx/>
                    <a:latin typeface="Calibri" panose="020F0502020204030204"/>
                    <a:ea typeface="+mn-ea"/>
                    <a:cs typeface="+mn-cs"/>
                  </a:rPr>
                  <a:t>0</a:t>
                </a:r>
                <a:r>
                  <a:rPr kumimoji="0" lang="en-ZA" sz="3700" b="1" i="0" u="none" strike="noStrike" kern="1200" cap="none" spc="0" normalizeH="0" baseline="0" noProof="0">
                    <a:ln>
                      <a:noFill/>
                    </a:ln>
                    <a:solidFill>
                      <a:prstClr val="black"/>
                    </a:solidFill>
                    <a:effectLst/>
                    <a:uLnTx/>
                    <a:uFillTx/>
                    <a:latin typeface="Calibri" panose="020F0502020204030204"/>
                    <a:ea typeface="+mn-ea"/>
                    <a:cs typeface="+mn-cs"/>
                  </a:rPr>
                  <a:t> + c</a:t>
                </a:r>
                <a:r>
                  <a:rPr kumimoji="0" lang="en-ZA" sz="3700" b="1" i="0" u="none" strike="noStrike" kern="1200" cap="none" spc="0" normalizeH="0" baseline="-25000" noProof="0">
                    <a:ln>
                      <a:noFill/>
                    </a:ln>
                    <a:solidFill>
                      <a:prstClr val="black"/>
                    </a:solidFill>
                    <a:effectLst/>
                    <a:uLnTx/>
                    <a:uFillTx/>
                    <a:latin typeface="Calibri" panose="020F0502020204030204"/>
                    <a:ea typeface="+mn-ea"/>
                    <a:cs typeface="+mn-cs"/>
                  </a:rPr>
                  <a:t>1</a:t>
                </a:r>
                <a:r>
                  <a:rPr kumimoji="0" lang="en-ZA" sz="3700" b="1" i="0" u="none" strike="noStrike" kern="1200" cap="none" spc="0" normalizeH="0" baseline="0" noProof="0">
                    <a:ln>
                      <a:noFill/>
                    </a:ln>
                    <a:solidFill>
                      <a:prstClr val="black"/>
                    </a:solidFill>
                    <a:effectLst/>
                    <a:uLnTx/>
                    <a:uFillTx/>
                    <a:latin typeface="Calibri" panose="020F0502020204030204"/>
                    <a:ea typeface="+mn-ea"/>
                    <a:cs typeface="+mn-cs"/>
                  </a:rPr>
                  <a:t>Y + I + G + NX</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ZA" sz="3700" b="1">
                    <a:solidFill>
                      <a:prstClr val="black"/>
                    </a:solidFill>
                    <a:latin typeface="Calibri" panose="020F0502020204030204"/>
                    <a:sym typeface="Calibri"/>
                  </a:rPr>
                  <a:t>                                               </a:t>
                </a:r>
                <a:r>
                  <a:rPr lang="en-ZA" b="1">
                    <a:solidFill>
                      <a:schemeClr val="dk1"/>
                    </a:solidFill>
                    <a:ea typeface="Calibri"/>
                    <a:cs typeface="Calibri"/>
                    <a:sym typeface="Calibri"/>
                  </a:rPr>
                  <a:t> </a:t>
                </a:r>
                <a:r>
                  <a:rPr lang="en-ZA" sz="3700" b="1">
                    <a:solidFill>
                      <a:schemeClr val="dk1"/>
                    </a:solidFill>
                    <a:ea typeface="Calibri"/>
                    <a:cs typeface="Calibri"/>
                    <a:sym typeface="Calibri"/>
                  </a:rPr>
                  <a:t>= </a:t>
                </a:r>
                <a14:m>
                  <m:oMath xmlns:m="http://schemas.openxmlformats.org/officeDocument/2006/math">
                    <m:f>
                      <m:fPr>
                        <m:ctrlPr>
                          <a:rPr lang="en-ZA" b="1" i="1" smtClean="0">
                            <a:solidFill>
                              <a:schemeClr val="dk1"/>
                            </a:solidFill>
                            <a:latin typeface="Cambria Math" panose="02040503050406030204" pitchFamily="18" charset="0"/>
                            <a:cs typeface="Calibri"/>
                            <a:sym typeface="Calibri"/>
                          </a:rPr>
                        </m:ctrlPr>
                      </m:fPr>
                      <m:num>
                        <m:r>
                          <a:rPr lang="en-ZA" b="1" i="1" smtClean="0">
                            <a:solidFill>
                              <a:schemeClr val="dk1"/>
                            </a:solidFill>
                            <a:latin typeface="Cambria Math" panose="02040503050406030204" pitchFamily="18" charset="0"/>
                            <a:cs typeface="Calibri"/>
                            <a:sym typeface="Calibri"/>
                          </a:rPr>
                          <m:t>𝟏</m:t>
                        </m:r>
                      </m:num>
                      <m:den>
                        <m:r>
                          <m:rPr>
                            <m:nor/>
                          </m:rPr>
                          <a:rPr lang="en-ZA" b="1" dirty="0" smtClean="0">
                            <a:solidFill>
                              <a:schemeClr val="dk1"/>
                            </a:solidFill>
                            <a:cs typeface="Calibri"/>
                            <a:sym typeface="Calibri"/>
                          </a:rPr>
                          <m:t>( 1 − </m:t>
                        </m:r>
                        <m:r>
                          <m:rPr>
                            <m:nor/>
                          </m:rPr>
                          <a:rPr lang="en-ZA" b="1" dirty="0" smtClean="0">
                            <a:solidFill>
                              <a:schemeClr val="dk1"/>
                            </a:solidFill>
                            <a:ea typeface="Calibri"/>
                            <a:cs typeface="Calibri"/>
                            <a:sym typeface="Calibri"/>
                          </a:rPr>
                          <m:t>c</m:t>
                        </m:r>
                        <m:r>
                          <m:rPr>
                            <m:nor/>
                          </m:rPr>
                          <a:rPr lang="en-ZA" b="1" baseline="-25000" dirty="0" smtClean="0">
                            <a:solidFill>
                              <a:schemeClr val="dk1"/>
                            </a:solidFill>
                            <a:ea typeface="Calibri"/>
                            <a:cs typeface="Calibri"/>
                            <a:sym typeface="Calibri"/>
                          </a:rPr>
                          <m:t>1</m:t>
                        </m:r>
                        <m:r>
                          <m:rPr>
                            <m:nor/>
                          </m:rPr>
                          <a:rPr lang="en-ZA" b="1" dirty="0" smtClean="0">
                            <a:solidFill>
                              <a:schemeClr val="dk1"/>
                            </a:solidFill>
                            <a:ea typeface="Calibri"/>
                            <a:cs typeface="Calibri"/>
                            <a:sym typeface="Calibri"/>
                          </a:rPr>
                          <m:t>(1 − </m:t>
                        </m:r>
                        <m:r>
                          <m:rPr>
                            <m:nor/>
                          </m:rPr>
                          <a:rPr lang="en-ZA" b="1" dirty="0" smtClean="0">
                            <a:solidFill>
                              <a:schemeClr val="dk1"/>
                            </a:solidFill>
                            <a:ea typeface="Calibri"/>
                            <a:cs typeface="Calibri"/>
                            <a:sym typeface="Calibri"/>
                          </a:rPr>
                          <m:t>t</m:t>
                        </m:r>
                        <m:r>
                          <m:rPr>
                            <m:nor/>
                          </m:rPr>
                          <a:rPr lang="en-ZA" b="1" dirty="0" smtClean="0">
                            <a:solidFill>
                              <a:schemeClr val="dk1"/>
                            </a:solidFill>
                            <a:ea typeface="Calibri"/>
                            <a:cs typeface="Calibri"/>
                            <a:sym typeface="Calibri"/>
                          </a:rPr>
                          <m:t>) + </m:t>
                        </m:r>
                        <m:r>
                          <m:rPr>
                            <m:nor/>
                          </m:rPr>
                          <a:rPr lang="en-ZA" b="1" dirty="0" smtClean="0">
                            <a:solidFill>
                              <a:schemeClr val="dk1"/>
                            </a:solidFill>
                            <a:ea typeface="Calibri"/>
                            <a:cs typeface="Calibri"/>
                            <a:sym typeface="Calibri"/>
                          </a:rPr>
                          <m:t>m</m:t>
                        </m:r>
                        <m:r>
                          <m:rPr>
                            <m:nor/>
                          </m:rPr>
                          <a:rPr lang="en-ZA" b="1" dirty="0" smtClean="0">
                            <a:solidFill>
                              <a:schemeClr val="dk1"/>
                            </a:solidFill>
                            <a:ea typeface="Calibri"/>
                            <a:cs typeface="Calibri"/>
                            <a:sym typeface="Calibri"/>
                          </a:rPr>
                          <m:t>)</m:t>
                        </m:r>
                      </m:den>
                    </m:f>
                  </m:oMath>
                </a14:m>
                <a:r>
                  <a:rPr lang="en-ZA" b="1">
                    <a:solidFill>
                      <a:schemeClr val="dk1"/>
                    </a:solidFill>
                    <a:ea typeface="Calibri"/>
                    <a:cs typeface="Calibri"/>
                    <a:sym typeface="Calibri"/>
                  </a:rPr>
                  <a:t> (c</a:t>
                </a:r>
                <a:r>
                  <a:rPr lang="en-ZA" b="1" baseline="-25000">
                    <a:solidFill>
                      <a:schemeClr val="dk1"/>
                    </a:solidFill>
                    <a:ea typeface="Calibri"/>
                    <a:cs typeface="Calibri"/>
                    <a:sym typeface="Calibri"/>
                  </a:rPr>
                  <a:t>0 </a:t>
                </a:r>
                <a:r>
                  <a:rPr lang="en-ZA" b="1">
                    <a:solidFill>
                      <a:schemeClr val="dk1"/>
                    </a:solidFill>
                    <a:ea typeface="Calibri"/>
                    <a:cs typeface="Calibri"/>
                    <a:sym typeface="Calibri"/>
                  </a:rPr>
                  <a:t>+ I + G + X)</a:t>
                </a:r>
              </a:p>
              <a:p>
                <a:endParaRPr lang="en-US"/>
              </a:p>
            </p:txBody>
          </p:sp>
        </mc:Choice>
        <mc:Fallback xmlns="">
          <p:sp>
            <p:nvSpPr>
              <p:cNvPr id="3" name="Content Placeholder 2">
                <a:extLst>
                  <a:ext uri="{FF2B5EF4-FFF2-40B4-BE49-F238E27FC236}">
                    <a16:creationId xmlns:a16="http://schemas.microsoft.com/office/drawing/2014/main" id="{F3C8D130-191B-7044-93D0-000CEBFDB374}"/>
                  </a:ext>
                </a:extLst>
              </p:cNvPr>
              <p:cNvSpPr>
                <a:spLocks noGrp="1" noRot="1" noChangeAspect="1" noMove="1" noResize="1" noEditPoints="1" noAdjustHandles="1" noChangeArrowheads="1" noChangeShapeType="1" noTextEdit="1"/>
              </p:cNvSpPr>
              <p:nvPr>
                <p:ph idx="1"/>
              </p:nvPr>
            </p:nvSpPr>
            <p:spPr>
              <a:xfrm>
                <a:off x="838199" y="1825625"/>
                <a:ext cx="11072149" cy="4351338"/>
              </a:xfrm>
              <a:blipFill>
                <a:blip r:embed="rId2"/>
                <a:stretch>
                  <a:fillRect/>
                </a:stretch>
              </a:blipFill>
            </p:spPr>
            <p:txBody>
              <a:bodyPr/>
              <a:lstStyle/>
              <a:p>
                <a:r>
                  <a:rPr lang="en-ZA">
                    <a:noFill/>
                  </a:rPr>
                  <a:t> </a:t>
                </a:r>
              </a:p>
            </p:txBody>
          </p:sp>
        </mc:Fallback>
      </mc:AlternateContent>
    </p:spTree>
    <p:extLst>
      <p:ext uri="{BB962C8B-B14F-4D97-AF65-F5344CB8AC3E}">
        <p14:creationId xmlns:p14="http://schemas.microsoft.com/office/powerpoint/2010/main" val="12685540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60D5AEB1-4D28-9F4B-8922-B9B693EEAF78}"/>
                  </a:ext>
                </a:extLst>
              </p:cNvPr>
              <p:cNvGraphicFramePr>
                <a:graphicFrameLocks noGrp="1"/>
              </p:cNvGraphicFramePr>
              <p:nvPr/>
            </p:nvGraphicFramePr>
            <p:xfrm>
              <a:off x="53650" y="267906"/>
              <a:ext cx="12084699" cy="6308091"/>
            </p:xfrm>
            <a:graphic>
              <a:graphicData uri="http://schemas.openxmlformats.org/drawingml/2006/table">
                <a:tbl>
                  <a:tblPr firstRow="1" bandRow="1">
                    <a:tableStyleId>{10A1B5D5-9B99-4C35-A422-299274C87663}</a:tableStyleId>
                  </a:tblPr>
                  <a:tblGrid>
                    <a:gridCol w="2655683">
                      <a:extLst>
                        <a:ext uri="{9D8B030D-6E8A-4147-A177-3AD203B41FA5}">
                          <a16:colId xmlns:a16="http://schemas.microsoft.com/office/drawing/2014/main" val="4146491054"/>
                        </a:ext>
                      </a:extLst>
                    </a:gridCol>
                    <a:gridCol w="2105263">
                      <a:extLst>
                        <a:ext uri="{9D8B030D-6E8A-4147-A177-3AD203B41FA5}">
                          <a16:colId xmlns:a16="http://schemas.microsoft.com/office/drawing/2014/main" val="2953857035"/>
                        </a:ext>
                      </a:extLst>
                    </a:gridCol>
                    <a:gridCol w="3769158">
                      <a:extLst>
                        <a:ext uri="{9D8B030D-6E8A-4147-A177-3AD203B41FA5}">
                          <a16:colId xmlns:a16="http://schemas.microsoft.com/office/drawing/2014/main" val="990169853"/>
                        </a:ext>
                      </a:extLst>
                    </a:gridCol>
                    <a:gridCol w="3554595">
                      <a:extLst>
                        <a:ext uri="{9D8B030D-6E8A-4147-A177-3AD203B41FA5}">
                          <a16:colId xmlns:a16="http://schemas.microsoft.com/office/drawing/2014/main" val="3248950206"/>
                        </a:ext>
                      </a:extLst>
                    </a:gridCol>
                  </a:tblGrid>
                  <a:tr h="904854">
                    <a:tc>
                      <a:txBody>
                        <a:bodyPr/>
                        <a:lstStyle/>
                        <a:p>
                          <a:pPr algn="ctr"/>
                          <a:r>
                            <a:rPr lang="en-US" sz="2400" b="0"/>
                            <a:t>Economy modelled</a:t>
                          </a:r>
                        </a:p>
                      </a:txBody>
                      <a:tcPr anchor="ctr"/>
                    </a:tc>
                    <a:tc>
                      <a:txBody>
                        <a:bodyPr/>
                        <a:lstStyle/>
                        <a:p>
                          <a:pPr algn="ctr"/>
                          <a:r>
                            <a:rPr lang="en-US" sz="2400" b="0"/>
                            <a:t>GDP components </a:t>
                          </a:r>
                        </a:p>
                      </a:txBody>
                      <a:tcPr anchor="ctr"/>
                    </a:tc>
                    <a:tc>
                      <a:txBody>
                        <a:bodyPr/>
                        <a:lstStyle/>
                        <a:p>
                          <a:pPr algn="ctr"/>
                          <a:r>
                            <a:rPr lang="en-US" sz="2400" b="1"/>
                            <a:t>AD = Y  </a:t>
                          </a:r>
                          <a:r>
                            <a:rPr lang="en-US" sz="2400" b="0"/>
                            <a:t>equation </a:t>
                          </a:r>
                        </a:p>
                      </a:txBody>
                      <a:tcPr anchor="ctr"/>
                    </a:tc>
                    <a:tc>
                      <a:txBody>
                        <a:bodyPr/>
                        <a:lstStyle/>
                        <a:p>
                          <a:pPr algn="ctr"/>
                          <a:r>
                            <a:rPr lang="en-US" sz="2400" b="0"/>
                            <a:t>Multiplier Equation</a:t>
                          </a:r>
                        </a:p>
                        <a:p>
                          <a:pPr marL="0" indent="0" algn="ctr">
                            <a:buNone/>
                          </a:pPr>
                          <a:r>
                            <a:rPr lang="en-US" sz="2400" b="0" u="sng"/>
                            <a:t>∆GDP</a:t>
                          </a:r>
                        </a:p>
                        <a:p>
                          <a:pPr marL="0" indent="0" algn="ctr">
                            <a:buNone/>
                          </a:pPr>
                          <a:r>
                            <a:rPr lang="en-US" sz="2400" b="0"/>
                            <a:t>∆AD </a:t>
                          </a:r>
                        </a:p>
                      </a:txBody>
                      <a:tcPr anchor="ctr"/>
                    </a:tc>
                    <a:extLst>
                      <a:ext uri="{0D108BD9-81ED-4DB2-BD59-A6C34878D82A}">
                        <a16:rowId xmlns:a16="http://schemas.microsoft.com/office/drawing/2014/main" val="1831411999"/>
                      </a:ext>
                    </a:extLst>
                  </a:tr>
                  <a:tr h="735387">
                    <a:tc>
                      <a:txBody>
                        <a:bodyPr/>
                        <a:lstStyle/>
                        <a:p>
                          <a:pPr algn="ctr"/>
                          <a:r>
                            <a:rPr lang="en-US" sz="2400" b="0"/>
                            <a:t>Private Economy</a:t>
                          </a:r>
                        </a:p>
                      </a:txBody>
                      <a:tcPr anchor="ctr"/>
                    </a:tc>
                    <a:tc>
                      <a:txBody>
                        <a:bodyPr/>
                        <a:lstStyle/>
                        <a:p>
                          <a:pPr algn="ctr"/>
                          <a:r>
                            <a:rPr lang="en-US" sz="2800" b="0"/>
                            <a:t>C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𝑐</a:t>
                          </a:r>
                          <a:r>
                            <a:rPr lang="en-ZA" sz="2000" b="0" kern="1200" baseline="-25000">
                              <a:solidFill>
                                <a:schemeClr val="dk1"/>
                              </a:solidFill>
                              <a:effectLst/>
                            </a:rPr>
                            <a:t>0</a:t>
                          </a:r>
                          <a:r>
                            <a:rPr lang="en-ZA" sz="2000" b="0" kern="1200">
                              <a:solidFill>
                                <a:schemeClr val="dk1"/>
                              </a:solidFill>
                              <a:effectLst/>
                            </a:rPr>
                            <a:t> + 𝑐</a:t>
                          </a:r>
                          <a:r>
                            <a:rPr lang="en-ZA" sz="2000" b="0" kern="1200" baseline="-25000">
                              <a:solidFill>
                                <a:schemeClr val="dk1"/>
                              </a:solidFill>
                              <a:effectLst/>
                            </a:rPr>
                            <a:t>1</a:t>
                          </a:r>
                          <a:r>
                            <a:rPr lang="en-ZA" sz="2000" b="0" kern="1200">
                              <a:solidFill>
                                <a:schemeClr val="dk1"/>
                              </a:solidFill>
                              <a:effectLst/>
                            </a:rPr>
                            <a:t>Y</a:t>
                          </a:r>
                        </a:p>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sym typeface="Calibri"/>
                            </a:rPr>
                            <a:t>=</a:t>
                          </a:r>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a:t>
                          </a:r>
                          <a:endParaRPr kumimoji="0" lang="en-ZA" sz="20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sym typeface="Arial"/>
                          </a:endParaRPr>
                        </a:p>
                      </a:txBody>
                      <a:tcPr/>
                    </a:tc>
                    <a:tc>
                      <a:txBody>
                        <a:bodyPr/>
                        <a:lstStyle/>
                        <a:p>
                          <a:pPr algn="ctr"/>
                          <a14:m>
                            <m:oMathPara xmlns:m="http://schemas.openxmlformats.org/officeDocument/2006/math">
                              <m:oMathParaPr>
                                <m:jc m:val="centerGroup"/>
                              </m:oMathParaPr>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m:oMathPara>
                          </a14:m>
                          <a:endParaRPr lang="en-US" sz="2800" b="0"/>
                        </a:p>
                      </a:txBody>
                      <a:tcPr anchor="ctr"/>
                    </a:tc>
                    <a:extLst>
                      <a:ext uri="{0D108BD9-81ED-4DB2-BD59-A6C34878D82A}">
                        <a16:rowId xmlns:a16="http://schemas.microsoft.com/office/drawing/2014/main" val="2706616369"/>
                      </a:ext>
                    </a:extLst>
                  </a:tr>
                  <a:tr h="7729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t>Private Economy</a:t>
                          </a:r>
                        </a:p>
                      </a:txBody>
                      <a:tcPr anchor="ctr"/>
                    </a:tc>
                    <a:tc>
                      <a:txBody>
                        <a:bodyPr/>
                        <a:lstStyle/>
                        <a:p>
                          <a:pPr algn="ctr"/>
                          <a:r>
                            <a:rPr lang="en-US" sz="2800" b="0"/>
                            <a:t>C + I</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𝑐</a:t>
                          </a:r>
                          <a:r>
                            <a:rPr lang="en-ZA" sz="2000" b="0" kern="1200" baseline="-25000">
                              <a:solidFill>
                                <a:schemeClr val="dk1"/>
                              </a:solidFill>
                              <a:effectLst/>
                            </a:rPr>
                            <a:t>0</a:t>
                          </a:r>
                          <a:r>
                            <a:rPr lang="en-ZA" sz="2000" b="0" kern="1200">
                              <a:solidFill>
                                <a:schemeClr val="dk1"/>
                              </a:solidFill>
                              <a:effectLst/>
                            </a:rPr>
                            <a:t> + 𝑐</a:t>
                          </a:r>
                          <a:r>
                            <a:rPr lang="en-ZA" sz="2000" b="0" kern="1200" baseline="-25000">
                              <a:solidFill>
                                <a:schemeClr val="dk1"/>
                              </a:solidFill>
                              <a:effectLst/>
                            </a:rPr>
                            <a:t>1</a:t>
                          </a:r>
                          <a:r>
                            <a:rPr lang="en-ZA" sz="2000" b="0" kern="1200">
                              <a:solidFill>
                                <a:schemeClr val="dk1"/>
                              </a:solidFill>
                              <a:effectLst/>
                            </a:rPr>
                            <a:t>Y + I </a:t>
                          </a:r>
                          <a:endParaRPr lang="en-ZA" sz="2000" b="0">
                            <a:effectLst/>
                          </a:endParaRPr>
                        </a:p>
                        <a:p>
                          <a:pPr algn="l"/>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 + I) </a:t>
                          </a:r>
                          <a:endParaRPr lang="en-US" sz="2000" b="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m:oMathPara>
                          </a14:m>
                          <a:endParaRPr lang="en-US" sz="2800" b="0"/>
                        </a:p>
                      </a:txBody>
                      <a:tcPr anchor="ctr"/>
                    </a:tc>
                    <a:extLst>
                      <a:ext uri="{0D108BD9-81ED-4DB2-BD59-A6C34878D82A}">
                        <a16:rowId xmlns:a16="http://schemas.microsoft.com/office/drawing/2014/main" val="1270163588"/>
                      </a:ext>
                    </a:extLst>
                  </a:tr>
                  <a:tr h="735387">
                    <a:tc>
                      <a:txBody>
                        <a:bodyPr/>
                        <a:lstStyle/>
                        <a:p>
                          <a:pPr algn="ctr"/>
                          <a:r>
                            <a:rPr lang="en-US" sz="2400" b="0"/>
                            <a:t>Closed Economy</a:t>
                          </a:r>
                        </a:p>
                        <a:p>
                          <a:pPr algn="ctr"/>
                          <a:r>
                            <a:rPr lang="en-US" sz="1800" b="0"/>
                            <a:t>(T = 0)</a:t>
                          </a:r>
                        </a:p>
                      </a:txBody>
                      <a:tcPr anchor="ctr"/>
                    </a:tc>
                    <a:tc>
                      <a:txBody>
                        <a:bodyPr/>
                        <a:lstStyle/>
                        <a:p>
                          <a:pPr algn="ctr"/>
                          <a:r>
                            <a:rPr lang="en-US" sz="2800" b="0"/>
                            <a:t>C+I+G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c</a:t>
                          </a:r>
                          <a:r>
                            <a:rPr lang="en-ZA" sz="2000" b="0" kern="1200" baseline="-25000">
                              <a:solidFill>
                                <a:schemeClr val="dk1"/>
                              </a:solidFill>
                              <a:effectLst/>
                            </a:rPr>
                            <a:t>0</a:t>
                          </a:r>
                          <a:r>
                            <a:rPr lang="en-ZA" sz="2000" b="0" kern="1200">
                              <a:solidFill>
                                <a:schemeClr val="dk1"/>
                              </a:solidFill>
                              <a:effectLst/>
                            </a:rPr>
                            <a:t> +c</a:t>
                          </a:r>
                          <a:r>
                            <a:rPr lang="en-ZA" sz="2000" b="0" kern="1200" baseline="-25000">
                              <a:solidFill>
                                <a:schemeClr val="dk1"/>
                              </a:solidFill>
                              <a:effectLst/>
                            </a:rPr>
                            <a:t>1</a:t>
                          </a:r>
                          <a:r>
                            <a:rPr lang="en-ZA" sz="2000" b="0" kern="1200">
                              <a:solidFill>
                                <a:schemeClr val="dk1"/>
                              </a:solidFill>
                              <a:effectLst/>
                            </a:rPr>
                            <a:t>Y+I+G </a:t>
                          </a:r>
                          <a:endParaRPr lang="en-ZA" sz="2000" b="0">
                            <a:effectLst/>
                          </a:endParaRPr>
                        </a:p>
                        <a:p>
                          <a:pPr algn="l"/>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baseline="0">
                              <a:solidFill>
                                <a:schemeClr val="dk1"/>
                              </a:solidFill>
                              <a:sym typeface="Calibri"/>
                            </a:rPr>
                            <a:t>+ I+ G)</a:t>
                          </a:r>
                          <a:endParaRPr lang="en-US" sz="2000" b="0"/>
                        </a:p>
                      </a:txBody>
                      <a:tcPr/>
                    </a:tc>
                    <a:tc>
                      <a:txBody>
                        <a:bodyPr/>
                        <a:lstStyle/>
                        <a:p>
                          <a:pPr algn="ctr"/>
                          <a:r>
                            <a:rPr lang="en-ZA" sz="2800" b="0">
                              <a:solidFill>
                                <a:schemeClr val="dk1"/>
                              </a:solidFill>
                              <a:sym typeface="Calibri"/>
                            </a:rPr>
                            <a:t> </a:t>
                          </a:r>
                          <a14:m>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m:t>
                                  </m:r>
                                </m:den>
                              </m:f>
                            </m:oMath>
                          </a14:m>
                          <a:r>
                            <a:rPr lang="en-ZA" sz="2800" b="0">
                              <a:solidFill>
                                <a:schemeClr val="dk1"/>
                              </a:solidFill>
                              <a:sym typeface="Calibri"/>
                            </a:rPr>
                            <a:t> </a:t>
                          </a:r>
                          <a:endParaRPr lang="en-US" sz="2800" b="0"/>
                        </a:p>
                      </a:txBody>
                      <a:tcPr anchor="ctr"/>
                    </a:tc>
                    <a:extLst>
                      <a:ext uri="{0D108BD9-81ED-4DB2-BD59-A6C34878D82A}">
                        <a16:rowId xmlns:a16="http://schemas.microsoft.com/office/drawing/2014/main" val="1403591218"/>
                      </a:ext>
                    </a:extLst>
                  </a:tr>
                  <a:tr h="1125713">
                    <a:tc>
                      <a:txBody>
                        <a:bodyPr/>
                        <a:lstStyle/>
                        <a:p>
                          <a:pPr algn="ctr"/>
                          <a:r>
                            <a:rPr lang="en-US" sz="2400" b="0"/>
                            <a:t>Closed economy </a:t>
                          </a:r>
                          <a:r>
                            <a:rPr lang="en-US" sz="2000" b="0"/>
                            <a:t>(taxes considered)</a:t>
                          </a:r>
                          <a:endParaRPr lang="en-US" sz="2400" b="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t>C+I+G</a:t>
                          </a:r>
                        </a:p>
                        <a:p>
                          <a:pPr algn="ctr"/>
                          <a:endParaRPr lang="en-US" sz="2800" b="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=c</a:t>
                          </a:r>
                          <a:r>
                            <a:rPr lang="en-ZA" sz="2000" b="0" kern="1200" baseline="-25000">
                              <a:solidFill>
                                <a:schemeClr val="dk1"/>
                              </a:solidFill>
                              <a:effectLst/>
                            </a:rPr>
                            <a:t>0</a:t>
                          </a:r>
                          <a:r>
                            <a:rPr lang="en-ZA" sz="2000" b="0" kern="1200">
                              <a:solidFill>
                                <a:schemeClr val="dk1"/>
                              </a:solidFill>
                              <a:effectLst/>
                            </a:rPr>
                            <a:t> +c</a:t>
                          </a:r>
                          <a:r>
                            <a:rPr lang="en-ZA" sz="2000" b="0" kern="1200" baseline="-25000">
                              <a:solidFill>
                                <a:schemeClr val="dk1"/>
                              </a:solidFill>
                              <a:effectLst/>
                            </a:rPr>
                            <a:t>1</a:t>
                          </a:r>
                          <a:r>
                            <a:rPr lang="en-ZA" sz="2000" b="0" kern="1200">
                              <a:solidFill>
                                <a:schemeClr val="dk1"/>
                              </a:solidFill>
                              <a:effectLst/>
                            </a:rPr>
                            <a:t>(1-t)Y+I+G </a:t>
                          </a:r>
                        </a:p>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(1 − </m:t>
                                  </m:r>
                                  <m:r>
                                    <m:rPr>
                                      <m:nor/>
                                    </m:rPr>
                                    <a:rPr lang="en-ZA" sz="2000" b="0" dirty="0" smtClean="0">
                                      <a:solidFill>
                                        <a:schemeClr val="dk1"/>
                                      </a:solidFill>
                                      <a:sym typeface="Calibri"/>
                                    </a:rPr>
                                    <m:t>t</m:t>
                                  </m:r>
                                  <m:r>
                                    <m:rPr>
                                      <m:nor/>
                                    </m:rPr>
                                    <a:rPr lang="en-ZA" sz="2000" b="0" dirty="0" smtClean="0">
                                      <a:solidFill>
                                        <a:schemeClr val="dk1"/>
                                      </a:solidFill>
                                      <a:sym typeface="Calibri"/>
                                    </a:rPr>
                                    <m:t>) </m:t>
                                  </m:r>
                                </m:den>
                              </m:f>
                            </m:oMath>
                          </a14:m>
                          <a:r>
                            <a:rPr lang="en-ZA" sz="2000" b="0">
                              <a:solidFill>
                                <a:schemeClr val="dk1"/>
                              </a:solidFill>
                              <a:sym typeface="Calibri"/>
                            </a:rPr>
                            <a:t> (c</a:t>
                          </a:r>
                          <a:r>
                            <a:rPr lang="en-ZA" sz="2000" b="0" baseline="-25000">
                              <a:solidFill>
                                <a:schemeClr val="dk1"/>
                              </a:solidFill>
                              <a:sym typeface="Calibri"/>
                            </a:rPr>
                            <a:t>0 </a:t>
                          </a:r>
                          <a:r>
                            <a:rPr lang="en-ZA" sz="2000" b="0">
                              <a:solidFill>
                                <a:schemeClr val="dk1"/>
                              </a:solidFill>
                              <a:sym typeface="Calibri"/>
                            </a:rPr>
                            <a:t>+ I + G )</a:t>
                          </a:r>
                        </a:p>
                        <a:p>
                          <a:pPr algn="l"/>
                          <a:endParaRPr lang="en-US" sz="2000" b="0"/>
                        </a:p>
                      </a:txBody>
                      <a:tcPr/>
                    </a:tc>
                    <a:tc>
                      <a:txBody>
                        <a:bodyPr/>
                        <a:lstStyle/>
                        <a:p>
                          <a:pPr algn="ctr"/>
                          <a14:m>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(1 − </m:t>
                                  </m:r>
                                  <m:r>
                                    <m:rPr>
                                      <m:nor/>
                                    </m:rPr>
                                    <a:rPr lang="en-ZA" sz="2800" b="0" dirty="0" smtClean="0">
                                      <a:solidFill>
                                        <a:schemeClr val="dk1"/>
                                      </a:solidFill>
                                      <a:sym typeface="Calibri"/>
                                    </a:rPr>
                                    <m:t>t</m:t>
                                  </m:r>
                                  <m:r>
                                    <m:rPr>
                                      <m:nor/>
                                    </m:rPr>
                                    <a:rPr lang="en-ZA" sz="2800" b="0" dirty="0" smtClean="0">
                                      <a:solidFill>
                                        <a:schemeClr val="dk1"/>
                                      </a:solidFill>
                                      <a:sym typeface="Calibri"/>
                                    </a:rPr>
                                    <m:t>)</m:t>
                                  </m:r>
                                </m:den>
                              </m:f>
                            </m:oMath>
                          </a14:m>
                          <a:r>
                            <a:rPr lang="en-ZA" sz="2800" b="0">
                              <a:solidFill>
                                <a:schemeClr val="dk1"/>
                              </a:solidFill>
                              <a:sym typeface="Calibri"/>
                            </a:rPr>
                            <a:t> </a:t>
                          </a:r>
                          <a:endParaRPr lang="en-US" sz="2800" b="0"/>
                        </a:p>
                      </a:txBody>
                      <a:tcPr anchor="ctr"/>
                    </a:tc>
                    <a:extLst>
                      <a:ext uri="{0D108BD9-81ED-4DB2-BD59-A6C34878D82A}">
                        <a16:rowId xmlns:a16="http://schemas.microsoft.com/office/drawing/2014/main" val="809790387"/>
                      </a:ext>
                    </a:extLst>
                  </a:tr>
                  <a:tr h="735387">
                    <a:tc>
                      <a:txBody>
                        <a:bodyPr/>
                        <a:lstStyle/>
                        <a:p>
                          <a:pPr algn="ctr"/>
                          <a:r>
                            <a:rPr lang="en-US" sz="2400" b="0"/>
                            <a:t>Open Economy </a:t>
                          </a:r>
                        </a:p>
                      </a:txBody>
                      <a:tcPr anchor="ctr"/>
                    </a:tc>
                    <a:tc>
                      <a:txBody>
                        <a:bodyPr/>
                        <a:lstStyle/>
                        <a:p>
                          <a:pPr algn="ctr"/>
                          <a:r>
                            <a:rPr lang="en-US" sz="2800" b="0"/>
                            <a:t>C+I+G+(X-M)</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kern="1200">
                              <a:solidFill>
                                <a:schemeClr val="dk1"/>
                              </a:solidFill>
                              <a:effectLst/>
                            </a:rPr>
                            <a:t>= c</a:t>
                          </a:r>
                          <a:r>
                            <a:rPr lang="en-ZA" sz="2000" b="0" kern="1200" baseline="-25000">
                              <a:solidFill>
                                <a:schemeClr val="dk1"/>
                              </a:solidFill>
                              <a:effectLst/>
                            </a:rPr>
                            <a:t>0</a:t>
                          </a:r>
                          <a:r>
                            <a:rPr lang="en-ZA" sz="2000" b="0" kern="1200">
                              <a:solidFill>
                                <a:schemeClr val="dk1"/>
                              </a:solidFill>
                              <a:effectLst/>
                            </a:rPr>
                            <a:t> +c</a:t>
                          </a:r>
                          <a:r>
                            <a:rPr lang="en-ZA" sz="2000" b="0" kern="1200" baseline="-25000">
                              <a:solidFill>
                                <a:schemeClr val="dk1"/>
                              </a:solidFill>
                              <a:effectLst/>
                            </a:rPr>
                            <a:t>1</a:t>
                          </a:r>
                          <a:r>
                            <a:rPr lang="en-ZA" sz="2000" b="0" kern="1200">
                              <a:solidFill>
                                <a:schemeClr val="dk1"/>
                              </a:solidFill>
                              <a:effectLst/>
                            </a:rPr>
                            <a:t>(1-t)Y+I+G+X–</a:t>
                          </a:r>
                          <a:r>
                            <a:rPr lang="en-ZA" sz="2000" b="0" kern="1200" err="1">
                              <a:solidFill>
                                <a:schemeClr val="dk1"/>
                              </a:solidFill>
                              <a:effectLst/>
                            </a:rPr>
                            <a:t>mY</a:t>
                          </a:r>
                          <a:r>
                            <a:rPr lang="en-ZA" sz="2000" b="0" kern="1200">
                              <a:solidFill>
                                <a:schemeClr val="dk1"/>
                              </a:solidFill>
                              <a:effectLst/>
                            </a:rPr>
                            <a:t> </a:t>
                          </a:r>
                          <a:endParaRPr lang="en-ZA" sz="2000" b="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a:solidFill>
                                <a:schemeClr val="dk1"/>
                              </a:solidFill>
                              <a:sym typeface="Calibri"/>
                            </a:rPr>
                            <a:t>= </a:t>
                          </a:r>
                          <a14:m>
                            <m:oMath xmlns:m="http://schemas.openxmlformats.org/officeDocument/2006/math">
                              <m:f>
                                <m:fPr>
                                  <m:ctrlPr>
                                    <a:rPr lang="en-ZA" sz="2000" b="0" i="1" smtClean="0">
                                      <a:solidFill>
                                        <a:schemeClr val="dk1"/>
                                      </a:solidFill>
                                      <a:latin typeface="Cambria Math" panose="02040503050406030204" pitchFamily="18" charset="0"/>
                                      <a:sym typeface="Calibri"/>
                                    </a:rPr>
                                  </m:ctrlPr>
                                </m:fPr>
                                <m:num>
                                  <m:r>
                                    <a:rPr lang="en-ZA" sz="2000" b="0" smtClean="0">
                                      <a:solidFill>
                                        <a:schemeClr val="dk1"/>
                                      </a:solidFill>
                                      <a:latin typeface="Cambria Math" panose="02040503050406030204" pitchFamily="18" charset="0"/>
                                      <a:sym typeface="Calibri"/>
                                    </a:rPr>
                                    <m:t>1</m:t>
                                  </m:r>
                                </m:num>
                                <m:den>
                                  <m:r>
                                    <m:rPr>
                                      <m:nor/>
                                    </m:rPr>
                                    <a:rPr lang="en-ZA" sz="2000" b="0" dirty="0" smtClean="0">
                                      <a:solidFill>
                                        <a:schemeClr val="dk1"/>
                                      </a:solidFill>
                                      <a:sym typeface="Calibri"/>
                                    </a:rPr>
                                    <m:t>( 1 − </m:t>
                                  </m:r>
                                  <m:r>
                                    <m:rPr>
                                      <m:nor/>
                                    </m:rPr>
                                    <a:rPr lang="en-ZA" sz="2000" b="0" dirty="0" smtClean="0">
                                      <a:solidFill>
                                        <a:schemeClr val="dk1"/>
                                      </a:solidFill>
                                      <a:sym typeface="Calibri"/>
                                    </a:rPr>
                                    <m:t>c</m:t>
                                  </m:r>
                                  <m:r>
                                    <m:rPr>
                                      <m:nor/>
                                    </m:rPr>
                                    <a:rPr lang="en-ZA" sz="2000" b="0" baseline="-25000" dirty="0" smtClean="0">
                                      <a:solidFill>
                                        <a:schemeClr val="dk1"/>
                                      </a:solidFill>
                                      <a:sym typeface="Calibri"/>
                                    </a:rPr>
                                    <m:t>1</m:t>
                                  </m:r>
                                  <m:r>
                                    <m:rPr>
                                      <m:nor/>
                                    </m:rPr>
                                    <a:rPr lang="en-ZA" sz="2000" b="0" dirty="0" smtClean="0">
                                      <a:solidFill>
                                        <a:schemeClr val="dk1"/>
                                      </a:solidFill>
                                      <a:sym typeface="Calibri"/>
                                    </a:rPr>
                                    <m:t>(1 − </m:t>
                                  </m:r>
                                  <m:r>
                                    <m:rPr>
                                      <m:nor/>
                                    </m:rPr>
                                    <a:rPr lang="en-ZA" sz="2000" b="0" dirty="0" smtClean="0">
                                      <a:solidFill>
                                        <a:schemeClr val="dk1"/>
                                      </a:solidFill>
                                      <a:sym typeface="Calibri"/>
                                    </a:rPr>
                                    <m:t>t</m:t>
                                  </m:r>
                                  <m:r>
                                    <m:rPr>
                                      <m:nor/>
                                    </m:rPr>
                                    <a:rPr lang="en-ZA" sz="2000" b="0" dirty="0" smtClean="0">
                                      <a:solidFill>
                                        <a:schemeClr val="dk1"/>
                                      </a:solidFill>
                                      <a:sym typeface="Calibri"/>
                                    </a:rPr>
                                    <m:t>) + </m:t>
                                  </m:r>
                                  <m:r>
                                    <m:rPr>
                                      <m:nor/>
                                    </m:rPr>
                                    <a:rPr lang="en-ZA" sz="2000" b="0" dirty="0" smtClean="0">
                                      <a:solidFill>
                                        <a:schemeClr val="dk1"/>
                                      </a:solidFill>
                                      <a:sym typeface="Calibri"/>
                                    </a:rPr>
                                    <m:t>m</m:t>
                                  </m:r>
                                  <m:r>
                                    <m:rPr>
                                      <m:nor/>
                                    </m:rPr>
                                    <a:rPr lang="en-ZA" sz="2000" b="0" dirty="0" smtClean="0">
                                      <a:solidFill>
                                        <a:schemeClr val="dk1"/>
                                      </a:solidFill>
                                      <a:sym typeface="Calibri"/>
                                    </a:rPr>
                                    <m:t>)</m:t>
                                  </m:r>
                                </m:den>
                              </m:f>
                            </m:oMath>
                          </a14:m>
                          <a:r>
                            <a:rPr lang="en-ZA" sz="2000" b="0">
                              <a:solidFill>
                                <a:schemeClr val="dk1"/>
                              </a:solidFill>
                              <a:sym typeface="Calibri"/>
                            </a:rPr>
                            <a:t> (c</a:t>
                          </a:r>
                          <a:r>
                            <a:rPr lang="en-ZA" sz="2000" b="0" baseline="-25000">
                              <a:solidFill>
                                <a:schemeClr val="dk1"/>
                              </a:solidFill>
                              <a:sym typeface="Calibri"/>
                            </a:rPr>
                            <a:t>0 </a:t>
                          </a:r>
                          <a:r>
                            <a:rPr lang="en-ZA" sz="2000" b="0">
                              <a:solidFill>
                                <a:schemeClr val="dk1"/>
                              </a:solidFill>
                              <a:sym typeface="Calibri"/>
                            </a:rPr>
                            <a:t>+ I + G + X)</a:t>
                          </a:r>
                        </a:p>
                        <a:p>
                          <a:pPr algn="l"/>
                          <a:endParaRPr lang="en-US" sz="2000" b="0"/>
                        </a:p>
                      </a:txBody>
                      <a:tcPr/>
                    </a:tc>
                    <a:tc>
                      <a:txBody>
                        <a:bodyPr/>
                        <a:lstStyle/>
                        <a:p>
                          <a:pPr algn="ctr"/>
                          <a14:m>
                            <m:oMath xmlns:m="http://schemas.openxmlformats.org/officeDocument/2006/math">
                              <m:f>
                                <m:fPr>
                                  <m:ctrlPr>
                                    <a:rPr lang="en-ZA" sz="2800" b="0" i="1" smtClean="0">
                                      <a:solidFill>
                                        <a:schemeClr val="dk1"/>
                                      </a:solidFill>
                                      <a:latin typeface="Cambria Math" panose="02040503050406030204" pitchFamily="18" charset="0"/>
                                      <a:sym typeface="Calibri"/>
                                    </a:rPr>
                                  </m:ctrlPr>
                                </m:fPr>
                                <m:num>
                                  <m:r>
                                    <a:rPr lang="en-ZA" sz="2800" b="0" smtClean="0">
                                      <a:solidFill>
                                        <a:schemeClr val="dk1"/>
                                      </a:solidFill>
                                      <a:latin typeface="Cambria Math" panose="02040503050406030204" pitchFamily="18" charset="0"/>
                                      <a:sym typeface="Calibri"/>
                                    </a:rPr>
                                    <m:t>1</m:t>
                                  </m:r>
                                </m:num>
                                <m:den>
                                  <m:r>
                                    <m:rPr>
                                      <m:nor/>
                                    </m:rPr>
                                    <a:rPr lang="en-ZA" sz="2800" b="0" dirty="0" smtClean="0">
                                      <a:solidFill>
                                        <a:schemeClr val="dk1"/>
                                      </a:solidFill>
                                      <a:sym typeface="Calibri"/>
                                    </a:rPr>
                                    <m:t>( 1 − </m:t>
                                  </m:r>
                                  <m:r>
                                    <m:rPr>
                                      <m:nor/>
                                    </m:rPr>
                                    <a:rPr lang="en-ZA" sz="2800" b="0" dirty="0" smtClean="0">
                                      <a:solidFill>
                                        <a:schemeClr val="dk1"/>
                                      </a:solidFill>
                                      <a:sym typeface="Calibri"/>
                                    </a:rPr>
                                    <m:t>c</m:t>
                                  </m:r>
                                  <m:r>
                                    <m:rPr>
                                      <m:nor/>
                                    </m:rPr>
                                    <a:rPr lang="en-ZA" sz="2800" b="0" baseline="-25000" dirty="0" smtClean="0">
                                      <a:solidFill>
                                        <a:schemeClr val="dk1"/>
                                      </a:solidFill>
                                      <a:sym typeface="Calibri"/>
                                    </a:rPr>
                                    <m:t>1</m:t>
                                  </m:r>
                                  <m:r>
                                    <m:rPr>
                                      <m:nor/>
                                    </m:rPr>
                                    <a:rPr lang="en-ZA" sz="2800" b="0" dirty="0" smtClean="0">
                                      <a:solidFill>
                                        <a:schemeClr val="dk1"/>
                                      </a:solidFill>
                                      <a:sym typeface="Calibri"/>
                                    </a:rPr>
                                    <m:t>(1 − </m:t>
                                  </m:r>
                                  <m:r>
                                    <m:rPr>
                                      <m:nor/>
                                    </m:rPr>
                                    <a:rPr lang="en-ZA" sz="2800" b="0" dirty="0" smtClean="0">
                                      <a:solidFill>
                                        <a:schemeClr val="dk1"/>
                                      </a:solidFill>
                                      <a:sym typeface="Calibri"/>
                                    </a:rPr>
                                    <m:t>t</m:t>
                                  </m:r>
                                  <m:r>
                                    <m:rPr>
                                      <m:nor/>
                                    </m:rPr>
                                    <a:rPr lang="en-ZA" sz="2800" b="0" dirty="0" smtClean="0">
                                      <a:solidFill>
                                        <a:schemeClr val="dk1"/>
                                      </a:solidFill>
                                      <a:sym typeface="Calibri"/>
                                    </a:rPr>
                                    <m:t>) + </m:t>
                                  </m:r>
                                  <m:r>
                                    <m:rPr>
                                      <m:nor/>
                                    </m:rPr>
                                    <a:rPr lang="en-ZA" sz="2800" b="0" dirty="0" smtClean="0">
                                      <a:solidFill>
                                        <a:schemeClr val="dk1"/>
                                      </a:solidFill>
                                      <a:sym typeface="Calibri"/>
                                    </a:rPr>
                                    <m:t>m</m:t>
                                  </m:r>
                                  <m:r>
                                    <m:rPr>
                                      <m:nor/>
                                    </m:rPr>
                                    <a:rPr lang="en-ZA" sz="2800" b="0" dirty="0" smtClean="0">
                                      <a:solidFill>
                                        <a:schemeClr val="dk1"/>
                                      </a:solidFill>
                                      <a:sym typeface="Calibri"/>
                                    </a:rPr>
                                    <m:t>)</m:t>
                                  </m:r>
                                </m:den>
                              </m:f>
                            </m:oMath>
                          </a14:m>
                          <a:r>
                            <a:rPr lang="en-ZA" sz="2800" b="0">
                              <a:solidFill>
                                <a:schemeClr val="dk1"/>
                              </a:solidFill>
                              <a:sym typeface="Calibri"/>
                            </a:rPr>
                            <a:t> </a:t>
                          </a:r>
                          <a:endParaRPr lang="en-US" sz="2800" b="0"/>
                        </a:p>
                      </a:txBody>
                      <a:tcPr anchor="ctr"/>
                    </a:tc>
                    <a:extLst>
                      <a:ext uri="{0D108BD9-81ED-4DB2-BD59-A6C34878D82A}">
                        <a16:rowId xmlns:a16="http://schemas.microsoft.com/office/drawing/2014/main" val="1344669104"/>
                      </a:ext>
                    </a:extLst>
                  </a:tr>
                </a:tbl>
              </a:graphicData>
            </a:graphic>
          </p:graphicFrame>
        </mc:Choice>
        <mc:Fallback xmlns="">
          <p:graphicFrame>
            <p:nvGraphicFramePr>
              <p:cNvPr id="4" name="Table 4">
                <a:extLst>
                  <a:ext uri="{FF2B5EF4-FFF2-40B4-BE49-F238E27FC236}">
                    <a16:creationId xmlns:a16="http://schemas.microsoft.com/office/drawing/2014/main" id="{60D5AEB1-4D28-9F4B-8922-B9B693EEAF78}"/>
                  </a:ext>
                </a:extLst>
              </p:cNvPr>
              <p:cNvGraphicFramePr>
                <a:graphicFrameLocks noGrp="1"/>
              </p:cNvGraphicFramePr>
              <p:nvPr/>
            </p:nvGraphicFramePr>
            <p:xfrm>
              <a:off x="53650" y="267906"/>
              <a:ext cx="12084699" cy="6308091"/>
            </p:xfrm>
            <a:graphic>
              <a:graphicData uri="http://schemas.openxmlformats.org/drawingml/2006/table">
                <a:tbl>
                  <a:tblPr firstRow="1" bandRow="1">
                    <a:tableStyleId>{10A1B5D5-9B99-4C35-A422-299274C87663}</a:tableStyleId>
                  </a:tblPr>
                  <a:tblGrid>
                    <a:gridCol w="2655683">
                      <a:extLst>
                        <a:ext uri="{9D8B030D-6E8A-4147-A177-3AD203B41FA5}">
                          <a16:colId xmlns:a16="http://schemas.microsoft.com/office/drawing/2014/main" val="4146491054"/>
                        </a:ext>
                      </a:extLst>
                    </a:gridCol>
                    <a:gridCol w="2105263">
                      <a:extLst>
                        <a:ext uri="{9D8B030D-6E8A-4147-A177-3AD203B41FA5}">
                          <a16:colId xmlns:a16="http://schemas.microsoft.com/office/drawing/2014/main" val="2953857035"/>
                        </a:ext>
                      </a:extLst>
                    </a:gridCol>
                    <a:gridCol w="3769158">
                      <a:extLst>
                        <a:ext uri="{9D8B030D-6E8A-4147-A177-3AD203B41FA5}">
                          <a16:colId xmlns:a16="http://schemas.microsoft.com/office/drawing/2014/main" val="990169853"/>
                        </a:ext>
                      </a:extLst>
                    </a:gridCol>
                    <a:gridCol w="3554595">
                      <a:extLst>
                        <a:ext uri="{9D8B030D-6E8A-4147-A177-3AD203B41FA5}">
                          <a16:colId xmlns:a16="http://schemas.microsoft.com/office/drawing/2014/main" val="3248950206"/>
                        </a:ext>
                      </a:extLst>
                    </a:gridCol>
                  </a:tblGrid>
                  <a:tr h="1188720">
                    <a:tc>
                      <a:txBody>
                        <a:bodyPr/>
                        <a:lstStyle/>
                        <a:p>
                          <a:pPr algn="ctr"/>
                          <a:r>
                            <a:rPr lang="en-US" sz="2400" b="0"/>
                            <a:t>Economy modelled</a:t>
                          </a:r>
                        </a:p>
                      </a:txBody>
                      <a:tcPr anchor="ctr"/>
                    </a:tc>
                    <a:tc>
                      <a:txBody>
                        <a:bodyPr/>
                        <a:lstStyle/>
                        <a:p>
                          <a:pPr algn="ctr"/>
                          <a:r>
                            <a:rPr lang="en-US" sz="2400" b="0"/>
                            <a:t>GDP components </a:t>
                          </a:r>
                        </a:p>
                      </a:txBody>
                      <a:tcPr anchor="ctr"/>
                    </a:tc>
                    <a:tc>
                      <a:txBody>
                        <a:bodyPr/>
                        <a:lstStyle/>
                        <a:p>
                          <a:pPr algn="ctr"/>
                          <a:r>
                            <a:rPr lang="en-US" sz="2400" b="1"/>
                            <a:t>AD = Y  </a:t>
                          </a:r>
                          <a:r>
                            <a:rPr lang="en-US" sz="2400" b="0"/>
                            <a:t>equation </a:t>
                          </a:r>
                        </a:p>
                      </a:txBody>
                      <a:tcPr anchor="ctr"/>
                    </a:tc>
                    <a:tc>
                      <a:txBody>
                        <a:bodyPr/>
                        <a:lstStyle/>
                        <a:p>
                          <a:pPr algn="ctr"/>
                          <a:r>
                            <a:rPr lang="en-US" sz="2400" b="0"/>
                            <a:t>Multiplier Equation</a:t>
                          </a:r>
                        </a:p>
                        <a:p>
                          <a:pPr marL="0" indent="0" algn="ctr">
                            <a:buNone/>
                          </a:pPr>
                          <a:r>
                            <a:rPr lang="en-US" sz="2400" b="0" u="sng"/>
                            <a:t>∆GDP</a:t>
                          </a:r>
                        </a:p>
                        <a:p>
                          <a:pPr marL="0" indent="0" algn="ctr">
                            <a:buNone/>
                          </a:pPr>
                          <a:r>
                            <a:rPr lang="en-US" sz="2400" b="0"/>
                            <a:t>∆AD </a:t>
                          </a:r>
                        </a:p>
                      </a:txBody>
                      <a:tcPr anchor="ctr"/>
                    </a:tc>
                    <a:extLst>
                      <a:ext uri="{0D108BD9-81ED-4DB2-BD59-A6C34878D82A}">
                        <a16:rowId xmlns:a16="http://schemas.microsoft.com/office/drawing/2014/main" val="1831411999"/>
                      </a:ext>
                    </a:extLst>
                  </a:tr>
                  <a:tr h="950151">
                    <a:tc>
                      <a:txBody>
                        <a:bodyPr/>
                        <a:lstStyle/>
                        <a:p>
                          <a:pPr algn="ctr"/>
                          <a:r>
                            <a:rPr lang="en-US" sz="2400" b="0"/>
                            <a:t>Private Economy</a:t>
                          </a:r>
                        </a:p>
                      </a:txBody>
                      <a:tcPr anchor="ctr"/>
                    </a:tc>
                    <a:tc>
                      <a:txBody>
                        <a:bodyPr/>
                        <a:lstStyle/>
                        <a:p>
                          <a:pPr algn="ctr"/>
                          <a:r>
                            <a:rPr lang="en-US" sz="2800" b="0"/>
                            <a:t>C </a:t>
                          </a:r>
                        </a:p>
                      </a:txBody>
                      <a:tcPr anchor="ctr"/>
                    </a:tc>
                    <a:tc>
                      <a:txBody>
                        <a:bodyPr/>
                        <a:lstStyle/>
                        <a:p>
                          <a:endParaRPr lang="en-US"/>
                        </a:p>
                      </a:txBody>
                      <a:tcPr>
                        <a:blipFill>
                          <a:blip r:embed="rId2"/>
                          <a:stretch>
                            <a:fillRect l="-126699" t="-129487" r="-94822" b="-440385"/>
                          </a:stretch>
                        </a:blipFill>
                      </a:tcPr>
                    </a:tc>
                    <a:tc>
                      <a:txBody>
                        <a:bodyPr/>
                        <a:lstStyle/>
                        <a:p>
                          <a:endParaRPr lang="en-US"/>
                        </a:p>
                      </a:txBody>
                      <a:tcPr anchor="ctr">
                        <a:blipFill>
                          <a:blip r:embed="rId2"/>
                          <a:stretch>
                            <a:fillRect l="-239897" t="-129487" r="-342" b="-440385"/>
                          </a:stretch>
                        </a:blipFill>
                      </a:tcPr>
                    </a:tc>
                    <a:extLst>
                      <a:ext uri="{0D108BD9-81ED-4DB2-BD59-A6C34878D82A}">
                        <a16:rowId xmlns:a16="http://schemas.microsoft.com/office/drawing/2014/main" val="2706616369"/>
                      </a:ext>
                    </a:extLst>
                  </a:tr>
                  <a:tr h="9501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t>Private Economy</a:t>
                          </a:r>
                        </a:p>
                      </a:txBody>
                      <a:tcPr anchor="ctr"/>
                    </a:tc>
                    <a:tc>
                      <a:txBody>
                        <a:bodyPr/>
                        <a:lstStyle/>
                        <a:p>
                          <a:pPr algn="ctr"/>
                          <a:r>
                            <a:rPr lang="en-US" sz="2800" b="0"/>
                            <a:t>C + I</a:t>
                          </a:r>
                        </a:p>
                      </a:txBody>
                      <a:tcPr anchor="ctr"/>
                    </a:tc>
                    <a:tc>
                      <a:txBody>
                        <a:bodyPr/>
                        <a:lstStyle/>
                        <a:p>
                          <a:endParaRPr lang="en-US"/>
                        </a:p>
                      </a:txBody>
                      <a:tcPr>
                        <a:blipFill>
                          <a:blip r:embed="rId2"/>
                          <a:stretch>
                            <a:fillRect l="-126699" t="-229487" r="-94822" b="-340385"/>
                          </a:stretch>
                        </a:blipFill>
                      </a:tcPr>
                    </a:tc>
                    <a:tc>
                      <a:txBody>
                        <a:bodyPr/>
                        <a:lstStyle/>
                        <a:p>
                          <a:endParaRPr lang="en-US"/>
                        </a:p>
                      </a:txBody>
                      <a:tcPr anchor="ctr">
                        <a:blipFill>
                          <a:blip r:embed="rId2"/>
                          <a:stretch>
                            <a:fillRect l="-239897" t="-229487" r="-342" b="-340385"/>
                          </a:stretch>
                        </a:blipFill>
                      </a:tcPr>
                    </a:tc>
                    <a:extLst>
                      <a:ext uri="{0D108BD9-81ED-4DB2-BD59-A6C34878D82A}">
                        <a16:rowId xmlns:a16="http://schemas.microsoft.com/office/drawing/2014/main" val="1270163588"/>
                      </a:ext>
                    </a:extLst>
                  </a:tr>
                  <a:tr h="869823">
                    <a:tc>
                      <a:txBody>
                        <a:bodyPr/>
                        <a:lstStyle/>
                        <a:p>
                          <a:pPr algn="ctr"/>
                          <a:r>
                            <a:rPr lang="en-US" sz="2400" b="0"/>
                            <a:t>Closed Economy</a:t>
                          </a:r>
                        </a:p>
                        <a:p>
                          <a:pPr algn="ctr"/>
                          <a:r>
                            <a:rPr lang="en-US" sz="1800" b="0"/>
                            <a:t>(T = 0)</a:t>
                          </a:r>
                        </a:p>
                      </a:txBody>
                      <a:tcPr anchor="ctr"/>
                    </a:tc>
                    <a:tc>
                      <a:txBody>
                        <a:bodyPr/>
                        <a:lstStyle/>
                        <a:p>
                          <a:pPr algn="ctr"/>
                          <a:r>
                            <a:rPr lang="en-US" sz="2800" b="0"/>
                            <a:t>C+I+G</a:t>
                          </a:r>
                        </a:p>
                      </a:txBody>
                      <a:tcPr anchor="ctr"/>
                    </a:tc>
                    <a:tc>
                      <a:txBody>
                        <a:bodyPr/>
                        <a:lstStyle/>
                        <a:p>
                          <a:endParaRPr lang="en-US"/>
                        </a:p>
                      </a:txBody>
                      <a:tcPr>
                        <a:blipFill>
                          <a:blip r:embed="rId2"/>
                          <a:stretch>
                            <a:fillRect l="-126699" t="-359441" r="-94822" b="-271329"/>
                          </a:stretch>
                        </a:blipFill>
                      </a:tcPr>
                    </a:tc>
                    <a:tc>
                      <a:txBody>
                        <a:bodyPr/>
                        <a:lstStyle/>
                        <a:p>
                          <a:endParaRPr lang="en-US"/>
                        </a:p>
                      </a:txBody>
                      <a:tcPr anchor="ctr">
                        <a:blipFill>
                          <a:blip r:embed="rId2"/>
                          <a:stretch>
                            <a:fillRect l="-239897" t="-359441" r="-342" b="-271329"/>
                          </a:stretch>
                        </a:blipFill>
                      </a:tcPr>
                    </a:tc>
                    <a:extLst>
                      <a:ext uri="{0D108BD9-81ED-4DB2-BD59-A6C34878D82A}">
                        <a16:rowId xmlns:a16="http://schemas.microsoft.com/office/drawing/2014/main" val="1403591218"/>
                      </a:ext>
                    </a:extLst>
                  </a:tr>
                  <a:tr h="1174623">
                    <a:tc>
                      <a:txBody>
                        <a:bodyPr/>
                        <a:lstStyle/>
                        <a:p>
                          <a:pPr algn="ctr"/>
                          <a:r>
                            <a:rPr lang="en-US" sz="2400" b="0"/>
                            <a:t>Closed economy </a:t>
                          </a:r>
                          <a:r>
                            <a:rPr lang="en-US" sz="2000" b="0"/>
                            <a:t>(taxes considered)</a:t>
                          </a:r>
                          <a:endParaRPr lang="en-US" sz="2400" b="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a:t>C+I+G</a:t>
                          </a:r>
                        </a:p>
                        <a:p>
                          <a:pPr algn="ctr"/>
                          <a:endParaRPr lang="en-US" sz="2800" b="0"/>
                        </a:p>
                      </a:txBody>
                      <a:tcPr anchor="ctr"/>
                    </a:tc>
                    <a:tc>
                      <a:txBody>
                        <a:bodyPr/>
                        <a:lstStyle/>
                        <a:p>
                          <a:endParaRPr lang="en-US"/>
                        </a:p>
                      </a:txBody>
                      <a:tcPr>
                        <a:blipFill>
                          <a:blip r:embed="rId2"/>
                          <a:stretch>
                            <a:fillRect l="-126699" t="-340415" r="-94822" b="-101036"/>
                          </a:stretch>
                        </a:blipFill>
                      </a:tcPr>
                    </a:tc>
                    <a:tc>
                      <a:txBody>
                        <a:bodyPr/>
                        <a:lstStyle/>
                        <a:p>
                          <a:endParaRPr lang="en-US"/>
                        </a:p>
                      </a:txBody>
                      <a:tcPr anchor="ctr">
                        <a:blipFill>
                          <a:blip r:embed="rId2"/>
                          <a:stretch>
                            <a:fillRect l="-239897" t="-340415" r="-342" b="-101036"/>
                          </a:stretch>
                        </a:blipFill>
                      </a:tcPr>
                    </a:tc>
                    <a:extLst>
                      <a:ext uri="{0D108BD9-81ED-4DB2-BD59-A6C34878D82A}">
                        <a16:rowId xmlns:a16="http://schemas.microsoft.com/office/drawing/2014/main" val="809790387"/>
                      </a:ext>
                    </a:extLst>
                  </a:tr>
                  <a:tr h="1174623">
                    <a:tc>
                      <a:txBody>
                        <a:bodyPr/>
                        <a:lstStyle/>
                        <a:p>
                          <a:pPr algn="ctr"/>
                          <a:r>
                            <a:rPr lang="en-US" sz="2400" b="0"/>
                            <a:t>Open Economy </a:t>
                          </a:r>
                        </a:p>
                      </a:txBody>
                      <a:tcPr anchor="ctr"/>
                    </a:tc>
                    <a:tc>
                      <a:txBody>
                        <a:bodyPr/>
                        <a:lstStyle/>
                        <a:p>
                          <a:pPr algn="ctr"/>
                          <a:r>
                            <a:rPr lang="en-US" sz="2800" b="0"/>
                            <a:t>C+I+G+(X-M)</a:t>
                          </a:r>
                        </a:p>
                      </a:txBody>
                      <a:tcPr anchor="ctr"/>
                    </a:tc>
                    <a:tc>
                      <a:txBody>
                        <a:bodyPr/>
                        <a:lstStyle/>
                        <a:p>
                          <a:endParaRPr lang="en-US"/>
                        </a:p>
                      </a:txBody>
                      <a:tcPr>
                        <a:blipFill>
                          <a:blip r:embed="rId2"/>
                          <a:stretch>
                            <a:fillRect l="-126699" t="-440415" r="-94822" b="-1036"/>
                          </a:stretch>
                        </a:blipFill>
                      </a:tcPr>
                    </a:tc>
                    <a:tc>
                      <a:txBody>
                        <a:bodyPr/>
                        <a:lstStyle/>
                        <a:p>
                          <a:endParaRPr lang="en-US"/>
                        </a:p>
                      </a:txBody>
                      <a:tcPr anchor="ctr">
                        <a:blipFill>
                          <a:blip r:embed="rId2"/>
                          <a:stretch>
                            <a:fillRect l="-239897" t="-440415" r="-342" b="-1036"/>
                          </a:stretch>
                        </a:blipFill>
                      </a:tcPr>
                    </a:tc>
                    <a:extLst>
                      <a:ext uri="{0D108BD9-81ED-4DB2-BD59-A6C34878D82A}">
                        <a16:rowId xmlns:a16="http://schemas.microsoft.com/office/drawing/2014/main" val="1344669104"/>
                      </a:ext>
                    </a:extLst>
                  </a:tr>
                </a:tbl>
              </a:graphicData>
            </a:graphic>
          </p:graphicFrame>
        </mc:Fallback>
      </mc:AlternateContent>
      <p:sp>
        <p:nvSpPr>
          <p:cNvPr id="2" name="Rectangle 1">
            <a:extLst>
              <a:ext uri="{FF2B5EF4-FFF2-40B4-BE49-F238E27FC236}">
                <a16:creationId xmlns:a16="http://schemas.microsoft.com/office/drawing/2014/main" id="{15B0F112-A131-A88C-2349-1344FB3EAFDC}"/>
              </a:ext>
            </a:extLst>
          </p:cNvPr>
          <p:cNvSpPr/>
          <p:nvPr/>
        </p:nvSpPr>
        <p:spPr>
          <a:xfrm>
            <a:off x="0" y="5368998"/>
            <a:ext cx="12084699" cy="1186820"/>
          </a:xfrm>
          <a:prstGeom prst="rect">
            <a:avLst/>
          </a:prstGeom>
          <a:noFill/>
          <a:ln w="57150" cap="flat" cmpd="sng" algn="ctr">
            <a:solidFill>
              <a:srgbClr val="FF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5608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F6B69C-873A-EA44-BA4A-5E9FDD09FCB2}"/>
              </a:ext>
            </a:extLst>
          </p:cNvPr>
          <p:cNvSpPr>
            <a:spLocks noGrp="1"/>
          </p:cNvSpPr>
          <p:nvPr>
            <p:ph idx="1"/>
          </p:nvPr>
        </p:nvSpPr>
        <p:spPr>
          <a:xfrm>
            <a:off x="606459" y="2436235"/>
            <a:ext cx="10515600" cy="4124228"/>
          </a:xfrm>
        </p:spPr>
        <p:txBody>
          <a:bodyPr/>
          <a:lstStyle/>
          <a:p>
            <a:pPr marL="514350" indent="-514350">
              <a:buFont typeface="+mj-lt"/>
              <a:buAutoNum type="arabicPeriod"/>
            </a:pPr>
            <a:r>
              <a:rPr lang="en-ZA"/>
              <a:t>What is the new equation of the AD function?</a:t>
            </a:r>
          </a:p>
          <a:p>
            <a:pPr marL="514350" indent="-514350">
              <a:buFont typeface="+mj-lt"/>
              <a:buAutoNum type="arabicPeriod"/>
            </a:pPr>
            <a:r>
              <a:rPr lang="en-ZA"/>
              <a:t>Calculate the value of the multiplier.</a:t>
            </a:r>
          </a:p>
          <a:p>
            <a:pPr marL="514350" indent="-514350">
              <a:buFont typeface="+mj-lt"/>
              <a:buAutoNum type="arabicPeriod"/>
            </a:pPr>
            <a:r>
              <a:rPr lang="en-ZA"/>
              <a:t>What will happen if net exports decreases by 20; what will be the change in Y?</a:t>
            </a:r>
          </a:p>
          <a:p>
            <a:pPr marL="514350" indent="-514350">
              <a:buFont typeface="+mj-lt"/>
              <a:buAutoNum type="arabicPeriod"/>
            </a:pPr>
            <a:r>
              <a:rPr lang="en-ZA"/>
              <a:t>Where is the new equilibrium level of income?</a:t>
            </a:r>
          </a:p>
          <a:p>
            <a:pPr marL="514350" indent="-514350">
              <a:buFont typeface="+mj-lt"/>
              <a:buAutoNum type="arabicPeriod"/>
            </a:pPr>
            <a:r>
              <a:rPr lang="en-ZA"/>
              <a:t>Use a graph to illustrate your answers. </a:t>
            </a:r>
          </a:p>
          <a:p>
            <a:endParaRPr lang="en-US" b="1"/>
          </a:p>
          <a:p>
            <a:endParaRPr lang="en-US"/>
          </a:p>
        </p:txBody>
      </p:sp>
      <p:sp>
        <p:nvSpPr>
          <p:cNvPr id="6" name="Title 1">
            <a:extLst>
              <a:ext uri="{FF2B5EF4-FFF2-40B4-BE49-F238E27FC236}">
                <a16:creationId xmlns:a16="http://schemas.microsoft.com/office/drawing/2014/main" id="{9B24779D-2351-4603-8023-5916776F7277}"/>
              </a:ext>
            </a:extLst>
          </p:cNvPr>
          <p:cNvSpPr txBox="1">
            <a:spLocks/>
          </p:cNvSpPr>
          <p:nvPr/>
        </p:nvSpPr>
        <p:spPr>
          <a:xfrm>
            <a:off x="606459" y="-1001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Calibri Light" panose="020F0302020204030204"/>
                <a:ea typeface="+mj-ea"/>
                <a:cs typeface="+mj-cs"/>
              </a:rPr>
              <a:t>Exercise 5  (Step 5)</a:t>
            </a:r>
          </a:p>
        </p:txBody>
      </p:sp>
      <p:sp>
        <p:nvSpPr>
          <p:cNvPr id="7" name="TextBox 6">
            <a:extLst>
              <a:ext uri="{FF2B5EF4-FFF2-40B4-BE49-F238E27FC236}">
                <a16:creationId xmlns:a16="http://schemas.microsoft.com/office/drawing/2014/main" id="{1C3BAC4A-ABDF-4811-A047-4B50D5175714}"/>
              </a:ext>
            </a:extLst>
          </p:cNvPr>
          <p:cNvSpPr txBox="1"/>
          <p:nvPr/>
        </p:nvSpPr>
        <p:spPr>
          <a:xfrm>
            <a:off x="214604" y="957694"/>
            <a:ext cx="11585541" cy="1106970"/>
          </a:xfrm>
          <a:prstGeom prst="rect">
            <a:avLst/>
          </a:prstGeom>
          <a:noFill/>
          <a:ln>
            <a:solidFill>
              <a:srgbClr val="00B050"/>
            </a:solidFill>
          </a:ln>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Information: </a:t>
            </a:r>
            <a:r>
              <a:rPr kumimoji="0" lang="en-ZA" sz="3200" b="1" i="0" u="none" strike="noStrike" kern="1200" cap="none" spc="0" normalizeH="0" baseline="0" noProof="0">
                <a:ln>
                  <a:noFill/>
                </a:ln>
                <a:solidFill>
                  <a:prstClr val="black"/>
                </a:solidFill>
                <a:effectLst/>
                <a:uLnTx/>
                <a:uFillTx/>
                <a:latin typeface="Calibri" panose="020F0502020204030204"/>
                <a:ea typeface="+mn-ea"/>
                <a:cs typeface="+mn-cs"/>
              </a:rPr>
              <a:t> When Y = 0, C = 400; when Y = 1000, C = 1000; I = 250; </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3200" b="1" i="0" u="none" strike="noStrike" kern="1200" cap="none" spc="0" normalizeH="0" baseline="0" noProof="0">
                <a:ln>
                  <a:noFill/>
                </a:ln>
                <a:solidFill>
                  <a:prstClr val="black"/>
                </a:solidFill>
                <a:effectLst/>
                <a:uLnTx/>
                <a:uFillTx/>
                <a:latin typeface="Calibri" panose="020F0502020204030204"/>
                <a:ea typeface="+mn-ea"/>
                <a:cs typeface="+mn-cs"/>
              </a:rPr>
              <a:t>		G = 100; t = 0,15,</a:t>
            </a:r>
            <a:r>
              <a:rPr kumimoji="0" lang="en-ZA" sz="3200" b="1" i="0" u="none" strike="noStrike" kern="1200" cap="none" spc="0" normalizeH="0" baseline="0" noProof="0">
                <a:ln>
                  <a:noFill/>
                </a:ln>
                <a:solidFill>
                  <a:srgbClr val="0070C0"/>
                </a:solidFill>
                <a:effectLst/>
                <a:uLnTx/>
                <a:uFillTx/>
                <a:latin typeface="Calibri" panose="020F0502020204030204"/>
                <a:ea typeface="+mn-ea"/>
                <a:cs typeface="Calibri"/>
              </a:rPr>
              <a:t> X=60, m=0,1</a:t>
            </a:r>
            <a:endParaRPr kumimoji="0" lang="en-US" sz="3200" b="1" i="0" u="none" strike="noStrike" kern="1200" cap="none" spc="0" normalizeH="0" baseline="0" noProof="0">
              <a:ln>
                <a:noFill/>
              </a:ln>
              <a:solidFill>
                <a:srgbClr val="0070C0"/>
              </a:solidFill>
              <a:effectLst/>
              <a:uLnTx/>
              <a:uFillTx/>
              <a:latin typeface="Calibri" panose="020F0502020204030204"/>
              <a:ea typeface="+mn-ea"/>
              <a:cs typeface="Calibri"/>
            </a:endParaRPr>
          </a:p>
        </p:txBody>
      </p:sp>
    </p:spTree>
    <p:extLst>
      <p:ext uri="{BB962C8B-B14F-4D97-AF65-F5344CB8AC3E}">
        <p14:creationId xmlns:p14="http://schemas.microsoft.com/office/powerpoint/2010/main" val="1077382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3975737-01B4-99EC-F36A-E3F6ED1B4B34}"/>
              </a:ext>
            </a:extLst>
          </p:cNvPr>
          <p:cNvSpPr>
            <a:spLocks noGrp="1"/>
          </p:cNvSpPr>
          <p:nvPr>
            <p:ph type="title"/>
          </p:nvPr>
        </p:nvSpPr>
        <p:spPr>
          <a:xfrm>
            <a:off x="643278" y="649224"/>
            <a:ext cx="5465064" cy="1481328"/>
          </a:xfrm>
        </p:spPr>
        <p:txBody>
          <a:bodyPr vert="horz" lIns="91440" tIns="45720" rIns="91440" bIns="45720" rtlCol="0" anchor="b">
            <a:normAutofit fontScale="90000"/>
          </a:bodyPr>
          <a:lstStyle/>
          <a:p>
            <a:r>
              <a:rPr lang="en-US" sz="5400" b="1" kern="1200" dirty="0">
                <a:solidFill>
                  <a:schemeClr val="tx1"/>
                </a:solidFill>
                <a:latin typeface="+mj-lt"/>
                <a:ea typeface="+mj-ea"/>
                <a:cs typeface="+mj-cs"/>
              </a:rPr>
              <a:t>Assume </a:t>
            </a:r>
            <a:r>
              <a:rPr lang="en-US" sz="5400" b="1" i="1" kern="1200" dirty="0">
                <a:solidFill>
                  <a:schemeClr val="tx1"/>
                </a:solidFill>
                <a:latin typeface="+mj-lt"/>
                <a:ea typeface="+mj-ea"/>
                <a:cs typeface="+mj-cs"/>
              </a:rPr>
              <a:t>m</a:t>
            </a:r>
            <a:r>
              <a:rPr lang="en-US" sz="5400" b="1" kern="1200" dirty="0">
                <a:solidFill>
                  <a:schemeClr val="tx1"/>
                </a:solidFill>
                <a:latin typeface="+mj-lt"/>
                <a:ea typeface="+mj-ea"/>
                <a:cs typeface="+mj-cs"/>
              </a:rPr>
              <a:t> rises from </a:t>
            </a:r>
            <a:r>
              <a:rPr lang="en-US" sz="5400" b="1" i="1" kern="1200" dirty="0">
                <a:solidFill>
                  <a:schemeClr val="tx1"/>
                </a:solidFill>
                <a:latin typeface="+mj-lt"/>
                <a:ea typeface="+mj-ea"/>
                <a:cs typeface="+mj-cs"/>
              </a:rPr>
              <a:t>m to m′</a:t>
            </a:r>
            <a:endParaRPr lang="en-US" sz="5400" kern="1200" dirty="0">
              <a:solidFill>
                <a:schemeClr val="tx1"/>
              </a:solidFill>
              <a:latin typeface="+mj-lt"/>
              <a:ea typeface="+mj-ea"/>
              <a:cs typeface="+mj-cs"/>
            </a:endParaRPr>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1">
            <a:extLst>
              <a:ext uri="{FF2B5EF4-FFF2-40B4-BE49-F238E27FC236}">
                <a16:creationId xmlns:a16="http://schemas.microsoft.com/office/drawing/2014/main" id="{5438ABA3-F79C-15CC-AEA2-2142E846649D}"/>
              </a:ext>
            </a:extLst>
          </p:cNvPr>
          <p:cNvSpPr>
            <a:spLocks noGrp="1" noChangeArrowheads="1"/>
          </p:cNvSpPr>
          <p:nvPr>
            <p:ph sz="half" idx="1"/>
          </p:nvPr>
        </p:nvSpPr>
        <p:spPr bwMode="auto">
          <a:xfrm>
            <a:off x="530087" y="2409116"/>
            <a:ext cx="11449878" cy="354787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ctr" eaLnBrk="1" hangingPunct="1">
              <a:spcAft>
                <a:spcPts val="600"/>
              </a:spcAft>
              <a:buNone/>
            </a:pPr>
            <a:r>
              <a:rPr lang="en-US" altLang="en-US" sz="3600" dirty="0">
                <a:latin typeface="+mn-lt"/>
                <a:sym typeface="Wingdings 3" panose="05040102010807070707" pitchFamily="18" charset="2"/>
              </a:rPr>
              <a:t>∆</a:t>
            </a:r>
            <a:r>
              <a:rPr kumimoji="0" lang="en-US" altLang="en-US" sz="3600" b="0" i="0" u="none" strike="noStrike" cap="none" normalizeH="0" baseline="0" dirty="0">
                <a:ln>
                  <a:noFill/>
                </a:ln>
                <a:effectLst/>
                <a:latin typeface="+mn-lt"/>
              </a:rPr>
              <a:t>m</a:t>
            </a:r>
            <a:r>
              <a:rPr kumimoji="0" lang="en-US" altLang="en-US" sz="3600" b="0" i="0" u="none" strike="noStrike" cap="none" normalizeH="0" baseline="0" dirty="0">
                <a:ln>
                  <a:noFill/>
                </a:ln>
                <a:effectLst/>
                <a:latin typeface="+mn-lt"/>
                <a:sym typeface="Wingdings 3" panose="05040102010807070707" pitchFamily="18" charset="2"/>
              </a:rPr>
              <a:t> </a:t>
            </a:r>
            <a:r>
              <a:rPr lang="en-US" altLang="en-US" sz="3600" dirty="0">
                <a:latin typeface="+mn-lt"/>
              </a:rPr>
              <a:t>decreases the size of the multiplier</a:t>
            </a:r>
          </a:p>
          <a:p>
            <a:pPr marL="0" lvl="0" indent="0" algn="ctr" eaLnBrk="1" hangingPunct="1">
              <a:spcAft>
                <a:spcPts val="600"/>
              </a:spcAft>
              <a:buNone/>
            </a:pPr>
            <a:r>
              <a:rPr lang="en-US" altLang="en-US" sz="3600" dirty="0">
                <a:latin typeface="+mn-lt"/>
              </a:rPr>
              <a:t> </a:t>
            </a:r>
            <a:r>
              <a:rPr lang="en-US" altLang="en-US" dirty="0">
                <a:latin typeface="+mn-lt"/>
              </a:rPr>
              <a:t>(since less household income is spent on domestic goods and services)</a:t>
            </a:r>
          </a:p>
          <a:p>
            <a:pPr marL="0" lvl="0" indent="0" algn="ctr" eaLnBrk="1" hangingPunct="1">
              <a:spcAft>
                <a:spcPts val="600"/>
              </a:spcAft>
              <a:buNone/>
            </a:pPr>
            <a:r>
              <a:rPr lang="en-US" altLang="en-US" sz="4000" dirty="0">
                <a:latin typeface="+mn-lt"/>
              </a:rPr>
              <a:t> AD is flatter</a:t>
            </a:r>
          </a:p>
          <a:p>
            <a:pPr marL="0" lvl="0" indent="0" algn="ctr" eaLnBrk="1" hangingPunct="1">
              <a:spcAft>
                <a:spcPts val="600"/>
              </a:spcAft>
              <a:buNone/>
            </a:pPr>
            <a:r>
              <a:rPr lang="en-US" altLang="en-US" sz="3600" dirty="0">
                <a:latin typeface="+mn-lt"/>
              </a:rPr>
              <a:t>indirect effects of any changes in the intercept (𝑐</a:t>
            </a:r>
            <a:r>
              <a:rPr lang="en-US" altLang="en-US" sz="3600" baseline="-25000" dirty="0">
                <a:latin typeface="+mn-lt"/>
              </a:rPr>
              <a:t>0</a:t>
            </a:r>
            <a:r>
              <a:rPr lang="en-US" altLang="en-US" sz="3600" dirty="0">
                <a:latin typeface="+mn-lt"/>
              </a:rPr>
              <a:t>, 𝑎</a:t>
            </a:r>
            <a:r>
              <a:rPr lang="en-US" altLang="en-US" sz="3600" baseline="-25000" dirty="0">
                <a:latin typeface="+mn-lt"/>
              </a:rPr>
              <a:t>0</a:t>
            </a:r>
            <a:r>
              <a:rPr lang="en-US" altLang="en-US" sz="3600" dirty="0">
                <a:latin typeface="+mn-lt"/>
              </a:rPr>
              <a:t>, 𝐺, 𝑋, 𝑟) </a:t>
            </a:r>
          </a:p>
          <a:p>
            <a:pPr marL="0" lvl="0" indent="0" algn="ctr" eaLnBrk="1" hangingPunct="1">
              <a:spcAft>
                <a:spcPts val="600"/>
              </a:spcAft>
              <a:buNone/>
            </a:pPr>
            <a:r>
              <a:rPr lang="en-US" altLang="en-US" sz="3600" dirty="0">
                <a:latin typeface="+mn-lt"/>
              </a:rPr>
              <a:t>on Y and N are now smaller</a:t>
            </a:r>
          </a:p>
          <a:p>
            <a:pPr marL="0" lvl="0" indent="0" algn="ctr" eaLnBrk="1" hangingPunct="1">
              <a:spcAft>
                <a:spcPts val="600"/>
              </a:spcAft>
              <a:buNone/>
            </a:pPr>
            <a:r>
              <a:rPr lang="en-US" altLang="en-US" sz="3600" dirty="0">
                <a:latin typeface="+mn-lt"/>
              </a:rPr>
              <a:t>new goods market equilibrium is at a lower level of output </a:t>
            </a:r>
            <a:endParaRPr kumimoji="0" lang="en-US" altLang="en-US" sz="3600" b="0" i="0" u="none" strike="noStrike" cap="none" normalizeH="0" baseline="0" dirty="0">
              <a:ln>
                <a:noFill/>
              </a:ln>
              <a:effectLst/>
              <a:latin typeface="+mn-lt"/>
            </a:endParaRPr>
          </a:p>
        </p:txBody>
      </p:sp>
    </p:spTree>
    <p:extLst>
      <p:ext uri="{BB962C8B-B14F-4D97-AF65-F5344CB8AC3E}">
        <p14:creationId xmlns:p14="http://schemas.microsoft.com/office/powerpoint/2010/main" val="2031013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CD04BE6B-ADF0-83A9-B123-602F1152F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3EFD3-BCA1-56F7-AD35-150BF6AB951D}"/>
              </a:ext>
            </a:extLst>
          </p:cNvPr>
          <p:cNvSpPr>
            <a:spLocks noGrp="1"/>
          </p:cNvSpPr>
          <p:nvPr>
            <p:ph type="title" idx="4294967295"/>
          </p:nvPr>
        </p:nvSpPr>
        <p:spPr>
          <a:xfrm>
            <a:off x="0" y="-582613"/>
            <a:ext cx="12192000" cy="1481138"/>
          </a:xfrm>
        </p:spPr>
        <p:txBody>
          <a:bodyPr vert="horz" lIns="91440" tIns="45720" rIns="91440" bIns="45720" rtlCol="0" anchor="b">
            <a:normAutofit/>
          </a:bodyPr>
          <a:lstStyle/>
          <a:p>
            <a:r>
              <a:rPr lang="en-US" sz="5400" b="1" kern="1200" dirty="0">
                <a:solidFill>
                  <a:schemeClr val="tx1"/>
                </a:solidFill>
                <a:latin typeface="+mj-lt"/>
                <a:ea typeface="+mj-ea"/>
                <a:cs typeface="+mj-cs"/>
              </a:rPr>
              <a:t>Assume </a:t>
            </a:r>
            <a:r>
              <a:rPr lang="en-US" sz="5400" b="1" i="1" kern="1200" dirty="0">
                <a:solidFill>
                  <a:schemeClr val="tx1"/>
                </a:solidFill>
                <a:latin typeface="+mj-lt"/>
                <a:ea typeface="+mj-ea"/>
                <a:cs typeface="+mj-cs"/>
              </a:rPr>
              <a:t>m</a:t>
            </a:r>
            <a:r>
              <a:rPr lang="en-US" sz="5400" b="1" kern="1200" dirty="0">
                <a:solidFill>
                  <a:schemeClr val="tx1"/>
                </a:solidFill>
                <a:latin typeface="+mj-lt"/>
                <a:ea typeface="+mj-ea"/>
                <a:cs typeface="+mj-cs"/>
              </a:rPr>
              <a:t> rises from </a:t>
            </a:r>
            <a:r>
              <a:rPr lang="en-US" sz="5400" b="1" i="1" kern="1200" dirty="0">
                <a:solidFill>
                  <a:schemeClr val="tx1"/>
                </a:solidFill>
                <a:latin typeface="+mj-lt"/>
                <a:ea typeface="+mj-ea"/>
                <a:cs typeface="+mj-cs"/>
              </a:rPr>
              <a:t>m to m′ </a:t>
            </a:r>
            <a:r>
              <a:rPr lang="en-US" sz="5400" b="1" kern="1200" dirty="0">
                <a:solidFill>
                  <a:schemeClr val="tx1"/>
                </a:solidFill>
                <a:latin typeface="+mj-lt"/>
                <a:ea typeface="+mj-ea"/>
                <a:cs typeface="+mj-cs"/>
              </a:rPr>
              <a:t>graphically</a:t>
            </a:r>
            <a:endParaRPr lang="en-US" sz="5400" kern="1200" dirty="0">
              <a:solidFill>
                <a:schemeClr val="tx1"/>
              </a:solidFill>
              <a:latin typeface="+mj-lt"/>
              <a:ea typeface="+mj-ea"/>
              <a:cs typeface="+mj-cs"/>
            </a:endParaRPr>
          </a:p>
        </p:txBody>
      </p:sp>
    </p:spTree>
    <p:extLst>
      <p:ext uri="{BB962C8B-B14F-4D97-AF65-F5344CB8AC3E}">
        <p14:creationId xmlns:p14="http://schemas.microsoft.com/office/powerpoint/2010/main" val="201431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642F9-5A6C-28FE-64B4-ACEE66DD7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05BCA-4F38-36BE-F23A-AF9247C0623A}"/>
              </a:ext>
            </a:extLst>
          </p:cNvPr>
          <p:cNvSpPr>
            <a:spLocks noGrp="1"/>
          </p:cNvSpPr>
          <p:nvPr>
            <p:ph type="title"/>
          </p:nvPr>
        </p:nvSpPr>
        <p:spPr>
          <a:xfrm>
            <a:off x="838200" y="44242"/>
            <a:ext cx="10515600" cy="1325563"/>
          </a:xfrm>
        </p:spPr>
        <p:txBody>
          <a:bodyPr/>
          <a:lstStyle/>
          <a:p>
            <a:r>
              <a:rPr lang="en-ZA" b="1" dirty="0"/>
              <a:t>The multiplier</a:t>
            </a:r>
            <a:endParaRPr lang="en-ZA" dirty="0"/>
          </a:p>
        </p:txBody>
      </p:sp>
      <p:sp>
        <p:nvSpPr>
          <p:cNvPr id="4" name="Rectangle 1">
            <a:extLst>
              <a:ext uri="{FF2B5EF4-FFF2-40B4-BE49-F238E27FC236}">
                <a16:creationId xmlns:a16="http://schemas.microsoft.com/office/drawing/2014/main" id="{D785A389-E5A6-B47D-9A9E-5374514CE57D}"/>
              </a:ext>
            </a:extLst>
          </p:cNvPr>
          <p:cNvSpPr>
            <a:spLocks noGrp="1" noChangeArrowheads="1"/>
          </p:cNvSpPr>
          <p:nvPr>
            <p:ph idx="1"/>
          </p:nvPr>
        </p:nvSpPr>
        <p:spPr bwMode="auto">
          <a:xfrm>
            <a:off x="834883" y="1181446"/>
            <a:ext cx="11362911"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423F43"/>
                </a:solidFill>
                <a:effectLst/>
                <a:latin typeface="Crimson Pro"/>
              </a:rPr>
              <a:t>Previously, slope of </a:t>
            </a:r>
            <a:r>
              <a:rPr lang="en-US" altLang="en-US" sz="3200" dirty="0">
                <a:solidFill>
                  <a:srgbClr val="423F43"/>
                </a:solidFill>
                <a:latin typeface="Crimson Pro"/>
              </a:rPr>
              <a:t>AD </a:t>
            </a:r>
            <a:r>
              <a:rPr kumimoji="0" lang="en-US" altLang="en-US" sz="3200" b="0" i="0" u="none" strike="noStrike" cap="none" normalizeH="0" baseline="0" dirty="0">
                <a:ln>
                  <a:noFill/>
                </a:ln>
                <a:solidFill>
                  <a:srgbClr val="423F43"/>
                </a:solidFill>
                <a:effectLst/>
                <a:latin typeface="Crimson Pro"/>
              </a:rPr>
              <a:t>curve was </a:t>
            </a:r>
            <a:r>
              <a:rPr kumimoji="0" lang="en-US" altLang="en-US" sz="3600" b="1" i="0" u="none" strike="noStrike" cap="none" normalizeH="0" baseline="0" dirty="0">
                <a:ln>
                  <a:noFill/>
                </a:ln>
                <a:solidFill>
                  <a:srgbClr val="423F43"/>
                </a:solidFill>
                <a:effectLst/>
                <a:latin typeface="GyrePagellaMathJax_Normal"/>
              </a:rPr>
              <a:t>𝑐</a:t>
            </a:r>
            <a:r>
              <a:rPr kumimoji="0" lang="en-US" altLang="en-US" sz="3600" b="1" i="0" u="none" strike="noStrike" cap="none" normalizeH="0" baseline="-25000" dirty="0">
                <a:ln>
                  <a:noFill/>
                </a:ln>
                <a:solidFill>
                  <a:srgbClr val="423F43"/>
                </a:solidFill>
                <a:effectLst/>
                <a:latin typeface="GyrePagellaMathJax_Main"/>
              </a:rPr>
              <a:t>1</a:t>
            </a:r>
            <a:r>
              <a:rPr kumimoji="0" lang="en-US" altLang="en-US" sz="3200" b="0" i="0" u="none" strike="noStrike" cap="none" normalizeH="0" baseline="0" dirty="0">
                <a:ln>
                  <a:noFill/>
                </a:ln>
                <a:solidFill>
                  <a:srgbClr val="423F43"/>
                </a:solidFill>
                <a:effectLst/>
                <a:latin typeface="Crimson Pro"/>
              </a:rPr>
              <a:t>, the MPC</a:t>
            </a:r>
          </a:p>
          <a:p>
            <a:pPr marR="0" lvl="0" algn="l" defTabSz="914400" rtl="0" eaLnBrk="0" fontAlgn="base" latinLnBrk="0" hangingPunct="0">
              <a:lnSpc>
                <a:spcPct val="100000"/>
              </a:lnSpc>
              <a:spcBef>
                <a:spcPct val="0"/>
              </a:spcBef>
              <a:spcAft>
                <a:spcPct val="0"/>
              </a:spcAft>
              <a:buClrTx/>
              <a:buSzTx/>
              <a:tabLst/>
            </a:pPr>
            <a:r>
              <a:rPr lang="en-US" altLang="en-US" sz="3200" dirty="0">
                <a:solidFill>
                  <a:srgbClr val="423F43"/>
                </a:solidFill>
                <a:latin typeface="Crimson Pro"/>
              </a:rPr>
              <a:t>N</a:t>
            </a:r>
            <a:r>
              <a:rPr kumimoji="0" lang="en-US" altLang="en-US" sz="3200" b="0" i="0" u="none" strike="noStrike" cap="none" normalizeH="0" baseline="0" dirty="0">
                <a:ln>
                  <a:noFill/>
                </a:ln>
                <a:solidFill>
                  <a:srgbClr val="423F43"/>
                </a:solidFill>
                <a:effectLst/>
                <a:latin typeface="Crimson Pro"/>
              </a:rPr>
              <a:t>ow,  slope also depends on the tax rate, </a:t>
            </a:r>
            <a:r>
              <a:rPr kumimoji="0" lang="en-US" altLang="en-US" sz="3600" b="1" i="0" u="none" strike="noStrike" cap="none" normalizeH="0" baseline="0" dirty="0">
                <a:ln>
                  <a:noFill/>
                </a:ln>
                <a:solidFill>
                  <a:srgbClr val="423F43"/>
                </a:solidFill>
                <a:effectLst/>
                <a:latin typeface="GyrePagellaMathJax_Normal"/>
              </a:rPr>
              <a:t>𝑡</a:t>
            </a:r>
            <a:r>
              <a:rPr kumimoji="0" lang="en-US" altLang="en-US" sz="3200" b="0" i="0" u="none" strike="noStrike" cap="none" normalizeH="0" baseline="0" dirty="0">
                <a:ln>
                  <a:noFill/>
                </a:ln>
                <a:solidFill>
                  <a:srgbClr val="423F43"/>
                </a:solidFill>
                <a:effectLst/>
                <a:latin typeface="Crimson Pro"/>
              </a:rPr>
              <a:t>, and the marginal propensity to import, </a:t>
            </a:r>
            <a:r>
              <a:rPr kumimoji="0" lang="en-US" altLang="en-US" sz="3200" b="1" i="1" u="none" strike="noStrike" cap="none" normalizeH="0" baseline="0" dirty="0">
                <a:ln>
                  <a:noFill/>
                </a:ln>
                <a:solidFill>
                  <a:srgbClr val="423F43"/>
                </a:solidFill>
                <a:effectLst/>
                <a:latin typeface="GyrePagellaMathJax_Normal"/>
              </a:rPr>
              <a:t>𝑚 </a:t>
            </a:r>
            <a:r>
              <a:rPr kumimoji="0" lang="en-US" altLang="en-US" sz="3200" b="0" i="0" u="none" strike="noStrike" cap="none" normalizeH="0" baseline="0" dirty="0">
                <a:ln>
                  <a:noFill/>
                </a:ln>
                <a:solidFill>
                  <a:srgbClr val="423F43"/>
                </a:solidFill>
                <a:effectLst/>
                <a:latin typeface="Crimson Pro"/>
              </a:rPr>
              <a:t>— so they change the </a:t>
            </a:r>
            <a:r>
              <a:rPr kumimoji="0" lang="en-US" altLang="en-US" sz="3200" b="1" i="0" u="none" strike="noStrike" cap="none" normalizeH="0" baseline="0" dirty="0">
                <a:ln>
                  <a:noFill/>
                </a:ln>
                <a:solidFill>
                  <a:srgbClr val="423F43"/>
                </a:solidFill>
                <a:effectLst/>
                <a:latin typeface="Crimson Pro"/>
              </a:rPr>
              <a:t>multiplier</a:t>
            </a:r>
            <a:r>
              <a:rPr kumimoji="0" lang="en-US" altLang="en-US" sz="3200" b="0" i="0" u="none" strike="noStrike" cap="none" normalizeH="0" baseline="0" dirty="0">
                <a:ln>
                  <a:noFill/>
                </a:ln>
                <a:solidFill>
                  <a:srgbClr val="423F43"/>
                </a:solidFill>
                <a:effectLst/>
                <a:latin typeface="Crimson Pro"/>
              </a:rPr>
              <a:t> </a:t>
            </a:r>
          </a:p>
          <a:p>
            <a:pPr marL="185738" marR="0" lvl="0" indent="0" algn="l" defTabSz="914400" rtl="0" eaLnBrk="0" fontAlgn="base" latinLnBrk="0" hangingPunct="0">
              <a:lnSpc>
                <a:spcPct val="100000"/>
              </a:lnSpc>
              <a:spcBef>
                <a:spcPct val="0"/>
              </a:spcBef>
              <a:spcAft>
                <a:spcPct val="0"/>
              </a:spcAft>
              <a:buClrTx/>
              <a:buSzTx/>
              <a:buNone/>
              <a:tabLst/>
            </a:pPr>
            <a:r>
              <a:rPr kumimoji="0" lang="en-US" altLang="en-US" sz="3200" b="0" i="0" u="none" strike="noStrike" cap="none" normalizeH="0" baseline="0" dirty="0">
                <a:ln>
                  <a:noFill/>
                </a:ln>
                <a:solidFill>
                  <a:srgbClr val="423F43"/>
                </a:solidFill>
                <a:effectLst/>
                <a:latin typeface="Crimson Pro"/>
              </a:rPr>
              <a:t>X and G, in contrast, are now additional components of AD</a:t>
            </a:r>
            <a:endParaRPr lang="en-US" altLang="en-US" sz="3200" dirty="0"/>
          </a:p>
          <a:p>
            <a:pPr marR="0" lvl="0" algn="l"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423F43"/>
                </a:solidFill>
                <a:effectLst/>
                <a:latin typeface="Crimson Pro"/>
              </a:rPr>
              <a:t>Both taxes and imports </a:t>
            </a:r>
            <a:r>
              <a:rPr kumimoji="0" lang="en-US" altLang="en-US" sz="3200" b="1" i="0" u="none" strike="noStrike" cap="none" normalizeH="0" baseline="0" dirty="0">
                <a:ln>
                  <a:noFill/>
                </a:ln>
                <a:solidFill>
                  <a:srgbClr val="423F43"/>
                </a:solidFill>
                <a:effectLst/>
                <a:latin typeface="Crimson Pro"/>
              </a:rPr>
              <a:t>reduce</a:t>
            </a:r>
            <a:r>
              <a:rPr kumimoji="0" lang="en-US" altLang="en-US" sz="3200" b="0" i="0" u="none" strike="noStrike" cap="none" normalizeH="0" baseline="0" dirty="0">
                <a:ln>
                  <a:noFill/>
                </a:ln>
                <a:solidFill>
                  <a:srgbClr val="423F43"/>
                </a:solidFill>
                <a:effectLst/>
                <a:latin typeface="Crimson Pro"/>
              </a:rPr>
              <a:t> the size of the multiplier</a:t>
            </a:r>
          </a:p>
          <a:p>
            <a:pPr marL="185738" marR="0" lvl="0" indent="0" algn="l" defTabSz="914400" rtl="0" eaLnBrk="0" fontAlgn="base" latinLnBrk="0" hangingPunct="0">
              <a:lnSpc>
                <a:spcPct val="100000"/>
              </a:lnSpc>
              <a:spcBef>
                <a:spcPct val="0"/>
              </a:spcBef>
              <a:spcAft>
                <a:spcPct val="0"/>
              </a:spcAft>
              <a:buClrTx/>
              <a:buSzTx/>
              <a:buNone/>
              <a:tabLst/>
            </a:pPr>
            <a:r>
              <a:rPr kumimoji="0" lang="en-US" altLang="en-US" sz="3200" b="0" i="0" u="none" strike="noStrike" cap="none" normalizeH="0" baseline="0" dirty="0">
                <a:ln>
                  <a:noFill/>
                </a:ln>
                <a:solidFill>
                  <a:srgbClr val="423F43"/>
                </a:solidFill>
                <a:effectLst/>
                <a:latin typeface="Crimson Pro"/>
              </a:rPr>
              <a:t> Recall that the multiplier tells us the amount by which an increase in spending (such as a rise in </a:t>
            </a:r>
            <a:r>
              <a:rPr lang="en-US" altLang="en-US" sz="3200" dirty="0">
                <a:solidFill>
                  <a:srgbClr val="423F43"/>
                </a:solidFill>
                <a:latin typeface="Crimson Pro"/>
              </a:rPr>
              <a:t>c</a:t>
            </a:r>
            <a:r>
              <a:rPr lang="en-US" altLang="en-US" sz="3200" baseline="-25000" dirty="0">
                <a:solidFill>
                  <a:srgbClr val="423F43"/>
                </a:solidFill>
                <a:latin typeface="Crimson Pro"/>
              </a:rPr>
              <a:t>0</a:t>
            </a:r>
            <a:r>
              <a:rPr kumimoji="0" lang="en-US" altLang="en-US" sz="3200" b="0" i="0" u="none" strike="noStrike" cap="none" normalizeH="0" baseline="0" dirty="0">
                <a:ln>
                  <a:noFill/>
                </a:ln>
                <a:solidFill>
                  <a:srgbClr val="423F43"/>
                </a:solidFill>
                <a:effectLst/>
                <a:latin typeface="Crimson Pro"/>
              </a:rPr>
              <a:t>, I, G, or X) raises GDP (Y) in the economy </a:t>
            </a:r>
          </a:p>
          <a:p>
            <a:pPr marR="0" lvl="0" algn="l"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rgbClr val="423F43"/>
                </a:solidFill>
                <a:effectLst/>
                <a:latin typeface="Crimson Pro"/>
              </a:rPr>
              <a:t>When we include taxation and imports in the model, the indirect multiplier effect of a given rise in spending on GDP is smaller</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6187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838198" y="-14283"/>
            <a:ext cx="10515600" cy="1325563"/>
          </a:xfrm>
        </p:spPr>
        <p:txBody>
          <a:bodyPr/>
          <a:lstStyle/>
          <a:p>
            <a:pPr algn="ctr"/>
            <a:r>
              <a:rPr lang="en-GB" sz="4400" dirty="0">
                <a:latin typeface="Source Sans Pro" panose="020B0503030403020204" pitchFamily="34" charset="0"/>
                <a:ea typeface="Source Sans Pro" panose="020B0503030403020204" pitchFamily="34" charset="0"/>
              </a:rPr>
              <a:t>The multiplier in th</a:t>
            </a:r>
            <a:r>
              <a:rPr lang="en-GB" dirty="0">
                <a:latin typeface="Source Sans Pro" panose="020B0503030403020204" pitchFamily="34" charset="0"/>
                <a:ea typeface="Source Sans Pro" panose="020B0503030403020204" pitchFamily="34" charset="0"/>
              </a:rPr>
              <a:t>e </a:t>
            </a:r>
            <a:r>
              <a:rPr lang="en-GB" b="1" dirty="0">
                <a:latin typeface="Source Sans Pro" panose="020B0503030403020204" pitchFamily="34" charset="0"/>
                <a:ea typeface="Source Sans Pro" panose="020B0503030403020204" pitchFamily="34" charset="0"/>
              </a:rPr>
              <a:t>full model</a:t>
            </a:r>
          </a:p>
        </p:txBody>
      </p:sp>
      <p:pic>
        <p:nvPicPr>
          <p:cNvPr id="26628" name="Picture 4">
            <a:extLst>
              <a:ext uri="{FF2B5EF4-FFF2-40B4-BE49-F238E27FC236}">
                <a16:creationId xmlns:a16="http://schemas.microsoft.com/office/drawing/2014/main" id="{333EB769-4FBE-FFAB-683C-1E7ECA759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639" y="2028355"/>
            <a:ext cx="11632361" cy="3651204"/>
          </a:xfrm>
          <a:prstGeom prst="rect">
            <a:avLst/>
          </a:prstGeom>
          <a:noFill/>
          <a:extLst>
            <a:ext uri="{909E8E84-426E-40DD-AFC4-6F175D3DCCD1}">
              <a14:hiddenFill xmlns:a14="http://schemas.microsoft.com/office/drawing/2010/main">
                <a:solidFill>
                  <a:srgbClr val="FFFFFF"/>
                </a:solidFill>
              </a14:hiddenFill>
            </a:ext>
          </a:extLst>
        </p:spPr>
      </p:pic>
      <p:pic>
        <p:nvPicPr>
          <p:cNvPr id="26632" name="Picture 8">
            <a:extLst>
              <a:ext uri="{FF2B5EF4-FFF2-40B4-BE49-F238E27FC236}">
                <a16:creationId xmlns:a16="http://schemas.microsoft.com/office/drawing/2014/main" id="{0CB158F6-9746-FF92-2D4A-FCE6B37111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4059" y="5417981"/>
            <a:ext cx="5503908" cy="1572545"/>
          </a:xfrm>
          <a:prstGeom prst="rect">
            <a:avLst/>
          </a:prstGeom>
          <a:noFill/>
          <a:extLst>
            <a:ext uri="{909E8E84-426E-40DD-AFC4-6F175D3DCCD1}">
              <a14:hiddenFill xmlns:a14="http://schemas.microsoft.com/office/drawing/2010/main">
                <a:solidFill>
                  <a:srgbClr val="FFFFFF"/>
                </a:solidFill>
              </a14:hiddenFill>
            </a:ext>
          </a:extLst>
        </p:spPr>
      </p:pic>
      <p:pic>
        <p:nvPicPr>
          <p:cNvPr id="26626" name="Picture 2">
            <a:extLst>
              <a:ext uri="{FF2B5EF4-FFF2-40B4-BE49-F238E27FC236}">
                <a16:creationId xmlns:a16="http://schemas.microsoft.com/office/drawing/2014/main" id="{ADDBCA57-2F9B-A974-B488-7BC445107A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4747" y="963945"/>
            <a:ext cx="7487297" cy="1580053"/>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0E27F4BE-D106-6BE9-962F-8004A946419D}"/>
              </a:ext>
            </a:extLst>
          </p:cNvPr>
          <p:cNvSpPr/>
          <p:nvPr/>
        </p:nvSpPr>
        <p:spPr>
          <a:xfrm>
            <a:off x="1669773" y="5635414"/>
            <a:ext cx="1408511" cy="846133"/>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Rounded Corners 3">
            <a:extLst>
              <a:ext uri="{FF2B5EF4-FFF2-40B4-BE49-F238E27FC236}">
                <a16:creationId xmlns:a16="http://schemas.microsoft.com/office/drawing/2014/main" id="{2288A650-B5E4-9B3C-1DB9-69E0411537B5}"/>
              </a:ext>
            </a:extLst>
          </p:cNvPr>
          <p:cNvSpPr/>
          <p:nvPr/>
        </p:nvSpPr>
        <p:spPr>
          <a:xfrm>
            <a:off x="3224059" y="5417981"/>
            <a:ext cx="5503908" cy="1440019"/>
          </a:xfrm>
          <a:prstGeom prst="roundRect">
            <a:avLst/>
          </a:prstGeom>
          <a:noFill/>
          <a:ln w="38100">
            <a:solidFill>
              <a:srgbClr val="C0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304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5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628"/>
                                        </p:tgtEl>
                                        <p:attrNameLst>
                                          <p:attrName>style.visibility</p:attrName>
                                        </p:attrNameLst>
                                      </p:cBhvr>
                                      <p:to>
                                        <p:strVal val="visible"/>
                                      </p:to>
                                    </p:set>
                                    <p:animEffect transition="in" filter="fade">
                                      <p:cBhvr>
                                        <p:cTn id="12" dur="500"/>
                                        <p:tgtEl>
                                          <p:spTgt spid="266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632"/>
                                        </p:tgtEl>
                                        <p:attrNameLst>
                                          <p:attrName>style.visibility</p:attrName>
                                        </p:attrNameLst>
                                      </p:cBhvr>
                                      <p:to>
                                        <p:strVal val="visible"/>
                                      </p:to>
                                    </p:set>
                                    <p:animEffect transition="in" filter="fade">
                                      <p:cBhvr>
                                        <p:cTn id="17" dur="500"/>
                                        <p:tgtEl>
                                          <p:spTgt spid="26632"/>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1103652" y="0"/>
            <a:ext cx="10515600" cy="1325563"/>
          </a:xfrm>
        </p:spPr>
        <p:txBody>
          <a:bodyPr/>
          <a:lstStyle/>
          <a:p>
            <a:pPr algn="ctr"/>
            <a:r>
              <a:rPr lang="en-GB" sz="4400" dirty="0">
                <a:latin typeface="Source Sans Pro" panose="020B0503030403020204" pitchFamily="34" charset="0"/>
                <a:ea typeface="Source Sans Pro" panose="020B0503030403020204" pitchFamily="34" charset="0"/>
              </a:rPr>
              <a:t>Summary of Changes in the AD curve</a:t>
            </a:r>
            <a:endParaRPr lang="en-GB" dirty="0">
              <a:latin typeface="Source Sans Pro" panose="020B0503030403020204" pitchFamily="34" charset="0"/>
              <a:ea typeface="Source Sans Pro" panose="020B0503030403020204" pitchFamily="34" charset="0"/>
            </a:endParaRPr>
          </a:p>
        </p:txBody>
      </p:sp>
      <p:pic>
        <p:nvPicPr>
          <p:cNvPr id="4" name="Picture 3" descr="A diagram of a graph&#10;&#10;Description automatically generated">
            <a:extLst>
              <a:ext uri="{FF2B5EF4-FFF2-40B4-BE49-F238E27FC236}">
                <a16:creationId xmlns:a16="http://schemas.microsoft.com/office/drawing/2014/main" id="{DEB523A6-0615-8981-2DA7-743600DDEF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035" y="1168400"/>
            <a:ext cx="4455493" cy="2653994"/>
          </a:xfrm>
          <a:prstGeom prst="rect">
            <a:avLst/>
          </a:prstGeom>
        </p:spPr>
      </p:pic>
      <p:pic>
        <p:nvPicPr>
          <p:cNvPr id="6" name="Picture 5" descr="A diagram of a graph&#10;&#10;Description automatically generated">
            <a:extLst>
              <a:ext uri="{FF2B5EF4-FFF2-40B4-BE49-F238E27FC236}">
                <a16:creationId xmlns:a16="http://schemas.microsoft.com/office/drawing/2014/main" id="{040E08F0-4580-BF3F-881F-5A59D242A6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7350" y="1054489"/>
            <a:ext cx="4666137" cy="2767905"/>
          </a:xfrm>
          <a:prstGeom prst="rect">
            <a:avLst/>
          </a:prstGeom>
        </p:spPr>
      </p:pic>
      <p:pic>
        <p:nvPicPr>
          <p:cNvPr id="8" name="Picture 7" descr="A diagram of a line&#10;&#10;Description automatically generated">
            <a:extLst>
              <a:ext uri="{FF2B5EF4-FFF2-40B4-BE49-F238E27FC236}">
                <a16:creationId xmlns:a16="http://schemas.microsoft.com/office/drawing/2014/main" id="{A926A06D-3301-63F7-E6FA-A53A0D5E1C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7035" y="3885812"/>
            <a:ext cx="4577413" cy="2655724"/>
          </a:xfrm>
          <a:prstGeom prst="rect">
            <a:avLst/>
          </a:prstGeom>
        </p:spPr>
      </p:pic>
      <p:pic>
        <p:nvPicPr>
          <p:cNvPr id="10" name="Picture 9" descr="A diagram of a graph&#10;&#10;Description automatically generated">
            <a:extLst>
              <a:ext uri="{FF2B5EF4-FFF2-40B4-BE49-F238E27FC236}">
                <a16:creationId xmlns:a16="http://schemas.microsoft.com/office/drawing/2014/main" id="{733AA913-318A-E8E1-AFC8-4601766E5B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37350" y="3885812"/>
            <a:ext cx="4577413" cy="2675646"/>
          </a:xfrm>
          <a:prstGeom prst="rect">
            <a:avLst/>
          </a:prstGeom>
        </p:spPr>
      </p:pic>
      <p:sp>
        <p:nvSpPr>
          <p:cNvPr id="5" name="TextBox 4">
            <a:extLst>
              <a:ext uri="{FF2B5EF4-FFF2-40B4-BE49-F238E27FC236}">
                <a16:creationId xmlns:a16="http://schemas.microsoft.com/office/drawing/2014/main" id="{7A8ADB49-4423-611C-1F0F-7C0B37AE0887}"/>
              </a:ext>
            </a:extLst>
          </p:cNvPr>
          <p:cNvSpPr txBox="1"/>
          <p:nvPr/>
        </p:nvSpPr>
        <p:spPr>
          <a:xfrm>
            <a:off x="3473585" y="2380052"/>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F05A5B"/>
                </a:solidFill>
                <a:effectLst/>
                <a:uLnTx/>
                <a:uFillTx/>
                <a:latin typeface="Source Sans Pro" panose="020B0503030403020204" pitchFamily="34" charset="0"/>
                <a:ea typeface="+mn-ea"/>
                <a:cs typeface="+mn-cs"/>
              </a:rPr>
              <a:t>A rise in </a:t>
            </a:r>
            <a:r>
              <a:rPr kumimoji="0" lang="en-ZA" sz="1800" b="1" i="1" u="none" strike="noStrike" kern="1200" cap="none" spc="0" normalizeH="0" baseline="0" noProof="0" dirty="0">
                <a:ln>
                  <a:noFill/>
                </a:ln>
                <a:solidFill>
                  <a:srgbClr val="F05A5B"/>
                </a:solidFill>
                <a:effectLst/>
                <a:uLnTx/>
                <a:uFillTx/>
                <a:latin typeface="Source Sans Pro" panose="020B0503030403020204" pitchFamily="34" charset="0"/>
                <a:ea typeface="+mn-ea"/>
                <a:cs typeface="+mn-cs"/>
              </a:rPr>
              <a:t>G</a:t>
            </a:r>
            <a:endPar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55753443-28EE-D2F1-DF96-1C64027B7247}"/>
              </a:ext>
            </a:extLst>
          </p:cNvPr>
          <p:cNvSpPr txBox="1"/>
          <p:nvPr/>
        </p:nvSpPr>
        <p:spPr>
          <a:xfrm>
            <a:off x="9107283" y="244347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F05A5B"/>
                </a:solidFill>
                <a:effectLst/>
                <a:uLnTx/>
                <a:uFillTx/>
                <a:latin typeface="Source Sans Pro" panose="020B0503030403020204" pitchFamily="34" charset="0"/>
                <a:ea typeface="+mn-ea"/>
                <a:cs typeface="+mn-cs"/>
              </a:rPr>
              <a:t>A rise in </a:t>
            </a:r>
            <a:r>
              <a:rPr kumimoji="0" lang="en-ZA" sz="1800" b="1" i="1" u="none" strike="noStrike" kern="1200" cap="none" spc="0" normalizeH="0" baseline="0" noProof="0" dirty="0">
                <a:ln>
                  <a:noFill/>
                </a:ln>
                <a:solidFill>
                  <a:srgbClr val="F05A5B"/>
                </a:solidFill>
                <a:effectLst/>
                <a:uLnTx/>
                <a:uFillTx/>
                <a:latin typeface="Source Sans Pro" panose="020B0503030403020204" pitchFamily="34" charset="0"/>
                <a:ea typeface="+mn-ea"/>
                <a:cs typeface="+mn-cs"/>
              </a:rPr>
              <a:t>r</a:t>
            </a:r>
            <a:endPar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456DA03A-AA4A-D552-1522-60CFCD9A3E8A}"/>
              </a:ext>
            </a:extLst>
          </p:cNvPr>
          <p:cNvSpPr txBox="1"/>
          <p:nvPr/>
        </p:nvSpPr>
        <p:spPr>
          <a:xfrm>
            <a:off x="3473585" y="5038969"/>
            <a:ext cx="76001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F05A5B"/>
                </a:solidFill>
                <a:effectLst/>
                <a:uLnTx/>
                <a:uFillTx/>
                <a:latin typeface="Source Sans Pro" panose="020B0503030403020204" pitchFamily="34" charset="0"/>
                <a:ea typeface="+mn-ea"/>
                <a:cs typeface="+mn-cs"/>
              </a:rPr>
              <a:t>A fall in </a:t>
            </a:r>
            <a:r>
              <a:rPr kumimoji="0" lang="en-ZA" sz="1800" b="1" i="1" u="none" strike="noStrike" kern="1200" cap="none" spc="0" normalizeH="0" baseline="0" noProof="0" dirty="0">
                <a:ln>
                  <a:noFill/>
                </a:ln>
                <a:solidFill>
                  <a:srgbClr val="F05A5B"/>
                </a:solidFill>
                <a:effectLst/>
                <a:uLnTx/>
                <a:uFillTx/>
                <a:latin typeface="Source Sans Pro" panose="020B0503030403020204" pitchFamily="34" charset="0"/>
                <a:ea typeface="+mn-ea"/>
                <a:cs typeface="+mn-cs"/>
              </a:rPr>
              <a:t>t</a:t>
            </a:r>
            <a:endPar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EECCE0B7-3A55-B089-AC2F-463E4857E765}"/>
              </a:ext>
            </a:extLst>
          </p:cNvPr>
          <p:cNvSpPr txBox="1"/>
          <p:nvPr/>
        </p:nvSpPr>
        <p:spPr>
          <a:xfrm>
            <a:off x="9107283" y="5102387"/>
            <a:ext cx="76001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F05A5B"/>
                </a:solidFill>
                <a:effectLst/>
                <a:uLnTx/>
                <a:uFillTx/>
                <a:latin typeface="Source Sans Pro" panose="020B0503030403020204" pitchFamily="34" charset="0"/>
                <a:ea typeface="+mn-ea"/>
                <a:cs typeface="+mn-cs"/>
              </a:rPr>
              <a:t>A rise in </a:t>
            </a:r>
            <a:r>
              <a:rPr kumimoji="0" lang="en-ZA" sz="1800" b="1" i="1" u="none" strike="noStrike" kern="1200" cap="none" spc="0" normalizeH="0" baseline="0" noProof="0" dirty="0">
                <a:ln>
                  <a:noFill/>
                </a:ln>
                <a:solidFill>
                  <a:srgbClr val="F05A5B"/>
                </a:solidFill>
                <a:effectLst/>
                <a:uLnTx/>
                <a:uFillTx/>
                <a:latin typeface="Source Sans Pro" panose="020B0503030403020204" pitchFamily="34" charset="0"/>
                <a:ea typeface="+mn-ea"/>
                <a:cs typeface="+mn-cs"/>
              </a:rPr>
              <a:t>m</a:t>
            </a:r>
            <a:endPar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4026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2" grpId="0"/>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65F6-1E26-E15D-E7A6-0B45FC7311EF}"/>
              </a:ext>
            </a:extLst>
          </p:cNvPr>
          <p:cNvSpPr>
            <a:spLocks noGrp="1"/>
          </p:cNvSpPr>
          <p:nvPr>
            <p:ph type="title"/>
          </p:nvPr>
        </p:nvSpPr>
        <p:spPr/>
        <p:txBody>
          <a:bodyPr/>
          <a:lstStyle/>
          <a:p>
            <a:r>
              <a:rPr lang="en-US" dirty="0"/>
              <a:t>In summary…</a:t>
            </a:r>
            <a:endParaRPr lang="en-ZA" dirty="0"/>
          </a:p>
        </p:txBody>
      </p:sp>
      <p:sp>
        <p:nvSpPr>
          <p:cNvPr id="4" name="Rectangle 1">
            <a:extLst>
              <a:ext uri="{FF2B5EF4-FFF2-40B4-BE49-F238E27FC236}">
                <a16:creationId xmlns:a16="http://schemas.microsoft.com/office/drawing/2014/main" id="{5639CC89-AB94-5DB8-25A2-F94F71B6345F}"/>
              </a:ext>
            </a:extLst>
          </p:cNvPr>
          <p:cNvSpPr>
            <a:spLocks noGrp="1" noChangeArrowheads="1"/>
          </p:cNvSpPr>
          <p:nvPr>
            <p:ph idx="1"/>
          </p:nvPr>
        </p:nvSpPr>
        <p:spPr bwMode="auto">
          <a:xfrm>
            <a:off x="838200" y="1492915"/>
            <a:ext cx="10918371" cy="50167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1" u="none" strike="noStrike" cap="none" normalizeH="0" baseline="0" dirty="0">
                <a:ln>
                  <a:noFill/>
                </a:ln>
                <a:solidFill>
                  <a:srgbClr val="423F43"/>
                </a:solidFill>
                <a:effectLst/>
                <a:latin typeface="inherit"/>
              </a:rPr>
              <a:t>A higher </a:t>
            </a:r>
            <a:r>
              <a:rPr kumimoji="0" lang="en-US" altLang="en-US" sz="3600" b="1" i="1" u="none" strike="noStrike" cap="none" normalizeH="0" baseline="0" dirty="0">
                <a:ln>
                  <a:noFill/>
                </a:ln>
                <a:solidFill>
                  <a:srgbClr val="423F43"/>
                </a:solidFill>
                <a:effectLst/>
                <a:latin typeface="inherit"/>
              </a:rPr>
              <a:t>marginal propensity to import </a:t>
            </a:r>
            <a:r>
              <a:rPr kumimoji="0" lang="en-US" altLang="en-US" sz="3600" b="0" i="1" u="sng" strike="noStrike" cap="none" normalizeH="0" baseline="0" dirty="0">
                <a:ln>
                  <a:noFill/>
                </a:ln>
                <a:solidFill>
                  <a:srgbClr val="423F43"/>
                </a:solidFill>
                <a:effectLst/>
                <a:latin typeface="inherit"/>
              </a:rPr>
              <a:t>reduces</a:t>
            </a:r>
            <a:r>
              <a:rPr kumimoji="0" lang="en-US" altLang="en-US" sz="3600" b="0" i="1" u="none" strike="noStrike" cap="none" normalizeH="0" baseline="0" dirty="0">
                <a:ln>
                  <a:noFill/>
                </a:ln>
                <a:solidFill>
                  <a:srgbClr val="423F43"/>
                </a:solidFill>
                <a:effectLst/>
                <a:latin typeface="inherit"/>
              </a:rPr>
              <a:t> the size of the multiplier</a:t>
            </a:r>
            <a:r>
              <a:rPr kumimoji="0" lang="en-US" altLang="en-US" sz="3600" b="0" i="0" u="none" strike="noStrike" cap="none" normalizeH="0" baseline="0" dirty="0">
                <a:ln>
                  <a:noFill/>
                </a:ln>
                <a:solidFill>
                  <a:srgbClr val="423F43"/>
                </a:solidFill>
                <a:effectLst/>
                <a:latin typeface="Crimson Pro"/>
              </a:rPr>
              <a:t>: This makes the aggregate demand curve flatter.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1" u="none" strike="noStrike" cap="none" normalizeH="0" baseline="0" dirty="0">
                <a:ln>
                  <a:noFill/>
                </a:ln>
                <a:solidFill>
                  <a:srgbClr val="423F43"/>
                </a:solidFill>
                <a:effectLst/>
                <a:latin typeface="inherit"/>
              </a:rPr>
              <a:t>An increase in the </a:t>
            </a:r>
            <a:r>
              <a:rPr kumimoji="0" lang="en-US" altLang="en-US" sz="3600" b="1" i="1" u="none" strike="noStrike" cap="none" normalizeH="0" baseline="0" dirty="0">
                <a:ln>
                  <a:noFill/>
                </a:ln>
                <a:solidFill>
                  <a:srgbClr val="423F43"/>
                </a:solidFill>
                <a:effectLst/>
                <a:latin typeface="inherit"/>
              </a:rPr>
              <a:t>tax rate</a:t>
            </a:r>
            <a:r>
              <a:rPr kumimoji="0" lang="en-US" altLang="en-US" sz="3600" b="0" i="1" u="none" strike="noStrike" cap="none" normalizeH="0" baseline="0" dirty="0">
                <a:ln>
                  <a:noFill/>
                </a:ln>
                <a:solidFill>
                  <a:srgbClr val="423F43"/>
                </a:solidFill>
                <a:effectLst/>
                <a:latin typeface="inherit"/>
              </a:rPr>
              <a:t> </a:t>
            </a:r>
            <a:r>
              <a:rPr kumimoji="0" lang="en-US" altLang="en-US" sz="3600" b="0" i="1" u="sng" strike="noStrike" cap="none" normalizeH="0" baseline="0" dirty="0">
                <a:ln>
                  <a:noFill/>
                </a:ln>
                <a:solidFill>
                  <a:srgbClr val="423F43"/>
                </a:solidFill>
                <a:effectLst/>
                <a:latin typeface="inherit"/>
              </a:rPr>
              <a:t>reduces</a:t>
            </a:r>
            <a:r>
              <a:rPr kumimoji="0" lang="en-US" altLang="en-US" sz="3600" b="0" i="1" u="none" strike="noStrike" cap="none" normalizeH="0" baseline="0" dirty="0">
                <a:ln>
                  <a:noFill/>
                </a:ln>
                <a:solidFill>
                  <a:srgbClr val="423F43"/>
                </a:solidFill>
                <a:effectLst/>
                <a:latin typeface="inherit"/>
              </a:rPr>
              <a:t> the size of the multiplier</a:t>
            </a:r>
            <a:r>
              <a:rPr kumimoji="0" lang="en-US" altLang="en-US" sz="3600" b="0" i="0" u="none" strike="noStrike" cap="none" normalizeH="0" baseline="0" dirty="0">
                <a:ln>
                  <a:noFill/>
                </a:ln>
                <a:solidFill>
                  <a:srgbClr val="423F43"/>
                </a:solidFill>
                <a:effectLst/>
                <a:latin typeface="Crimson Pro"/>
              </a:rPr>
              <a:t>: This also makes the aggregate demand curve flatter.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1" u="none" strike="noStrike" cap="none" normalizeH="0" baseline="0" dirty="0">
                <a:ln>
                  <a:noFill/>
                </a:ln>
                <a:solidFill>
                  <a:srgbClr val="423F43"/>
                </a:solidFill>
                <a:effectLst/>
                <a:latin typeface="inherit"/>
              </a:rPr>
              <a:t>An increase in </a:t>
            </a:r>
            <a:r>
              <a:rPr kumimoji="0" lang="en-US" altLang="en-US" sz="3600" b="1" i="1" u="none" strike="noStrike" cap="none" normalizeH="0" baseline="0" dirty="0">
                <a:ln>
                  <a:noFill/>
                </a:ln>
                <a:solidFill>
                  <a:srgbClr val="423F43"/>
                </a:solidFill>
                <a:effectLst/>
                <a:latin typeface="inherit"/>
              </a:rPr>
              <a:t>exports</a:t>
            </a:r>
            <a:r>
              <a:rPr kumimoji="0" lang="en-US" altLang="en-US" sz="3600" b="0" i="1" u="none" strike="noStrike" cap="none" normalizeH="0" baseline="0" dirty="0">
                <a:ln>
                  <a:noFill/>
                </a:ln>
                <a:solidFill>
                  <a:srgbClr val="423F43"/>
                </a:solidFill>
                <a:effectLst/>
                <a:latin typeface="inherit"/>
              </a:rPr>
              <a:t> or </a:t>
            </a:r>
            <a:r>
              <a:rPr kumimoji="0" lang="en-US" altLang="en-US" sz="3600" b="1" i="1" u="none" strike="noStrike" cap="none" normalizeH="0" baseline="0" dirty="0">
                <a:ln>
                  <a:noFill/>
                </a:ln>
                <a:solidFill>
                  <a:srgbClr val="423F43"/>
                </a:solidFill>
                <a:effectLst/>
                <a:latin typeface="inherit"/>
              </a:rPr>
              <a:t>government spending </a:t>
            </a:r>
            <a:r>
              <a:rPr kumimoji="0" lang="en-US" altLang="en-US" sz="3600" b="0" i="1" u="sng" strike="noStrike" cap="none" normalizeH="0" baseline="0" dirty="0">
                <a:ln>
                  <a:noFill/>
                </a:ln>
                <a:solidFill>
                  <a:srgbClr val="423F43"/>
                </a:solidFill>
                <a:effectLst/>
                <a:latin typeface="inherit"/>
              </a:rPr>
              <a:t>shifts the aggregate demand curve up</a:t>
            </a:r>
            <a:r>
              <a:rPr kumimoji="0" lang="en-US" altLang="en-US" sz="3600" b="0" i="1" u="none" strike="noStrike" cap="none" normalizeH="0" baseline="0" dirty="0">
                <a:ln>
                  <a:noFill/>
                </a:ln>
                <a:solidFill>
                  <a:srgbClr val="423F43"/>
                </a:solidFill>
                <a:effectLst/>
                <a:latin typeface="inherit"/>
              </a:rPr>
              <a:t> in the multiplier diagram</a:t>
            </a:r>
            <a:endParaRPr kumimoji="0" lang="en-US" altLang="en-US" sz="3600" b="0" i="0" u="none" strike="noStrike" cap="none" normalizeH="0" baseline="0" dirty="0">
              <a:ln>
                <a:noFill/>
              </a:ln>
              <a:solidFill>
                <a:srgbClr val="423F43"/>
              </a:solidFill>
              <a:effectLst/>
              <a:latin typeface="Crimson Pr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3076943"/>
      </p:ext>
    </p:extLst>
  </p:cSld>
  <p:clrMapOvr>
    <a:masterClrMapping/>
  </p:clrMapOvr>
</p:sld>
</file>

<file path=ppt/theme/theme1.xml><?xml version="1.0" encoding="utf-8"?>
<a:theme xmlns:a="http://schemas.openxmlformats.org/drawingml/2006/main" name="1_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9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4_Office Theme">
  <a:themeElements>
    <a:clrScheme name="Custom 3">
      <a:dk1>
        <a:srgbClr val="000000"/>
      </a:dk1>
      <a:lt1>
        <a:srgbClr val="FFFFFF"/>
      </a:lt1>
      <a:dk2>
        <a:srgbClr val="44546A"/>
      </a:dk2>
      <a:lt2>
        <a:srgbClr val="E7E6E6"/>
      </a:lt2>
      <a:accent1>
        <a:srgbClr val="FF5A50"/>
      </a:accent1>
      <a:accent2>
        <a:srgbClr val="FFECD0"/>
      </a:accent2>
      <a:accent3>
        <a:srgbClr val="EBEBEB"/>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C3DC2A576866347B3860F3D6B95AFFE" ma:contentTypeVersion="7" ma:contentTypeDescription="Create a new document." ma:contentTypeScope="" ma:versionID="4c7c66d906fbd49775b10eeedd163ea7">
  <xsd:schema xmlns:xsd="http://www.w3.org/2001/XMLSchema" xmlns:xs="http://www.w3.org/2001/XMLSchema" xmlns:p="http://schemas.microsoft.com/office/2006/metadata/properties" xmlns:ns2="8608378c-9d89-4280-9f86-684f84fbf7a4" targetNamespace="http://schemas.microsoft.com/office/2006/metadata/properties" ma:root="true" ma:fieldsID="759e42e850e8058a3deb55707af8a3f7" ns2:_="">
    <xsd:import namespace="8608378c-9d89-4280-9f86-684f84fbf7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08378c-9d89-4280-9f86-684f84fbf7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6F13F4-7CFB-44DF-BA98-BEED17A8B9CA}">
  <ds:schemaRefs>
    <ds:schemaRef ds:uri="http://schemas.microsoft.com/sharepoint/v3/contenttype/forms"/>
  </ds:schemaRefs>
</ds:datastoreItem>
</file>

<file path=customXml/itemProps2.xml><?xml version="1.0" encoding="utf-8"?>
<ds:datastoreItem xmlns:ds="http://schemas.openxmlformats.org/officeDocument/2006/customXml" ds:itemID="{D694ECA5-17E2-4875-BC0F-B0D209D2132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BDCDCB7-65C1-4AE7-87C2-C71A654E43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08378c-9d89-4280-9f86-684f84fbf7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TotalTime>
  <Words>2542</Words>
  <Application>Microsoft Office PowerPoint</Application>
  <PresentationFormat>Widescreen</PresentationFormat>
  <Paragraphs>323</Paragraphs>
  <Slides>47</Slides>
  <Notes>25</Notes>
  <HiddenSlides>0</HiddenSlides>
  <MMClips>0</MMClips>
  <ScaleCrop>false</ScaleCrop>
  <HeadingPairs>
    <vt:vector size="4" baseType="variant">
      <vt:variant>
        <vt:lpstr>Theme</vt:lpstr>
      </vt:variant>
      <vt:variant>
        <vt:i4>4</vt:i4>
      </vt:variant>
      <vt:variant>
        <vt:lpstr>Slide Titles</vt:lpstr>
      </vt:variant>
      <vt:variant>
        <vt:i4>47</vt:i4>
      </vt:variant>
    </vt:vector>
  </HeadingPairs>
  <TitlesOfParts>
    <vt:vector size="51" baseType="lpstr">
      <vt:lpstr>1_Office Theme</vt:lpstr>
      <vt:lpstr>9_Office Theme</vt:lpstr>
      <vt:lpstr>4_Office Theme</vt:lpstr>
      <vt:lpstr>7_Office Theme</vt:lpstr>
      <vt:lpstr>Unit 3 Aggregate demand and the multiplier model</vt:lpstr>
      <vt:lpstr>PowerPoint Presentation</vt:lpstr>
      <vt:lpstr>The private economy Focus: Investment</vt:lpstr>
      <vt:lpstr>More on Investment</vt:lpstr>
      <vt:lpstr>Assume r increases  from r to r′…</vt:lpstr>
      <vt:lpstr>A rise in r graphically</vt:lpstr>
      <vt:lpstr>PowerPoint Presentation</vt:lpstr>
      <vt:lpstr>PowerPoint Presentation</vt:lpstr>
      <vt:lpstr>Summary: An aggregate demand shock: A fall in investment </vt:lpstr>
      <vt:lpstr>Calculating the multiplier: the private economy</vt:lpstr>
      <vt:lpstr>Calculating the multiplier: the private economy</vt:lpstr>
      <vt:lpstr>Calculating the multiplier: the private economy</vt:lpstr>
      <vt:lpstr>PowerPoint Presentation</vt:lpstr>
      <vt:lpstr>PowerPoint Presentation</vt:lpstr>
      <vt:lpstr>PowerPoint Presentation</vt:lpstr>
      <vt:lpstr>Aggregate demand</vt:lpstr>
      <vt:lpstr>Adding Government expenditure (G) – working with a closed(public) economy model ….</vt:lpstr>
      <vt:lpstr>PowerPoint Presentation</vt:lpstr>
      <vt:lpstr>Unit 3</vt:lpstr>
      <vt:lpstr>PowerPoint Presentation</vt:lpstr>
      <vt:lpstr>PowerPoint Presentation</vt:lpstr>
      <vt:lpstr>PowerPoint Presentation</vt:lpstr>
      <vt:lpstr>But for G to happen – T is necessary …. </vt:lpstr>
      <vt:lpstr>PowerPoint Presentation</vt:lpstr>
      <vt:lpstr>Adding the government to aggregate demand: the components</vt:lpstr>
      <vt:lpstr>Unit 3</vt:lpstr>
      <vt:lpstr>PowerPoint Presentation</vt:lpstr>
      <vt:lpstr>PowerPoint Presentation</vt:lpstr>
      <vt:lpstr>PowerPoint Presentation</vt:lpstr>
      <vt:lpstr>Effect of tax on the multiplier:</vt:lpstr>
      <vt:lpstr>Assume t decreases from t to t′</vt:lpstr>
      <vt:lpstr>Assume t decreases from t to t′ graphically</vt:lpstr>
      <vt:lpstr>Opening up the economy:</vt:lpstr>
      <vt:lpstr>Adding Net Exports (NX = X – M) – working with an open economy model ….</vt:lpstr>
      <vt:lpstr>PowerPoint Presentation</vt:lpstr>
      <vt:lpstr>Net exports and aggregate demand</vt:lpstr>
      <vt:lpstr>Adding government to aggregate demand:  the components</vt:lpstr>
      <vt:lpstr>Unit 3</vt:lpstr>
      <vt:lpstr>We now net exports (X-M), and the economy becomes an open economy </vt:lpstr>
      <vt:lpstr>PowerPoint Presentation</vt:lpstr>
      <vt:lpstr>PowerPoint Presentation</vt:lpstr>
      <vt:lpstr>Assume m rises from m to m′</vt:lpstr>
      <vt:lpstr>Assume m rises from m to m′ graphically</vt:lpstr>
      <vt:lpstr>The multiplier</vt:lpstr>
      <vt:lpstr>The multiplier in the full model</vt:lpstr>
      <vt:lpstr>Summary of Changes in the AD curve</vt:lpstr>
      <vt:lpstr>In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Liezl Nieuwoudt</dc:creator>
  <cp:lastModifiedBy>Liezl Nieuwoudt</cp:lastModifiedBy>
  <cp:revision>6</cp:revision>
  <dcterms:created xsi:type="dcterms:W3CDTF">2025-08-14T14:20:45Z</dcterms:created>
  <dcterms:modified xsi:type="dcterms:W3CDTF">2025-09-02T05:29:06Z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0x0101007C3DC2A576866347B3860F3D6B95AFFE</vt:lpwstr>
  </property>
</Properties>
</file>