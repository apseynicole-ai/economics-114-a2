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entation.xml" ContentType="application/vnd.openxmlformats-officedocument.presentationml.presentation.main+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7"/>
  </p:notesMasterIdLst>
  <p:sldIdLst>
    <p:sldId id="846" r:id="rId3"/>
    <p:sldId id="845" r:id="rId4"/>
    <p:sldId id="849" r:id="rId5"/>
    <p:sldId id="805" r:id="rId6"/>
    <p:sldId id="848" r:id="rId7"/>
    <p:sldId id="351" r:id="rId8"/>
    <p:sldId id="806" r:id="rId9"/>
    <p:sldId id="311" r:id="rId10"/>
    <p:sldId id="850" r:id="rId11"/>
    <p:sldId id="852" r:id="rId12"/>
    <p:sldId id="308" r:id="rId13"/>
    <p:sldId id="441" r:id="rId14"/>
    <p:sldId id="310" r:id="rId15"/>
    <p:sldId id="853" r:id="rId16"/>
    <p:sldId id="294" r:id="rId17"/>
    <p:sldId id="854" r:id="rId18"/>
    <p:sldId id="320" r:id="rId19"/>
    <p:sldId id="444" r:id="rId20"/>
    <p:sldId id="855" r:id="rId21"/>
    <p:sldId id="857" r:id="rId22"/>
    <p:sldId id="859" r:id="rId23"/>
    <p:sldId id="445" r:id="rId24"/>
    <p:sldId id="446" r:id="rId25"/>
    <p:sldId id="809" r:id="rId26"/>
    <p:sldId id="860" r:id="rId27"/>
    <p:sldId id="862" r:id="rId28"/>
    <p:sldId id="281" r:id="rId29"/>
    <p:sldId id="869" r:id="rId30"/>
    <p:sldId id="863" r:id="rId31"/>
    <p:sldId id="864" r:id="rId32"/>
    <p:sldId id="295" r:id="rId33"/>
    <p:sldId id="866" r:id="rId34"/>
    <p:sldId id="285" r:id="rId35"/>
    <p:sldId id="858"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4995" autoAdjust="0"/>
    <p:restoredTop sz="94660"/>
  </p:normalViewPr>
  <p:slideViewPr>
    <p:cSldViewPr snapToGrid="0">
      <p:cViewPr varScale="1">
        <p:scale>
          <a:sx n="56" d="100"/>
          <a:sy n="56" d="100"/>
        </p:scale>
        <p:origin x="1000" y="56"/>
      </p:cViewPr>
      <p:guideLst/>
    </p:cSldViewPr>
  </p:slideViewPr>
  <p:notesTextViewPr>
    <p:cViewPr>
      <p:scale>
        <a:sx n="1" d="1"/>
        <a:sy n="1" d="1"/>
      </p:scale>
      <p:origin x="0" y="0"/>
    </p:cViewPr>
  </p:notesTextViewPr>
  <p:sorterViewPr>
    <p:cViewPr>
      <p:scale>
        <a:sx n="50" d="100"/>
        <a:sy n="50" d="100"/>
      </p:scale>
      <p:origin x="0" y="-119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ustomXml" Target="../customXml/item2.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E78CAD-3140-4DA6-B559-028385BF48A5}" type="datetimeFigureOut">
              <a:rPr lang="en-ZA" smtClean="0"/>
              <a:t>2025/08/21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CDCB3-6CE2-46FF-B2C9-8BE7AE874F2E}" type="slidenum">
              <a:rPr lang="en-ZA" smtClean="0"/>
              <a:t>‹#›</a:t>
            </a:fld>
            <a:endParaRPr lang="en-ZA"/>
          </a:p>
        </p:txBody>
      </p:sp>
    </p:spTree>
    <p:extLst>
      <p:ext uri="{BB962C8B-B14F-4D97-AF65-F5344CB8AC3E}">
        <p14:creationId xmlns:p14="http://schemas.microsoft.com/office/powerpoint/2010/main" val="87470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A8BC1-F967-4A23-6C07-14041E0C7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EB518-1F46-FE19-9979-939D1A37B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0E07E-EAAE-CE2F-70C8-8453B952E952}"/>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6D64CA03-7C34-33B4-1D79-B7061DEC52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8519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C91ED-58E9-BDED-E7AB-A5571471C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B40FA-C6A4-4A5D-A05B-84596E688E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B01B1-C158-DE8B-3734-5F9F5A7A457D}"/>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CE612D21-BB9C-D4E7-5664-79AED6D36F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08320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8599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4058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9244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At this time income is low. The individual saves and repays the debt when older and earning more, and finally runs down savings after retirement, when income falls again.</a:t>
            </a:r>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ACC254-0957-43CD-851D-D59342AC5D69}" type="slidenum">
              <a:rPr kumimoji="0" lang="en-Z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Z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0975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87861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6170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3E447-5419-8B9A-2620-2BA255F8E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D4EB0-B4BF-5069-CE79-A8C2FCA5A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49C9A-5751-958C-C84F-77F49FA56C39}"/>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F18FDA2D-8361-84C5-6676-78A8EC42A6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94524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1142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7551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4C7CDCB3-6CE2-46FF-B2C9-8BE7AE874F2E}" type="slidenum">
              <a:rPr lang="en-ZA" smtClean="0"/>
              <a:t>13</a:t>
            </a:fld>
            <a:endParaRPr lang="en-ZA"/>
          </a:p>
        </p:txBody>
      </p:sp>
    </p:spTree>
    <p:extLst>
      <p:ext uri="{BB962C8B-B14F-4D97-AF65-F5344CB8AC3E}">
        <p14:creationId xmlns:p14="http://schemas.microsoft.com/office/powerpoint/2010/main" val="32746363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9250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8152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45A7E-C63D-A650-34E3-8817327D9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BFC71-1887-8FAE-DCBC-BEF4A7C6A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C2CFD9-0480-8061-E8E1-7B9C7FD72154}"/>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AC659C95-CFC7-DE82-6ED3-DB14F8DB251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6653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942845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8634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2E074-CB0C-81B9-7DD9-05B7A7C60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3B197-CD7C-3E4C-9AF7-5E60BBE7D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7DBF8-BBA0-6B75-7558-6F4C9E509040}"/>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69ED8465-C61B-3703-D601-6A0DCC7795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77001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03919-3E28-FB3F-A64A-D60A62F75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AEAD1-A323-AB46-0BE7-D5DDC2A04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0AD6C-168C-0CF1-E0F6-781FEE1BF98A}"/>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32323432-9500-6D0C-E838-88C8EEA45C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7160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0782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64942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7721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C9E72-F4FC-E028-6EB1-88ADEE862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4A2A87-1E14-AB93-3567-6588730E9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14378-6867-E54B-B9FB-B4C86670EF1B}"/>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6B7E051A-DDFB-1EA6-829A-BCF5417706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142032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ACC254-0957-43CD-851D-D59342AC5D69}" type="slidenum">
              <a:rPr kumimoji="0" lang="en-Z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Z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36504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33232-23D1-3FE8-0E96-01102E537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1B74AC-CE4F-27DA-2E07-378C60C06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D7040-1C5A-38AE-F12C-E0BAAC7EB0FC}"/>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FC4C0003-93B3-7416-EAB0-592AB52401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ACC254-0957-43CD-851D-D59342AC5D69}" type="slidenum">
              <a:rPr kumimoji="0" lang="en-Z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Z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3784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063391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AB5415-19B2-4E24-9144-8E58C47607AD}"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888465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587A5D-ABAE-4F55-B9A3-5D419C96BB41}" type="slidenum">
              <a:rPr kumimoji="0" lang="en-Z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Z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5504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A750-3F38-F918-6B8A-F5AE07C1CC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52C28018-2CF1-F1B6-A768-FAA9B324A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36BD1595-4FD9-B9FD-F532-4B0F19073F34}"/>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5" name="Footer Placeholder 4">
            <a:extLst>
              <a:ext uri="{FF2B5EF4-FFF2-40B4-BE49-F238E27FC236}">
                <a16:creationId xmlns:a16="http://schemas.microsoft.com/office/drawing/2014/main" id="{8642136A-B545-25E0-1D1B-03E109C9739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E48CE7F-FF17-4B98-70EF-C1CC41B39C33}"/>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858274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DF5F-3ECF-CC84-B106-F3F43EB45266}"/>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F98CDBC-949A-FABC-A0D8-1E60B747B3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CE285DC-2A11-597C-E36F-D759BACCC193}"/>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5" name="Footer Placeholder 4">
            <a:extLst>
              <a:ext uri="{FF2B5EF4-FFF2-40B4-BE49-F238E27FC236}">
                <a16:creationId xmlns:a16="http://schemas.microsoft.com/office/drawing/2014/main" id="{04F95925-49CC-6506-5133-965E7349ABF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BDDAC5-90AB-EF79-CD67-D7D12AF77F05}"/>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263136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B6D11-9178-160C-884D-F1BE09DB9E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47053C2C-777B-58E3-9B1C-7E7B529FD6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EB107F-851F-69FF-6929-8EB5D036D03D}"/>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5" name="Footer Placeholder 4">
            <a:extLst>
              <a:ext uri="{FF2B5EF4-FFF2-40B4-BE49-F238E27FC236}">
                <a16:creationId xmlns:a16="http://schemas.microsoft.com/office/drawing/2014/main" id="{EC773F62-7C3F-6142-8DA3-5D32CA93D4E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A692FF7-CA1F-7593-6AE0-AE6CE0140A36}"/>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2563741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DEE5E-B243-1D1F-D75F-B6B2A6E68377}"/>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5E89AB8-2C84-8E25-4FAA-823130CD6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5CD122FB-AA56-5A77-F8F2-7226A6FE5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5FC144FC-6CF6-25A5-130F-FFC0A9B198A7}"/>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6" name="Footer Placeholder 5">
            <a:extLst>
              <a:ext uri="{FF2B5EF4-FFF2-40B4-BE49-F238E27FC236}">
                <a16:creationId xmlns:a16="http://schemas.microsoft.com/office/drawing/2014/main" id="{44576E54-F63B-CDDE-0760-99AFCB51CCB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58B8D21-BF65-7247-364B-4652E4E6BBA8}"/>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461736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22FCC-7955-05C7-2CBE-2D0D8E6991F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C1C44B2-4B3D-0788-11D4-49E12D38A9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BAEDC2-07EB-0D11-3C2A-290F4A9574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8144B52B-E7BD-DCFA-B3C9-1E27DD51CC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012C0E-A1E3-59A8-DBD9-CA3814D85E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2D433DD-61FB-88C6-CB4B-B28DC36AAC10}"/>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8" name="Footer Placeholder 7">
            <a:extLst>
              <a:ext uri="{FF2B5EF4-FFF2-40B4-BE49-F238E27FC236}">
                <a16:creationId xmlns:a16="http://schemas.microsoft.com/office/drawing/2014/main" id="{1F439316-82C4-70D1-98D1-021F76900CD8}"/>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A31D39CC-EAB7-327B-6EA2-6F332B61DDB1}"/>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2898181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6DCA5-42C3-1224-4BA5-CF58BA26A8CD}"/>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18C9384-5467-D3DC-04A7-D4602DE844F0}"/>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4" name="Footer Placeholder 3">
            <a:extLst>
              <a:ext uri="{FF2B5EF4-FFF2-40B4-BE49-F238E27FC236}">
                <a16:creationId xmlns:a16="http://schemas.microsoft.com/office/drawing/2014/main" id="{9009DE6B-FD9F-4AD2-5E8F-59ADC87B66B0}"/>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11AADA6-432D-3CCA-DC5B-44955E1F9374}"/>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1181521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8C94BA-3099-2503-5BC5-509FE5E0E233}"/>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3" name="Footer Placeholder 2">
            <a:extLst>
              <a:ext uri="{FF2B5EF4-FFF2-40B4-BE49-F238E27FC236}">
                <a16:creationId xmlns:a16="http://schemas.microsoft.com/office/drawing/2014/main" id="{1E0083E4-6792-4D8D-4BB8-8E0F88ACD08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C62CA04-8B12-E209-5AF1-8867D65219C7}"/>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2460672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D5698-7B7D-D0A1-8DBA-88E1B12499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185F65D2-8C42-2977-D70C-F2B64CA51D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AD2E1BB2-A0FB-305D-B677-3824F51490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16F24B-F1A6-2947-2160-BF1AAADB1B00}"/>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6" name="Footer Placeholder 5">
            <a:extLst>
              <a:ext uri="{FF2B5EF4-FFF2-40B4-BE49-F238E27FC236}">
                <a16:creationId xmlns:a16="http://schemas.microsoft.com/office/drawing/2014/main" id="{8DB66B5D-DFFF-8E57-FD54-AF1FE085586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558C75E-768D-0E3D-06D4-FEE82C934747}"/>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1795169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518C5-EE83-0269-D116-D04DABBD1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1ECDAC0C-78B5-A0C8-B21B-3782A57B6B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948293CA-DE17-9BD7-6997-CF6988A441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71AEE1-070C-388B-0446-A1B78C661226}"/>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6" name="Footer Placeholder 5">
            <a:extLst>
              <a:ext uri="{FF2B5EF4-FFF2-40B4-BE49-F238E27FC236}">
                <a16:creationId xmlns:a16="http://schemas.microsoft.com/office/drawing/2014/main" id="{CC894FDC-9713-2DB0-CB5B-19F78CC70DB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B8719C5-6EB8-BF36-D182-9943CC5D690B}"/>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4198130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B390-BE68-9D72-B5D9-57482F2E0BF7}"/>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A0F4E6B-288D-4049-6C56-A5D5D31394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6344C6C-E2FD-9940-FEDA-00183F1C75AB}"/>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5" name="Footer Placeholder 4">
            <a:extLst>
              <a:ext uri="{FF2B5EF4-FFF2-40B4-BE49-F238E27FC236}">
                <a16:creationId xmlns:a16="http://schemas.microsoft.com/office/drawing/2014/main" id="{D9353478-71A3-6D35-7E8D-C5C1FA51084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24B486C-52A1-7BB9-A4EB-350E3F4B0A0D}"/>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426798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C4089-FF80-5AB0-3EC5-74DA590559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FCD228CC-86DB-B0A3-02F8-A3896A5E2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0C42B18-07BF-FD8A-5525-639E62FB1ECF}"/>
              </a:ext>
            </a:extLst>
          </p:cNvPr>
          <p:cNvSpPr>
            <a:spLocks noGrp="1"/>
          </p:cNvSpPr>
          <p:nvPr>
            <p:ph type="dt" sz="half" idx="10"/>
          </p:nvPr>
        </p:nvSpPr>
        <p:spPr/>
        <p:txBody>
          <a:bodyPr/>
          <a:lstStyle/>
          <a:p>
            <a:fld id="{4EED8FD1-908C-4EEF-8891-E2C9F440A365}" type="datetimeFigureOut">
              <a:rPr lang="en-ZA" smtClean="0"/>
              <a:t>2025/08/21</a:t>
            </a:fld>
            <a:endParaRPr lang="en-ZA"/>
          </a:p>
        </p:txBody>
      </p:sp>
      <p:sp>
        <p:nvSpPr>
          <p:cNvPr id="5" name="Footer Placeholder 4">
            <a:extLst>
              <a:ext uri="{FF2B5EF4-FFF2-40B4-BE49-F238E27FC236}">
                <a16:creationId xmlns:a16="http://schemas.microsoft.com/office/drawing/2014/main" id="{F5AA08B5-06B8-9A14-6404-1D5E13E9A6F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9E9643D-C319-6D98-18DE-AD6940E7EC23}"/>
              </a:ext>
            </a:extLst>
          </p:cNvPr>
          <p:cNvSpPr>
            <a:spLocks noGrp="1"/>
          </p:cNvSpPr>
          <p:nvPr>
            <p:ph type="sldNum" sz="quarter" idx="12"/>
          </p:nvPr>
        </p:nvSpPr>
        <p:spPr/>
        <p:txBody>
          <a:bodyPr/>
          <a:lstStyle/>
          <a:p>
            <a:fld id="{28417C84-98FD-4FF4-BA43-3F6D51F8D5B6}" type="slidenum">
              <a:rPr lang="en-ZA" smtClean="0"/>
              <a:t>‹#›</a:t>
            </a:fld>
            <a:endParaRPr lang="en-ZA"/>
          </a:p>
        </p:txBody>
      </p:sp>
    </p:spTree>
    <p:extLst>
      <p:ext uri="{BB962C8B-B14F-4D97-AF65-F5344CB8AC3E}">
        <p14:creationId xmlns:p14="http://schemas.microsoft.com/office/powerpoint/2010/main" val="3419354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on white bg with maroon banner">
    <p:spTree>
      <p:nvGrpSpPr>
        <p:cNvPr id="1" name=""/>
        <p:cNvGrpSpPr/>
        <p:nvPr/>
      </p:nvGrpSpPr>
      <p:grpSpPr>
        <a:xfrm>
          <a:off x="0" y="0"/>
          <a:ext cx="0" cy="0"/>
          <a:chOff x="0" y="0"/>
          <a:chExt cx="0" cy="0"/>
        </a:xfrm>
      </p:grpSpPr>
      <p:pic>
        <p:nvPicPr>
          <p:cNvPr id="6" name="Maroon Banner">
            <a:extLst>
              <a:ext uri="{FF2B5EF4-FFF2-40B4-BE49-F238E27FC236}">
                <a16:creationId xmlns:a16="http://schemas.microsoft.com/office/drawing/2014/main" id="{6167D968-35CA-1DB8-1B74-50521DED38AD}"/>
              </a:ext>
            </a:extLst>
          </p:cNvPr>
          <p:cNvPicPr>
            <a:picLocks/>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9675" t="66265" r="9774" b="6982"/>
          <a:stretch/>
        </p:blipFill>
        <p:spPr>
          <a:xfrm>
            <a:off x="-7951" y="-2"/>
            <a:ext cx="12204000" cy="1410835"/>
          </a:xfrm>
          <a:prstGeom prst="rect">
            <a:avLst/>
          </a:prstGeom>
        </p:spPr>
      </p:pic>
      <p:pic>
        <p:nvPicPr>
          <p:cNvPr id="8" name="SU Logo">
            <a:extLst>
              <a:ext uri="{FF2B5EF4-FFF2-40B4-BE49-F238E27FC236}">
                <a16:creationId xmlns:a16="http://schemas.microsoft.com/office/drawing/2014/main" id="{9A31297D-9031-1678-3B32-24C6FFF8A508}"/>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9584456" y="1"/>
            <a:ext cx="2609736" cy="1410832"/>
          </a:xfrm>
          <a:prstGeom prst="rect">
            <a:avLst/>
          </a:prstGeom>
        </p:spPr>
      </p:pic>
      <p:sp>
        <p:nvSpPr>
          <p:cNvPr id="10" name="Content Placeholder ">
            <a:extLst>
              <a:ext uri="{FF2B5EF4-FFF2-40B4-BE49-F238E27FC236}">
                <a16:creationId xmlns:a16="http://schemas.microsoft.com/office/drawing/2014/main" id="{1E5D113C-3036-C842-BC1F-5B0180C05F49}"/>
              </a:ext>
            </a:extLst>
          </p:cNvPr>
          <p:cNvSpPr>
            <a:spLocks noGrp="1"/>
          </p:cNvSpPr>
          <p:nvPr>
            <p:ph idx="1"/>
          </p:nvPr>
        </p:nvSpPr>
        <p:spPr>
          <a:xfrm>
            <a:off x="340241" y="1697394"/>
            <a:ext cx="11504429" cy="4801655"/>
          </a:xfrm>
        </p:spPr>
        <p:txBody>
          <a:bodyPr>
            <a:normAutofit lnSpcReduction="10000"/>
          </a:bodyPr>
          <a:lstStyle>
            <a:lvl1pPr marL="0" indent="0">
              <a:buNone/>
              <a:defRPr/>
            </a:lvl1pPr>
          </a:lstStyle>
          <a:p>
            <a:endParaRPr lang="en-GB" dirty="0"/>
          </a:p>
        </p:txBody>
      </p:sp>
      <p:sp>
        <p:nvSpPr>
          <p:cNvPr id="2" name="Title">
            <a:extLst>
              <a:ext uri="{FF2B5EF4-FFF2-40B4-BE49-F238E27FC236}">
                <a16:creationId xmlns:a16="http://schemas.microsoft.com/office/drawing/2014/main" id="{4F38FE0C-DEEE-374F-87A7-4115B8F04250}"/>
              </a:ext>
            </a:extLst>
          </p:cNvPr>
          <p:cNvSpPr>
            <a:spLocks noGrp="1"/>
          </p:cNvSpPr>
          <p:nvPr>
            <p:ph type="title" hasCustomPrompt="1"/>
          </p:nvPr>
        </p:nvSpPr>
        <p:spPr>
          <a:xfrm>
            <a:off x="349621" y="272383"/>
            <a:ext cx="8886865" cy="1019176"/>
          </a:xfrm>
          <a:prstGeom prst="rect">
            <a:avLst/>
          </a:prstGeom>
        </p:spPr>
        <p:txBody>
          <a:bodyPr/>
          <a:lstStyle>
            <a:lvl1pPr>
              <a:defRPr>
                <a:solidFill>
                  <a:schemeClr val="bg1"/>
                </a:solidFill>
              </a:defRPr>
            </a:lvl1pPr>
          </a:lstStyle>
          <a:p>
            <a:r>
              <a:rPr lang="en-GB" dirty="0"/>
              <a:t>Going through the options…</a:t>
            </a:r>
            <a:endParaRPr lang="en-US" dirty="0"/>
          </a:p>
        </p:txBody>
      </p:sp>
    </p:spTree>
    <p:extLst>
      <p:ext uri="{BB962C8B-B14F-4D97-AF65-F5344CB8AC3E}">
        <p14:creationId xmlns:p14="http://schemas.microsoft.com/office/powerpoint/2010/main" val="4145009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4EA3C-27E7-434D-8C85-E01DEE9422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C76C9E2-9D14-46B8-ACE2-96C9AF664A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D664A469-B02F-401D-8090-653B53F72F7E}"/>
              </a:ext>
            </a:extLst>
          </p:cNvPr>
          <p:cNvSpPr>
            <a:spLocks noGrp="1"/>
          </p:cNvSpPr>
          <p:nvPr>
            <p:ph type="dt" sz="half" idx="10"/>
          </p:nvPr>
        </p:nvSpPr>
        <p:spPr/>
        <p:txBody>
          <a:bodyPr/>
          <a:lstStyle/>
          <a:p>
            <a:fld id="{D859D86C-0A78-4C0D-9BC0-6D1F68AAAF90}" type="datetime1">
              <a:rPr lang="en-ZA" smtClean="0"/>
              <a:t>2025/08/21</a:t>
            </a:fld>
            <a:endParaRPr lang="en-ZA"/>
          </a:p>
        </p:txBody>
      </p:sp>
      <p:sp>
        <p:nvSpPr>
          <p:cNvPr id="5" name="Footer Placeholder 4">
            <a:extLst>
              <a:ext uri="{FF2B5EF4-FFF2-40B4-BE49-F238E27FC236}">
                <a16:creationId xmlns:a16="http://schemas.microsoft.com/office/drawing/2014/main" id="{C4A6A60A-FBCC-43EF-BAAF-A6E39412C0D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BFD5DDE4-60E3-4E1E-8E89-CBEBD1F9A368}"/>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1247529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CC8B2-98A1-4BFE-BEC6-1C0F3E4053A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6BD07C7-14EE-4F4B-9D81-EBE64523F1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D73B2F4-4E40-4C97-AFF9-01B13EE5C371}"/>
              </a:ext>
            </a:extLst>
          </p:cNvPr>
          <p:cNvSpPr>
            <a:spLocks noGrp="1"/>
          </p:cNvSpPr>
          <p:nvPr>
            <p:ph type="dt" sz="half" idx="10"/>
          </p:nvPr>
        </p:nvSpPr>
        <p:spPr/>
        <p:txBody>
          <a:bodyPr/>
          <a:lstStyle/>
          <a:p>
            <a:fld id="{C5C210EC-DFE8-4483-9CCC-B4E32558F1BD}" type="datetime1">
              <a:rPr lang="en-ZA" smtClean="0"/>
              <a:t>2025/08/21</a:t>
            </a:fld>
            <a:endParaRPr lang="en-ZA"/>
          </a:p>
        </p:txBody>
      </p:sp>
      <p:sp>
        <p:nvSpPr>
          <p:cNvPr id="5" name="Footer Placeholder 4">
            <a:extLst>
              <a:ext uri="{FF2B5EF4-FFF2-40B4-BE49-F238E27FC236}">
                <a16:creationId xmlns:a16="http://schemas.microsoft.com/office/drawing/2014/main" id="{C5CFFB28-321C-49EE-9C80-658E945C3E0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1BF8FAA-DAF7-406F-A757-C8C7D6E6E878}"/>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13597165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257B-4B7C-440E-98FE-AA7F27AF81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F975E66-6095-4970-9ECF-D5F1BC90A6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6A67B7-2367-4EEC-9A17-AFAC67A318D8}"/>
              </a:ext>
            </a:extLst>
          </p:cNvPr>
          <p:cNvSpPr>
            <a:spLocks noGrp="1"/>
          </p:cNvSpPr>
          <p:nvPr>
            <p:ph type="dt" sz="half" idx="10"/>
          </p:nvPr>
        </p:nvSpPr>
        <p:spPr/>
        <p:txBody>
          <a:bodyPr/>
          <a:lstStyle/>
          <a:p>
            <a:fld id="{076CD355-14B8-488C-BAA1-6556B5CD00F0}" type="datetime1">
              <a:rPr lang="en-ZA" smtClean="0"/>
              <a:t>2025/08/21</a:t>
            </a:fld>
            <a:endParaRPr lang="en-ZA"/>
          </a:p>
        </p:txBody>
      </p:sp>
      <p:sp>
        <p:nvSpPr>
          <p:cNvPr id="5" name="Footer Placeholder 4">
            <a:extLst>
              <a:ext uri="{FF2B5EF4-FFF2-40B4-BE49-F238E27FC236}">
                <a16:creationId xmlns:a16="http://schemas.microsoft.com/office/drawing/2014/main" id="{12CFA093-0D83-4557-B2AB-A77F64D395E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24221DB-3681-4AB8-9538-71CB51CFB1D7}"/>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1184808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A239B-6855-43E4-B033-21176656F2D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FFEA36CC-827E-4339-84CA-BC50AFF504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9724844B-1CFA-4974-B5AA-23EE4E144D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110B9953-9FE1-4D47-8F11-B6FB6886D973}"/>
              </a:ext>
            </a:extLst>
          </p:cNvPr>
          <p:cNvSpPr>
            <a:spLocks noGrp="1"/>
          </p:cNvSpPr>
          <p:nvPr>
            <p:ph type="dt" sz="half" idx="10"/>
          </p:nvPr>
        </p:nvSpPr>
        <p:spPr/>
        <p:txBody>
          <a:bodyPr/>
          <a:lstStyle/>
          <a:p>
            <a:fld id="{05A9DA17-4354-4A1E-A5F9-FA8028C9D6B3}" type="datetime1">
              <a:rPr lang="en-ZA" smtClean="0"/>
              <a:t>2025/08/21</a:t>
            </a:fld>
            <a:endParaRPr lang="en-ZA"/>
          </a:p>
        </p:txBody>
      </p:sp>
      <p:sp>
        <p:nvSpPr>
          <p:cNvPr id="6" name="Footer Placeholder 5">
            <a:extLst>
              <a:ext uri="{FF2B5EF4-FFF2-40B4-BE49-F238E27FC236}">
                <a16:creationId xmlns:a16="http://schemas.microsoft.com/office/drawing/2014/main" id="{A25809F1-C897-460D-92C8-E300FC30CFD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6EBC286-9077-4179-96DC-69ADF9CB2197}"/>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23755929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EE80-BD56-448A-89BD-D4CC66D48C6A}"/>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142FDA6-A16B-46A1-A6E8-2F7E8B4AE2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C7F412-9BD9-44DF-8EFF-E94941933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F9595353-8949-477A-905F-DB7A02A20C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3E4010-8699-46E5-8A45-DFE791DE9C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3C7FCAE-7510-412A-9EA2-51024E434EED}"/>
              </a:ext>
            </a:extLst>
          </p:cNvPr>
          <p:cNvSpPr>
            <a:spLocks noGrp="1"/>
          </p:cNvSpPr>
          <p:nvPr>
            <p:ph type="dt" sz="half" idx="10"/>
          </p:nvPr>
        </p:nvSpPr>
        <p:spPr/>
        <p:txBody>
          <a:bodyPr/>
          <a:lstStyle/>
          <a:p>
            <a:fld id="{ED4562C0-10C5-43B1-8348-D4F1FAFD09E4}" type="datetime1">
              <a:rPr lang="en-ZA" smtClean="0"/>
              <a:t>2025/08/21</a:t>
            </a:fld>
            <a:endParaRPr lang="en-ZA"/>
          </a:p>
        </p:txBody>
      </p:sp>
      <p:sp>
        <p:nvSpPr>
          <p:cNvPr id="8" name="Footer Placeholder 7">
            <a:extLst>
              <a:ext uri="{FF2B5EF4-FFF2-40B4-BE49-F238E27FC236}">
                <a16:creationId xmlns:a16="http://schemas.microsoft.com/office/drawing/2014/main" id="{CBFA46B1-004E-4413-B7DA-5391C0C1F33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5D9145DE-753D-4D9D-898F-4F17E39668A2}"/>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2056836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B9ADD-5AAE-4187-A802-6D92AC20AC78}"/>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12FB32CD-E460-45EA-9D48-F282EFFB21DA}"/>
              </a:ext>
            </a:extLst>
          </p:cNvPr>
          <p:cNvSpPr>
            <a:spLocks noGrp="1"/>
          </p:cNvSpPr>
          <p:nvPr>
            <p:ph type="dt" sz="half" idx="10"/>
          </p:nvPr>
        </p:nvSpPr>
        <p:spPr/>
        <p:txBody>
          <a:bodyPr/>
          <a:lstStyle/>
          <a:p>
            <a:fld id="{5D8588E3-048B-4A18-BFED-15D3050F38FE}" type="datetime1">
              <a:rPr lang="en-ZA" smtClean="0"/>
              <a:t>2025/08/21</a:t>
            </a:fld>
            <a:endParaRPr lang="en-ZA"/>
          </a:p>
        </p:txBody>
      </p:sp>
      <p:sp>
        <p:nvSpPr>
          <p:cNvPr id="4" name="Footer Placeholder 3">
            <a:extLst>
              <a:ext uri="{FF2B5EF4-FFF2-40B4-BE49-F238E27FC236}">
                <a16:creationId xmlns:a16="http://schemas.microsoft.com/office/drawing/2014/main" id="{EA5FEF96-5174-4813-BA25-57F5760677C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EDFD7A99-BDCB-484F-BA79-93F7C838C7E9}"/>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12565206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81FEC9-3C5C-474E-AC03-78A0753272EF}"/>
              </a:ext>
            </a:extLst>
          </p:cNvPr>
          <p:cNvSpPr>
            <a:spLocks noGrp="1"/>
          </p:cNvSpPr>
          <p:nvPr>
            <p:ph type="dt" sz="half" idx="10"/>
          </p:nvPr>
        </p:nvSpPr>
        <p:spPr/>
        <p:txBody>
          <a:bodyPr/>
          <a:lstStyle/>
          <a:p>
            <a:fld id="{2911323B-DE81-459F-A02F-6D4CCE94BE45}" type="datetime1">
              <a:rPr lang="en-ZA" smtClean="0"/>
              <a:t>2025/08/21</a:t>
            </a:fld>
            <a:endParaRPr lang="en-ZA"/>
          </a:p>
        </p:txBody>
      </p:sp>
      <p:sp>
        <p:nvSpPr>
          <p:cNvPr id="3" name="Footer Placeholder 2">
            <a:extLst>
              <a:ext uri="{FF2B5EF4-FFF2-40B4-BE49-F238E27FC236}">
                <a16:creationId xmlns:a16="http://schemas.microsoft.com/office/drawing/2014/main" id="{BE994585-21AE-4612-B4E3-E4FC161D3DF7}"/>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474CAA34-AA6B-4B7D-93BD-8A011226347E}"/>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2887785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E74DD-3755-4FF3-B558-D6C37C1540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4D7A489-3DEF-4D4A-9B93-7237001E80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BEB9B466-00CA-4C97-A7AB-84672C000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021ACC-4B7D-4929-8187-BD9CE377A488}"/>
              </a:ext>
            </a:extLst>
          </p:cNvPr>
          <p:cNvSpPr>
            <a:spLocks noGrp="1"/>
          </p:cNvSpPr>
          <p:nvPr>
            <p:ph type="dt" sz="half" idx="10"/>
          </p:nvPr>
        </p:nvSpPr>
        <p:spPr/>
        <p:txBody>
          <a:bodyPr/>
          <a:lstStyle/>
          <a:p>
            <a:fld id="{B57659DD-E391-4D55-BA71-6194123DE03A}" type="datetime1">
              <a:rPr lang="en-ZA" smtClean="0"/>
              <a:t>2025/08/21</a:t>
            </a:fld>
            <a:endParaRPr lang="en-ZA"/>
          </a:p>
        </p:txBody>
      </p:sp>
      <p:sp>
        <p:nvSpPr>
          <p:cNvPr id="6" name="Footer Placeholder 5">
            <a:extLst>
              <a:ext uri="{FF2B5EF4-FFF2-40B4-BE49-F238E27FC236}">
                <a16:creationId xmlns:a16="http://schemas.microsoft.com/office/drawing/2014/main" id="{3A67C565-0EA3-4F9F-AB64-04FA94D90F0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586A068-D5AB-469C-A849-B6FE5043770A}"/>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14932674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03080-F62E-4B3B-9B1C-17B697DCF7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F6159600-B00B-4E14-9B46-FC889E78E5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7DAFC4F2-9199-4E6C-BCEF-30835EFE68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EB354-B085-41AD-911A-721236664506}"/>
              </a:ext>
            </a:extLst>
          </p:cNvPr>
          <p:cNvSpPr>
            <a:spLocks noGrp="1"/>
          </p:cNvSpPr>
          <p:nvPr>
            <p:ph type="dt" sz="half" idx="10"/>
          </p:nvPr>
        </p:nvSpPr>
        <p:spPr/>
        <p:txBody>
          <a:bodyPr/>
          <a:lstStyle/>
          <a:p>
            <a:fld id="{387B8291-ECB8-4F8F-981D-0A3FBAF2B2A0}" type="datetime1">
              <a:rPr lang="en-ZA" smtClean="0"/>
              <a:t>2025/08/21</a:t>
            </a:fld>
            <a:endParaRPr lang="en-ZA"/>
          </a:p>
        </p:txBody>
      </p:sp>
      <p:sp>
        <p:nvSpPr>
          <p:cNvPr id="6" name="Footer Placeholder 5">
            <a:extLst>
              <a:ext uri="{FF2B5EF4-FFF2-40B4-BE49-F238E27FC236}">
                <a16:creationId xmlns:a16="http://schemas.microsoft.com/office/drawing/2014/main" id="{4817006C-865F-4BEC-B741-3640EEDFC33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A7BBA50-05D2-4E73-B90F-FFC54A9C5808}"/>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1782839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0B79-B6F4-4FAD-A898-12819A33CF09}"/>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37CEB58-867F-4FFC-B6F0-17BF25C807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81FF34E-3778-4C95-AFAC-58B6B0DC39A2}"/>
              </a:ext>
            </a:extLst>
          </p:cNvPr>
          <p:cNvSpPr>
            <a:spLocks noGrp="1"/>
          </p:cNvSpPr>
          <p:nvPr>
            <p:ph type="dt" sz="half" idx="10"/>
          </p:nvPr>
        </p:nvSpPr>
        <p:spPr/>
        <p:txBody>
          <a:bodyPr/>
          <a:lstStyle/>
          <a:p>
            <a:fld id="{7BB81596-4444-4B5B-A70F-D6D175B5BB20}" type="datetime1">
              <a:rPr lang="en-ZA" smtClean="0"/>
              <a:t>2025/08/21</a:t>
            </a:fld>
            <a:endParaRPr lang="en-ZA"/>
          </a:p>
        </p:txBody>
      </p:sp>
      <p:sp>
        <p:nvSpPr>
          <p:cNvPr id="5" name="Footer Placeholder 4">
            <a:extLst>
              <a:ext uri="{FF2B5EF4-FFF2-40B4-BE49-F238E27FC236}">
                <a16:creationId xmlns:a16="http://schemas.microsoft.com/office/drawing/2014/main" id="{B92083A5-52C9-4479-98D2-4C03F5E892D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2ADA4E9-DF84-4B75-8157-72875A702D55}"/>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713096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6E09AE-6E0A-4AFB-8514-EAF7E73F1E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E7808B6-9BAA-4C31-9A8E-A014EE15A1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19799073-53A1-4376-875B-B3114093D760}"/>
              </a:ext>
            </a:extLst>
          </p:cNvPr>
          <p:cNvSpPr>
            <a:spLocks noGrp="1"/>
          </p:cNvSpPr>
          <p:nvPr>
            <p:ph type="dt" sz="half" idx="10"/>
          </p:nvPr>
        </p:nvSpPr>
        <p:spPr/>
        <p:txBody>
          <a:bodyPr/>
          <a:lstStyle/>
          <a:p>
            <a:fld id="{0BE9A331-4910-4F2B-ABF5-BD61729396FE}" type="datetime1">
              <a:rPr lang="en-ZA" smtClean="0"/>
              <a:t>2025/08/21</a:t>
            </a:fld>
            <a:endParaRPr lang="en-ZA"/>
          </a:p>
        </p:txBody>
      </p:sp>
      <p:sp>
        <p:nvSpPr>
          <p:cNvPr id="5" name="Footer Placeholder 4">
            <a:extLst>
              <a:ext uri="{FF2B5EF4-FFF2-40B4-BE49-F238E27FC236}">
                <a16:creationId xmlns:a16="http://schemas.microsoft.com/office/drawing/2014/main" id="{39647FBE-17F1-4A9C-A9EB-138D5F28A1D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808E280-1B39-426D-A0DD-3D86DD3D23DD}"/>
              </a:ext>
            </a:extLst>
          </p:cNvPr>
          <p:cNvSpPr>
            <a:spLocks noGrp="1"/>
          </p:cNvSpPr>
          <p:nvPr>
            <p:ph type="sldNum" sz="quarter" idx="12"/>
          </p:nvPr>
        </p:nvSpPr>
        <p:spPr/>
        <p:txBody>
          <a:bodyPr/>
          <a:lstStyle/>
          <a:p>
            <a:fld id="{6470A732-89BB-4002-939C-C69F6E33DF9F}" type="slidenum">
              <a:rPr lang="en-ZA" smtClean="0"/>
              <a:t>‹#›</a:t>
            </a:fld>
            <a:endParaRPr lang="en-ZA"/>
          </a:p>
        </p:txBody>
      </p:sp>
    </p:spTree>
    <p:extLst>
      <p:ext uri="{BB962C8B-B14F-4D97-AF65-F5344CB8AC3E}">
        <p14:creationId xmlns:p14="http://schemas.microsoft.com/office/powerpoint/2010/main" val="2879930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EDDDB7-0DD6-9EB2-70D4-E4E0DBE99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FC991DC-C569-5B9E-C257-E70827A72F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02EEFCE-557C-1DCE-60A4-32C0E300EC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ED8FD1-908C-4EEF-8891-E2C9F440A365}" type="datetimeFigureOut">
              <a:rPr lang="en-ZA" smtClean="0"/>
              <a:t>2025/08/21</a:t>
            </a:fld>
            <a:endParaRPr lang="en-ZA"/>
          </a:p>
        </p:txBody>
      </p:sp>
      <p:sp>
        <p:nvSpPr>
          <p:cNvPr id="5" name="Footer Placeholder 4">
            <a:extLst>
              <a:ext uri="{FF2B5EF4-FFF2-40B4-BE49-F238E27FC236}">
                <a16:creationId xmlns:a16="http://schemas.microsoft.com/office/drawing/2014/main" id="{6D5143F7-3018-FD97-3AF5-BE851EFD5E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71834786-BE7E-CDD1-2A54-7AB14FB063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417C84-98FD-4FF4-BA43-3F6D51F8D5B6}" type="slidenum">
              <a:rPr lang="en-ZA" smtClean="0"/>
              <a:t>‹#›</a:t>
            </a:fld>
            <a:endParaRPr lang="en-ZA"/>
          </a:p>
        </p:txBody>
      </p:sp>
    </p:spTree>
    <p:extLst>
      <p:ext uri="{BB962C8B-B14F-4D97-AF65-F5344CB8AC3E}">
        <p14:creationId xmlns:p14="http://schemas.microsoft.com/office/powerpoint/2010/main" val="1482438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870F5-FD5C-4EE7-A4EA-170F88EF0F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3113453-895B-40BD-871D-2E87B86080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557D492E-2FAC-43AA-B402-CB6F567EDA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7BB369-7D15-4FEC-9389-E049453EF8FC}" type="datetime1">
              <a:rPr lang="en-ZA" smtClean="0"/>
              <a:t>2025/08/21</a:t>
            </a:fld>
            <a:endParaRPr lang="en-ZA"/>
          </a:p>
        </p:txBody>
      </p:sp>
      <p:sp>
        <p:nvSpPr>
          <p:cNvPr id="5" name="Footer Placeholder 4">
            <a:extLst>
              <a:ext uri="{FF2B5EF4-FFF2-40B4-BE49-F238E27FC236}">
                <a16:creationId xmlns:a16="http://schemas.microsoft.com/office/drawing/2014/main" id="{4917EEB9-068E-43DC-9DB1-D8BDB95B9E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9932B6E9-5A11-427D-963B-DFF174A9E0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70A732-89BB-4002-939C-C69F6E33DF9F}" type="slidenum">
              <a:rPr lang="en-ZA" smtClean="0"/>
              <a:t>‹#›</a:t>
            </a:fld>
            <a:endParaRPr lang="en-ZA"/>
          </a:p>
        </p:txBody>
      </p:sp>
    </p:spTree>
    <p:extLst>
      <p:ext uri="{BB962C8B-B14F-4D97-AF65-F5344CB8AC3E}">
        <p14:creationId xmlns:p14="http://schemas.microsoft.com/office/powerpoint/2010/main" val="88487353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hyperlink" Target="https://books.core-econ.org/the-economy/macroeconomics/03-aggregate-demand-09-smooth-consumption.html#question-311-choose-the-correct-answers" TargetMode="Externa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books.core-econ.org/the-economy/macroeconomics/03-aggregate-demand-10-shocks-and-limits-to-consumption.html#figure-3-18c"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books.core-econ.org/the-economy/macroeconomics/03-aggregate-demand-10-shocks-and-limits-to-consumption.html#figure-3-19a"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books.core-econ.org/the-economy/macroeconomics/03-aggregate-demand-10-shocks-and-limits-to-consumption.html#question-313-choose-the-correct-answers" TargetMode="Externa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books.core-econ.org/the-economy/macroeconomics/03-aggregate-demand-11-why-is-investment-volatile.html#a-coordination-problem-vicious-and-virtuous-circles"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books.core-econ.org/the-economy/macroeconomics/03-aggregate-demand-10-shocks-and-limits-to-consumption.html#question-313-choose-the-correct-answers" TargetMode="Externa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hyperlink" Target="https://books.core-econ.org/the-economy/macroeconomics/03-aggregate-demand-12-investment-spending.html#back-to-the-aggregate-investment-function-profit-expectations-vs-interest-rates"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hyperlink" Target="https://books.core-econ.org/the-economy/macroeconomics/03-aggregate-demand-12-investment-spending.html#question-315-choose-the-correct-answers" TargetMode="Externa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FD73D-28D3-0AC7-F509-7CA6AAE806B1}"/>
            </a:ext>
          </a:extLst>
        </p:cNvPr>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B59BB467-10CE-4D1F-B5B0-51E46BD75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27" name="Picture 3" descr="Wendy Carlin">
            <a:extLst>
              <a:ext uri="{FF2B5EF4-FFF2-40B4-BE49-F238E27FC236}">
                <a16:creationId xmlns:a16="http://schemas.microsoft.com/office/drawing/2014/main" id="{2E3517A1-3543-3E2D-416F-832F671B8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627" r="4944" b="7031"/>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4" name="Rectangle 1033">
            <a:extLst>
              <a:ext uri="{FF2B5EF4-FFF2-40B4-BE49-F238E27FC236}">
                <a16:creationId xmlns:a16="http://schemas.microsoft.com/office/drawing/2014/main" id="{8AA27DF7-5B8F-2CCC-2751-E119CDE5EA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Rectangle 1">
            <a:extLst>
              <a:ext uri="{FF2B5EF4-FFF2-40B4-BE49-F238E27FC236}">
                <a16:creationId xmlns:a16="http://schemas.microsoft.com/office/drawing/2014/main" id="{5F4E5C30-C031-4D0B-FC5E-10218030F781}"/>
              </a:ext>
            </a:extLst>
          </p:cNvPr>
          <p:cNvSpPr>
            <a:spLocks noGrp="1" noChangeArrowheads="1"/>
          </p:cNvSpPr>
          <p:nvPr>
            <p:ph type="ctrTitle"/>
          </p:nvPr>
        </p:nvSpPr>
        <p:spPr bwMode="auto">
          <a:xfrm>
            <a:off x="477980" y="962343"/>
            <a:ext cx="6700060" cy="3204134"/>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0" rIns="0" bIns="0" numCol="1" anchor="b"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ct val="0"/>
              </a:spcAft>
              <a:buClrTx/>
              <a:buSzTx/>
              <a:buFontTx/>
              <a:buNone/>
              <a:tabLst/>
            </a:pPr>
            <a:r>
              <a:rPr kumimoji="0" lang="en-US" altLang="en-US" sz="5400" b="1" i="0" u="none" strike="noStrike" cap="none" normalizeH="0" baseline="0" dirty="0">
                <a:ln>
                  <a:noFill/>
                </a:ln>
                <a:solidFill>
                  <a:srgbClr val="C00000"/>
                </a:solidFill>
                <a:effectLst/>
                <a:latin typeface="inherit"/>
              </a:rPr>
              <a:t>Unit 3</a:t>
            </a:r>
            <a:br>
              <a:rPr kumimoji="0" lang="en-US" altLang="en-US" sz="5400" b="0" i="0" u="none" strike="noStrike" cap="none" normalizeH="0" baseline="0" dirty="0">
                <a:ln>
                  <a:noFill/>
                </a:ln>
                <a:solidFill>
                  <a:schemeClr val="bg1"/>
                </a:solidFill>
                <a:effectLst/>
                <a:latin typeface="inherit"/>
              </a:rPr>
            </a:br>
            <a:r>
              <a:rPr kumimoji="0" lang="en-US" altLang="en-US" sz="5400" b="1" i="0" u="none" strike="noStrike" cap="none" normalizeH="0" baseline="0" dirty="0">
                <a:ln>
                  <a:noFill/>
                </a:ln>
                <a:solidFill>
                  <a:schemeClr val="bg1"/>
                </a:solidFill>
                <a:effectLst/>
                <a:latin typeface="Source Sans Pro" panose="020B0503030403020204" pitchFamily="34" charset="0"/>
              </a:rPr>
              <a:t>Aggregate demand and the multiplier model</a:t>
            </a:r>
            <a:endParaRPr kumimoji="0" lang="en-US" altLang="en-US" sz="5400" b="0" i="0" u="none" strike="noStrike" cap="none" normalizeH="0" baseline="0" dirty="0">
              <a:ln>
                <a:noFill/>
              </a:ln>
              <a:solidFill>
                <a:schemeClr val="bg1"/>
              </a:solidFill>
              <a:effectLst/>
            </a:endParaRPr>
          </a:p>
        </p:txBody>
      </p:sp>
      <p:sp>
        <p:nvSpPr>
          <p:cNvPr id="3" name="Subtitle 2">
            <a:extLst>
              <a:ext uri="{FF2B5EF4-FFF2-40B4-BE49-F238E27FC236}">
                <a16:creationId xmlns:a16="http://schemas.microsoft.com/office/drawing/2014/main" id="{11DD08F2-016E-A9EC-3338-CD1EE1757496}"/>
              </a:ext>
            </a:extLst>
          </p:cNvPr>
          <p:cNvSpPr>
            <a:spLocks noGrp="1"/>
          </p:cNvSpPr>
          <p:nvPr>
            <p:ph type="subTitle" idx="1"/>
          </p:nvPr>
        </p:nvSpPr>
        <p:spPr>
          <a:xfrm>
            <a:off x="477980" y="4456677"/>
            <a:ext cx="6905800" cy="1208141"/>
          </a:xfrm>
        </p:spPr>
        <p:txBody>
          <a:bodyPr>
            <a:noAutofit/>
          </a:bodyPr>
          <a:lstStyle/>
          <a:p>
            <a:pPr lvl="0" algn="l" eaLnBrk="0" fontAlgn="base" hangingPunct="0">
              <a:spcBef>
                <a:spcPct val="0"/>
              </a:spcBef>
              <a:spcAft>
                <a:spcPts val="600"/>
              </a:spcAft>
            </a:pPr>
            <a:r>
              <a:rPr lang="en-US" altLang="en-US" sz="3200" dirty="0">
                <a:solidFill>
                  <a:schemeClr val="bg1"/>
                </a:solidFill>
                <a:latin typeface="Crimson Pro"/>
              </a:rPr>
              <a:t>How economies fluctuate between booms and recessions as they are continuously hit by good and bad shocks</a:t>
            </a:r>
            <a:endParaRPr lang="en-ZA" sz="3200" dirty="0">
              <a:solidFill>
                <a:schemeClr val="bg1"/>
              </a:solidFill>
            </a:endParaRPr>
          </a:p>
        </p:txBody>
      </p:sp>
      <p:sp>
        <p:nvSpPr>
          <p:cNvPr id="1036" name="Rectangle 1035">
            <a:extLst>
              <a:ext uri="{FF2B5EF4-FFF2-40B4-BE49-F238E27FC236}">
                <a16:creationId xmlns:a16="http://schemas.microsoft.com/office/drawing/2014/main" id="{56DA43FF-1272-C843-E7A3-2772C94D1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8" name="Rectangle 1037">
            <a:extLst>
              <a:ext uri="{FF2B5EF4-FFF2-40B4-BE49-F238E27FC236}">
                <a16:creationId xmlns:a16="http://schemas.microsoft.com/office/drawing/2014/main" id="{3B3069D0-5D03-C963-4396-D7D7CA2BDA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06C64C8-E506-3CF8-54A0-98D68E40EBC2}"/>
              </a:ext>
            </a:extLst>
          </p:cNvPr>
          <p:cNvSpPr txBox="1"/>
          <p:nvPr/>
        </p:nvSpPr>
        <p:spPr>
          <a:xfrm>
            <a:off x="477980" y="5911476"/>
            <a:ext cx="277322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C000"/>
                </a:solidFill>
                <a:effectLst/>
                <a:uLnTx/>
                <a:uFillTx/>
                <a:latin typeface="Aptos" panose="02110004020202020204"/>
                <a:ea typeface="+mn-ea"/>
                <a:cs typeface="+mn-cs"/>
              </a:rPr>
              <a:t>PART 3</a:t>
            </a:r>
            <a:endParaRPr kumimoji="0" lang="en-ZA" sz="6000" b="1" i="0" u="none" strike="noStrike" kern="1200" cap="none" spc="0" normalizeH="0" baseline="0" noProof="0" dirty="0">
              <a:ln>
                <a:noFill/>
              </a:ln>
              <a:solidFill>
                <a:srgbClr val="FFC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9909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2FB30-D473-CF5E-7A46-B8FA3860BE11}"/>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78384CAD-7BDD-9BED-A543-3B37C1555EF1}"/>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9D936E86-8C43-21D6-B926-1705194D6FCB}"/>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18167F24-4DF5-7E1A-E5CE-94473D06FE80}"/>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654D2E73-8150-0CE8-9001-0E7218FE6808}"/>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156B9C12-2BF1-9358-40A4-B29E3C28B06F}"/>
              </a:ext>
            </a:extLst>
          </p:cNvPr>
          <p:cNvSpPr/>
          <p:nvPr/>
        </p:nvSpPr>
        <p:spPr>
          <a:xfrm>
            <a:off x="0" y="1790262"/>
            <a:ext cx="12192000" cy="2864463"/>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C2474B4D-903B-A314-ABD4-8D0957F4B3B6}"/>
              </a:ext>
            </a:extLst>
          </p:cNvPr>
          <p:cNvSpPr txBox="1"/>
          <p:nvPr/>
        </p:nvSpPr>
        <p:spPr>
          <a:xfrm>
            <a:off x="1175658" y="1759724"/>
            <a:ext cx="10479314" cy="1600438"/>
          </a:xfrm>
          <a:prstGeom prst="roundRect">
            <a:avLst/>
          </a:prstGeom>
          <a:solidFill>
            <a:schemeClr val="bg1"/>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3.9 Why is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consumption</a:t>
            </a: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 relatively smooth?</a:t>
            </a:r>
            <a:endPar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endParaRPr>
          </a:p>
        </p:txBody>
      </p:sp>
      <p:sp>
        <p:nvSpPr>
          <p:cNvPr id="11" name="Rectangle 10">
            <a:extLst>
              <a:ext uri="{FF2B5EF4-FFF2-40B4-BE49-F238E27FC236}">
                <a16:creationId xmlns:a16="http://schemas.microsoft.com/office/drawing/2014/main" id="{647CF292-AE44-D19F-24BD-7B5DCBB0662A}"/>
              </a:ext>
            </a:extLst>
          </p:cNvPr>
          <p:cNvSpPr/>
          <p:nvPr/>
        </p:nvSpPr>
        <p:spPr>
          <a:xfrm>
            <a:off x="0" y="-428681"/>
            <a:ext cx="12192000"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FF1BDF38-13F9-E97D-BB4D-BB171AE94A03}"/>
              </a:ext>
            </a:extLst>
          </p:cNvPr>
          <p:cNvSpPr/>
          <p:nvPr/>
        </p:nvSpPr>
        <p:spPr>
          <a:xfrm>
            <a:off x="6089105" y="4641473"/>
            <a:ext cx="6415315"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CEC2AF4B-349D-2B6C-CC8E-2C9BDB6FC848}"/>
              </a:ext>
            </a:extLst>
          </p:cNvPr>
          <p:cNvSpPr txBox="1"/>
          <p:nvPr/>
        </p:nvSpPr>
        <p:spPr>
          <a:xfrm>
            <a:off x="382906" y="47930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❹</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111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EAF2EF-A7CD-91C4-19B5-25F330DC726F}"/>
              </a:ext>
            </a:extLst>
          </p:cNvPr>
          <p:cNvPicPr>
            <a:picLocks noChangeAspect="1"/>
          </p:cNvPicPr>
          <p:nvPr/>
        </p:nvPicPr>
        <p:blipFill>
          <a:blip r:embed="rId3"/>
          <a:stretch>
            <a:fillRect/>
          </a:stretch>
        </p:blipFill>
        <p:spPr>
          <a:xfrm>
            <a:off x="1015429" y="224272"/>
            <a:ext cx="10161141" cy="6247028"/>
          </a:xfrm>
          <a:prstGeom prst="rect">
            <a:avLst/>
          </a:prstGeom>
        </p:spPr>
      </p:pic>
      <p:pic>
        <p:nvPicPr>
          <p:cNvPr id="5" name="Picture 4">
            <a:extLst>
              <a:ext uri="{FF2B5EF4-FFF2-40B4-BE49-F238E27FC236}">
                <a16:creationId xmlns:a16="http://schemas.microsoft.com/office/drawing/2014/main" id="{BDE92CC8-29E4-03F8-C456-4A01A65CCB3E}"/>
              </a:ext>
            </a:extLst>
          </p:cNvPr>
          <p:cNvPicPr>
            <a:picLocks noChangeAspect="1"/>
          </p:cNvPicPr>
          <p:nvPr/>
        </p:nvPicPr>
        <p:blipFill>
          <a:blip r:embed="rId4"/>
          <a:stretch>
            <a:fillRect/>
          </a:stretch>
        </p:blipFill>
        <p:spPr>
          <a:xfrm>
            <a:off x="3813272" y="341441"/>
            <a:ext cx="2962688" cy="257211"/>
          </a:xfrm>
          <a:prstGeom prst="rect">
            <a:avLst/>
          </a:prstGeom>
        </p:spPr>
      </p:pic>
      <p:sp>
        <p:nvSpPr>
          <p:cNvPr id="7" name="TextBox 6">
            <a:extLst>
              <a:ext uri="{FF2B5EF4-FFF2-40B4-BE49-F238E27FC236}">
                <a16:creationId xmlns:a16="http://schemas.microsoft.com/office/drawing/2014/main" id="{44340C7E-80F1-DF7E-F0E2-5846546BF54F}"/>
              </a:ext>
            </a:extLst>
          </p:cNvPr>
          <p:cNvSpPr txBox="1"/>
          <p:nvPr/>
        </p:nvSpPr>
        <p:spPr>
          <a:xfrm>
            <a:off x="-1" y="6488668"/>
            <a:ext cx="121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423F43"/>
                </a:solidFill>
                <a:effectLst/>
                <a:uLnTx/>
                <a:uFillTx/>
                <a:latin typeface="Source Sans Pro" panose="020B0503030403020204" pitchFamily="34" charset="0"/>
                <a:ea typeface="+mn-ea"/>
                <a:cs typeface="+mn-cs"/>
              </a:rPr>
              <a:t>Figure 3.10b </a:t>
            </a:r>
            <a:r>
              <a:rPr kumimoji="0" lang="en-ZA" sz="1800" b="0" i="0" u="none" strike="noStrike" kern="1200" cap="none" spc="0" normalizeH="0" baseline="0" noProof="0" dirty="0">
                <a:ln>
                  <a:noFill/>
                </a:ln>
                <a:solidFill>
                  <a:srgbClr val="423F43"/>
                </a:solidFill>
                <a:effectLst/>
                <a:uLnTx/>
                <a:uFillTx/>
                <a:latin typeface="Source Sans Pro" panose="020B0503030403020204" pitchFamily="34" charset="0"/>
                <a:ea typeface="+mn-ea"/>
                <a:cs typeface="+mn-cs"/>
              </a:rPr>
              <a:t>Growth rates of consumption, investment, and GDP in South Africa, per cent per annum (1961–2022)</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5397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9F32783-46EF-A50E-8DBC-9544FB4E030C}"/>
              </a:ext>
            </a:extLst>
          </p:cNvPr>
          <p:cNvSpPr>
            <a:spLocks noGrp="1"/>
          </p:cNvSpPr>
          <p:nvPr>
            <p:ph type="title"/>
          </p:nvPr>
        </p:nvSpPr>
        <p:spPr>
          <a:xfrm>
            <a:off x="838200" y="365125"/>
            <a:ext cx="10515600" cy="1325563"/>
          </a:xfrm>
        </p:spPr>
        <p:txBody>
          <a:bodyPr>
            <a:normAutofit/>
          </a:bodyPr>
          <a:lstStyle/>
          <a:p>
            <a:r>
              <a:rPr lang="en-GB" sz="5400">
                <a:latin typeface="Source Sans Pro" panose="020B0503030403020204" pitchFamily="34" charset="0"/>
                <a:ea typeface="Source Sans Pro" panose="020B0503030403020204" pitchFamily="34" charset="0"/>
              </a:rPr>
              <a:t>Consumption smoothing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567DDE9C-C219-362B-1076-D9F5DFF4E9FC}"/>
              </a:ext>
            </a:extLst>
          </p:cNvPr>
          <p:cNvSpPr>
            <a:spLocks noGrp="1"/>
          </p:cNvSpPr>
          <p:nvPr>
            <p:ph idx="1"/>
          </p:nvPr>
        </p:nvSpPr>
        <p:spPr>
          <a:xfrm>
            <a:off x="838200" y="1929384"/>
            <a:ext cx="10515600" cy="4928616"/>
          </a:xfrm>
        </p:spPr>
        <p:txBody>
          <a:bodyPr>
            <a:normAutofit lnSpcReduction="10000"/>
          </a:bodyPr>
          <a:lstStyle/>
          <a:p>
            <a:r>
              <a:rPr lang="en-GB" sz="2400" b="0" i="0" u="none" strike="noStrike" dirty="0">
                <a:effectLst/>
                <a:latin typeface="Source Sans Pro" panose="020B0503030403020204" pitchFamily="34" charset="0"/>
                <a:ea typeface="Source Sans Pro" panose="020B0503030403020204" pitchFamily="34" charset="0"/>
              </a:rPr>
              <a:t>Spreading out consumption relatively evenly between time periods is called </a:t>
            </a:r>
            <a:r>
              <a:rPr lang="en-GB" sz="2400" b="1" i="0" u="none" strike="noStrike" dirty="0">
                <a:effectLst/>
                <a:latin typeface="Source Sans Pro" panose="020B0503030403020204" pitchFamily="34" charset="0"/>
                <a:ea typeface="Source Sans Pro" panose="020B0503030403020204" pitchFamily="34" charset="0"/>
              </a:rPr>
              <a:t>consumption smoothing</a:t>
            </a:r>
            <a:r>
              <a:rPr lang="en-GB" sz="2400" b="0" i="0" u="none" strike="noStrike" dirty="0">
                <a:effectLst/>
                <a:latin typeface="Source Sans Pro" panose="020B0503030403020204" pitchFamily="34" charset="0"/>
                <a:ea typeface="Source Sans Pro" panose="020B0503030403020204" pitchFamily="34" charset="0"/>
              </a:rPr>
              <a:t>. </a:t>
            </a:r>
          </a:p>
          <a:p>
            <a:r>
              <a:rPr lang="en-GB" sz="2400" b="0" i="0" u="none" strike="noStrike" dirty="0">
                <a:effectLst/>
                <a:latin typeface="Source Sans Pro" panose="020B0503030403020204" pitchFamily="34" charset="0"/>
                <a:ea typeface="Source Sans Pro" panose="020B0503030403020204" pitchFamily="34" charset="0"/>
              </a:rPr>
              <a:t>One powerful motivation for wanting to save or borrow is to be able to purchase the necessities of food, rent, phone contract, and electricity in every period. Another reason for consumption smoothing is that the additional benefit we gain from increased consumption falls as our consumption level rises.</a:t>
            </a:r>
            <a:endParaRPr lang="en-GB" sz="2400" dirty="0">
              <a:latin typeface="Source Sans Pro" panose="020B0503030403020204" pitchFamily="34" charset="0"/>
              <a:ea typeface="Source Sans Pro" panose="020B0503030403020204" pitchFamily="34" charset="0"/>
            </a:endParaRPr>
          </a:p>
          <a:p>
            <a:r>
              <a:rPr lang="en-GB" sz="2400" b="0" i="0" u="none" strike="noStrike" dirty="0">
                <a:effectLst/>
                <a:latin typeface="Source Sans Pro" panose="020B0503030403020204" pitchFamily="34" charset="0"/>
                <a:ea typeface="Source Sans Pro" panose="020B0503030403020204" pitchFamily="34" charset="0"/>
              </a:rPr>
              <a:t>For these reasons, people generally </a:t>
            </a:r>
            <a:r>
              <a:rPr lang="en-GB" sz="2400" b="1" i="0" u="none" strike="noStrike" dirty="0">
                <a:effectLst/>
                <a:latin typeface="Source Sans Pro" panose="020B0503030403020204" pitchFamily="34" charset="0"/>
                <a:ea typeface="Source Sans Pro" panose="020B0503030403020204" pitchFamily="34" charset="0"/>
              </a:rPr>
              <a:t>prefer to consume the same in each period </a:t>
            </a:r>
            <a:r>
              <a:rPr lang="en-GB" sz="2400" b="0" i="0" u="none" strike="noStrike" dirty="0">
                <a:effectLst/>
                <a:latin typeface="Source Sans Pro" panose="020B0503030403020204" pitchFamily="34" charset="0"/>
                <a:ea typeface="Source Sans Pro" panose="020B0503030403020204" pitchFamily="34" charset="0"/>
              </a:rPr>
              <a:t>rather than having a lot sometimes and a little at other times.</a:t>
            </a:r>
          </a:p>
          <a:p>
            <a:r>
              <a:rPr lang="en-GB" sz="2400" b="0" i="0" u="none" strike="noStrike" dirty="0">
                <a:effectLst/>
                <a:latin typeface="Source Sans Pro" panose="020B0503030403020204" pitchFamily="34" charset="0"/>
                <a:ea typeface="Source Sans Pro" panose="020B0503030403020204" pitchFamily="34" charset="0"/>
              </a:rPr>
              <a:t>The desire of households to </a:t>
            </a:r>
            <a:r>
              <a:rPr lang="en-GB" sz="2400" b="1" i="0" u="none" strike="noStrike" dirty="0">
                <a:effectLst/>
                <a:latin typeface="Source Sans Pro" panose="020B0503030403020204" pitchFamily="34" charset="0"/>
                <a:ea typeface="Source Sans Pro" panose="020B0503030403020204" pitchFamily="34" charset="0"/>
              </a:rPr>
              <a:t>maintain a constant level of consumption</a:t>
            </a:r>
            <a:r>
              <a:rPr lang="en-GB" sz="2400" b="0" i="0" u="none" strike="noStrike" dirty="0">
                <a:effectLst/>
                <a:latin typeface="Source Sans Pro" panose="020B0503030403020204" pitchFamily="34" charset="0"/>
                <a:ea typeface="Source Sans Pro" panose="020B0503030403020204" pitchFamily="34" charset="0"/>
              </a:rPr>
              <a:t> provides a basic source of stabilization in any economy. Keeping consumption steady means households must plan. They think about what might happen to their income in the future, and they </a:t>
            </a:r>
            <a:r>
              <a:rPr lang="en-GB" sz="2400" b="1" i="0" u="none" strike="noStrike" dirty="0">
                <a:effectLst/>
                <a:latin typeface="Source Sans Pro" panose="020B0503030403020204" pitchFamily="34" charset="0"/>
                <a:ea typeface="Source Sans Pro" panose="020B0503030403020204" pitchFamily="34" charset="0"/>
              </a:rPr>
              <a:t>save</a:t>
            </a:r>
            <a:r>
              <a:rPr lang="en-GB" sz="2400" b="0" i="0" u="none" strike="noStrike" dirty="0">
                <a:effectLst/>
                <a:latin typeface="Source Sans Pro" panose="020B0503030403020204" pitchFamily="34" charset="0"/>
                <a:ea typeface="Source Sans Pro" panose="020B0503030403020204" pitchFamily="34" charset="0"/>
              </a:rPr>
              <a:t> and </a:t>
            </a:r>
            <a:r>
              <a:rPr lang="en-GB" sz="2400" b="1" i="0" u="none" strike="noStrike" dirty="0">
                <a:effectLst/>
                <a:latin typeface="Source Sans Pro" panose="020B0503030403020204" pitchFamily="34" charset="0"/>
                <a:ea typeface="Source Sans Pro" panose="020B0503030403020204" pitchFamily="34" charset="0"/>
              </a:rPr>
              <a:t>borrow</a:t>
            </a:r>
            <a:r>
              <a:rPr lang="en-GB" sz="2400" b="0" i="0" u="none" strike="noStrike" dirty="0">
                <a:effectLst/>
                <a:latin typeface="Source Sans Pro" panose="020B0503030403020204" pitchFamily="34" charset="0"/>
                <a:ea typeface="Source Sans Pro" panose="020B0503030403020204" pitchFamily="34" charset="0"/>
              </a:rPr>
              <a:t> to smooth the bumps in income.</a:t>
            </a:r>
            <a:endParaRPr lang="en-GB" sz="24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38202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185307-5C99-EDF2-DEEB-711AF8AA4AC9}"/>
              </a:ext>
            </a:extLst>
          </p:cNvPr>
          <p:cNvPicPr>
            <a:picLocks noChangeAspect="1"/>
          </p:cNvPicPr>
          <p:nvPr/>
        </p:nvPicPr>
        <p:blipFill>
          <a:blip r:embed="rId3"/>
          <a:stretch>
            <a:fillRect/>
          </a:stretch>
        </p:blipFill>
        <p:spPr>
          <a:xfrm>
            <a:off x="1438383" y="45348"/>
            <a:ext cx="9308386" cy="6762327"/>
          </a:xfrm>
          <a:prstGeom prst="rect">
            <a:avLst/>
          </a:prstGeom>
        </p:spPr>
      </p:pic>
      <p:pic>
        <p:nvPicPr>
          <p:cNvPr id="4" name="Picture 3" descr="Round icon. Download flag icon of South Africa at PNG format">
            <a:extLst>
              <a:ext uri="{FF2B5EF4-FFF2-40B4-BE49-F238E27FC236}">
                <a16:creationId xmlns:a16="http://schemas.microsoft.com/office/drawing/2014/main" id="{BAF38C50-DF77-66C3-50F0-9A1BAC8717A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21009" y="123282"/>
            <a:ext cx="1470991" cy="1103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2896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6FEE4E-CEF1-A195-F68E-87C3F2B8FD2B}"/>
              </a:ext>
            </a:extLst>
          </p:cNvPr>
          <p:cNvSpPr>
            <a:spLocks noGrp="1"/>
          </p:cNvSpPr>
          <p:nvPr>
            <p:ph idx="1"/>
          </p:nvPr>
        </p:nvSpPr>
        <p:spPr>
          <a:xfrm>
            <a:off x="3036497" y="6468651"/>
            <a:ext cx="7540925" cy="505647"/>
          </a:xfrm>
        </p:spPr>
        <p:txBody>
          <a:bodyPr>
            <a:normAutofit/>
          </a:bodyPr>
          <a:lstStyle/>
          <a:p>
            <a:pPr marL="0" indent="0">
              <a:buNone/>
            </a:pPr>
            <a:r>
              <a:rPr lang="en-ZA" sz="1800"/>
              <a:t>Figure 13.10 Consumption smoothing through our lifetime</a:t>
            </a:r>
          </a:p>
        </p:txBody>
      </p:sp>
      <p:sp>
        <p:nvSpPr>
          <p:cNvPr id="4" name="Slide Number Placeholder 3">
            <a:extLst>
              <a:ext uri="{FF2B5EF4-FFF2-40B4-BE49-F238E27FC236}">
                <a16:creationId xmlns:a16="http://schemas.microsoft.com/office/drawing/2014/main" id="{664428FC-BEBC-74B6-736A-2AD79F92030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70A732-89BB-4002-939C-C69F6E33DF9F}"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38070275-0B29-03DD-05A2-58F1D33F3077}"/>
              </a:ext>
            </a:extLst>
          </p:cNvPr>
          <p:cNvSpPr txBox="1">
            <a:spLocks/>
          </p:cNvSpPr>
          <p:nvPr/>
        </p:nvSpPr>
        <p:spPr>
          <a:xfrm>
            <a:off x="838200" y="-91848"/>
            <a:ext cx="10515600" cy="9356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4800" b="1" i="0" u="none" strike="noStrike" kern="1200" cap="none" spc="0" normalizeH="0" baseline="0" noProof="0" dirty="0">
                <a:ln>
                  <a:noFill/>
                </a:ln>
                <a:solidFill>
                  <a:prstClr val="black"/>
                </a:solidFill>
                <a:effectLst/>
                <a:uLnTx/>
                <a:uFillTx/>
                <a:latin typeface="Calibri" panose="020F0502020204030204"/>
                <a:ea typeface="+mj-ea"/>
                <a:cs typeface="+mj-cs"/>
              </a:rPr>
              <a:t>Smoothing consumption</a:t>
            </a:r>
          </a:p>
        </p:txBody>
      </p:sp>
      <p:pic>
        <p:nvPicPr>
          <p:cNvPr id="5" name="Picture 4">
            <a:extLst>
              <a:ext uri="{FF2B5EF4-FFF2-40B4-BE49-F238E27FC236}">
                <a16:creationId xmlns:a16="http://schemas.microsoft.com/office/drawing/2014/main" id="{1DB6BEA3-2139-7D97-DEAF-C73B30E4E5CF}"/>
              </a:ext>
            </a:extLst>
          </p:cNvPr>
          <p:cNvPicPr>
            <a:picLocks noChangeAspect="1"/>
          </p:cNvPicPr>
          <p:nvPr/>
        </p:nvPicPr>
        <p:blipFill>
          <a:blip r:embed="rId3"/>
          <a:stretch>
            <a:fillRect/>
          </a:stretch>
        </p:blipFill>
        <p:spPr>
          <a:xfrm>
            <a:off x="2423665" y="1920855"/>
            <a:ext cx="7025135" cy="4554030"/>
          </a:xfrm>
          <a:prstGeom prst="rect">
            <a:avLst/>
          </a:prstGeom>
        </p:spPr>
      </p:pic>
      <p:sp>
        <p:nvSpPr>
          <p:cNvPr id="2" name="TextBox 1">
            <a:extLst>
              <a:ext uri="{FF2B5EF4-FFF2-40B4-BE49-F238E27FC236}">
                <a16:creationId xmlns:a16="http://schemas.microsoft.com/office/drawing/2014/main" id="{42744692-9F8B-B68D-572A-1C670D6E751A}"/>
              </a:ext>
            </a:extLst>
          </p:cNvPr>
          <p:cNvSpPr txBox="1"/>
          <p:nvPr/>
        </p:nvSpPr>
        <p:spPr>
          <a:xfrm>
            <a:off x="651391" y="956094"/>
            <a:ext cx="10889217"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Households make lifetime </a:t>
            </a:r>
            <a:r>
              <a:rPr kumimoji="0" lang="en-US" sz="2800" b="1" i="0" u="none" strike="noStrike" kern="1200" cap="none" spc="0" normalizeH="0" baseline="0" noProof="0" dirty="0">
                <a:ln>
                  <a:noFill/>
                </a:ln>
                <a:solidFill>
                  <a:srgbClr val="C00000"/>
                </a:solidFill>
                <a:effectLst/>
                <a:uLnTx/>
                <a:uFillTx/>
                <a:latin typeface="Aptos" panose="02110004020202020204"/>
                <a:ea typeface="+mn-ea"/>
                <a:cs typeface="+mn-cs"/>
              </a:rPr>
              <a:t>consumption</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plans based on expectations about the future, and react to shocks (which influences </a:t>
            </a:r>
            <a:r>
              <a:rPr kumimoji="0" lang="en-US" sz="2800" b="1" i="0" u="none" strike="noStrike" kern="1200" cap="none" spc="0" normalizeH="0" baseline="0" noProof="0" dirty="0">
                <a:ln>
                  <a:noFill/>
                </a:ln>
                <a:solidFill>
                  <a:srgbClr val="0070C0"/>
                </a:solidFill>
                <a:effectLst/>
                <a:uLnTx/>
                <a:uFillTx/>
                <a:latin typeface="Aptos" panose="02110004020202020204"/>
                <a:ea typeface="+mn-ea"/>
                <a:cs typeface="+mn-cs"/>
              </a:rPr>
              <a:t>income</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6" name="Rectangle: Rounded Corners 5">
            <a:extLst>
              <a:ext uri="{FF2B5EF4-FFF2-40B4-BE49-F238E27FC236}">
                <a16:creationId xmlns:a16="http://schemas.microsoft.com/office/drawing/2014/main" id="{79214FD2-EDAC-23F1-A64D-E57C9232B4CA}"/>
              </a:ext>
            </a:extLst>
          </p:cNvPr>
          <p:cNvSpPr/>
          <p:nvPr/>
        </p:nvSpPr>
        <p:spPr>
          <a:xfrm>
            <a:off x="3534310" y="956094"/>
            <a:ext cx="4397339" cy="465348"/>
          </a:xfrm>
          <a:prstGeom prst="roundRect">
            <a:avLst/>
          </a:prstGeom>
          <a:noFill/>
          <a:ln w="38100">
            <a:solidFill>
              <a:srgbClr val="7030A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2E221ADF-D8A7-72B0-E714-99742598A1A4}"/>
              </a:ext>
            </a:extLst>
          </p:cNvPr>
          <p:cNvSpPr txBox="1"/>
          <p:nvPr/>
        </p:nvSpPr>
        <p:spPr>
          <a:xfrm>
            <a:off x="7106292" y="1920855"/>
            <a:ext cx="508570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Aptos Display" panose="02110004020202020204"/>
                <a:ea typeface="+mn-ea"/>
                <a:cs typeface="+mn-cs"/>
              </a:rPr>
              <a:t>life cycle model of consumption</a:t>
            </a:r>
            <a:endParaRPr kumimoji="0" lang="en-ZA" sz="16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5087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idx="4294967295"/>
          </p:nvPr>
        </p:nvSpPr>
        <p:spPr>
          <a:xfrm>
            <a:off x="402460" y="1592082"/>
            <a:ext cx="5536002" cy="4818992"/>
          </a:xfrm>
          <a:ln w="38100">
            <a:solidFill>
              <a:srgbClr val="7030A0"/>
            </a:solidFill>
            <a:prstDash val="sysDot"/>
          </a:ln>
        </p:spPr>
        <p:txBody>
          <a:bodyPr vert="horz" lIns="91440" tIns="45720" rIns="91440" bIns="45720" rtlCol="0" anchor="t">
            <a:normAutofit/>
          </a:bodyPr>
          <a:lstStyle/>
          <a:p>
            <a:pPr marL="571500" indent="-571500"/>
            <a:br>
              <a:rPr lang="en-US" sz="1600" kern="1200" dirty="0">
                <a:solidFill>
                  <a:schemeClr val="tx1"/>
                </a:solidFill>
                <a:latin typeface="+mj-lt"/>
                <a:ea typeface="+mj-ea"/>
                <a:cs typeface="+mj-cs"/>
              </a:rPr>
            </a:br>
            <a:r>
              <a:rPr lang="en-US" sz="2400" kern="1200" dirty="0">
                <a:solidFill>
                  <a:schemeClr val="tx1"/>
                </a:solidFill>
                <a:latin typeface="+mj-lt"/>
                <a:ea typeface="+mj-ea"/>
                <a:cs typeface="+mj-cs"/>
              </a:rPr>
              <a:t>Consumption changes before income does, and that this is only possible if the individual can </a:t>
            </a:r>
            <a:r>
              <a:rPr lang="en-US" sz="2400" b="1" i="1" kern="1200" dirty="0">
                <a:solidFill>
                  <a:schemeClr val="tx1"/>
                </a:solidFill>
                <a:latin typeface="+mj-lt"/>
                <a:ea typeface="+mj-ea"/>
                <a:cs typeface="+mj-cs"/>
              </a:rPr>
              <a:t>borrow</a:t>
            </a:r>
            <a:r>
              <a:rPr lang="en-US" sz="2400" kern="1200" dirty="0">
                <a:solidFill>
                  <a:schemeClr val="tx1"/>
                </a:solidFill>
                <a:latin typeface="+mj-lt"/>
                <a:ea typeface="+mj-ea"/>
                <a:cs typeface="+mj-cs"/>
              </a:rPr>
              <a:t>.</a:t>
            </a:r>
            <a:br>
              <a:rPr lang="en-US" sz="2400" kern="1200" dirty="0">
                <a:solidFill>
                  <a:schemeClr val="tx1"/>
                </a:solidFill>
                <a:latin typeface="+mj-lt"/>
                <a:ea typeface="+mj-ea"/>
                <a:cs typeface="+mj-cs"/>
              </a:rPr>
            </a:br>
            <a:r>
              <a:rPr lang="en-US" sz="2400" kern="1200" dirty="0">
                <a:solidFill>
                  <a:schemeClr val="tx1"/>
                </a:solidFill>
                <a:latin typeface="+mj-lt"/>
                <a:ea typeface="+mj-ea"/>
                <a:cs typeface="+mj-cs"/>
              </a:rPr>
              <a:t>While earnings are low, a smooth path of consumption means the individual wants to consume more than their income. </a:t>
            </a:r>
            <a:br>
              <a:rPr lang="en-US" sz="2400" kern="1200" dirty="0">
                <a:solidFill>
                  <a:schemeClr val="tx1"/>
                </a:solidFill>
                <a:latin typeface="+mj-lt"/>
                <a:ea typeface="+mj-ea"/>
                <a:cs typeface="+mj-cs"/>
              </a:rPr>
            </a:br>
            <a:r>
              <a:rPr lang="en-US" sz="2400" kern="1200" dirty="0">
                <a:solidFill>
                  <a:schemeClr val="tx1"/>
                </a:solidFill>
                <a:latin typeface="+mj-lt"/>
                <a:ea typeface="+mj-ea"/>
                <a:cs typeface="+mj-cs"/>
              </a:rPr>
              <a:t>A key assumption in the model is that they can do so by borrowing. </a:t>
            </a:r>
            <a:br>
              <a:rPr lang="en-US" sz="2400" kern="1200" dirty="0">
                <a:solidFill>
                  <a:schemeClr val="tx1"/>
                </a:solidFill>
                <a:latin typeface="+mj-lt"/>
                <a:ea typeface="+mj-ea"/>
                <a:cs typeface="+mj-cs"/>
              </a:rPr>
            </a:br>
            <a:r>
              <a:rPr lang="en-US" sz="2400" kern="1200" dirty="0">
                <a:solidFill>
                  <a:schemeClr val="tx1"/>
                </a:solidFill>
                <a:latin typeface="+mj-lt"/>
                <a:ea typeface="+mj-ea"/>
                <a:cs typeface="+mj-cs"/>
              </a:rPr>
              <a:t>But when earnings are high, consumption is below income, as some of the income is used to repay debt and save for retirement. </a:t>
            </a:r>
          </a:p>
        </p:txBody>
      </p:sp>
      <p:pic>
        <p:nvPicPr>
          <p:cNvPr id="27650" name="Picture 2">
            <a:extLst>
              <a:ext uri="{FF2B5EF4-FFF2-40B4-BE49-F238E27FC236}">
                <a16:creationId xmlns:a16="http://schemas.microsoft.com/office/drawing/2014/main" id="{C944E537-57AA-95CC-059E-58364172A59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6000" y="2628566"/>
            <a:ext cx="5536001" cy="357071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13FCBE7-1112-F98F-D4A4-D683182FACDB}"/>
              </a:ext>
            </a:extLst>
          </p:cNvPr>
          <p:cNvSpPr txBox="1"/>
          <p:nvPr/>
        </p:nvSpPr>
        <p:spPr>
          <a:xfrm>
            <a:off x="7106292" y="1920855"/>
            <a:ext cx="508570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Aptos Display" panose="02110004020202020204"/>
                <a:ea typeface="+mn-ea"/>
                <a:cs typeface="+mn-cs"/>
              </a:rPr>
              <a:t>life cycle model of consumption</a:t>
            </a:r>
            <a:endParaRPr kumimoji="0" lang="en-ZA" sz="16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p:sp>
        <p:nvSpPr>
          <p:cNvPr id="4" name="Arrow: Right 3">
            <a:extLst>
              <a:ext uri="{FF2B5EF4-FFF2-40B4-BE49-F238E27FC236}">
                <a16:creationId xmlns:a16="http://schemas.microsoft.com/office/drawing/2014/main" id="{39B75B0A-8C8D-1BEC-A4B6-01A8DA26300E}"/>
              </a:ext>
            </a:extLst>
          </p:cNvPr>
          <p:cNvSpPr/>
          <p:nvPr/>
        </p:nvSpPr>
        <p:spPr>
          <a:xfrm rot="10800000">
            <a:off x="6130246" y="1920855"/>
            <a:ext cx="818508" cy="523220"/>
          </a:xfrm>
          <a:prstGeom prst="rightArrow">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593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215733"/>
            <a:ext cx="10515600" cy="935641"/>
          </a:xfrm>
        </p:spPr>
        <p:txBody>
          <a:bodyPr>
            <a:normAutofit/>
          </a:bodyPr>
          <a:lstStyle/>
          <a:p>
            <a:pPr algn="ctr"/>
            <a:r>
              <a:rPr lang="en-GB" sz="4800" b="1" dirty="0">
                <a:latin typeface="+mn-lt"/>
              </a:rPr>
              <a:t>Smoothing consumption</a:t>
            </a:r>
          </a:p>
        </p:txBody>
      </p:sp>
      <p:sp>
        <p:nvSpPr>
          <p:cNvPr id="6" name="TextBox 5"/>
          <p:cNvSpPr txBox="1"/>
          <p:nvPr/>
        </p:nvSpPr>
        <p:spPr>
          <a:xfrm>
            <a:off x="651392" y="1149873"/>
            <a:ext cx="1088921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figure-13-10-c.jpg"/>
          <p:cNvPicPr>
            <a:picLocks noChangeAspect="1"/>
          </p:cNvPicPr>
          <p:nvPr/>
        </p:nvPicPr>
        <p:blipFill>
          <a:blip r:embed="rId3"/>
          <a:stretch>
            <a:fillRect/>
          </a:stretch>
        </p:blipFill>
        <p:spPr>
          <a:xfrm>
            <a:off x="6560519" y="2668817"/>
            <a:ext cx="5243990" cy="3331476"/>
          </a:xfrm>
          <a:prstGeom prst="rect">
            <a:avLst/>
          </a:prstGeom>
        </p:spPr>
      </p:pic>
      <p:sp>
        <p:nvSpPr>
          <p:cNvPr id="10" name="TextBox 9"/>
          <p:cNvSpPr txBox="1"/>
          <p:nvPr/>
        </p:nvSpPr>
        <p:spPr>
          <a:xfrm>
            <a:off x="759036" y="2953305"/>
            <a:ext cx="6159861" cy="3046988"/>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Readjust long-run consumption (</a:t>
            </a: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red line</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if shocks are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permanent</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Do not change long-run consumption if shocks are </a:t>
            </a: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temporary</a:t>
            </a:r>
          </a:p>
        </p:txBody>
      </p:sp>
      <p:sp>
        <p:nvSpPr>
          <p:cNvPr id="3" name="Slide Number Placeholder 2">
            <a:extLst>
              <a:ext uri="{FF2B5EF4-FFF2-40B4-BE49-F238E27FC236}">
                <a16:creationId xmlns:a16="http://schemas.microsoft.com/office/drawing/2014/main" id="{8643DBA5-BA5D-4232-BEB2-60C1103DCF4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AF62DF9-2A25-4CD1-8437-74DE25668B24}"/>
              </a:ext>
            </a:extLst>
          </p:cNvPr>
          <p:cNvSpPr txBox="1"/>
          <p:nvPr/>
        </p:nvSpPr>
        <p:spPr>
          <a:xfrm>
            <a:off x="6918897" y="6092890"/>
            <a:ext cx="48856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a:ln>
                  <a:noFill/>
                </a:ln>
                <a:solidFill>
                  <a:prstClr val="black"/>
                </a:solidFill>
                <a:effectLst/>
                <a:uLnTx/>
                <a:uFillTx/>
                <a:latin typeface="Calibri" panose="020F0502020204030204"/>
                <a:ea typeface="+mn-ea"/>
                <a:cs typeface="+mn-cs"/>
              </a:rPr>
              <a:t>Figure 13.10 Consumption smoothing through our lifetime.</a:t>
            </a:r>
          </a:p>
        </p:txBody>
      </p:sp>
      <p:sp>
        <p:nvSpPr>
          <p:cNvPr id="4" name="TextBox 3">
            <a:extLst>
              <a:ext uri="{FF2B5EF4-FFF2-40B4-BE49-F238E27FC236}">
                <a16:creationId xmlns:a16="http://schemas.microsoft.com/office/drawing/2014/main" id="{3738F605-9694-00A3-2EF2-BCDA9CC38BD0}"/>
              </a:ext>
            </a:extLst>
          </p:cNvPr>
          <p:cNvSpPr txBox="1"/>
          <p:nvPr/>
        </p:nvSpPr>
        <p:spPr>
          <a:xfrm>
            <a:off x="759036" y="1291048"/>
            <a:ext cx="10889217"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Households make lifetime </a:t>
            </a:r>
            <a:r>
              <a:rPr kumimoji="0" lang="en-US" sz="3200" b="1" i="0" u="none" strike="noStrike" kern="1200" cap="none" spc="0" normalizeH="0" baseline="0" noProof="0" dirty="0">
                <a:ln>
                  <a:noFill/>
                </a:ln>
                <a:solidFill>
                  <a:srgbClr val="C00000"/>
                </a:solidFill>
                <a:effectLst/>
                <a:uLnTx/>
                <a:uFillTx/>
                <a:latin typeface="Aptos" panose="02110004020202020204"/>
                <a:ea typeface="+mn-ea"/>
                <a:cs typeface="+mn-cs"/>
              </a:rPr>
              <a:t>consumption</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plans based on expectations about the future, and react to shocks (which influences </a:t>
            </a:r>
            <a:r>
              <a:rPr kumimoji="0" lang="en-US" sz="3200" b="1" i="0" u="none" strike="noStrike" kern="1200" cap="none" spc="0" normalizeH="0" baseline="0" noProof="0" dirty="0">
                <a:ln>
                  <a:noFill/>
                </a:ln>
                <a:solidFill>
                  <a:srgbClr val="0070C0"/>
                </a:solidFill>
                <a:effectLst/>
                <a:uLnTx/>
                <a:uFillTx/>
                <a:latin typeface="Aptos" panose="02110004020202020204"/>
                <a:ea typeface="+mn-ea"/>
                <a:cs typeface="+mn-cs"/>
              </a:rPr>
              <a:t>income</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Tree>
    <p:extLst>
      <p:ext uri="{BB962C8B-B14F-4D97-AF65-F5344CB8AC3E}">
        <p14:creationId xmlns:p14="http://schemas.microsoft.com/office/powerpoint/2010/main" val="134120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93902-D3B6-E73A-A1AA-ACBCA91A1411}"/>
              </a:ext>
            </a:extLst>
          </p:cNvPr>
          <p:cNvSpPr>
            <a:spLocks noGrp="1"/>
          </p:cNvSpPr>
          <p:nvPr>
            <p:ph type="title"/>
          </p:nvPr>
        </p:nvSpPr>
        <p:spPr/>
        <p:txBody>
          <a:bodyPr/>
          <a:lstStyle/>
          <a:p>
            <a:r>
              <a:rPr lang="en-US" dirty="0"/>
              <a:t>Do </a:t>
            </a:r>
            <a:r>
              <a:rPr lang="en-US" dirty="0">
                <a:hlinkClick r:id="rId2"/>
              </a:rPr>
              <a:t>Question 3.11</a:t>
            </a:r>
            <a:endParaRPr lang="en-ZA" dirty="0"/>
          </a:p>
        </p:txBody>
      </p:sp>
      <p:sp>
        <p:nvSpPr>
          <p:cNvPr id="3" name="Slide Number Placeholder 2">
            <a:extLst>
              <a:ext uri="{FF2B5EF4-FFF2-40B4-BE49-F238E27FC236}">
                <a16:creationId xmlns:a16="http://schemas.microsoft.com/office/drawing/2014/main" id="{E722B52B-CA03-142C-4D3F-B6F784140E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70A732-89BB-4002-939C-C69F6E33DF9F}"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3356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DB142-75AA-AB2F-30C5-072575788577}"/>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25940544-5000-F539-CD09-BACCEA004FB4}"/>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FE48F293-A396-F07B-90C9-B883E9F9EAB2}"/>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DCF72F8B-7672-BE85-3521-DD5C51CD4AE0}"/>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E6050B54-2DF5-4B0E-472A-984C3E98B27A}"/>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60D7D3A2-80B7-4CAE-F318-6BD198DFF366}"/>
              </a:ext>
            </a:extLst>
          </p:cNvPr>
          <p:cNvSpPr/>
          <p:nvPr/>
        </p:nvSpPr>
        <p:spPr>
          <a:xfrm>
            <a:off x="0" y="1790262"/>
            <a:ext cx="12192000" cy="2864463"/>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3FEA943C-0D65-5D32-A9E6-FC8259D04DD0}"/>
              </a:ext>
            </a:extLst>
          </p:cNvPr>
          <p:cNvSpPr txBox="1"/>
          <p:nvPr/>
        </p:nvSpPr>
        <p:spPr>
          <a:xfrm>
            <a:off x="1175658" y="1759724"/>
            <a:ext cx="10479314" cy="1600438"/>
          </a:xfrm>
          <a:prstGeom prst="roundRect">
            <a:avLst/>
          </a:prstGeom>
          <a:solidFill>
            <a:schemeClr val="bg1"/>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3.10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Shocks</a:t>
            </a: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 to households and the limits to smoothing consumption</a:t>
            </a:r>
            <a:endPar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endParaRPr>
          </a:p>
        </p:txBody>
      </p:sp>
      <p:sp>
        <p:nvSpPr>
          <p:cNvPr id="11" name="Rectangle 10">
            <a:extLst>
              <a:ext uri="{FF2B5EF4-FFF2-40B4-BE49-F238E27FC236}">
                <a16:creationId xmlns:a16="http://schemas.microsoft.com/office/drawing/2014/main" id="{5D60598C-C5A6-73C7-EB27-286E52638521}"/>
              </a:ext>
            </a:extLst>
          </p:cNvPr>
          <p:cNvSpPr/>
          <p:nvPr/>
        </p:nvSpPr>
        <p:spPr>
          <a:xfrm>
            <a:off x="0" y="-428681"/>
            <a:ext cx="12192000"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EA861338-3632-FA84-EC42-C559785031E3}"/>
              </a:ext>
            </a:extLst>
          </p:cNvPr>
          <p:cNvSpPr/>
          <p:nvPr/>
        </p:nvSpPr>
        <p:spPr>
          <a:xfrm>
            <a:off x="6089105" y="4641473"/>
            <a:ext cx="6415315"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7C614DFB-4134-0CBD-0E29-A39797C6F926}"/>
              </a:ext>
            </a:extLst>
          </p:cNvPr>
          <p:cNvSpPr txBox="1"/>
          <p:nvPr/>
        </p:nvSpPr>
        <p:spPr>
          <a:xfrm>
            <a:off x="382906" y="47930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❹</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687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365125"/>
            <a:ext cx="10515600" cy="935641"/>
          </a:xfrm>
        </p:spPr>
        <p:txBody>
          <a:bodyPr>
            <a:normAutofit/>
          </a:bodyPr>
          <a:lstStyle/>
          <a:p>
            <a:pPr algn="ctr"/>
            <a:r>
              <a:rPr lang="en-GB" sz="4800" b="1" dirty="0">
                <a:latin typeface="+mn-lt"/>
              </a:rPr>
              <a:t>Shocks</a:t>
            </a:r>
          </a:p>
        </p:txBody>
      </p:sp>
      <p:sp>
        <p:nvSpPr>
          <p:cNvPr id="6" name="TextBox 5"/>
          <p:cNvSpPr txBox="1"/>
          <p:nvPr/>
        </p:nvSpPr>
        <p:spPr>
          <a:xfrm>
            <a:off x="691082" y="1816258"/>
            <a:ext cx="10889217" cy="458587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ptos" panose="02110004020202020204"/>
                <a:ea typeface="+mn-ea"/>
                <a:cs typeface="+mn-cs"/>
              </a:rPr>
              <a:t>Shock</a:t>
            </a:r>
            <a:r>
              <a:rPr kumimoji="0" lang="en-US" sz="3200" b="1"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an unexpected event (such as extreme weather) which causes GDP to fluctuate.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sng"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sng"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There are two broad types of shocks:</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Good or bad fortune strikes the </a:t>
            </a:r>
            <a:r>
              <a:rPr kumimoji="0" lang="en-GB" sz="3200" b="1" i="0" u="none" strike="noStrike" kern="1200" cap="none" spc="0" normalizeH="0" baseline="0" noProof="0" dirty="0">
                <a:ln>
                  <a:noFill/>
                </a:ln>
                <a:solidFill>
                  <a:prstClr val="black"/>
                </a:solidFill>
                <a:effectLst/>
                <a:uLnTx/>
                <a:uFillTx/>
                <a:latin typeface="Aptos" panose="02110004020202020204"/>
                <a:ea typeface="+mn-ea"/>
                <a:cs typeface="+mn-cs"/>
              </a:rPr>
              <a:t>household</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Good or bad fortune strikes the </a:t>
            </a:r>
            <a:r>
              <a:rPr kumimoji="0" lang="en-GB" sz="3200" b="1" i="0" u="none" strike="noStrike" kern="1200" cap="none" spc="0" normalizeH="0" baseline="0" noProof="0" dirty="0">
                <a:ln>
                  <a:noFill/>
                </a:ln>
                <a:solidFill>
                  <a:prstClr val="black"/>
                </a:solidFill>
                <a:effectLst/>
                <a:uLnTx/>
                <a:uFillTx/>
                <a:latin typeface="Aptos" panose="02110004020202020204"/>
                <a:ea typeface="+mn-ea"/>
                <a:cs typeface="+mn-cs"/>
              </a:rPr>
              <a:t>entire</a:t>
            </a: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GB" sz="3200" b="1" i="0" u="none" strike="noStrike" kern="1200" cap="none" spc="0" normalizeH="0" baseline="0" noProof="0" dirty="0">
                <a:ln>
                  <a:noFill/>
                </a:ln>
                <a:solidFill>
                  <a:prstClr val="black"/>
                </a:solidFill>
                <a:effectLst/>
                <a:uLnTx/>
                <a:uFillTx/>
                <a:latin typeface="Aptos" panose="02110004020202020204"/>
                <a:ea typeface="+mn-ea"/>
                <a:cs typeface="+mn-cs"/>
              </a:rPr>
              <a:t>economy</a:t>
            </a:r>
            <a:endParaRPr kumimoji="0" lang="en-US" sz="32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sng"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Slide Number Placeholder 2">
            <a:extLst>
              <a:ext uri="{FF2B5EF4-FFF2-40B4-BE49-F238E27FC236}">
                <a16:creationId xmlns:a16="http://schemas.microsoft.com/office/drawing/2014/main" id="{99D077A4-D123-4906-A08C-0004ADA912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4683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50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idx="4294967295"/>
          </p:nvPr>
        </p:nvSpPr>
        <p:spPr>
          <a:xfrm>
            <a:off x="544529" y="365125"/>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Dealing with shocks</a:t>
            </a:r>
          </a:p>
        </p:txBody>
      </p:sp>
      <p:sp>
        <p:nvSpPr>
          <p:cNvPr id="4" name="Content Placeholder 3">
            <a:extLst>
              <a:ext uri="{FF2B5EF4-FFF2-40B4-BE49-F238E27FC236}">
                <a16:creationId xmlns:a16="http://schemas.microsoft.com/office/drawing/2014/main" id="{18C63DE8-DAB2-C173-5DEE-F7634F51D0DD}"/>
              </a:ext>
            </a:extLst>
          </p:cNvPr>
          <p:cNvSpPr>
            <a:spLocks noGrp="1"/>
          </p:cNvSpPr>
          <p:nvPr>
            <p:ph sz="half" idx="4294967295"/>
          </p:nvPr>
        </p:nvSpPr>
        <p:spPr>
          <a:xfrm>
            <a:off x="544529" y="1928813"/>
            <a:ext cx="10515600" cy="4564062"/>
          </a:xfrm>
        </p:spPr>
        <p:txBody>
          <a:bodyPr vert="horz" lIns="91440" tIns="45720" rIns="91440" bIns="45720" rtlCol="0">
            <a:normAutofit lnSpcReduction="10000"/>
          </a:bodyPr>
          <a:lstStyle/>
          <a:p>
            <a:pPr marL="0" indent="0">
              <a:spcBef>
                <a:spcPts val="900"/>
              </a:spcBef>
              <a:spcAft>
                <a:spcPts val="900"/>
              </a:spcAft>
              <a:buNone/>
            </a:pPr>
            <a:r>
              <a:rPr lang="en-US" sz="2400" b="0" i="0" u="none" strike="noStrike" dirty="0">
                <a:effectLst/>
              </a:rPr>
              <a:t>People use two strategies to deal with idiosyncratic shocks—shocks that are specific to their household:</a:t>
            </a:r>
            <a:endParaRPr lang="en-US" sz="2400" b="0" dirty="0">
              <a:effectLst/>
            </a:endParaRPr>
          </a:p>
          <a:p>
            <a:pPr fontAlgn="base">
              <a:spcBef>
                <a:spcPts val="180"/>
              </a:spcBef>
              <a:spcAft>
                <a:spcPts val="180"/>
              </a:spcAft>
            </a:pPr>
            <a:r>
              <a:rPr lang="en-US" sz="2400" b="1" i="1" u="none" strike="noStrike" dirty="0">
                <a:effectLst/>
              </a:rPr>
              <a:t>Self-insurance:</a:t>
            </a:r>
            <a:r>
              <a:rPr lang="en-US" sz="2400" b="0" i="0" u="none" strike="noStrike" dirty="0">
                <a:effectLst/>
              </a:rPr>
              <a:t> Households that encounter an unusually high income in some period will </a:t>
            </a:r>
            <a:r>
              <a:rPr lang="en-US" sz="2400" b="1" i="0" u="none" strike="noStrike" dirty="0">
                <a:effectLst/>
              </a:rPr>
              <a:t>save</a:t>
            </a:r>
            <a:r>
              <a:rPr lang="en-US" sz="2400" b="0" i="0" u="none" strike="noStrike" dirty="0">
                <a:effectLst/>
              </a:rPr>
              <a:t>, so that when their luck reverses, they can spend their savings. They may also </a:t>
            </a:r>
            <a:r>
              <a:rPr lang="en-US" sz="2400" b="1" i="0" u="none" strike="noStrike" dirty="0">
                <a:effectLst/>
              </a:rPr>
              <a:t>borrow</a:t>
            </a:r>
            <a:r>
              <a:rPr lang="en-US" sz="2400" b="0" i="0" u="none" strike="noStrike" dirty="0">
                <a:effectLst/>
              </a:rPr>
              <a:t> in bad times if they can. It is called self-insurance because other households are not involved.</a:t>
            </a:r>
          </a:p>
          <a:p>
            <a:r>
              <a:rPr lang="en-US" sz="2400" b="1" i="1" u="none" strike="noStrike" dirty="0">
                <a:effectLst/>
              </a:rPr>
              <a:t>Co-insurance:</a:t>
            </a:r>
            <a:r>
              <a:rPr lang="en-US" sz="2400" b="0" i="0" u="none" strike="noStrike" dirty="0">
                <a:effectLst/>
              </a:rPr>
              <a:t> Households that have been fortunate during a particular period can help a household hit by bad luck. Sometimes this is done among members of extended families or among friends and </a:t>
            </a:r>
            <a:r>
              <a:rPr lang="en-US" sz="2400" b="0" i="0" u="none" strike="noStrike" dirty="0" err="1">
                <a:effectLst/>
              </a:rPr>
              <a:t>neighbours</a:t>
            </a:r>
            <a:r>
              <a:rPr lang="en-US" sz="2400" b="0" i="0" u="none" strike="noStrike" dirty="0">
                <a:effectLst/>
              </a:rPr>
              <a:t>. Since the mid-twentieth century, particularly in richer countries, co-insurance has taken the form of citizens paying taxes, which are then used to support individuals who are temporarily out of work or when there is an economy-wide shock (unemployment benefits, furlough payments in the pandemic).</a:t>
            </a:r>
            <a:endParaRPr lang="en-US" sz="2400" dirty="0"/>
          </a:p>
        </p:txBody>
      </p:sp>
    </p:spTree>
    <p:extLst>
      <p:ext uri="{BB962C8B-B14F-4D97-AF65-F5344CB8AC3E}">
        <p14:creationId xmlns:p14="http://schemas.microsoft.com/office/powerpoint/2010/main" val="64247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365125"/>
            <a:ext cx="12192001" cy="935641"/>
          </a:xfrm>
        </p:spPr>
        <p:txBody>
          <a:bodyPr>
            <a:normAutofit/>
          </a:bodyPr>
          <a:lstStyle/>
          <a:p>
            <a:pPr algn="ctr"/>
            <a:r>
              <a:rPr lang="en-GB" sz="4000" b="1" dirty="0">
                <a:latin typeface="+mn-lt"/>
              </a:rPr>
              <a:t>Economy-wide shocks (e.g. Covid-19 pandemic)</a:t>
            </a:r>
          </a:p>
        </p:txBody>
      </p:sp>
      <p:sp>
        <p:nvSpPr>
          <p:cNvPr id="6" name="TextBox 5"/>
          <p:cNvSpPr txBox="1"/>
          <p:nvPr/>
        </p:nvSpPr>
        <p:spPr>
          <a:xfrm>
            <a:off x="651391" y="1413063"/>
            <a:ext cx="10889217"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Co-insurance is less effective if the bad shock hits everyone at the same 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But when these shocks hit, </a:t>
            </a:r>
            <a:r>
              <a:rPr kumimoji="0" lang="en-GB" sz="3200" b="1" i="1" u="none" strike="noStrike" kern="1200" cap="none" spc="0" normalizeH="0" baseline="0" noProof="0" dirty="0">
                <a:ln>
                  <a:noFill/>
                </a:ln>
                <a:solidFill>
                  <a:prstClr val="black"/>
                </a:solidFill>
                <a:effectLst/>
                <a:uLnTx/>
                <a:uFillTx/>
                <a:latin typeface="Aptos" panose="02110004020202020204"/>
                <a:ea typeface="+mn-ea"/>
                <a:cs typeface="+mn-cs"/>
              </a:rPr>
              <a:t>co-insurance</a:t>
            </a: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 is even more necessary.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Aptos" panose="02110004020202020204"/>
                <a:ea typeface="+mn-ea"/>
                <a:cs typeface="+mn-cs"/>
              </a:rPr>
              <a:t>In farming economies of the past that were based in volatile climates, people practised co-insurance based on </a:t>
            </a:r>
            <a:r>
              <a:rPr kumimoji="0" lang="en-GB" sz="3200" b="1" i="0" u="sng" strike="noStrike" kern="1200" cap="none" spc="0" normalizeH="0" baseline="0" noProof="0" dirty="0">
                <a:ln>
                  <a:noFill/>
                </a:ln>
                <a:solidFill>
                  <a:prstClr val="black"/>
                </a:solidFill>
                <a:effectLst/>
                <a:uLnTx/>
                <a:uFillTx/>
                <a:latin typeface="Aptos" panose="02110004020202020204"/>
                <a:ea typeface="+mn-ea"/>
                <a:cs typeface="+mn-cs"/>
              </a:rPr>
              <a:t>trust, reciprocity, and altruism</a:t>
            </a:r>
            <a:r>
              <a:rPr kumimoji="0" lang="en-GB" sz="3200" b="1"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3" name="Slide Number Placeholder 2">
            <a:extLst>
              <a:ext uri="{FF2B5EF4-FFF2-40B4-BE49-F238E27FC236}">
                <a16:creationId xmlns:a16="http://schemas.microsoft.com/office/drawing/2014/main" id="{03526058-3377-4ACB-935A-39B5F72CDA0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953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fade">
                                      <p:cBhvr>
                                        <p:cTn id="1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5BC8-003E-EC7A-C33B-96EA4DE1A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017F0-A70B-F4B8-02EB-139EFC47DE9A}"/>
              </a:ext>
            </a:extLst>
          </p:cNvPr>
          <p:cNvSpPr>
            <a:spLocks noGrp="1"/>
          </p:cNvSpPr>
          <p:nvPr>
            <p:ph type="title"/>
          </p:nvPr>
        </p:nvSpPr>
        <p:spPr>
          <a:xfrm>
            <a:off x="-2" y="0"/>
            <a:ext cx="12192001" cy="935641"/>
          </a:xfrm>
        </p:spPr>
        <p:txBody>
          <a:bodyPr>
            <a:normAutofit/>
          </a:bodyPr>
          <a:lstStyle/>
          <a:p>
            <a:pPr algn="ctr"/>
            <a:r>
              <a:rPr lang="en-GB" sz="4000" b="1" dirty="0">
                <a:latin typeface="+mn-lt"/>
              </a:rPr>
              <a:t>Consumer preferences</a:t>
            </a:r>
          </a:p>
        </p:txBody>
      </p:sp>
      <p:sp>
        <p:nvSpPr>
          <p:cNvPr id="6" name="TextBox 5">
            <a:extLst>
              <a:ext uri="{FF2B5EF4-FFF2-40B4-BE49-F238E27FC236}">
                <a16:creationId xmlns:a16="http://schemas.microsoft.com/office/drawing/2014/main" id="{37F412B0-72C0-D2F5-236B-C0B7829FB40B}"/>
              </a:ext>
            </a:extLst>
          </p:cNvPr>
          <p:cNvSpPr txBox="1"/>
          <p:nvPr/>
        </p:nvSpPr>
        <p:spPr>
          <a:xfrm>
            <a:off x="651389" y="1720840"/>
            <a:ext cx="10889217"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600" b="0" i="0" u="none" strike="noStrike" kern="1200" cap="none" spc="0" normalizeH="0" baseline="0" noProof="0" dirty="0">
                <a:ln>
                  <a:noFill/>
                </a:ln>
                <a:solidFill>
                  <a:prstClr val="black"/>
                </a:solidFill>
                <a:effectLst/>
                <a:uLnTx/>
                <a:uFillTx/>
                <a:latin typeface="Aptos" panose="02110004020202020204"/>
                <a:ea typeface="+mn-ea"/>
                <a:cs typeface="+mn-cs"/>
              </a:rPr>
              <a:t>Self-insurance and co-insurance reflect two important aspects of the </a:t>
            </a:r>
            <a:r>
              <a:rPr kumimoji="0" lang="en-ZA" sz="3600" b="1" i="1" u="none" strike="noStrike" kern="1200" cap="none" spc="0" normalizeH="0" baseline="0" noProof="0" dirty="0">
                <a:ln>
                  <a:noFill/>
                </a:ln>
                <a:solidFill>
                  <a:prstClr val="black"/>
                </a:solidFill>
                <a:effectLst/>
                <a:uLnTx/>
                <a:uFillTx/>
                <a:latin typeface="Aptos" panose="02110004020202020204"/>
                <a:ea typeface="+mn-ea"/>
                <a:cs typeface="+mn-cs"/>
              </a:rPr>
              <a:t>preferences</a:t>
            </a:r>
            <a:r>
              <a:rPr kumimoji="0" lang="en-ZA" sz="3600" b="0" i="0" u="none" strike="noStrike" kern="1200" cap="none" spc="0" normalizeH="0" baseline="0" noProof="0" dirty="0">
                <a:ln>
                  <a:noFill/>
                </a:ln>
                <a:solidFill>
                  <a:prstClr val="black"/>
                </a:solidFill>
                <a:effectLst/>
                <a:uLnTx/>
                <a:uFillTx/>
                <a:latin typeface="Aptos" panose="02110004020202020204"/>
                <a:ea typeface="+mn-ea"/>
                <a:cs typeface="+mn-cs"/>
              </a:rPr>
              <a:t>⁠ of many households: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3600" b="0" i="0" u="none" strike="noStrike" kern="1200" cap="none" spc="0" normalizeH="0" baseline="0" noProof="0" dirty="0">
                <a:ln>
                  <a:noFill/>
                </a:ln>
                <a:solidFill>
                  <a:prstClr val="black"/>
                </a:solidFill>
                <a:effectLst/>
                <a:uLnTx/>
                <a:uFillTx/>
                <a:latin typeface="Aptos" panose="02110004020202020204"/>
                <a:ea typeface="+mn-ea"/>
                <a:cs typeface="+mn-cs"/>
              </a:rPr>
              <a:t>Households prefer a </a:t>
            </a:r>
            <a:r>
              <a:rPr kumimoji="0" lang="en-ZA" sz="3600" b="0" i="1" u="none" strike="noStrike" kern="1200" cap="none" spc="0" normalizeH="0" baseline="0" noProof="0" dirty="0">
                <a:ln>
                  <a:noFill/>
                </a:ln>
                <a:solidFill>
                  <a:prstClr val="black"/>
                </a:solidFill>
                <a:effectLst/>
                <a:uLnTx/>
                <a:uFillTx/>
                <a:latin typeface="Aptos" panose="02110004020202020204"/>
                <a:ea typeface="+mn-ea"/>
                <a:cs typeface="+mn-cs"/>
              </a:rPr>
              <a:t>smooth</a:t>
            </a:r>
            <a:r>
              <a:rPr kumimoji="0" lang="en-ZA" sz="3600" b="0" i="0" u="none" strike="noStrike" kern="1200" cap="none" spc="0" normalizeH="0" baseline="0" noProof="0" dirty="0">
                <a:ln>
                  <a:noFill/>
                </a:ln>
                <a:solidFill>
                  <a:prstClr val="black"/>
                </a:solidFill>
                <a:effectLst/>
                <a:uLnTx/>
                <a:uFillTx/>
                <a:latin typeface="Aptos" panose="02110004020202020204"/>
                <a:ea typeface="+mn-ea"/>
                <a:cs typeface="+mn-cs"/>
              </a:rPr>
              <a:t> pattern of consumption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3600" b="0" i="0" u="none" strike="noStrike" kern="1200" cap="none" spc="0" normalizeH="0" baseline="0" noProof="0" dirty="0">
                <a:ln>
                  <a:noFill/>
                </a:ln>
                <a:solidFill>
                  <a:prstClr val="black"/>
                </a:solidFill>
                <a:effectLst/>
                <a:uLnTx/>
                <a:uFillTx/>
                <a:latin typeface="Aptos" panose="02110004020202020204"/>
                <a:ea typeface="+mn-ea"/>
                <a:cs typeface="+mn-cs"/>
              </a:rPr>
              <a:t>But they may have a </a:t>
            </a:r>
            <a:r>
              <a:rPr kumimoji="0" lang="en-ZA" sz="3600" b="0" i="1" u="none" strike="noStrike" kern="1200" cap="none" spc="0" normalizeH="0" baseline="0" noProof="0" dirty="0">
                <a:ln>
                  <a:noFill/>
                </a:ln>
                <a:solidFill>
                  <a:prstClr val="black"/>
                </a:solidFill>
                <a:effectLst/>
                <a:uLnTx/>
                <a:uFillTx/>
                <a:latin typeface="Aptos" panose="02110004020202020204"/>
                <a:ea typeface="+mn-ea"/>
                <a:cs typeface="+mn-cs"/>
              </a:rPr>
              <a:t>bias towards the present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3600" b="0" i="0" u="none" strike="noStrike" kern="1200" cap="none" spc="0" normalizeH="0" baseline="0" noProof="0" dirty="0">
                <a:ln>
                  <a:noFill/>
                </a:ln>
                <a:solidFill>
                  <a:prstClr val="black"/>
                </a:solidFill>
                <a:effectLst/>
                <a:uLnTx/>
                <a:uFillTx/>
                <a:latin typeface="Aptos" panose="02110004020202020204"/>
                <a:ea typeface="+mn-ea"/>
                <a:cs typeface="+mn-cs"/>
              </a:rPr>
              <a:t>Households are </a:t>
            </a:r>
            <a:r>
              <a:rPr kumimoji="0" lang="en-ZA" sz="3600" b="0" i="1" u="none" strike="noStrike" kern="1200" cap="none" spc="0" normalizeH="0" baseline="0" noProof="0" dirty="0">
                <a:ln>
                  <a:noFill/>
                </a:ln>
                <a:solidFill>
                  <a:prstClr val="black"/>
                </a:solidFill>
                <a:effectLst/>
                <a:uLnTx/>
                <a:uFillTx/>
                <a:latin typeface="Aptos" panose="02110004020202020204"/>
                <a:ea typeface="+mn-ea"/>
                <a:cs typeface="+mn-cs"/>
              </a:rPr>
              <a:t>not solely selfish</a:t>
            </a:r>
            <a:endParaRPr kumimoji="0" lang="en-GB" sz="3600" b="1"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Slide Number Placeholder 2">
            <a:extLst>
              <a:ext uri="{FF2B5EF4-FFF2-40B4-BE49-F238E27FC236}">
                <a16:creationId xmlns:a16="http://schemas.microsoft.com/office/drawing/2014/main" id="{D3FF205C-A730-063A-EDF7-0B9EB06FF7B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09840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igure-13-11-c.jpg"/>
          <p:cNvPicPr>
            <a:picLocks noChangeAspect="1"/>
          </p:cNvPicPr>
          <p:nvPr/>
        </p:nvPicPr>
        <p:blipFill>
          <a:blip r:embed="rId3"/>
          <a:stretch>
            <a:fillRect/>
          </a:stretch>
        </p:blipFill>
        <p:spPr>
          <a:xfrm>
            <a:off x="3416281" y="2076058"/>
            <a:ext cx="5516946" cy="4781942"/>
          </a:xfrm>
          <a:prstGeom prst="rect">
            <a:avLst/>
          </a:prstGeom>
        </p:spPr>
      </p:pic>
      <p:sp>
        <p:nvSpPr>
          <p:cNvPr id="2" name="Title 1"/>
          <p:cNvSpPr>
            <a:spLocks noGrp="1"/>
          </p:cNvSpPr>
          <p:nvPr>
            <p:ph type="title"/>
          </p:nvPr>
        </p:nvSpPr>
        <p:spPr>
          <a:xfrm>
            <a:off x="0" y="136525"/>
            <a:ext cx="12192000" cy="935641"/>
          </a:xfrm>
        </p:spPr>
        <p:txBody>
          <a:bodyPr>
            <a:normAutofit/>
          </a:bodyPr>
          <a:lstStyle/>
          <a:p>
            <a:pPr algn="ctr"/>
            <a:r>
              <a:rPr lang="en-GB" sz="4800" dirty="0">
                <a:latin typeface="+mn-lt"/>
              </a:rPr>
              <a:t>Limitations to smoothing: </a:t>
            </a:r>
            <a:r>
              <a:rPr lang="en-GB" sz="4800" b="1" dirty="0">
                <a:latin typeface="+mn-lt"/>
              </a:rPr>
              <a:t>credit constraints</a:t>
            </a:r>
          </a:p>
        </p:txBody>
      </p:sp>
      <p:sp>
        <p:nvSpPr>
          <p:cNvPr id="7" name="TextBox 6"/>
          <p:cNvSpPr txBox="1"/>
          <p:nvPr/>
        </p:nvSpPr>
        <p:spPr>
          <a:xfrm>
            <a:off x="149424" y="1188720"/>
            <a:ext cx="11711650"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Aptos" panose="02110004020202020204"/>
                <a:ea typeface="+mn-ea"/>
                <a:cs typeface="+mn-cs"/>
              </a:rPr>
              <a:t>Credit constraints </a:t>
            </a: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 limits on amount borrowed/ability to borrow.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The households unable to adjust to a temporary income shock, have lower welfare.</a:t>
            </a:r>
          </a:p>
        </p:txBody>
      </p:sp>
      <p:sp>
        <p:nvSpPr>
          <p:cNvPr id="3" name="Slide Number Placeholder 2">
            <a:extLst>
              <a:ext uri="{FF2B5EF4-FFF2-40B4-BE49-F238E27FC236}">
                <a16:creationId xmlns:a16="http://schemas.microsoft.com/office/drawing/2014/main" id="{8FFC6837-AA49-4624-A713-40F7D330EBC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6E362104-4EA5-4467-8D95-4CE4CACDC4EC}"/>
              </a:ext>
            </a:extLst>
          </p:cNvPr>
          <p:cNvSpPr txBox="1"/>
          <p:nvPr/>
        </p:nvSpPr>
        <p:spPr>
          <a:xfrm>
            <a:off x="149424" y="3846829"/>
            <a:ext cx="488561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hlinkClick r:id="rId4"/>
              </a:rPr>
              <a:t>Figure 3.18 </a:t>
            </a:r>
            <a:r>
              <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rPr>
              <a:t>Consumption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rPr>
              <a:t>when credit constraints bind.</a:t>
            </a:r>
          </a:p>
        </p:txBody>
      </p:sp>
    </p:spTree>
    <p:extLst>
      <p:ext uri="{BB962C8B-B14F-4D97-AF65-F5344CB8AC3E}">
        <p14:creationId xmlns:p14="http://schemas.microsoft.com/office/powerpoint/2010/main" val="4021586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02949-EC8C-5ED9-42AE-8065C40B8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2C76B-9AFE-D458-D59A-F62B0DA8DF7E}"/>
              </a:ext>
            </a:extLst>
          </p:cNvPr>
          <p:cNvSpPr>
            <a:spLocks noGrp="1"/>
          </p:cNvSpPr>
          <p:nvPr>
            <p:ph type="title"/>
          </p:nvPr>
        </p:nvSpPr>
        <p:spPr>
          <a:xfrm>
            <a:off x="0" y="136525"/>
            <a:ext cx="12192000" cy="935641"/>
          </a:xfrm>
        </p:spPr>
        <p:txBody>
          <a:bodyPr>
            <a:normAutofit/>
          </a:bodyPr>
          <a:lstStyle/>
          <a:p>
            <a:pPr algn="ctr"/>
            <a:r>
              <a:rPr lang="en-GB" sz="4800" dirty="0">
                <a:latin typeface="+mn-lt"/>
              </a:rPr>
              <a:t>Limitations to smoothing: </a:t>
            </a:r>
            <a:r>
              <a:rPr lang="en-GB" sz="4800" b="1" dirty="0">
                <a:latin typeface="+mn-lt"/>
              </a:rPr>
              <a:t>Present bias</a:t>
            </a:r>
          </a:p>
        </p:txBody>
      </p:sp>
      <p:sp>
        <p:nvSpPr>
          <p:cNvPr id="7" name="TextBox 6">
            <a:extLst>
              <a:ext uri="{FF2B5EF4-FFF2-40B4-BE49-F238E27FC236}">
                <a16:creationId xmlns:a16="http://schemas.microsoft.com/office/drawing/2014/main" id="{BC17D850-D300-602A-B46D-E40B370D05AD}"/>
              </a:ext>
            </a:extLst>
          </p:cNvPr>
          <p:cNvSpPr txBox="1"/>
          <p:nvPr/>
        </p:nvSpPr>
        <p:spPr>
          <a:xfrm>
            <a:off x="149423" y="911320"/>
            <a:ext cx="11953533"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Present bias </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2400" b="0" i="0" u="none" strike="noStrike" kern="1200" cap="none" spc="0" normalizeH="0" baseline="0" noProof="0" dirty="0">
                <a:ln>
                  <a:noFill/>
                </a:ln>
                <a:solidFill>
                  <a:prstClr val="black"/>
                </a:solidFill>
                <a:effectLst/>
                <a:uLnTx/>
                <a:uFillTx/>
                <a:latin typeface="Aptos" panose="02110004020202020204"/>
                <a:ea typeface="+mn-ea"/>
                <a:cs typeface="+mn-cs"/>
              </a:rPr>
              <a:t>a household that demonstrates present bias will be reluctant to reduce their current consumption, keeping it at the initial level until income falls. consumption falls further than it does for the consumption-smoothing household</a:t>
            </a:r>
            <a:endPar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Slide Number Placeholder 2">
            <a:extLst>
              <a:ext uri="{FF2B5EF4-FFF2-40B4-BE49-F238E27FC236}">
                <a16:creationId xmlns:a16="http://schemas.microsoft.com/office/drawing/2014/main" id="{25F056DB-F734-09AC-C22E-318FBC1460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455A2AB3-0697-7FF5-C774-F4D7603BFDA0}"/>
              </a:ext>
            </a:extLst>
          </p:cNvPr>
          <p:cNvSpPr txBox="1"/>
          <p:nvPr/>
        </p:nvSpPr>
        <p:spPr>
          <a:xfrm>
            <a:off x="149424" y="3846829"/>
            <a:ext cx="3266857"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hlinkClick r:id="rId3"/>
              </a:rPr>
              <a:t>Figure 3.19 </a:t>
            </a:r>
            <a:r>
              <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rPr>
              <a:t>Consumption when households demonstrate present bias: an anticipated fall in income</a:t>
            </a:r>
          </a:p>
        </p:txBody>
      </p:sp>
      <p:pic>
        <p:nvPicPr>
          <p:cNvPr id="8" name="Picture 7">
            <a:extLst>
              <a:ext uri="{FF2B5EF4-FFF2-40B4-BE49-F238E27FC236}">
                <a16:creationId xmlns:a16="http://schemas.microsoft.com/office/drawing/2014/main" id="{9F40578E-6BC2-B1EF-F739-7EE435E06B5F}"/>
              </a:ext>
            </a:extLst>
          </p:cNvPr>
          <p:cNvPicPr>
            <a:picLocks noChangeAspect="1"/>
          </p:cNvPicPr>
          <p:nvPr/>
        </p:nvPicPr>
        <p:blipFill>
          <a:blip r:embed="rId4"/>
          <a:stretch>
            <a:fillRect/>
          </a:stretch>
        </p:blipFill>
        <p:spPr>
          <a:xfrm>
            <a:off x="3774461" y="2212944"/>
            <a:ext cx="4703455" cy="4657664"/>
          </a:xfrm>
          <a:prstGeom prst="rect">
            <a:avLst/>
          </a:prstGeom>
        </p:spPr>
      </p:pic>
    </p:spTree>
    <p:extLst>
      <p:ext uri="{BB962C8B-B14F-4D97-AF65-F5344CB8AC3E}">
        <p14:creationId xmlns:p14="http://schemas.microsoft.com/office/powerpoint/2010/main" val="3157823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271755"/>
            <a:ext cx="10515600" cy="935641"/>
          </a:xfrm>
        </p:spPr>
        <p:txBody>
          <a:bodyPr>
            <a:normAutofit fontScale="90000"/>
          </a:bodyPr>
          <a:lstStyle/>
          <a:p>
            <a:pPr algn="ctr"/>
            <a:r>
              <a:rPr lang="en-GB" sz="4800" dirty="0">
                <a:latin typeface="+mn-lt"/>
              </a:rPr>
              <a:t>Limitations to smoothing: </a:t>
            </a:r>
            <a:r>
              <a:rPr lang="en-GB" sz="4800" b="1" dirty="0">
                <a:latin typeface="+mn-lt"/>
              </a:rPr>
              <a:t>credit constraints</a:t>
            </a:r>
          </a:p>
        </p:txBody>
      </p:sp>
      <p:sp>
        <p:nvSpPr>
          <p:cNvPr id="3" name="Rectangle 2"/>
          <p:cNvSpPr/>
          <p:nvPr/>
        </p:nvSpPr>
        <p:spPr>
          <a:xfrm>
            <a:off x="132394" y="1506765"/>
            <a:ext cx="11983656" cy="50321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Many countries in </a:t>
            </a:r>
            <a:r>
              <a:rPr kumimoji="0" lang="en-ZA" sz="3200" b="1" i="0" u="none" strike="noStrike" kern="1200" cap="none" spc="0" normalizeH="0" baseline="0" noProof="0" dirty="0">
                <a:ln>
                  <a:noFill/>
                </a:ln>
                <a:solidFill>
                  <a:prstClr val="black"/>
                </a:solidFill>
                <a:effectLst/>
                <a:uLnTx/>
                <a:uFillTx/>
                <a:latin typeface="Aptos" panose="02110004020202020204"/>
                <a:ea typeface="+mn-ea"/>
                <a:cs typeface="+mn-cs"/>
              </a:rPr>
              <a:t>Africa</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has particularly shallow financial markets.</a:t>
            </a:r>
          </a:p>
          <a:p>
            <a:pPr marL="457200" marR="0" lvl="0" indent="-4572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ZA" sz="2800" b="0" i="0" u="none" strike="noStrike" kern="1200" cap="none" spc="0" normalizeH="0" baseline="0" noProof="0" dirty="0">
                <a:ln>
                  <a:noFill/>
                </a:ln>
                <a:solidFill>
                  <a:prstClr val="black"/>
                </a:solidFill>
                <a:effectLst/>
                <a:uLnTx/>
                <a:uFillTx/>
                <a:latin typeface="Aptos" panose="02110004020202020204"/>
                <a:ea typeface="+mn-ea"/>
                <a:cs typeface="+mn-cs"/>
              </a:rPr>
              <a:t>This makes obtaining credit for consumption smoothing particularly difficult.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800" b="0" i="0" u="none" strike="noStrike" kern="1200" cap="none" spc="0" normalizeH="0" baseline="0" noProof="0" dirty="0">
                <a:ln>
                  <a:noFill/>
                </a:ln>
                <a:solidFill>
                  <a:prstClr val="black"/>
                </a:solidFill>
                <a:effectLst/>
                <a:uLnTx/>
                <a:uFillTx/>
                <a:latin typeface="Aptos" panose="02110004020202020204"/>
                <a:ea typeface="+mn-ea"/>
                <a:cs typeface="+mn-cs"/>
              </a:rPr>
              <a:t>In the past, this has meant that African households were exposed to deepening poverty during times of negative exogenous shocks.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2800" b="0" i="0" u="none" strike="noStrike" kern="1200" cap="none" spc="0" normalizeH="0" baseline="0" noProof="0" dirty="0">
                <a:ln>
                  <a:noFill/>
                </a:ln>
                <a:solidFill>
                  <a:prstClr val="black"/>
                </a:solidFill>
                <a:effectLst/>
                <a:uLnTx/>
                <a:uFillTx/>
                <a:latin typeface="Aptos" panose="02110004020202020204"/>
                <a:ea typeface="+mn-ea"/>
                <a:cs typeface="+mn-cs"/>
              </a:rPr>
              <a:t>However; Mobile banking has become one method of reducing credit constraints in Africa (</a:t>
            </a:r>
            <a:r>
              <a:rPr kumimoji="0" lang="en-ZA" sz="2800" b="0" i="0" u="none" strike="noStrike" kern="1200" cap="none" spc="0" normalizeH="0" baseline="0" noProof="0" dirty="0" err="1">
                <a:ln>
                  <a:noFill/>
                </a:ln>
                <a:solidFill>
                  <a:prstClr val="black"/>
                </a:solidFill>
                <a:effectLst/>
                <a:uLnTx/>
                <a:uFillTx/>
                <a:latin typeface="Aptos" panose="02110004020202020204"/>
                <a:ea typeface="+mn-ea"/>
                <a:cs typeface="+mn-cs"/>
              </a:rPr>
              <a:t>mpesa</a:t>
            </a:r>
            <a:r>
              <a:rPr kumimoji="0" lang="en-ZA" sz="2800" b="0" i="0" u="none" strike="noStrike" kern="1200" cap="none" spc="0" normalizeH="0" baseline="0" noProof="0" dirty="0">
                <a:ln>
                  <a:noFill/>
                </a:ln>
                <a:solidFill>
                  <a:prstClr val="black"/>
                </a:solidFill>
                <a:effectLst/>
                <a:uLnTx/>
                <a:uFillTx/>
                <a:latin typeface="Aptos" panose="02110004020202020204"/>
                <a:ea typeface="+mn-ea"/>
                <a:cs typeface="+mn-cs"/>
              </a:rPr>
              <a:t>, etc)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3200" b="1" i="1" u="none" strike="noStrike" kern="1200" cap="none" spc="0" normalizeH="0" baseline="0" noProof="0" dirty="0">
                <a:ln>
                  <a:noFill/>
                </a:ln>
                <a:solidFill>
                  <a:prstClr val="black"/>
                </a:solidFill>
                <a:effectLst/>
                <a:uLnTx/>
                <a:uFillTx/>
                <a:latin typeface="Aptos" panose="02110004020202020204"/>
                <a:ea typeface="+mn-ea"/>
                <a:cs typeface="+mn-cs"/>
              </a:rPr>
              <a:t>In SA</a:t>
            </a:r>
            <a:r>
              <a:rPr kumimoji="0" lang="en-ZA" sz="3200" b="0" i="1"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2800" b="0" i="1" u="none" strike="noStrike" kern="1200" cap="none" spc="0" normalizeH="0" baseline="0" noProof="0" dirty="0">
                <a:ln>
                  <a:noFill/>
                </a:ln>
                <a:solidFill>
                  <a:prstClr val="black"/>
                </a:solidFill>
                <a:effectLst/>
                <a:uLnTx/>
                <a:uFillTx/>
                <a:latin typeface="Aptos" panose="02110004020202020204"/>
                <a:ea typeface="+mn-ea"/>
                <a:cs typeface="+mn-cs"/>
              </a:rPr>
              <a:t>Sophisticated financial markets, but mostly excludes the poor and low-income earners from credit due to lack of collateral and education on accessing these financial credit markets. Those excluded then resort to informal short-term credit markets with exorbitant interest rates. </a:t>
            </a:r>
            <a:endParaRPr kumimoji="0" lang="en-ZA" sz="3200" b="0" i="1"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 name="Slide Number Placeholder 3">
            <a:extLst>
              <a:ext uri="{FF2B5EF4-FFF2-40B4-BE49-F238E27FC236}">
                <a16:creationId xmlns:a16="http://schemas.microsoft.com/office/drawing/2014/main" id="{D86C602C-F391-4C4B-9D30-129EC5AAF2A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7F9CF8-7BB1-4BB6-A5F7-0C7C2A0482EA}"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83196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idx="4294967295"/>
          </p:nvPr>
        </p:nvSpPr>
        <p:spPr>
          <a:xfrm>
            <a:off x="441786" y="365125"/>
            <a:ext cx="10515600" cy="1325563"/>
          </a:xfrm>
        </p:spPr>
        <p:txBody>
          <a:bodyPr vert="horz" lIns="91440" tIns="45720" rIns="91440" bIns="45720" rtlCol="0" anchor="ctr">
            <a:normAutofit/>
          </a:bodyPr>
          <a:lstStyle/>
          <a:p>
            <a:r>
              <a:rPr lang="en-US" sz="4200" kern="1200" dirty="0">
                <a:solidFill>
                  <a:schemeClr val="tx1"/>
                </a:solidFill>
                <a:latin typeface="+mj-lt"/>
                <a:ea typeface="+mj-ea"/>
                <a:cs typeface="+mj-cs"/>
              </a:rPr>
              <a:t>Consumer </a:t>
            </a:r>
            <a:r>
              <a:rPr lang="en-US" sz="4200" kern="1200" dirty="0" err="1">
                <a:solidFill>
                  <a:schemeClr val="tx1"/>
                </a:solidFill>
                <a:latin typeface="+mj-lt"/>
                <a:ea typeface="+mj-ea"/>
                <a:cs typeface="+mj-cs"/>
              </a:rPr>
              <a:t>behaviour</a:t>
            </a:r>
            <a:r>
              <a:rPr lang="en-US" sz="4200" kern="1200" dirty="0">
                <a:solidFill>
                  <a:schemeClr val="tx1"/>
                </a:solidFill>
                <a:latin typeface="+mj-lt"/>
                <a:ea typeface="+mj-ea"/>
                <a:cs typeface="+mj-cs"/>
              </a:rPr>
              <a:t> and the multiplier model</a:t>
            </a:r>
          </a:p>
        </p:txBody>
      </p:sp>
      <p:sp>
        <p:nvSpPr>
          <p:cNvPr id="4" name="Content Placeholder 3">
            <a:extLst>
              <a:ext uri="{FF2B5EF4-FFF2-40B4-BE49-F238E27FC236}">
                <a16:creationId xmlns:a16="http://schemas.microsoft.com/office/drawing/2014/main" id="{18C63DE8-DAB2-C173-5DEE-F7634F51D0DD}"/>
              </a:ext>
            </a:extLst>
          </p:cNvPr>
          <p:cNvSpPr>
            <a:spLocks noGrp="1"/>
          </p:cNvSpPr>
          <p:nvPr>
            <p:ph sz="half" idx="4294967295"/>
          </p:nvPr>
        </p:nvSpPr>
        <p:spPr>
          <a:xfrm>
            <a:off x="441786" y="1571946"/>
            <a:ext cx="10515600" cy="5589142"/>
          </a:xfrm>
        </p:spPr>
        <p:txBody>
          <a:bodyPr vert="horz" lIns="91440" tIns="45720" rIns="91440" bIns="45720" rtlCol="0">
            <a:normAutofit/>
          </a:bodyPr>
          <a:lstStyle/>
          <a:p>
            <a:pPr>
              <a:spcBef>
                <a:spcPts val="1200"/>
              </a:spcBef>
              <a:spcAft>
                <a:spcPts val="1200"/>
              </a:spcAft>
            </a:pPr>
            <a:r>
              <a:rPr lang="en-US" sz="2400" b="0" i="0" u="none" strike="noStrike" dirty="0">
                <a:effectLst/>
              </a:rPr>
              <a:t>We can think of the </a:t>
            </a:r>
            <a:r>
              <a:rPr lang="en-US" sz="2400" b="1" i="0" u="none" strike="noStrike" dirty="0">
                <a:effectLst/>
              </a:rPr>
              <a:t>multiplier model </a:t>
            </a:r>
            <a:r>
              <a:rPr lang="en-US" sz="2400" b="0" i="0" u="none" strike="noStrike" dirty="0">
                <a:effectLst/>
              </a:rPr>
              <a:t>as applying to an economy that consists of two types of households. Some households smooth their consumption by borrowing and saving: we can think of these as having an </a:t>
            </a:r>
            <a:r>
              <a:rPr lang="en-US" sz="2400" b="1" i="0" u="none" strike="noStrike" dirty="0">
                <a:effectLst/>
              </a:rPr>
              <a:t>MPC</a:t>
            </a:r>
            <a:r>
              <a:rPr lang="en-US" sz="2400" b="0" i="0" u="none" strike="noStrike" dirty="0">
                <a:effectLst/>
              </a:rPr>
              <a:t> of zero (</a:t>
            </a:r>
            <a:r>
              <a:rPr lang="en-US" sz="2400" b="0" i="1" u="none" strike="noStrike" dirty="0">
                <a:effectLst/>
              </a:rPr>
              <a:t>c</a:t>
            </a:r>
            <a:r>
              <a:rPr lang="en-US" sz="2400" b="0" i="0" u="none" strike="noStrike" baseline="-25000" dirty="0">
                <a:effectLst/>
              </a:rPr>
              <a:t>1</a:t>
            </a:r>
            <a:r>
              <a:rPr lang="en-US" sz="2400" b="0" i="0" u="none" strike="noStrike" dirty="0">
                <a:effectLst/>
              </a:rPr>
              <a:t> = 0). But others, due to some combination of credit constraints and present bias, have an MPC of 1 (</a:t>
            </a:r>
            <a:r>
              <a:rPr lang="en-US" sz="2400" b="0" i="1" u="none" strike="noStrike" dirty="0">
                <a:effectLst/>
              </a:rPr>
              <a:t>c</a:t>
            </a:r>
            <a:r>
              <a:rPr lang="en-US" sz="2400" b="0" i="0" u="none" strike="noStrike" baseline="-25000" dirty="0">
                <a:effectLst/>
              </a:rPr>
              <a:t>1 </a:t>
            </a:r>
            <a:r>
              <a:rPr lang="en-US" sz="2400" b="0" i="0" u="none" strike="noStrike" dirty="0">
                <a:effectLst/>
              </a:rPr>
              <a:t>= 1).</a:t>
            </a:r>
          </a:p>
          <a:p>
            <a:pPr>
              <a:spcBef>
                <a:spcPts val="1200"/>
              </a:spcBef>
              <a:spcAft>
                <a:spcPts val="1200"/>
              </a:spcAft>
            </a:pPr>
            <a:r>
              <a:rPr lang="en-US" sz="2400" b="0" i="0" u="none" strike="noStrike" dirty="0">
                <a:effectLst/>
              </a:rPr>
              <a:t>If we average across the two types of households to find the </a:t>
            </a:r>
            <a:r>
              <a:rPr lang="en-US" sz="2400" b="1" i="0" u="none" strike="noStrike" dirty="0">
                <a:effectLst/>
              </a:rPr>
              <a:t>aggregate consumption function</a:t>
            </a:r>
            <a:r>
              <a:rPr lang="en-US" sz="2400" b="0" i="0" u="none" strike="noStrike" dirty="0">
                <a:effectLst/>
              </a:rPr>
              <a:t>, this gives an average MPC between 0 and 1 as in the multiplier model. Whether the aggregate MPC is high or low thus depends on the proportion of households in each group.</a:t>
            </a:r>
            <a:endParaRPr lang="en-US" sz="2400" b="0" dirty="0">
              <a:effectLst/>
            </a:endParaRPr>
          </a:p>
          <a:p>
            <a:pPr>
              <a:spcBef>
                <a:spcPts val="1200"/>
              </a:spcBef>
              <a:spcAft>
                <a:spcPts val="1200"/>
              </a:spcAft>
            </a:pPr>
            <a:r>
              <a:rPr lang="en-US" sz="2400" b="0" i="0" u="none" strike="noStrike" dirty="0">
                <a:effectLst/>
              </a:rPr>
              <a:t>Shifts in the proportion who are credit constrained and therefore have a high MPC affect the size of the multiplier. This helps explain why the multiplier is found to be higher in deep recessions than it is in booms.</a:t>
            </a:r>
            <a:endParaRPr lang="en-US" sz="2400" dirty="0"/>
          </a:p>
        </p:txBody>
      </p:sp>
    </p:spTree>
    <p:extLst>
      <p:ext uri="{BB962C8B-B14F-4D97-AF65-F5344CB8AC3E}">
        <p14:creationId xmlns:p14="http://schemas.microsoft.com/office/powerpoint/2010/main" val="1491551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7FA4C-39F6-E65E-1250-056151CDD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DD721-3C55-EC03-5D47-69CFCC301324}"/>
              </a:ext>
            </a:extLst>
          </p:cNvPr>
          <p:cNvSpPr>
            <a:spLocks noGrp="1"/>
          </p:cNvSpPr>
          <p:nvPr>
            <p:ph type="title"/>
          </p:nvPr>
        </p:nvSpPr>
        <p:spPr/>
        <p:txBody>
          <a:bodyPr/>
          <a:lstStyle/>
          <a:p>
            <a:r>
              <a:rPr lang="en-US" dirty="0"/>
              <a:t>Do </a:t>
            </a:r>
            <a:r>
              <a:rPr lang="en-US" dirty="0">
                <a:hlinkClick r:id="rId2"/>
              </a:rPr>
              <a:t>Question 3.13</a:t>
            </a:r>
            <a:endParaRPr lang="en-ZA" dirty="0"/>
          </a:p>
        </p:txBody>
      </p:sp>
      <p:sp>
        <p:nvSpPr>
          <p:cNvPr id="3" name="Slide Number Placeholder 2">
            <a:extLst>
              <a:ext uri="{FF2B5EF4-FFF2-40B4-BE49-F238E27FC236}">
                <a16:creationId xmlns:a16="http://schemas.microsoft.com/office/drawing/2014/main" id="{E9953342-9363-83AD-2E55-F85F6CCD0D9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70A732-89BB-4002-939C-C69F6E33DF9F}"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4022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D4F9F-1C78-A044-1F63-7E9E0296EC6D}"/>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C059ADAA-EE54-BA6E-1F15-53853271B51E}"/>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381FE01A-B00D-CE2C-01BD-B70D53BD725C}"/>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53DA96CF-4EFD-FC8E-1036-FC9779B1B4DC}"/>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0FDA32D3-C206-2F8C-05C4-ED4006F5C534}"/>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AC0DF31B-9309-6DDF-2E63-5D18F48CB0F3}"/>
              </a:ext>
            </a:extLst>
          </p:cNvPr>
          <p:cNvSpPr/>
          <p:nvPr/>
        </p:nvSpPr>
        <p:spPr>
          <a:xfrm>
            <a:off x="0" y="1790262"/>
            <a:ext cx="12192000" cy="2864463"/>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9D3FEE93-3BC3-0456-0503-6FC3DA9B1FD2}"/>
              </a:ext>
            </a:extLst>
          </p:cNvPr>
          <p:cNvSpPr txBox="1"/>
          <p:nvPr/>
        </p:nvSpPr>
        <p:spPr>
          <a:xfrm>
            <a:off x="1087845" y="2856561"/>
            <a:ext cx="10479314" cy="851297"/>
          </a:xfrm>
          <a:prstGeom prst="roundRect">
            <a:avLst/>
          </a:prstGeom>
          <a:solidFill>
            <a:schemeClr val="bg1"/>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3.11 Why is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investment</a:t>
            </a: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 volatile?</a:t>
            </a:r>
            <a:endPar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endParaRPr>
          </a:p>
        </p:txBody>
      </p:sp>
      <p:sp>
        <p:nvSpPr>
          <p:cNvPr id="11" name="Rectangle 10">
            <a:extLst>
              <a:ext uri="{FF2B5EF4-FFF2-40B4-BE49-F238E27FC236}">
                <a16:creationId xmlns:a16="http://schemas.microsoft.com/office/drawing/2014/main" id="{722AEB5B-2DC3-F1F5-BFDB-ED9E8AF3D441}"/>
              </a:ext>
            </a:extLst>
          </p:cNvPr>
          <p:cNvSpPr/>
          <p:nvPr/>
        </p:nvSpPr>
        <p:spPr>
          <a:xfrm>
            <a:off x="0" y="-428681"/>
            <a:ext cx="12192000"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E5A6064D-0E1F-DB3E-9C0D-B3342B7C93FF}"/>
              </a:ext>
            </a:extLst>
          </p:cNvPr>
          <p:cNvSpPr txBox="1"/>
          <p:nvPr/>
        </p:nvSpPr>
        <p:spPr>
          <a:xfrm>
            <a:off x="382906" y="47930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❹</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74C3FDBA-3910-3574-A31B-54D36D186645}"/>
              </a:ext>
            </a:extLst>
          </p:cNvPr>
          <p:cNvSpPr txBox="1"/>
          <p:nvPr/>
        </p:nvSpPr>
        <p:spPr>
          <a:xfrm>
            <a:off x="9585960" y="4808458"/>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❺</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C29E8A7F-BC9F-0DEA-820C-F5A2B0CD6EB4}"/>
              </a:ext>
            </a:extLst>
          </p:cNvPr>
          <p:cNvSpPr/>
          <p:nvPr/>
        </p:nvSpPr>
        <p:spPr>
          <a:xfrm>
            <a:off x="-31990" y="4641473"/>
            <a:ext cx="6415315"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929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A992-B303-2F41-0B66-31B423996A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622C01-5471-4DC4-D0EB-205A5AA5B246}"/>
              </a:ext>
            </a:extLst>
          </p:cNvPr>
          <p:cNvPicPr>
            <a:picLocks noChangeAspect="1"/>
          </p:cNvPicPr>
          <p:nvPr/>
        </p:nvPicPr>
        <p:blipFill>
          <a:blip r:embed="rId3"/>
          <a:stretch>
            <a:fillRect/>
          </a:stretch>
        </p:blipFill>
        <p:spPr>
          <a:xfrm>
            <a:off x="1015429" y="224272"/>
            <a:ext cx="10161141" cy="6247028"/>
          </a:xfrm>
          <a:prstGeom prst="rect">
            <a:avLst/>
          </a:prstGeom>
        </p:spPr>
      </p:pic>
      <p:pic>
        <p:nvPicPr>
          <p:cNvPr id="5" name="Picture 4">
            <a:extLst>
              <a:ext uri="{FF2B5EF4-FFF2-40B4-BE49-F238E27FC236}">
                <a16:creationId xmlns:a16="http://schemas.microsoft.com/office/drawing/2014/main" id="{53B24975-C319-A98C-23E0-BA9AE01BA6F1}"/>
              </a:ext>
            </a:extLst>
          </p:cNvPr>
          <p:cNvPicPr>
            <a:picLocks noChangeAspect="1"/>
          </p:cNvPicPr>
          <p:nvPr/>
        </p:nvPicPr>
        <p:blipFill>
          <a:blip r:embed="rId4"/>
          <a:stretch>
            <a:fillRect/>
          </a:stretch>
        </p:blipFill>
        <p:spPr>
          <a:xfrm>
            <a:off x="3813272" y="341441"/>
            <a:ext cx="2962688" cy="257211"/>
          </a:xfrm>
          <a:prstGeom prst="rect">
            <a:avLst/>
          </a:prstGeom>
        </p:spPr>
      </p:pic>
      <p:sp>
        <p:nvSpPr>
          <p:cNvPr id="7" name="TextBox 6">
            <a:extLst>
              <a:ext uri="{FF2B5EF4-FFF2-40B4-BE49-F238E27FC236}">
                <a16:creationId xmlns:a16="http://schemas.microsoft.com/office/drawing/2014/main" id="{7EEA7184-BB43-78F3-4391-C5EDEF13782B}"/>
              </a:ext>
            </a:extLst>
          </p:cNvPr>
          <p:cNvSpPr txBox="1"/>
          <p:nvPr/>
        </p:nvSpPr>
        <p:spPr>
          <a:xfrm>
            <a:off x="-1" y="6488668"/>
            <a:ext cx="1219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423F43"/>
                </a:solidFill>
                <a:effectLst/>
                <a:uLnTx/>
                <a:uFillTx/>
                <a:latin typeface="Source Sans Pro" panose="020B0503030403020204" pitchFamily="34" charset="0"/>
                <a:ea typeface="+mn-ea"/>
                <a:cs typeface="+mn-cs"/>
              </a:rPr>
              <a:t>Figure 3.10b </a:t>
            </a:r>
            <a:r>
              <a:rPr kumimoji="0" lang="en-ZA" sz="1800" b="0" i="0" u="none" strike="noStrike" kern="1200" cap="none" spc="0" normalizeH="0" baseline="0" noProof="0" dirty="0">
                <a:ln>
                  <a:noFill/>
                </a:ln>
                <a:solidFill>
                  <a:srgbClr val="423F43"/>
                </a:solidFill>
                <a:effectLst/>
                <a:uLnTx/>
                <a:uFillTx/>
                <a:latin typeface="Source Sans Pro" panose="020B0503030403020204" pitchFamily="34" charset="0"/>
                <a:ea typeface="+mn-ea"/>
                <a:cs typeface="+mn-cs"/>
              </a:rPr>
              <a:t>Growth rates of consumption, investment, and GDP in South Africa, per cent per annum (1961–2022)</a:t>
            </a:r>
            <a:endParaRPr kumimoji="0" lang="en-ZA"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55122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idx="4294967295"/>
          </p:nvPr>
        </p:nvSpPr>
        <p:spPr>
          <a:xfrm>
            <a:off x="839099" y="31634"/>
            <a:ext cx="10515600" cy="1325563"/>
          </a:xfrm>
        </p:spPr>
        <p:txBody>
          <a:bodyPr vert="horz" lIns="91440" tIns="45720" rIns="91440" bIns="45720" rtlCol="0" anchor="ctr">
            <a:normAutofit/>
          </a:bodyPr>
          <a:lstStyle/>
          <a:p>
            <a:r>
              <a:rPr lang="en-US" sz="5400" kern="1200" dirty="0">
                <a:solidFill>
                  <a:schemeClr val="tx1"/>
                </a:solidFill>
                <a:latin typeface="+mj-lt"/>
                <a:ea typeface="+mj-ea"/>
                <a:cs typeface="+mj-cs"/>
              </a:rPr>
              <a:t>Why is investment volatile?</a:t>
            </a:r>
          </a:p>
        </p:txBody>
      </p:sp>
      <p:sp>
        <p:nvSpPr>
          <p:cNvPr id="4" name="Content Placeholder 3">
            <a:extLst>
              <a:ext uri="{FF2B5EF4-FFF2-40B4-BE49-F238E27FC236}">
                <a16:creationId xmlns:a16="http://schemas.microsoft.com/office/drawing/2014/main" id="{18C63DE8-DAB2-C173-5DEE-F7634F51D0DD}"/>
              </a:ext>
            </a:extLst>
          </p:cNvPr>
          <p:cNvSpPr>
            <a:spLocks noGrp="1"/>
          </p:cNvSpPr>
          <p:nvPr>
            <p:ph sz="half" idx="4294967295"/>
          </p:nvPr>
        </p:nvSpPr>
        <p:spPr>
          <a:xfrm>
            <a:off x="839099" y="1376984"/>
            <a:ext cx="10515600" cy="5464825"/>
          </a:xfrm>
        </p:spPr>
        <p:txBody>
          <a:bodyPr vert="horz" lIns="91440" tIns="45720" rIns="91440" bIns="45720" rtlCol="0">
            <a:normAutofit fontScale="85000" lnSpcReduction="10000"/>
          </a:bodyPr>
          <a:lstStyle/>
          <a:p>
            <a:pPr marL="0" indent="0">
              <a:lnSpc>
                <a:spcPct val="110000"/>
              </a:lnSpc>
              <a:spcBef>
                <a:spcPts val="1200"/>
              </a:spcBef>
              <a:spcAft>
                <a:spcPts val="1200"/>
              </a:spcAft>
              <a:buNone/>
            </a:pPr>
            <a:r>
              <a:rPr lang="en-US" b="0" i="0" u="none" strike="noStrike" dirty="0">
                <a:effectLst/>
              </a:rPr>
              <a:t>Households tend to smooth their consumption spending when they can, but there is no similar motivation for a firm to smooth investment spending. </a:t>
            </a:r>
          </a:p>
          <a:p>
            <a:pPr marL="0" indent="0">
              <a:lnSpc>
                <a:spcPct val="110000"/>
              </a:lnSpc>
              <a:spcBef>
                <a:spcPts val="1200"/>
              </a:spcBef>
              <a:spcAft>
                <a:spcPts val="1200"/>
              </a:spcAft>
              <a:buNone/>
            </a:pPr>
            <a:r>
              <a:rPr lang="en-US" b="0" i="0" u="none" strike="noStrike" dirty="0">
                <a:effectLst/>
              </a:rPr>
              <a:t>Firms increase their stock of machinery and equipment and build new premises whenever they identify an </a:t>
            </a:r>
            <a:r>
              <a:rPr lang="en-US" b="0" i="0" u="sng" strike="noStrike" dirty="0">
                <a:effectLst/>
              </a:rPr>
              <a:t>opportunity to make profits</a:t>
            </a:r>
            <a:r>
              <a:rPr lang="en-US" b="0" i="0" u="none" strike="noStrike" dirty="0">
                <a:effectLst/>
              </a:rPr>
              <a:t>. But, unlike eating and most other consumption expenditures, investment can be postponed. </a:t>
            </a:r>
          </a:p>
          <a:p>
            <a:pPr marL="0" indent="0">
              <a:lnSpc>
                <a:spcPct val="110000"/>
              </a:lnSpc>
              <a:spcBef>
                <a:spcPts val="1200"/>
              </a:spcBef>
              <a:spcAft>
                <a:spcPts val="1200"/>
              </a:spcAft>
              <a:buNone/>
            </a:pPr>
            <a:r>
              <a:rPr lang="en-US" b="0" i="0" u="none" strike="noStrike" dirty="0">
                <a:effectLst/>
              </a:rPr>
              <a:t>There are several reasons why this is likely to produce clusters of investment projects at some times and few at other times:</a:t>
            </a:r>
          </a:p>
          <a:p>
            <a:pPr lvl="1">
              <a:lnSpc>
                <a:spcPct val="110000"/>
              </a:lnSpc>
              <a:spcBef>
                <a:spcPts val="1200"/>
              </a:spcBef>
              <a:spcAft>
                <a:spcPts val="1200"/>
              </a:spcAft>
            </a:pPr>
            <a:r>
              <a:rPr lang="en-US" sz="3300" b="1" dirty="0"/>
              <a:t>New technology</a:t>
            </a:r>
          </a:p>
          <a:p>
            <a:pPr lvl="1">
              <a:lnSpc>
                <a:spcPct val="110000"/>
              </a:lnSpc>
              <a:spcBef>
                <a:spcPts val="1200"/>
              </a:spcBef>
              <a:spcAft>
                <a:spcPts val="1200"/>
              </a:spcAft>
            </a:pPr>
            <a:r>
              <a:rPr lang="en-US" sz="3300" b="1" dirty="0"/>
              <a:t>Credit constraints</a:t>
            </a:r>
            <a:br>
              <a:rPr lang="en-US" dirty="0"/>
            </a:br>
            <a:endParaRPr lang="en-US" dirty="0"/>
          </a:p>
        </p:txBody>
      </p:sp>
    </p:spTree>
    <p:extLst>
      <p:ext uri="{BB962C8B-B14F-4D97-AF65-F5344CB8AC3E}">
        <p14:creationId xmlns:p14="http://schemas.microsoft.com/office/powerpoint/2010/main" val="630898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idx="4294967295"/>
          </p:nvPr>
        </p:nvSpPr>
        <p:spPr>
          <a:xfrm>
            <a:off x="0" y="80682"/>
            <a:ext cx="12192000" cy="1368425"/>
          </a:xfrm>
        </p:spPr>
        <p:txBody>
          <a:bodyPr vert="horz" lIns="91440" tIns="45720" rIns="91440" bIns="45720" rtlCol="0" anchor="ctr">
            <a:normAutofit/>
          </a:bodyPr>
          <a:lstStyle/>
          <a:p>
            <a:pPr algn="ctr"/>
            <a:r>
              <a:rPr lang="en-US" sz="6600" dirty="0">
                <a:hlinkClick r:id="rId3"/>
              </a:rPr>
              <a:t>A coordination problem</a:t>
            </a:r>
            <a:endParaRPr lang="en-US" sz="6600" dirty="0"/>
          </a:p>
        </p:txBody>
      </p:sp>
      <p:pic>
        <p:nvPicPr>
          <p:cNvPr id="31746" name="Picture 2">
            <a:extLst>
              <a:ext uri="{FF2B5EF4-FFF2-40B4-BE49-F238E27FC236}">
                <a16:creationId xmlns:a16="http://schemas.microsoft.com/office/drawing/2014/main" id="{8F996D04-D97E-5021-390B-13E116DC9AF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02775" y="1594633"/>
            <a:ext cx="5835446" cy="4653767"/>
          </a:xfrm>
          <a:prstGeom prst="rect">
            <a:avLst/>
          </a:prstGeom>
          <a:noFill/>
          <a:extLst>
            <a:ext uri="{909E8E84-426E-40DD-AFC4-6F175D3DCCD1}">
              <a14:hiddenFill xmlns:a14="http://schemas.microsoft.com/office/drawing/2010/main">
                <a:solidFill>
                  <a:srgbClr val="FFFFFF"/>
                </a:solidFill>
              </a14:hiddenFill>
            </a:ext>
          </a:extLst>
        </p:spPr>
      </p:pic>
      <p:pic>
        <p:nvPicPr>
          <p:cNvPr id="31748" name="Picture 4">
            <a:extLst>
              <a:ext uri="{FF2B5EF4-FFF2-40B4-BE49-F238E27FC236}">
                <a16:creationId xmlns:a16="http://schemas.microsoft.com/office/drawing/2014/main" id="{35A7D773-0B7F-80BE-8B0B-E1C33969C7C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235430" y="1594633"/>
            <a:ext cx="5853795" cy="4653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3229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422" y="365125"/>
            <a:ext cx="10515600" cy="935641"/>
          </a:xfrm>
        </p:spPr>
        <p:txBody>
          <a:bodyPr>
            <a:normAutofit/>
          </a:bodyPr>
          <a:lstStyle/>
          <a:p>
            <a:pPr algn="ctr"/>
            <a:r>
              <a:rPr lang="en-GB" sz="4800" b="1" dirty="0">
                <a:latin typeface="+mn-lt"/>
              </a:rPr>
              <a:t>Volatile Investment</a:t>
            </a:r>
          </a:p>
        </p:txBody>
      </p:sp>
      <p:sp>
        <p:nvSpPr>
          <p:cNvPr id="6" name="TextBox 5"/>
          <p:cNvSpPr txBox="1"/>
          <p:nvPr/>
        </p:nvSpPr>
        <p:spPr>
          <a:xfrm>
            <a:off x="448270" y="1373960"/>
            <a:ext cx="11468230"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Firms don’t have preferences for smoothing like households.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They adjust investment plans to both </a:t>
            </a:r>
            <a:r>
              <a:rPr kumimoji="0" lang="en-US" sz="3200" b="0" i="0" u="sng" strike="noStrike" kern="1200" cap="none" spc="0" normalizeH="0" baseline="0" noProof="0" dirty="0">
                <a:ln>
                  <a:noFill/>
                </a:ln>
                <a:solidFill>
                  <a:prstClr val="black"/>
                </a:solidFill>
                <a:effectLst/>
                <a:uLnTx/>
                <a:uFillTx/>
                <a:latin typeface="Aptos" panose="02110004020202020204"/>
                <a:ea typeface="+mn-ea"/>
                <a:cs typeface="+mn-cs"/>
              </a:rPr>
              <a:t>temporary and permanent </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shocks, to </a:t>
            </a:r>
            <a:r>
              <a:rPr kumimoji="0" lang="en-US" sz="3200" b="0" i="0" u="none" strike="noStrike" kern="1200" cap="none" spc="0" normalizeH="0" baseline="0" noProof="0" dirty="0" err="1">
                <a:ln>
                  <a:noFill/>
                </a:ln>
                <a:solidFill>
                  <a:prstClr val="black"/>
                </a:solidFill>
                <a:effectLst/>
                <a:uLnTx/>
                <a:uFillTx/>
                <a:latin typeface="Aptos" panose="02110004020202020204"/>
                <a:ea typeface="+mn-ea"/>
                <a:cs typeface="+mn-cs"/>
              </a:rPr>
              <a:t>maximise</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their profits.  </a:t>
            </a:r>
          </a:p>
        </p:txBody>
      </p:sp>
      <p:sp>
        <p:nvSpPr>
          <p:cNvPr id="7" name="TextBox 6"/>
          <p:cNvSpPr txBox="1"/>
          <p:nvPr/>
        </p:nvSpPr>
        <p:spPr>
          <a:xfrm>
            <a:off x="448270" y="3216720"/>
            <a:ext cx="11367055" cy="221599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High demand → high </a:t>
            </a:r>
            <a:r>
              <a:rPr kumimoji="0" lang="en-US" sz="3200" b="1" i="0" u="none" strike="noStrike" kern="1200" cap="none" spc="0" normalizeH="0" baseline="0" noProof="0" dirty="0">
                <a:ln>
                  <a:noFill/>
                </a:ln>
                <a:solidFill>
                  <a:prstClr val="black"/>
                </a:solidFill>
                <a:effectLst/>
                <a:uLnTx/>
                <a:uFillTx/>
                <a:latin typeface="Aptos" panose="02110004020202020204"/>
                <a:ea typeface="+mn-ea"/>
                <a:cs typeface="+mn-cs"/>
              </a:rPr>
              <a:t>capacity utilization*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investment → even higher demand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1"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prstClr val="black"/>
                </a:solidFill>
                <a:effectLst/>
                <a:uLnTx/>
                <a:uFillTx/>
                <a:latin typeface="Aptos" panose="02110004020202020204"/>
                <a:ea typeface="+mn-ea"/>
                <a:cs typeface="+mn-cs"/>
              </a:rPr>
              <a:t>Investment decisions depend on firms’ </a:t>
            </a:r>
            <a:r>
              <a:rPr kumimoji="0" lang="en-US" sz="3200" b="0" i="1" u="sng" strike="noStrike" kern="1200" cap="none" spc="0" normalizeH="0" baseline="0" noProof="0" dirty="0">
                <a:ln>
                  <a:noFill/>
                </a:ln>
                <a:solidFill>
                  <a:prstClr val="black"/>
                </a:solidFill>
                <a:effectLst/>
                <a:uLnTx/>
                <a:uFillTx/>
                <a:latin typeface="Aptos" panose="02110004020202020204"/>
                <a:ea typeface="+mn-ea"/>
                <a:cs typeface="+mn-cs"/>
              </a:rPr>
              <a:t>expectations about future demand</a:t>
            </a:r>
            <a:r>
              <a:rPr kumimoji="0" lang="en-US" sz="3200" b="0" i="1"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3200" b="1" i="1"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 name="TextBox 4">
            <a:extLst>
              <a:ext uri="{FF2B5EF4-FFF2-40B4-BE49-F238E27FC236}">
                <a16:creationId xmlns:a16="http://schemas.microsoft.com/office/drawing/2014/main" id="{F506D194-D1F9-9FFC-AE1C-B8B92A75EC6A}"/>
              </a:ext>
            </a:extLst>
          </p:cNvPr>
          <p:cNvSpPr txBox="1"/>
          <p:nvPr/>
        </p:nvSpPr>
        <p:spPr>
          <a:xfrm>
            <a:off x="448270" y="6017784"/>
            <a:ext cx="11169327"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2000" b="0" i="0" u="none" strike="noStrike" kern="1200" cap="none" spc="0" normalizeH="0" baseline="0" noProof="0" dirty="0">
                <a:ln>
                  <a:noFill/>
                </a:ln>
                <a:solidFill>
                  <a:prstClr val="black"/>
                </a:solidFill>
                <a:effectLst/>
                <a:uLnTx/>
                <a:uFillTx/>
                <a:latin typeface="Aptos" panose="02110004020202020204"/>
                <a:ea typeface="+mn-ea"/>
                <a:cs typeface="+mn-cs"/>
              </a:rPr>
              <a:t>*Capacity utilisation rate is the measure of the extent to which a firm, industry or a whole economy produces as much as the stock of its capital goods and current knowledge allows. </a:t>
            </a:r>
            <a:endParaRPr kumimoji="0" lang="en-ZA"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285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ACD31-AD42-B442-AEAA-5B8018732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56E1A-4D4E-6561-961A-E251BEF266E1}"/>
              </a:ext>
            </a:extLst>
          </p:cNvPr>
          <p:cNvSpPr>
            <a:spLocks noGrp="1"/>
          </p:cNvSpPr>
          <p:nvPr>
            <p:ph type="title"/>
          </p:nvPr>
        </p:nvSpPr>
        <p:spPr/>
        <p:txBody>
          <a:bodyPr/>
          <a:lstStyle/>
          <a:p>
            <a:r>
              <a:rPr lang="en-US" dirty="0"/>
              <a:t>Do </a:t>
            </a:r>
            <a:r>
              <a:rPr lang="en-US" dirty="0">
                <a:hlinkClick r:id="rId2"/>
              </a:rPr>
              <a:t>Question 3.13</a:t>
            </a:r>
            <a:endParaRPr lang="en-ZA" dirty="0"/>
          </a:p>
        </p:txBody>
      </p:sp>
      <p:sp>
        <p:nvSpPr>
          <p:cNvPr id="3" name="Slide Number Placeholder 2">
            <a:extLst>
              <a:ext uri="{FF2B5EF4-FFF2-40B4-BE49-F238E27FC236}">
                <a16:creationId xmlns:a16="http://schemas.microsoft.com/office/drawing/2014/main" id="{86E20D15-0C62-69EB-E313-BAA7483BF8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70A732-89BB-4002-939C-C69F6E33DF9F}"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3868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B4A28-45DA-40E5-1AD7-76FBC01DC5B3}"/>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A66F68D5-4381-D767-C602-84C53165F679}"/>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734BD67A-0A89-EC11-E4C3-B298F76F9D24}"/>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CACB7484-FDCD-8458-6076-529D908A268C}"/>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EB07C00C-748B-ACD3-BFB7-034E8D40A4B5}"/>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2" name="Rectangle 1">
            <a:extLst>
              <a:ext uri="{FF2B5EF4-FFF2-40B4-BE49-F238E27FC236}">
                <a16:creationId xmlns:a16="http://schemas.microsoft.com/office/drawing/2014/main" id="{63131FEB-DA1E-B59E-D4CC-B822D676CEBF}"/>
              </a:ext>
            </a:extLst>
          </p:cNvPr>
          <p:cNvSpPr/>
          <p:nvPr/>
        </p:nvSpPr>
        <p:spPr>
          <a:xfrm>
            <a:off x="0" y="1790262"/>
            <a:ext cx="12192000" cy="2864463"/>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FEC2F22A-7638-14AA-2C14-CD72604F6FB1}"/>
              </a:ext>
            </a:extLst>
          </p:cNvPr>
          <p:cNvSpPr txBox="1"/>
          <p:nvPr/>
        </p:nvSpPr>
        <p:spPr>
          <a:xfrm>
            <a:off x="1087845" y="2856561"/>
            <a:ext cx="10479314" cy="1600438"/>
          </a:xfrm>
          <a:prstGeom prst="roundRect">
            <a:avLst/>
          </a:prstGeom>
          <a:solidFill>
            <a:schemeClr val="bg1"/>
          </a:solid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3.12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Investment</a:t>
            </a: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 spending in the 		 	</a:t>
            </a:r>
            <a:r>
              <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rPr>
              <a:t>multiplier</a:t>
            </a:r>
            <a:r>
              <a:rPr kumimoji="0" lang="en-ZA" sz="4400" b="1" i="0" u="none" strike="noStrike" kern="1200" cap="none" spc="0" normalizeH="0" baseline="0" noProof="0" dirty="0">
                <a:ln>
                  <a:noFill/>
                </a:ln>
                <a:solidFill>
                  <a:srgbClr val="0070C0"/>
                </a:solidFill>
                <a:effectLst/>
                <a:uLnTx/>
                <a:uFillTx/>
                <a:latin typeface="Source Sans Pro" panose="020B0503030403020204" pitchFamily="34" charset="0"/>
                <a:ea typeface="+mn-ea"/>
                <a:cs typeface="+mn-cs"/>
              </a:rPr>
              <a:t> model</a:t>
            </a:r>
            <a:endParaRPr kumimoji="0" lang="en-ZA" sz="4400" b="1" i="0" u="none" strike="noStrike" kern="1200" cap="none" spc="0" normalizeH="0" baseline="0" noProof="0" dirty="0">
              <a:ln>
                <a:noFill/>
              </a:ln>
              <a:solidFill>
                <a:srgbClr val="C00000"/>
              </a:solidFill>
              <a:effectLst/>
              <a:uLnTx/>
              <a:uFillTx/>
              <a:latin typeface="Source Sans Pro" panose="020B0503030403020204" pitchFamily="34" charset="0"/>
              <a:ea typeface="+mn-ea"/>
              <a:cs typeface="+mn-cs"/>
            </a:endParaRPr>
          </a:p>
        </p:txBody>
      </p:sp>
      <p:sp>
        <p:nvSpPr>
          <p:cNvPr id="11" name="Rectangle 10">
            <a:extLst>
              <a:ext uri="{FF2B5EF4-FFF2-40B4-BE49-F238E27FC236}">
                <a16:creationId xmlns:a16="http://schemas.microsoft.com/office/drawing/2014/main" id="{B13F8A40-7F09-E7E6-D873-B7D55A5357E4}"/>
              </a:ext>
            </a:extLst>
          </p:cNvPr>
          <p:cNvSpPr/>
          <p:nvPr/>
        </p:nvSpPr>
        <p:spPr>
          <a:xfrm>
            <a:off x="0" y="-428681"/>
            <a:ext cx="12192000"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56412142-6C45-E8A2-0D33-9BB1F375EAD9}"/>
              </a:ext>
            </a:extLst>
          </p:cNvPr>
          <p:cNvSpPr txBox="1"/>
          <p:nvPr/>
        </p:nvSpPr>
        <p:spPr>
          <a:xfrm>
            <a:off x="9585960" y="4808458"/>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❺</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50ED3EE7-3AC9-B694-D391-37A711CC8F9B}"/>
              </a:ext>
            </a:extLst>
          </p:cNvPr>
          <p:cNvSpPr txBox="1"/>
          <p:nvPr/>
        </p:nvSpPr>
        <p:spPr>
          <a:xfrm>
            <a:off x="382906" y="47930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❹</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767D3536-18FA-194D-EAF7-A3675A457B0C}"/>
              </a:ext>
            </a:extLst>
          </p:cNvPr>
          <p:cNvSpPr/>
          <p:nvPr/>
        </p:nvSpPr>
        <p:spPr>
          <a:xfrm>
            <a:off x="-31990" y="4641473"/>
            <a:ext cx="6415315" cy="2247290"/>
          </a:xfrm>
          <a:prstGeom prst="rect">
            <a:avLst/>
          </a:prstGeom>
          <a:solidFill>
            <a:srgbClr val="E8E8E8">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141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274" y="262773"/>
            <a:ext cx="10515600" cy="935641"/>
          </a:xfrm>
        </p:spPr>
        <p:txBody>
          <a:bodyPr>
            <a:normAutofit/>
          </a:bodyPr>
          <a:lstStyle/>
          <a:p>
            <a:pPr algn="ctr"/>
            <a:r>
              <a:rPr lang="en-GB" sz="4800" b="1" dirty="0">
                <a:latin typeface="+mn-lt"/>
              </a:rPr>
              <a:t>Business confidence</a:t>
            </a:r>
          </a:p>
        </p:txBody>
      </p:sp>
      <p:sp>
        <p:nvSpPr>
          <p:cNvPr id="7" name="TextBox 6"/>
          <p:cNvSpPr txBox="1"/>
          <p:nvPr/>
        </p:nvSpPr>
        <p:spPr>
          <a:xfrm>
            <a:off x="429474" y="6021977"/>
            <a:ext cx="11196468"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prstClr val="black"/>
                </a:solidFill>
                <a:effectLst/>
                <a:uLnTx/>
                <a:uFillTx/>
                <a:latin typeface="Calibri" panose="020F0502020204030204"/>
                <a:ea typeface="+mn-ea"/>
                <a:cs typeface="+mn-cs"/>
              </a:rPr>
              <a:t>Business confidence </a:t>
            </a:r>
            <a:r>
              <a:rPr kumimoji="0" lang="en-US" sz="3200" b="0" i="0" u="none" strike="noStrike" kern="1200" cap="none" spc="0" normalizeH="0" baseline="0" noProof="0">
                <a:ln>
                  <a:noFill/>
                </a:ln>
                <a:solidFill>
                  <a:prstClr val="black"/>
                </a:solidFill>
                <a:effectLst/>
                <a:uLnTx/>
                <a:uFillTx/>
                <a:latin typeface="Calibri" panose="020F0502020204030204"/>
                <a:ea typeface="+mn-ea"/>
                <a:cs typeface="+mn-cs"/>
              </a:rPr>
              <a:t>coordinates firms to invest at the same time. </a:t>
            </a:r>
          </a:p>
        </p:txBody>
      </p:sp>
      <p:sp>
        <p:nvSpPr>
          <p:cNvPr id="3" name="Slide Number Placeholder 2">
            <a:extLst>
              <a:ext uri="{FF2B5EF4-FFF2-40B4-BE49-F238E27FC236}">
                <a16:creationId xmlns:a16="http://schemas.microsoft.com/office/drawing/2014/main" id="{CC9B6138-3DF4-4009-8FB4-43FD8F0B57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95808E-DA30-4E6D-BD59-582D782DA58C}"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F069D21-3E45-4C12-B4C4-D1638A35C268}"/>
              </a:ext>
            </a:extLst>
          </p:cNvPr>
          <p:cNvSpPr txBox="1"/>
          <p:nvPr/>
        </p:nvSpPr>
        <p:spPr>
          <a:xfrm>
            <a:off x="2180620" y="5554841"/>
            <a:ext cx="76538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800" b="0" i="0" u="none" strike="noStrike" kern="1200" cap="none" spc="0" normalizeH="0" baseline="0" noProof="0" dirty="0">
                <a:ln>
                  <a:noFill/>
                </a:ln>
                <a:solidFill>
                  <a:prstClr val="black"/>
                </a:solidFill>
                <a:effectLst/>
                <a:uLnTx/>
                <a:uFillTx/>
                <a:latin typeface="Calibri" panose="020F0502020204030204"/>
                <a:ea typeface="+mn-ea"/>
                <a:cs typeface="+mn-cs"/>
              </a:rPr>
              <a:t>Figure 3.23 Investment and business confidence in the Eurozone (1996-2022)</a:t>
            </a:r>
          </a:p>
        </p:txBody>
      </p:sp>
      <p:pic>
        <p:nvPicPr>
          <p:cNvPr id="10" name="Picture 9">
            <a:extLst>
              <a:ext uri="{FF2B5EF4-FFF2-40B4-BE49-F238E27FC236}">
                <a16:creationId xmlns:a16="http://schemas.microsoft.com/office/drawing/2014/main" id="{59347D20-24CC-7A32-D63B-31510B10D267}"/>
              </a:ext>
            </a:extLst>
          </p:cNvPr>
          <p:cNvPicPr>
            <a:picLocks noChangeAspect="1"/>
          </p:cNvPicPr>
          <p:nvPr/>
        </p:nvPicPr>
        <p:blipFill>
          <a:blip r:embed="rId3"/>
          <a:stretch>
            <a:fillRect/>
          </a:stretch>
        </p:blipFill>
        <p:spPr>
          <a:xfrm>
            <a:off x="2475995" y="1304628"/>
            <a:ext cx="7240010" cy="4248743"/>
          </a:xfrm>
          <a:prstGeom prst="rect">
            <a:avLst/>
          </a:prstGeom>
        </p:spPr>
      </p:pic>
    </p:spTree>
    <p:extLst>
      <p:ext uri="{BB962C8B-B14F-4D97-AF65-F5344CB8AC3E}">
        <p14:creationId xmlns:p14="http://schemas.microsoft.com/office/powerpoint/2010/main" val="863782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11FA-1AC9-7557-6647-4A7B7FA5B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F8112-2B44-616E-831A-0DFB83F4D78B}"/>
              </a:ext>
            </a:extLst>
          </p:cNvPr>
          <p:cNvSpPr>
            <a:spLocks noGrp="1"/>
          </p:cNvSpPr>
          <p:nvPr>
            <p:ph type="title"/>
          </p:nvPr>
        </p:nvSpPr>
        <p:spPr>
          <a:xfrm>
            <a:off x="950274" y="262773"/>
            <a:ext cx="10515600" cy="935641"/>
          </a:xfrm>
        </p:spPr>
        <p:txBody>
          <a:bodyPr>
            <a:normAutofit/>
          </a:bodyPr>
          <a:lstStyle/>
          <a:p>
            <a:pPr algn="ctr"/>
            <a:r>
              <a:rPr lang="en-GB" sz="4800" b="1" dirty="0">
                <a:latin typeface="+mn-lt"/>
              </a:rPr>
              <a:t>Business confidence</a:t>
            </a:r>
          </a:p>
        </p:txBody>
      </p:sp>
      <p:sp>
        <p:nvSpPr>
          <p:cNvPr id="3" name="Slide Number Placeholder 2">
            <a:extLst>
              <a:ext uri="{FF2B5EF4-FFF2-40B4-BE49-F238E27FC236}">
                <a16:creationId xmlns:a16="http://schemas.microsoft.com/office/drawing/2014/main" id="{63C8A204-CFB3-D2FC-E296-DDB1C8BADC4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95808E-DA30-4E6D-BD59-582D782DA58C}"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050" name="Picture 2" descr="Business confidence slips in second quarter amid SA-US tensions">
            <a:extLst>
              <a:ext uri="{FF2B5EF4-FFF2-40B4-BE49-F238E27FC236}">
                <a16:creationId xmlns:a16="http://schemas.microsoft.com/office/drawing/2014/main" id="{19F3ACC2-E0EF-C94A-BE55-187B57C0D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6199" y="1433943"/>
            <a:ext cx="7143750" cy="49339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ound icon. Download flag icon of South Africa at PNG format">
            <a:extLst>
              <a:ext uri="{FF2B5EF4-FFF2-40B4-BE49-F238E27FC236}">
                <a16:creationId xmlns:a16="http://schemas.microsoft.com/office/drawing/2014/main" id="{9B10F88D-9FF3-C760-F876-CB07529F048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21009" y="123282"/>
            <a:ext cx="1470991" cy="1103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6587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2783-46EF-A50E-8DBC-9544FB4E030C}"/>
              </a:ext>
            </a:extLst>
          </p:cNvPr>
          <p:cNvSpPr>
            <a:spLocks noGrp="1"/>
          </p:cNvSpPr>
          <p:nvPr>
            <p:ph type="title" idx="4294967295"/>
          </p:nvPr>
        </p:nvSpPr>
        <p:spPr>
          <a:xfrm>
            <a:off x="0" y="0"/>
            <a:ext cx="12192000" cy="1325563"/>
          </a:xfrm>
        </p:spPr>
        <p:txBody>
          <a:bodyPr/>
          <a:lstStyle/>
          <a:p>
            <a:pPr algn="ctr"/>
            <a:r>
              <a:rPr lang="en-GB" dirty="0">
                <a:latin typeface="Source Sans Pro" panose="020B0503030403020204" pitchFamily="34" charset="0"/>
                <a:ea typeface="Source Sans Pro" panose="020B0503030403020204" pitchFamily="34" charset="0"/>
                <a:hlinkClick r:id="rId3"/>
              </a:rPr>
              <a:t>Aggregate investment function</a:t>
            </a:r>
            <a:endParaRPr lang="en-GB" dirty="0">
              <a:latin typeface="Source Sans Pro" panose="020B0503030403020204" pitchFamily="34" charset="0"/>
              <a:ea typeface="Source Sans Pro" panose="020B0503030403020204" pitchFamily="34" charset="0"/>
            </a:endParaRPr>
          </a:p>
        </p:txBody>
      </p:sp>
      <p:pic>
        <p:nvPicPr>
          <p:cNvPr id="4" name="Picture 3" descr="A graph of a graph&#10;&#10;Description automatically generated with medium confidence">
            <a:extLst>
              <a:ext uri="{FF2B5EF4-FFF2-40B4-BE49-F238E27FC236}">
                <a16:creationId xmlns:a16="http://schemas.microsoft.com/office/drawing/2014/main" id="{E6259545-27D5-A2AC-3C6C-44FB62592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4970" y="1523048"/>
            <a:ext cx="6268598" cy="4774954"/>
          </a:xfrm>
          <a:prstGeom prst="rect">
            <a:avLst/>
          </a:prstGeom>
        </p:spPr>
      </p:pic>
      <p:pic>
        <p:nvPicPr>
          <p:cNvPr id="6" name="Picture 5" descr="A diagram of a graph&#10;&#10;Description automatically generated">
            <a:extLst>
              <a:ext uri="{FF2B5EF4-FFF2-40B4-BE49-F238E27FC236}">
                <a16:creationId xmlns:a16="http://schemas.microsoft.com/office/drawing/2014/main" id="{3A0480C4-3737-E1CE-DEAB-D6EF5CD03B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2272" y="1589088"/>
            <a:ext cx="6268598" cy="4695666"/>
          </a:xfrm>
          <a:prstGeom prst="rect">
            <a:avLst/>
          </a:prstGeom>
        </p:spPr>
      </p:pic>
    </p:spTree>
    <p:extLst>
      <p:ext uri="{BB962C8B-B14F-4D97-AF65-F5344CB8AC3E}">
        <p14:creationId xmlns:p14="http://schemas.microsoft.com/office/powerpoint/2010/main" val="241161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0A58A-67C4-BE28-9891-49FC37543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6A4CE-F189-0F31-3824-47184BE70060}"/>
              </a:ext>
            </a:extLst>
          </p:cNvPr>
          <p:cNvSpPr>
            <a:spLocks noGrp="1"/>
          </p:cNvSpPr>
          <p:nvPr>
            <p:ph type="title"/>
          </p:nvPr>
        </p:nvSpPr>
        <p:spPr/>
        <p:txBody>
          <a:bodyPr/>
          <a:lstStyle/>
          <a:p>
            <a:r>
              <a:rPr lang="en-US" dirty="0"/>
              <a:t>Do </a:t>
            </a:r>
            <a:r>
              <a:rPr lang="en-US" dirty="0">
                <a:hlinkClick r:id="rId2"/>
              </a:rPr>
              <a:t>Question 3.15</a:t>
            </a:r>
            <a:endParaRPr lang="en-ZA" dirty="0"/>
          </a:p>
        </p:txBody>
      </p:sp>
      <p:sp>
        <p:nvSpPr>
          <p:cNvPr id="3" name="Slide Number Placeholder 2">
            <a:extLst>
              <a:ext uri="{FF2B5EF4-FFF2-40B4-BE49-F238E27FC236}">
                <a16:creationId xmlns:a16="http://schemas.microsoft.com/office/drawing/2014/main" id="{DBD4C55D-8809-5995-C12D-246B00E3BC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70A732-89BB-4002-939C-C69F6E33DF9F}"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255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3126"/>
            <a:ext cx="10515600" cy="935641"/>
          </a:xfrm>
        </p:spPr>
        <p:txBody>
          <a:bodyPr>
            <a:normAutofit/>
          </a:bodyPr>
          <a:lstStyle/>
          <a:p>
            <a:pPr algn="ctr"/>
            <a:r>
              <a:rPr lang="en-GB" sz="4800" b="1" dirty="0">
                <a:latin typeface="+mn-lt"/>
              </a:rPr>
              <a:t>Other components of GDP</a:t>
            </a:r>
          </a:p>
        </p:txBody>
      </p:sp>
      <p:sp>
        <p:nvSpPr>
          <p:cNvPr id="6" name="TextBox 5"/>
          <p:cNvSpPr txBox="1"/>
          <p:nvPr/>
        </p:nvSpPr>
        <p:spPr>
          <a:xfrm>
            <a:off x="689442" y="2647791"/>
            <a:ext cx="10914715" cy="393954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3200" b="1" i="0" u="none" strike="noStrike" kern="1200" cap="none" spc="0" normalizeH="0" baseline="0" noProof="0" dirty="0">
                <a:ln>
                  <a:noFill/>
                </a:ln>
                <a:solidFill>
                  <a:prstClr val="black"/>
                </a:solidFill>
                <a:effectLst/>
                <a:uLnTx/>
                <a:uFillTx/>
                <a:latin typeface="Aptos" panose="02110004020202020204"/>
                <a:ea typeface="+mn-ea"/>
                <a:cs typeface="+mn-cs"/>
              </a:rPr>
              <a:t>Government spending </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is less volatile than investment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(does not depend on business confidence)</a:t>
            </a: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3200" b="1" i="0" u="none" strike="noStrike" kern="1200" cap="none" spc="0" normalizeH="0" baseline="0" noProof="0" dirty="0">
                <a:ln>
                  <a:noFill/>
                </a:ln>
                <a:solidFill>
                  <a:prstClr val="black"/>
                </a:solidFill>
                <a:effectLst/>
                <a:uLnTx/>
                <a:uFillTx/>
                <a:latin typeface="Aptos" panose="02110004020202020204"/>
                <a:ea typeface="+mn-ea"/>
                <a:cs typeface="+mn-cs"/>
              </a:rPr>
              <a:t>Exports</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depend on demand from other countries, so will fluctuate according to the business cycles of major export markets.  </a:t>
            </a:r>
            <a:b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b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a:buChar char="•"/>
              <a:tabLst/>
              <a:defRPr/>
            </a:pPr>
            <a:r>
              <a:rPr kumimoji="0" lang="en-US" sz="3200" b="1" i="0" u="none" strike="noStrike" kern="1200" cap="none" spc="0" normalizeH="0" baseline="0" noProof="0" dirty="0">
                <a:ln>
                  <a:noFill/>
                </a:ln>
                <a:solidFill>
                  <a:prstClr val="black"/>
                </a:solidFill>
                <a:effectLst/>
                <a:uLnTx/>
                <a:uFillTx/>
                <a:latin typeface="Aptos" panose="02110004020202020204"/>
                <a:ea typeface="+mn-ea"/>
                <a:cs typeface="+mn-cs"/>
              </a:rPr>
              <a:t>Imports</a:t>
            </a: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 depend on demand on foreign goods depend </a:t>
            </a:r>
            <a:r>
              <a:rPr kumimoji="0" lang="en-US" sz="3200" b="0" i="0" u="none" strike="noStrike" kern="1200" cap="none" spc="0" normalizeH="0" baseline="0" noProof="0">
                <a:ln>
                  <a:noFill/>
                </a:ln>
                <a:solidFill>
                  <a:prstClr val="black"/>
                </a:solidFill>
                <a:effectLst/>
                <a:uLnTx/>
                <a:uFillTx/>
                <a:latin typeface="Aptos" panose="02110004020202020204"/>
                <a:ea typeface="+mn-ea"/>
                <a:cs typeface="+mn-cs"/>
              </a:rPr>
              <a:t>on income</a:t>
            </a:r>
            <a:endPar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Slide Number Placeholder 2">
            <a:extLst>
              <a:ext uri="{FF2B5EF4-FFF2-40B4-BE49-F238E27FC236}">
                <a16:creationId xmlns:a16="http://schemas.microsoft.com/office/drawing/2014/main" id="{75A0DA3E-5F4E-4F2E-8693-3EE6128C88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95808E-DA30-4E6D-BD59-582D782DA58C}" type="slidenum">
              <a:rPr kumimoji="0" lang="en-ZA"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ZA"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7A53C409-BA64-5939-F5D8-ED3A5E441EE8}"/>
              </a:ext>
            </a:extLst>
          </p:cNvPr>
          <p:cNvSpPr txBox="1"/>
          <p:nvPr/>
        </p:nvSpPr>
        <p:spPr>
          <a:xfrm>
            <a:off x="0" y="1212713"/>
            <a:ext cx="12293600" cy="1200329"/>
          </a:xfrm>
          <a:prstGeom prst="rect">
            <a:avLst/>
          </a:prstGeom>
          <a:solidFill>
            <a:schemeClr val="accent5">
              <a:lumMod val="75000"/>
            </a:schemeClr>
          </a:solidFill>
        </p:spPr>
        <p:txBody>
          <a:bodyPr wrap="square"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7200" b="1" i="0" u="none" strike="noStrike" kern="1200" cap="none" spc="0" normalizeH="0" baseline="0" noProof="0" dirty="0">
                <a:ln>
                  <a:noFill/>
                </a:ln>
                <a:solidFill>
                  <a:srgbClr val="CC0099"/>
                </a:solidFill>
                <a:effectLst/>
                <a:uLnTx/>
                <a:uFillTx/>
                <a:latin typeface="Calibri" panose="020F0502020204030204"/>
                <a:ea typeface="+mn-ea"/>
                <a:cs typeface="+mn-cs"/>
              </a:rPr>
              <a:t>GDP</a:t>
            </a:r>
            <a:r>
              <a:rPr kumimoji="0" lang="en-US" sz="7200" b="1" i="0" u="none" strike="noStrike" kern="1200" cap="none" spc="0" normalizeH="0" baseline="0" noProof="0" dirty="0">
                <a:ln>
                  <a:noFill/>
                </a:ln>
                <a:solidFill>
                  <a:prstClr val="white"/>
                </a:solidFill>
                <a:effectLst/>
                <a:uLnTx/>
                <a:uFillTx/>
                <a:latin typeface="Calibri" panose="020F0502020204030204"/>
                <a:ea typeface="+mn-ea"/>
                <a:cs typeface="+mn-cs"/>
              </a:rPr>
              <a:t> = C + I + G + (X – M)</a:t>
            </a:r>
          </a:p>
        </p:txBody>
      </p:sp>
    </p:spTree>
    <p:extLst>
      <p:ext uri="{BB962C8B-B14F-4D97-AF65-F5344CB8AC3E}">
        <p14:creationId xmlns:p14="http://schemas.microsoft.com/office/powerpoint/2010/main" val="60176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C0367-85BA-F705-2D60-23A23B99ED32}"/>
              </a:ext>
            </a:extLst>
          </p:cNvPr>
          <p:cNvSpPr>
            <a:spLocks noGrp="1"/>
          </p:cNvSpPr>
          <p:nvPr>
            <p:ph type="title"/>
          </p:nvPr>
        </p:nvSpPr>
        <p:spPr>
          <a:xfrm>
            <a:off x="838200" y="2269865"/>
            <a:ext cx="10515600" cy="1744476"/>
          </a:xfrm>
        </p:spPr>
        <p:txBody>
          <a:bodyPr>
            <a:normAutofit fontScale="90000"/>
          </a:bodyPr>
          <a:lstStyle/>
          <a:p>
            <a:r>
              <a:rPr lang="en-ZA" b="1" dirty="0"/>
              <a:t>Section 3.13 Application: China’s post-COVID-19 aggregate demand problem is </a:t>
            </a:r>
            <a:r>
              <a:rPr lang="en-ZA" b="1" dirty="0">
                <a:solidFill>
                  <a:srgbClr val="C00000"/>
                </a:solidFill>
              </a:rPr>
              <a:t>NOT PRESCRIBED</a:t>
            </a:r>
            <a:br>
              <a:rPr lang="en-ZA" b="1" dirty="0">
                <a:solidFill>
                  <a:srgbClr val="C00000"/>
                </a:solidFill>
              </a:rPr>
            </a:br>
            <a:endParaRPr lang="en-ZA" b="1" dirty="0">
              <a:solidFill>
                <a:srgbClr val="C00000"/>
              </a:solidFill>
            </a:endParaRPr>
          </a:p>
        </p:txBody>
      </p:sp>
      <p:sp>
        <p:nvSpPr>
          <p:cNvPr id="3" name="Slide Number Placeholder 2">
            <a:extLst>
              <a:ext uri="{FF2B5EF4-FFF2-40B4-BE49-F238E27FC236}">
                <a16:creationId xmlns:a16="http://schemas.microsoft.com/office/drawing/2014/main" id="{C55ACE56-D29E-94D5-FBBD-EFAFFD73A36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70A732-89BB-4002-939C-C69F6E33DF9F}" type="slidenum">
              <a:rPr kumimoji="0" lang="en-ZA"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ZA"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457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417513"/>
            <a:ext cx="3044825" cy="669925"/>
          </a:xfrm>
        </p:spPr>
        <p:txBody>
          <a:bodyPr>
            <a:noAutofit/>
          </a:bodyPr>
          <a:lstStyle/>
          <a:p>
            <a:pPr algn="ctr"/>
            <a:r>
              <a:rPr lang="en-GB" sz="4800" dirty="0">
                <a:latin typeface="Source Sans Pro" panose="020B0503030403020204" pitchFamily="34" charset="0"/>
                <a:ea typeface="Source Sans Pro" panose="020B0503030403020204" pitchFamily="34" charset="0"/>
              </a:rPr>
              <a:t>Summary</a:t>
            </a:r>
          </a:p>
        </p:txBody>
      </p:sp>
      <p:sp>
        <p:nvSpPr>
          <p:cNvPr id="2" name="TextBox 1"/>
          <p:cNvSpPr txBox="1"/>
          <p:nvPr/>
        </p:nvSpPr>
        <p:spPr>
          <a:xfrm>
            <a:off x="636016" y="1218298"/>
            <a:ext cx="11317658" cy="5098832"/>
          </a:xfrm>
          <a:prstGeom prst="rect">
            <a:avLst/>
          </a:prstGeom>
          <a:noFill/>
        </p:spPr>
        <p:txBody>
          <a:bodyPr wrap="square" rtlCol="0">
            <a:spAutoFit/>
          </a:bodyPr>
          <a:lstStyle/>
          <a:p>
            <a:pPr marL="342900" marR="0" lvl="0" indent="-342900" algn="l" defTabSz="914400" rtl="0" eaLnBrk="1" fontAlgn="base" latinLnBrk="0" hangingPunct="1">
              <a:lnSpc>
                <a:spcPct val="100000"/>
              </a:lnSpc>
              <a:spcBef>
                <a:spcPts val="180"/>
              </a:spcBef>
              <a:spcAft>
                <a:spcPts val="180"/>
              </a:spcAft>
              <a:buClrTx/>
              <a:buSzTx/>
              <a:buFont typeface="+mj-lt"/>
              <a:buAutoNum type="arabicPeriod"/>
              <a:tabLst/>
              <a:defRPr/>
            </a:pP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GDP</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is an imperfect but important measure of how much an economy produces.</a:t>
            </a:r>
          </a:p>
          <a:p>
            <a:pPr marL="342900" marR="0" lvl="0" indent="-342900" algn="l" defTabSz="914400" rtl="0" eaLnBrk="1" fontAlgn="base" latinLnBrk="0" hangingPunct="1">
              <a:lnSpc>
                <a:spcPct val="100000"/>
              </a:lnSpc>
              <a:spcBef>
                <a:spcPts val="180"/>
              </a:spcBef>
              <a:spcAft>
                <a:spcPts val="180"/>
              </a:spcAft>
              <a:buClrTx/>
              <a:buSzTx/>
              <a:buFont typeface="+mj-lt"/>
              <a:buAutoNum type="arabicPeriod"/>
              <a:tabLst/>
              <a:defRPr/>
            </a:pP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Fluctuations in the GDP of a nation over the business cycle are caused by shifts in the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aggregate demand </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for goods and services. They affect unemployment, and unemployment is a serious hardship for people.</a:t>
            </a:r>
          </a:p>
          <a:p>
            <a:pPr marL="342900" marR="0" lvl="0" indent="-342900" algn="l" defTabSz="914400" rtl="0" eaLnBrk="1" fontAlgn="base" latinLnBrk="0" hangingPunct="1">
              <a:lnSpc>
                <a:spcPct val="100000"/>
              </a:lnSpc>
              <a:spcBef>
                <a:spcPts val="180"/>
              </a:spcBef>
              <a:spcAft>
                <a:spcPts val="180"/>
              </a:spcAft>
              <a:buClrTx/>
              <a:buSzTx/>
              <a:buFont typeface="+mj-lt"/>
              <a:buAutoNum type="arabicPeriod"/>
              <a:tabLst/>
              <a:defRPr/>
            </a:pP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Households respond to shocks by saving, borrowing, and sharing to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smooth their consumption </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of goods and services. Due to limits on people’s ability to borrow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credit constraints</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and their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present bias</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these strategies are not sufficient to eliminate fluctuations in their consumption.</a:t>
            </a:r>
          </a:p>
          <a:p>
            <a:pPr marL="342900" marR="0" lvl="0" indent="-342900" algn="l" defTabSz="914400" rtl="0" eaLnBrk="1" fontAlgn="base" latinLnBrk="0" hangingPunct="1">
              <a:lnSpc>
                <a:spcPct val="100000"/>
              </a:lnSpc>
              <a:spcBef>
                <a:spcPts val="180"/>
              </a:spcBef>
              <a:spcAft>
                <a:spcPts val="180"/>
              </a:spcAft>
              <a:buClrTx/>
              <a:buSzTx/>
              <a:buFont typeface="+mj-lt"/>
              <a:buAutoNum type="arabicPeriod"/>
              <a:tabLst/>
              <a:defRPr/>
            </a:pP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Unlike consumption, spending on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investment</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projects is often clustered. </a:t>
            </a:r>
          </a:p>
          <a:p>
            <a:pPr marL="342900" marR="0" lvl="0" indent="-342900" algn="l" defTabSz="914400" rtl="0" eaLnBrk="1" fontAlgn="base" latinLnBrk="0" hangingPunct="1">
              <a:lnSpc>
                <a:spcPct val="100000"/>
              </a:lnSpc>
              <a:spcBef>
                <a:spcPts val="180"/>
              </a:spcBef>
              <a:spcAft>
                <a:spcPts val="180"/>
              </a:spcAft>
              <a:buClrTx/>
              <a:buSzTx/>
              <a:buFont typeface="+mj-lt"/>
              <a:buAutoNum type="arabicPeriod"/>
              <a:tabLst/>
              <a:defRPr/>
            </a:pP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The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multiplier model </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is used to study the business cycle. It consists of the equation for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goods market equilibrium </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and the equation for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aggregate demand</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Solving the two equations gives the formula for the </a:t>
            </a:r>
            <a:r>
              <a:rPr kumimoji="0" lang="en-GB" sz="2400" b="1"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multiplier</a:t>
            </a:r>
            <a:r>
              <a:rPr kumimoji="0" lang="en-GB" sz="2400" b="0" i="0" u="none" strike="noStrike" kern="1200" cap="none" spc="0" normalizeH="0" baseline="0" noProof="0" dirty="0">
                <a:ln>
                  <a:noFill/>
                </a:ln>
                <a:solidFill>
                  <a:srgbClr val="000000"/>
                </a:solidFill>
                <a:effectLst/>
                <a:uLnTx/>
                <a:uFillTx/>
                <a:latin typeface="Source Sans Pro" panose="020B0503030403020204" pitchFamily="34" charset="0"/>
                <a:ea typeface="Source Sans Pro" panose="020B0503030403020204" pitchFamily="34" charset="0"/>
                <a:cs typeface="+mn-cs"/>
              </a:rPr>
              <a:t>, which in this model has a value greater than one.</a:t>
            </a:r>
            <a:endParaRPr kumimoji="0" lang="en-US" sz="32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endParaRPr>
          </a:p>
        </p:txBody>
      </p:sp>
    </p:spTree>
    <p:extLst>
      <p:ext uri="{BB962C8B-B14F-4D97-AF65-F5344CB8AC3E}">
        <p14:creationId xmlns:p14="http://schemas.microsoft.com/office/powerpoint/2010/main" val="4162583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01EF-8483-A612-6738-0C7FCD6210E6}"/>
            </a:ext>
          </a:extLst>
        </p:cNvPr>
        <p:cNvGrpSpPr/>
        <p:nvPr/>
      </p:nvGrpSpPr>
      <p:grpSpPr>
        <a:xfrm>
          <a:off x="0" y="0"/>
          <a:ext cx="0" cy="0"/>
          <a:chOff x="0" y="0"/>
          <a:chExt cx="0" cy="0"/>
        </a:xfrm>
      </p:grpSpPr>
      <p:pic>
        <p:nvPicPr>
          <p:cNvPr id="4" name="image3.png" title="Image">
            <a:extLst>
              <a:ext uri="{FF2B5EF4-FFF2-40B4-BE49-F238E27FC236}">
                <a16:creationId xmlns:a16="http://schemas.microsoft.com/office/drawing/2014/main" id="{2EAB3A3B-6545-984E-68AC-048025DEB960}"/>
              </a:ext>
            </a:extLst>
          </p:cNvPr>
          <p:cNvPicPr preferRelativeResize="0"/>
          <p:nvPr/>
        </p:nvPicPr>
        <p:blipFill>
          <a:blip r:embed="rId3" cstate="print"/>
          <a:stretch>
            <a:fillRect/>
          </a:stretch>
        </p:blipFill>
        <p:spPr>
          <a:xfrm>
            <a:off x="502920" y="-148590"/>
            <a:ext cx="11064239" cy="7006590"/>
          </a:xfrm>
          <a:prstGeom prst="rect">
            <a:avLst/>
          </a:prstGeom>
          <a:noFill/>
        </p:spPr>
      </p:pic>
      <p:sp>
        <p:nvSpPr>
          <p:cNvPr id="6" name="TextBox 5">
            <a:extLst>
              <a:ext uri="{FF2B5EF4-FFF2-40B4-BE49-F238E27FC236}">
                <a16:creationId xmlns:a16="http://schemas.microsoft.com/office/drawing/2014/main" id="{94B7F9DA-56D9-FF8A-1A71-40C815609A00}"/>
              </a:ext>
            </a:extLst>
          </p:cNvPr>
          <p:cNvSpPr txBox="1"/>
          <p:nvPr/>
        </p:nvSpPr>
        <p:spPr>
          <a:xfrm>
            <a:off x="2180273" y="17204"/>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❶</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2C3D58AD-4832-3964-CE81-49CB4DD38384}"/>
              </a:ext>
            </a:extLst>
          </p:cNvPr>
          <p:cNvSpPr txBox="1"/>
          <p:nvPr/>
        </p:nvSpPr>
        <p:spPr>
          <a:xfrm>
            <a:off x="808673"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❷</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4E27A6ED-CDA2-0931-6CE0-CFAE902E1F42}"/>
              </a:ext>
            </a:extLst>
          </p:cNvPr>
          <p:cNvSpPr txBox="1"/>
          <p:nvPr/>
        </p:nvSpPr>
        <p:spPr>
          <a:xfrm>
            <a:off x="9585960" y="18212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❸</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9BA84EE6-352D-3906-5644-8C5E4DEBC130}"/>
              </a:ext>
            </a:extLst>
          </p:cNvPr>
          <p:cNvSpPr txBox="1"/>
          <p:nvPr/>
        </p:nvSpPr>
        <p:spPr>
          <a:xfrm>
            <a:off x="382906" y="4793099"/>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❹</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89FCC9E6-2E9E-4CE6-B7B4-BC946A73331E}"/>
              </a:ext>
            </a:extLst>
          </p:cNvPr>
          <p:cNvSpPr txBox="1"/>
          <p:nvPr/>
        </p:nvSpPr>
        <p:spPr>
          <a:xfrm>
            <a:off x="9585960" y="4808458"/>
            <a:ext cx="179736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70C0"/>
                </a:solidFill>
                <a:effectLst/>
                <a:uLnTx/>
                <a:uFillTx/>
                <a:latin typeface="Aptos" panose="02110004020202020204"/>
                <a:ea typeface="+mn-ea"/>
                <a:cs typeface="+mn-cs"/>
              </a:rPr>
              <a:t>Topic</a:t>
            </a:r>
            <a:r>
              <a:rPr kumimoji="0" lang="en-ZA" sz="32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ZA" sz="3200" b="0" i="0" u="none" strike="noStrike" kern="1200" cap="none" spc="0" normalizeH="0" baseline="0" noProof="0" dirty="0">
                <a:ln>
                  <a:noFill/>
                </a:ln>
                <a:solidFill>
                  <a:srgbClr val="0070C0"/>
                </a:solidFill>
                <a:effectLst/>
                <a:uLnTx/>
                <a:uFillTx/>
                <a:latin typeface="Calibri" panose="020F0502020204030204" pitchFamily="34" charset="0"/>
                <a:ea typeface="Calibri" panose="020F0502020204030204" pitchFamily="34" charset="0"/>
                <a:cs typeface="Calibri" panose="020F0502020204030204" pitchFamily="34" charset="0"/>
              </a:rPr>
              <a:t>❺</a:t>
            </a:r>
            <a:endParaRPr kumimoji="0" lang="en-ZA" sz="3200" b="0" i="0" u="none" strike="noStrike" kern="1200" cap="none" spc="0" normalizeH="0" baseline="0" noProof="0" dirty="0">
              <a:ln>
                <a:noFill/>
              </a:ln>
              <a:solidFill>
                <a:srgbClr val="0070C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744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theme/theme1.xml><?xml version="1.0" encoding="utf-8"?>
<a:theme xmlns:a="http://schemas.openxmlformats.org/drawingml/2006/main" name="1_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3DC2A576866347B3860F3D6B95AFFE" ma:contentTypeVersion="7" ma:contentTypeDescription="Create a new document." ma:contentTypeScope="" ma:versionID="4c7c66d906fbd49775b10eeedd163ea7">
  <xsd:schema xmlns:xsd="http://www.w3.org/2001/XMLSchema" xmlns:xs="http://www.w3.org/2001/XMLSchema" xmlns:p="http://schemas.microsoft.com/office/2006/metadata/properties" xmlns:ns2="8608378c-9d89-4280-9f86-684f84fbf7a4" targetNamespace="http://schemas.microsoft.com/office/2006/metadata/properties" ma:root="true" ma:fieldsID="759e42e850e8058a3deb55707af8a3f7" ns2:_="">
    <xsd:import namespace="8608378c-9d89-4280-9f86-684f84fbf7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08378c-9d89-4280-9f86-684f84fbf7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C6BBEE5-7EDC-4D77-A9F3-3C47ECDF3A45}"/>
</file>

<file path=customXml/itemProps2.xml><?xml version="1.0" encoding="utf-8"?>
<ds:datastoreItem xmlns:ds="http://schemas.openxmlformats.org/officeDocument/2006/customXml" ds:itemID="{00E2B71F-1EF7-4B30-A69C-A88DB0E03E07}"/>
</file>

<file path=customXml/itemProps3.xml><?xml version="1.0" encoding="utf-8"?>
<ds:datastoreItem xmlns:ds="http://schemas.openxmlformats.org/officeDocument/2006/customXml" ds:itemID="{93D2DA86-3811-4CFC-9FBF-C79DAF1BC5E7}"/>
</file>

<file path=docProps/app.xml><?xml version="1.0" encoding="utf-8"?>
<Properties xmlns="http://schemas.openxmlformats.org/officeDocument/2006/extended-properties" xmlns:vt="http://schemas.openxmlformats.org/officeDocument/2006/docPropsVTypes">
  <TotalTime>30</TotalTime>
  <Words>1691</Words>
  <Application>Microsoft Office PowerPoint</Application>
  <PresentationFormat>Widescreen</PresentationFormat>
  <Paragraphs>172</Paragraphs>
  <Slides>34</Slides>
  <Notes>28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34</vt:i4>
      </vt:variant>
    </vt:vector>
  </HeadingPairs>
  <TitlesOfParts>
    <vt:vector size="44" baseType="lpstr">
      <vt:lpstr>Aptos</vt:lpstr>
      <vt:lpstr>Aptos Display</vt:lpstr>
      <vt:lpstr>Arial</vt:lpstr>
      <vt:lpstr>Calibri</vt:lpstr>
      <vt:lpstr>Calibri Light</vt:lpstr>
      <vt:lpstr>Crimson Pro</vt:lpstr>
      <vt:lpstr>inherit</vt:lpstr>
      <vt:lpstr>Source Sans Pro</vt:lpstr>
      <vt:lpstr>1_Office Theme</vt:lpstr>
      <vt:lpstr>2_Office Theme</vt:lpstr>
      <vt:lpstr>Unit 3 Aggregate demand and the multiplier model</vt:lpstr>
      <vt:lpstr>PowerPoint Presentation</vt:lpstr>
      <vt:lpstr>PowerPoint Presentation</vt:lpstr>
      <vt:lpstr>Consumption smoothing</vt:lpstr>
      <vt:lpstr>PowerPoint Presentation</vt:lpstr>
      <vt:lpstr>PowerPoint Presentation</vt:lpstr>
      <vt:lpstr> Consumption changes before income does, and that this is only possible if the individual can borrow. While earnings are low, a smooth path of consumption means the individual wants to consume more than their income.  A key assumption in the model is that they can do so by borrowing.  But when earnings are high, consumption is below income, as some of the income is used to repay debt and save for retirement. </vt:lpstr>
      <vt:lpstr>Smoothing consumption</vt:lpstr>
      <vt:lpstr>Do Question 3.11</vt:lpstr>
      <vt:lpstr>PowerPoint Presentation</vt:lpstr>
      <vt:lpstr>Shocks</vt:lpstr>
      <vt:lpstr>Dealing with shocks</vt:lpstr>
      <vt:lpstr>Economy-wide shocks (e.g. Covid-19 pandemic)</vt:lpstr>
      <vt:lpstr>Consumer preferences</vt:lpstr>
      <vt:lpstr>Limitations to smoothing: credit constraints</vt:lpstr>
      <vt:lpstr>Limitations to smoothing: Present bias</vt:lpstr>
      <vt:lpstr>Limitations to smoothing: credit constraints</vt:lpstr>
      <vt:lpstr>Consumer behaviour and the multiplier model</vt:lpstr>
      <vt:lpstr>Do Question 3.13</vt:lpstr>
      <vt:lpstr>PowerPoint Presentation</vt:lpstr>
      <vt:lpstr>PowerPoint Presentation</vt:lpstr>
      <vt:lpstr>Why is investment volatile?</vt:lpstr>
      <vt:lpstr>A coordination problem</vt:lpstr>
      <vt:lpstr>Volatile Investment</vt:lpstr>
      <vt:lpstr>Do Question 3.13</vt:lpstr>
      <vt:lpstr>PowerPoint Presentation</vt:lpstr>
      <vt:lpstr>Business confidence</vt:lpstr>
      <vt:lpstr>Business confidence</vt:lpstr>
      <vt:lpstr>Aggregate investment function</vt:lpstr>
      <vt:lpstr>Do Question 3.15</vt:lpstr>
      <vt:lpstr>Other components of GDP</vt:lpstr>
      <vt:lpstr>Section 3.13 Application: China’s post-COVID-19 aggregate demand problem is NOT PRESCRIBED </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Nieuwoudt, Liezl [lnieuw@sun.ac.za]</dc:creator>
  <cp:lastModifiedBy>Liezl Nieuwoudt</cp:lastModifiedBy>
  <cp:revision>3</cp:revision>
  <dcterms:created xsi:type="dcterms:W3CDTF">2025-08-19T10:32:43Z</dcterms:created>
  <dcterms:modified xsi:type="dcterms:W3CDTF">2025-08-21T10:45:28Z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0x0101007C3DC2A576866347B3860F3D6B95AFFE</vt:lpwstr>
  </property>
</Properties>
</file>