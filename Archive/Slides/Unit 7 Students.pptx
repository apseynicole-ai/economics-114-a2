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9"/>
  </p:notesMasterIdLst>
  <p:handoutMasterIdLst>
    <p:handoutMasterId r:id="rId40"/>
  </p:handoutMasterIdLst>
  <p:sldIdLst>
    <p:sldId id="256" r:id="rId5"/>
    <p:sldId id="311" r:id="rId6"/>
    <p:sldId id="312" r:id="rId7"/>
    <p:sldId id="375" r:id="rId8"/>
    <p:sldId id="499" r:id="rId9"/>
    <p:sldId id="555" r:id="rId10"/>
    <p:sldId id="500" r:id="rId11"/>
    <p:sldId id="551" r:id="rId12"/>
    <p:sldId id="552" r:id="rId13"/>
    <p:sldId id="554" r:id="rId14"/>
    <p:sldId id="549" r:id="rId15"/>
    <p:sldId id="501" r:id="rId16"/>
    <p:sldId id="502" r:id="rId17"/>
    <p:sldId id="503" r:id="rId18"/>
    <p:sldId id="504" r:id="rId19"/>
    <p:sldId id="506" r:id="rId20"/>
    <p:sldId id="507" r:id="rId21"/>
    <p:sldId id="553" r:id="rId22"/>
    <p:sldId id="512" r:id="rId23"/>
    <p:sldId id="513" r:id="rId24"/>
    <p:sldId id="515" r:id="rId25"/>
    <p:sldId id="517" r:id="rId26"/>
    <p:sldId id="544" r:id="rId27"/>
    <p:sldId id="545" r:id="rId28"/>
    <p:sldId id="546" r:id="rId29"/>
    <p:sldId id="498" r:id="rId30"/>
    <p:sldId id="400" r:id="rId31"/>
    <p:sldId id="519" r:id="rId32"/>
    <p:sldId id="534" r:id="rId33"/>
    <p:sldId id="452" r:id="rId34"/>
    <p:sldId id="536" r:id="rId35"/>
    <p:sldId id="537" r:id="rId36"/>
    <p:sldId id="538" r:id="rId37"/>
    <p:sldId id="543" r:id="rId38"/>
  </p:sldIdLst>
  <p:sldSz cx="12192000" cy="6858000"/>
  <p:notesSz cx="6858000" cy="9144000"/>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BEEE39F-7FF9-4B25-1A20-88303159B3EF}" name="Ezeobi, Olivia [olivia@sun.ac.za]" initials="OE" userId="S::olivia@sun.ac.za::49cf75c4-0ed4-491f-950c-76847e45684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4D379A-ABD2-154F-5677-DD3F55BB119A}" v="2" dt="2025-10-14T20:14:27.5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48"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zeobi, Olivia [olivia@sun.ac.za]" userId="S::olivia@sun.ac.za::49cf75c4-0ed4-491f-950c-76847e456843" providerId="AD" clId="Web-{A14D379A-ABD2-154F-5677-DD3F55BB119A}"/>
    <pc:docChg chg="modSld">
      <pc:chgData name="Ezeobi, Olivia [olivia@sun.ac.za]" userId="S::olivia@sun.ac.za::49cf75c4-0ed4-491f-950c-76847e456843" providerId="AD" clId="Web-{A14D379A-ABD2-154F-5677-DD3F55BB119A}" dt="2025-10-14T20:14:36.282" v="1323"/>
      <pc:docMkLst>
        <pc:docMk/>
      </pc:docMkLst>
      <pc:sldChg chg="modNotes">
        <pc:chgData name="Ezeobi, Olivia [olivia@sun.ac.za]" userId="S::olivia@sun.ac.za::49cf75c4-0ed4-491f-950c-76847e456843" providerId="AD" clId="Web-{A14D379A-ABD2-154F-5677-DD3F55BB119A}" dt="2025-10-14T20:10:24.499" v="47"/>
        <pc:sldMkLst>
          <pc:docMk/>
          <pc:sldMk cId="1747666872" sldId="375"/>
        </pc:sldMkLst>
      </pc:sldChg>
      <pc:sldChg chg="modNotes">
        <pc:chgData name="Ezeobi, Olivia [olivia@sun.ac.za]" userId="S::olivia@sun.ac.za::49cf75c4-0ed4-491f-950c-76847e456843" providerId="AD" clId="Web-{A14D379A-ABD2-154F-5677-DD3F55BB119A}" dt="2025-10-14T20:13:18.829" v="981"/>
        <pc:sldMkLst>
          <pc:docMk/>
          <pc:sldMk cId="1023953007" sldId="400"/>
        </pc:sldMkLst>
      </pc:sldChg>
      <pc:sldChg chg="modNotes">
        <pc:chgData name="Ezeobi, Olivia [olivia@sun.ac.za]" userId="S::olivia@sun.ac.za::49cf75c4-0ed4-491f-950c-76847e456843" providerId="AD" clId="Web-{A14D379A-ABD2-154F-5677-DD3F55BB119A}" dt="2025-10-14T20:10:48.062" v="51"/>
        <pc:sldMkLst>
          <pc:docMk/>
          <pc:sldMk cId="701270140" sldId="499"/>
        </pc:sldMkLst>
      </pc:sldChg>
      <pc:sldChg chg="modNotes">
        <pc:chgData name="Ezeobi, Olivia [olivia@sun.ac.za]" userId="S::olivia@sun.ac.za::49cf75c4-0ed4-491f-950c-76847e456843" providerId="AD" clId="Web-{A14D379A-ABD2-154F-5677-DD3F55BB119A}" dt="2025-10-14T20:10:57.859" v="104"/>
        <pc:sldMkLst>
          <pc:docMk/>
          <pc:sldMk cId="2338946268" sldId="500"/>
        </pc:sldMkLst>
      </pc:sldChg>
      <pc:sldChg chg="modNotes">
        <pc:chgData name="Ezeobi, Olivia [olivia@sun.ac.za]" userId="S::olivia@sun.ac.za::49cf75c4-0ed4-491f-950c-76847e456843" providerId="AD" clId="Web-{A14D379A-ABD2-154F-5677-DD3F55BB119A}" dt="2025-10-14T20:11:10.531" v="153"/>
        <pc:sldMkLst>
          <pc:docMk/>
          <pc:sldMk cId="836884660" sldId="501"/>
        </pc:sldMkLst>
      </pc:sldChg>
      <pc:sldChg chg="modNotes">
        <pc:chgData name="Ezeobi, Olivia [olivia@sun.ac.za]" userId="S::olivia@sun.ac.za::49cf75c4-0ed4-491f-950c-76847e456843" providerId="AD" clId="Web-{A14D379A-ABD2-154F-5677-DD3F55BB119A}" dt="2025-10-14T20:11:19.640" v="232"/>
        <pc:sldMkLst>
          <pc:docMk/>
          <pc:sldMk cId="4055080640" sldId="502"/>
        </pc:sldMkLst>
      </pc:sldChg>
      <pc:sldChg chg="modNotes">
        <pc:chgData name="Ezeobi, Olivia [olivia@sun.ac.za]" userId="S::olivia@sun.ac.za::49cf75c4-0ed4-491f-950c-76847e456843" providerId="AD" clId="Web-{A14D379A-ABD2-154F-5677-DD3F55BB119A}" dt="2025-10-14T20:11:42.484" v="410"/>
        <pc:sldMkLst>
          <pc:docMk/>
          <pc:sldMk cId="3558612875" sldId="503"/>
        </pc:sldMkLst>
      </pc:sldChg>
      <pc:sldChg chg="modNotes">
        <pc:chgData name="Ezeobi, Olivia [olivia@sun.ac.za]" userId="S::olivia@sun.ac.za::49cf75c4-0ed4-491f-950c-76847e456843" providerId="AD" clId="Web-{A14D379A-ABD2-154F-5677-DD3F55BB119A}" dt="2025-10-14T20:12:00.188" v="577"/>
        <pc:sldMkLst>
          <pc:docMk/>
          <pc:sldMk cId="1078893616" sldId="504"/>
        </pc:sldMkLst>
      </pc:sldChg>
      <pc:sldChg chg="modNotes">
        <pc:chgData name="Ezeobi, Olivia [olivia@sun.ac.za]" userId="S::olivia@sun.ac.za::49cf75c4-0ed4-491f-950c-76847e456843" providerId="AD" clId="Web-{A14D379A-ABD2-154F-5677-DD3F55BB119A}" dt="2025-10-14T20:12:18.641" v="637"/>
        <pc:sldMkLst>
          <pc:docMk/>
          <pc:sldMk cId="2699331421" sldId="506"/>
        </pc:sldMkLst>
      </pc:sldChg>
      <pc:sldChg chg="modNotes">
        <pc:chgData name="Ezeobi, Olivia [olivia@sun.ac.za]" userId="S::olivia@sun.ac.za::49cf75c4-0ed4-491f-950c-76847e456843" providerId="AD" clId="Web-{A14D379A-ABD2-154F-5677-DD3F55BB119A}" dt="2025-10-14T20:12:30.782" v="692"/>
        <pc:sldMkLst>
          <pc:docMk/>
          <pc:sldMk cId="1732804726" sldId="507"/>
        </pc:sldMkLst>
      </pc:sldChg>
      <pc:sldChg chg="modNotes">
        <pc:chgData name="Ezeobi, Olivia [olivia@sun.ac.za]" userId="S::olivia@sun.ac.za::49cf75c4-0ed4-491f-950c-76847e456843" providerId="AD" clId="Web-{A14D379A-ABD2-154F-5677-DD3F55BB119A}" dt="2025-10-14T20:12:38.204" v="740"/>
        <pc:sldMkLst>
          <pc:docMk/>
          <pc:sldMk cId="2947534237" sldId="512"/>
        </pc:sldMkLst>
      </pc:sldChg>
      <pc:sldChg chg="modNotes">
        <pc:chgData name="Ezeobi, Olivia [olivia@sun.ac.za]" userId="S::olivia@sun.ac.za::49cf75c4-0ed4-491f-950c-76847e456843" providerId="AD" clId="Web-{A14D379A-ABD2-154F-5677-DD3F55BB119A}" dt="2025-10-14T20:12:50.563" v="808"/>
        <pc:sldMkLst>
          <pc:docMk/>
          <pc:sldMk cId="2996308970" sldId="513"/>
        </pc:sldMkLst>
      </pc:sldChg>
      <pc:sldChg chg="modNotes">
        <pc:chgData name="Ezeobi, Olivia [olivia@sun.ac.za]" userId="S::olivia@sun.ac.za::49cf75c4-0ed4-491f-950c-76847e456843" providerId="AD" clId="Web-{A14D379A-ABD2-154F-5677-DD3F55BB119A}" dt="2025-10-14T20:12:56.297" v="871"/>
        <pc:sldMkLst>
          <pc:docMk/>
          <pc:sldMk cId="3568512495" sldId="515"/>
        </pc:sldMkLst>
      </pc:sldChg>
      <pc:sldChg chg="modNotes">
        <pc:chgData name="Ezeobi, Olivia [olivia@sun.ac.za]" userId="S::olivia@sun.ac.za::49cf75c4-0ed4-491f-950c-76847e456843" providerId="AD" clId="Web-{A14D379A-ABD2-154F-5677-DD3F55BB119A}" dt="2025-10-14T20:13:04.313" v="927"/>
        <pc:sldMkLst>
          <pc:docMk/>
          <pc:sldMk cId="3336439792" sldId="517"/>
        </pc:sldMkLst>
      </pc:sldChg>
      <pc:sldChg chg="modNotes">
        <pc:chgData name="Ezeobi, Olivia [olivia@sun.ac.za]" userId="S::olivia@sun.ac.za::49cf75c4-0ed4-491f-950c-76847e456843" providerId="AD" clId="Web-{A14D379A-ABD2-154F-5677-DD3F55BB119A}" dt="2025-10-14T20:13:33.032" v="983"/>
        <pc:sldMkLst>
          <pc:docMk/>
          <pc:sldMk cId="2238069656" sldId="519"/>
        </pc:sldMkLst>
      </pc:sldChg>
      <pc:sldChg chg="modNotes">
        <pc:chgData name="Ezeobi, Olivia [olivia@sun.ac.za]" userId="S::olivia@sun.ac.za::49cf75c4-0ed4-491f-950c-76847e456843" providerId="AD" clId="Web-{A14D379A-ABD2-154F-5677-DD3F55BB119A}" dt="2025-10-14T20:13:57.017" v="1063"/>
        <pc:sldMkLst>
          <pc:docMk/>
          <pc:sldMk cId="1005489267" sldId="534"/>
        </pc:sldMkLst>
      </pc:sldChg>
      <pc:sldChg chg="modNotes">
        <pc:chgData name="Ezeobi, Olivia [olivia@sun.ac.za]" userId="S::olivia@sun.ac.za::49cf75c4-0ed4-491f-950c-76847e456843" providerId="AD" clId="Web-{A14D379A-ABD2-154F-5677-DD3F55BB119A}" dt="2025-10-14T20:14:05.110" v="1125"/>
        <pc:sldMkLst>
          <pc:docMk/>
          <pc:sldMk cId="2563932349" sldId="536"/>
        </pc:sldMkLst>
      </pc:sldChg>
      <pc:sldChg chg="modNotes">
        <pc:chgData name="Ezeobi, Olivia [olivia@sun.ac.za]" userId="S::olivia@sun.ac.za::49cf75c4-0ed4-491f-950c-76847e456843" providerId="AD" clId="Web-{A14D379A-ABD2-154F-5677-DD3F55BB119A}" dt="2025-10-14T20:14:13.579" v="1196"/>
        <pc:sldMkLst>
          <pc:docMk/>
          <pc:sldMk cId="540616349" sldId="537"/>
        </pc:sldMkLst>
      </pc:sldChg>
      <pc:sldChg chg="modNotes">
        <pc:chgData name="Ezeobi, Olivia [olivia@sun.ac.za]" userId="S::olivia@sun.ac.za::49cf75c4-0ed4-491f-950c-76847e456843" providerId="AD" clId="Web-{A14D379A-ABD2-154F-5677-DD3F55BB119A}" dt="2025-10-14T20:14:21.814" v="1261"/>
        <pc:sldMkLst>
          <pc:docMk/>
          <pc:sldMk cId="2542262580" sldId="538"/>
        </pc:sldMkLst>
      </pc:sldChg>
      <pc:sldChg chg="modNotes">
        <pc:chgData name="Ezeobi, Olivia [olivia@sun.ac.za]" userId="S::olivia@sun.ac.za::49cf75c4-0ed4-491f-950c-76847e456843" providerId="AD" clId="Web-{A14D379A-ABD2-154F-5677-DD3F55BB119A}" dt="2025-10-14T20:14:36.282" v="1323"/>
        <pc:sldMkLst>
          <pc:docMk/>
          <pc:sldMk cId="2322900401" sldId="543"/>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ata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C7A7BD-312F-474B-8DBA-62310F0FACE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C7236D7-CE65-41F0-8922-CB6BAC8E109E}">
      <dgm:prSet/>
      <dgm:spPr/>
      <dgm:t>
        <a:bodyPr/>
        <a:lstStyle/>
        <a:p>
          <a:r>
            <a:rPr lang="en-GB"/>
            <a:t>Recap (Unit 5)</a:t>
          </a:r>
          <a:endParaRPr lang="en-US"/>
        </a:p>
      </dgm:t>
    </dgm:pt>
    <dgm:pt modelId="{845EA3F5-81CE-4E1F-9323-9C1A1CB7CFAA}" type="parTrans" cxnId="{78564913-2D99-4520-A1D9-7172A07D818C}">
      <dgm:prSet/>
      <dgm:spPr/>
      <dgm:t>
        <a:bodyPr/>
        <a:lstStyle/>
        <a:p>
          <a:endParaRPr lang="en-US"/>
        </a:p>
      </dgm:t>
    </dgm:pt>
    <dgm:pt modelId="{589F8FD5-73E0-4D35-8E76-0FF3AEF52EC5}" type="sibTrans" cxnId="{78564913-2D99-4520-A1D9-7172A07D818C}">
      <dgm:prSet/>
      <dgm:spPr/>
      <dgm:t>
        <a:bodyPr/>
        <a:lstStyle/>
        <a:p>
          <a:endParaRPr lang="en-US"/>
        </a:p>
      </dgm:t>
    </dgm:pt>
    <dgm:pt modelId="{972593F2-74EA-4633-BF85-F4CD7DA7E53B}">
      <dgm:prSet/>
      <dgm:spPr/>
      <dgm:t>
        <a:bodyPr/>
        <a:lstStyle/>
        <a:p>
          <a:r>
            <a:rPr lang="en-GB"/>
            <a:t>Nominal, real and real effective exchange rates </a:t>
          </a:r>
          <a:endParaRPr lang="en-US"/>
        </a:p>
      </dgm:t>
    </dgm:pt>
    <dgm:pt modelId="{C21F5B62-F7CC-4E92-8DED-D6B93DD7CC29}" type="parTrans" cxnId="{FF7BB710-0067-40E4-A8C5-EB4240431B39}">
      <dgm:prSet/>
      <dgm:spPr/>
      <dgm:t>
        <a:bodyPr/>
        <a:lstStyle/>
        <a:p>
          <a:endParaRPr lang="en-US"/>
        </a:p>
      </dgm:t>
    </dgm:pt>
    <dgm:pt modelId="{858D3ABB-3C77-4E56-8367-03FCAC406123}" type="sibTrans" cxnId="{FF7BB710-0067-40E4-A8C5-EB4240431B39}">
      <dgm:prSet/>
      <dgm:spPr/>
      <dgm:t>
        <a:bodyPr/>
        <a:lstStyle/>
        <a:p>
          <a:endParaRPr lang="en-US"/>
        </a:p>
      </dgm:t>
    </dgm:pt>
    <dgm:pt modelId="{59351A12-F9DF-4D37-B120-14FC7C955D58}">
      <dgm:prSet/>
      <dgm:spPr/>
      <dgm:t>
        <a:bodyPr/>
        <a:lstStyle/>
        <a:p>
          <a:r>
            <a:rPr lang="en-GB"/>
            <a:t>Exchange rate regimes</a:t>
          </a:r>
          <a:endParaRPr lang="en-US"/>
        </a:p>
      </dgm:t>
    </dgm:pt>
    <dgm:pt modelId="{7D643799-D0DE-45E6-A7F2-AA86F127C947}" type="parTrans" cxnId="{FD85EFBB-50CD-460D-8687-72BB05820D84}">
      <dgm:prSet/>
      <dgm:spPr/>
      <dgm:t>
        <a:bodyPr/>
        <a:lstStyle/>
        <a:p>
          <a:endParaRPr lang="en-US"/>
        </a:p>
      </dgm:t>
    </dgm:pt>
    <dgm:pt modelId="{786F4373-4388-4958-97E2-EB4FF204040F}" type="sibTrans" cxnId="{FD85EFBB-50CD-460D-8687-72BB05820D84}">
      <dgm:prSet/>
      <dgm:spPr/>
      <dgm:t>
        <a:bodyPr/>
        <a:lstStyle/>
        <a:p>
          <a:endParaRPr lang="en-US"/>
        </a:p>
      </dgm:t>
    </dgm:pt>
    <dgm:pt modelId="{823CBCEC-AAD1-4091-AE8F-33B5DA22D1E4}">
      <dgm:prSet/>
      <dgm:spPr/>
      <dgm:t>
        <a:bodyPr/>
        <a:lstStyle/>
        <a:p>
          <a:r>
            <a:rPr lang="en-US"/>
            <a:t>Exchange rate regimes in practice</a:t>
          </a:r>
        </a:p>
      </dgm:t>
    </dgm:pt>
    <dgm:pt modelId="{30C5F8F8-1C50-4913-8737-FAC18114839B}" type="parTrans" cxnId="{B249596E-5696-43EA-B0D5-F997F3F16118}">
      <dgm:prSet/>
      <dgm:spPr/>
      <dgm:t>
        <a:bodyPr/>
        <a:lstStyle/>
        <a:p>
          <a:endParaRPr lang="en-US"/>
        </a:p>
      </dgm:t>
    </dgm:pt>
    <dgm:pt modelId="{2BAE1401-2067-4EC4-9C76-C277A6369206}" type="sibTrans" cxnId="{B249596E-5696-43EA-B0D5-F997F3F16118}">
      <dgm:prSet/>
      <dgm:spPr/>
      <dgm:t>
        <a:bodyPr/>
        <a:lstStyle/>
        <a:p>
          <a:endParaRPr lang="en-US"/>
        </a:p>
      </dgm:t>
    </dgm:pt>
    <dgm:pt modelId="{C006B38A-4D46-4392-812F-193096776FB6}">
      <dgm:prSet/>
      <dgm:spPr/>
      <dgm:t>
        <a:bodyPr/>
        <a:lstStyle/>
        <a:p>
          <a:r>
            <a:rPr lang="en-GB"/>
            <a:t>Government deficits and foreign debt</a:t>
          </a:r>
          <a:endParaRPr lang="en-US"/>
        </a:p>
      </dgm:t>
    </dgm:pt>
    <dgm:pt modelId="{3BDC4AFA-C1CA-4A1C-B477-15A75745FE41}" type="parTrans" cxnId="{4046EA91-EA71-4807-9EA7-45B619FC1DD9}">
      <dgm:prSet/>
      <dgm:spPr/>
      <dgm:t>
        <a:bodyPr/>
        <a:lstStyle/>
        <a:p>
          <a:endParaRPr lang="en-US"/>
        </a:p>
      </dgm:t>
    </dgm:pt>
    <dgm:pt modelId="{4FC97447-D8B7-48AA-82D4-642BE550A67D}" type="sibTrans" cxnId="{4046EA91-EA71-4807-9EA7-45B619FC1DD9}">
      <dgm:prSet/>
      <dgm:spPr/>
      <dgm:t>
        <a:bodyPr/>
        <a:lstStyle/>
        <a:p>
          <a:endParaRPr lang="en-US"/>
        </a:p>
      </dgm:t>
    </dgm:pt>
    <dgm:pt modelId="{93EFB75A-94B4-4027-9919-4EC3023BD768}" type="pres">
      <dgm:prSet presAssocID="{C9C7A7BD-312F-474B-8DBA-62310F0FACE2}" presName="root" presStyleCnt="0">
        <dgm:presLayoutVars>
          <dgm:dir/>
          <dgm:resizeHandles val="exact"/>
        </dgm:presLayoutVars>
      </dgm:prSet>
      <dgm:spPr/>
    </dgm:pt>
    <dgm:pt modelId="{ADB9DC6D-AA68-4F30-8AEF-ED555820AAE6}" type="pres">
      <dgm:prSet presAssocID="{CC7236D7-CE65-41F0-8922-CB6BAC8E109E}" presName="compNode" presStyleCnt="0"/>
      <dgm:spPr/>
    </dgm:pt>
    <dgm:pt modelId="{C22B61F2-3BA6-4D6E-92FD-C03ABDC307E0}" type="pres">
      <dgm:prSet presAssocID="{CC7236D7-CE65-41F0-8922-CB6BAC8E109E}" presName="bgRect" presStyleLbl="bgShp" presStyleIdx="0" presStyleCnt="5"/>
      <dgm:spPr/>
    </dgm:pt>
    <dgm:pt modelId="{CD8AF184-B4B7-4517-80D4-734AF4C7AFC2}" type="pres">
      <dgm:prSet presAssocID="{CC7236D7-CE65-41F0-8922-CB6BAC8E109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eting"/>
        </a:ext>
      </dgm:extLst>
    </dgm:pt>
    <dgm:pt modelId="{A10DB622-F73F-41F8-9909-0829ED73E71B}" type="pres">
      <dgm:prSet presAssocID="{CC7236D7-CE65-41F0-8922-CB6BAC8E109E}" presName="spaceRect" presStyleCnt="0"/>
      <dgm:spPr/>
    </dgm:pt>
    <dgm:pt modelId="{6A4BBD71-5381-41B4-BB91-F0BDE1652AC9}" type="pres">
      <dgm:prSet presAssocID="{CC7236D7-CE65-41F0-8922-CB6BAC8E109E}" presName="parTx" presStyleLbl="revTx" presStyleIdx="0" presStyleCnt="5">
        <dgm:presLayoutVars>
          <dgm:chMax val="0"/>
          <dgm:chPref val="0"/>
        </dgm:presLayoutVars>
      </dgm:prSet>
      <dgm:spPr/>
    </dgm:pt>
    <dgm:pt modelId="{132E9CEA-7473-4E19-B964-E2FB1321EA69}" type="pres">
      <dgm:prSet presAssocID="{589F8FD5-73E0-4D35-8E76-0FF3AEF52EC5}" presName="sibTrans" presStyleCnt="0"/>
      <dgm:spPr/>
    </dgm:pt>
    <dgm:pt modelId="{6BA23794-32BA-4EB9-B9EE-C3A2964DD4C4}" type="pres">
      <dgm:prSet presAssocID="{972593F2-74EA-4633-BF85-F4CD7DA7E53B}" presName="compNode" presStyleCnt="0"/>
      <dgm:spPr/>
    </dgm:pt>
    <dgm:pt modelId="{886702D6-06D6-422E-8050-333FDA3F5A6D}" type="pres">
      <dgm:prSet presAssocID="{972593F2-74EA-4633-BF85-F4CD7DA7E53B}" presName="bgRect" presStyleLbl="bgShp" presStyleIdx="1" presStyleCnt="5"/>
      <dgm:spPr/>
    </dgm:pt>
    <dgm:pt modelId="{33312B0B-2CD5-4473-B0C9-A99B06BB4058}" type="pres">
      <dgm:prSet presAssocID="{972593F2-74EA-4633-BF85-F4CD7DA7E53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Yuan"/>
        </a:ext>
      </dgm:extLst>
    </dgm:pt>
    <dgm:pt modelId="{D0C7A270-F487-42A5-86B5-AD7420B5ABC5}" type="pres">
      <dgm:prSet presAssocID="{972593F2-74EA-4633-BF85-F4CD7DA7E53B}" presName="spaceRect" presStyleCnt="0"/>
      <dgm:spPr/>
    </dgm:pt>
    <dgm:pt modelId="{3067897A-1583-4BE3-85C5-0BE6DEA40C5A}" type="pres">
      <dgm:prSet presAssocID="{972593F2-74EA-4633-BF85-F4CD7DA7E53B}" presName="parTx" presStyleLbl="revTx" presStyleIdx="1" presStyleCnt="5">
        <dgm:presLayoutVars>
          <dgm:chMax val="0"/>
          <dgm:chPref val="0"/>
        </dgm:presLayoutVars>
      </dgm:prSet>
      <dgm:spPr/>
    </dgm:pt>
    <dgm:pt modelId="{EC81EF0B-9BD1-4D34-8FB7-E863085E9DC8}" type="pres">
      <dgm:prSet presAssocID="{858D3ABB-3C77-4E56-8367-03FCAC406123}" presName="sibTrans" presStyleCnt="0"/>
      <dgm:spPr/>
    </dgm:pt>
    <dgm:pt modelId="{C10E42B8-7F8E-4D6E-99D0-579562DC71B1}" type="pres">
      <dgm:prSet presAssocID="{59351A12-F9DF-4D37-B120-14FC7C955D58}" presName="compNode" presStyleCnt="0"/>
      <dgm:spPr/>
    </dgm:pt>
    <dgm:pt modelId="{8C6E5E4F-362F-40DB-98F3-BA6635EA2404}" type="pres">
      <dgm:prSet presAssocID="{59351A12-F9DF-4D37-B120-14FC7C955D58}" presName="bgRect" presStyleLbl="bgShp" presStyleIdx="2" presStyleCnt="5"/>
      <dgm:spPr/>
    </dgm:pt>
    <dgm:pt modelId="{FB653435-01AE-44D3-B473-20DA63D2EF16}" type="pres">
      <dgm:prSet presAssocID="{59351A12-F9DF-4D37-B120-14FC7C955D5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8670527D-3BBF-4299-B470-6583D7DEEFB7}" type="pres">
      <dgm:prSet presAssocID="{59351A12-F9DF-4D37-B120-14FC7C955D58}" presName="spaceRect" presStyleCnt="0"/>
      <dgm:spPr/>
    </dgm:pt>
    <dgm:pt modelId="{43BB70B9-22CB-4505-B5DC-A28A16B99411}" type="pres">
      <dgm:prSet presAssocID="{59351A12-F9DF-4D37-B120-14FC7C955D58}" presName="parTx" presStyleLbl="revTx" presStyleIdx="2" presStyleCnt="5">
        <dgm:presLayoutVars>
          <dgm:chMax val="0"/>
          <dgm:chPref val="0"/>
        </dgm:presLayoutVars>
      </dgm:prSet>
      <dgm:spPr/>
    </dgm:pt>
    <dgm:pt modelId="{920CF7D7-AF2D-422A-A8B7-764E9C17040E}" type="pres">
      <dgm:prSet presAssocID="{786F4373-4388-4958-97E2-EB4FF204040F}" presName="sibTrans" presStyleCnt="0"/>
      <dgm:spPr/>
    </dgm:pt>
    <dgm:pt modelId="{E0E7204B-07FA-4038-95F7-F330E73B9CD6}" type="pres">
      <dgm:prSet presAssocID="{823CBCEC-AAD1-4091-AE8F-33B5DA22D1E4}" presName="compNode" presStyleCnt="0"/>
      <dgm:spPr/>
    </dgm:pt>
    <dgm:pt modelId="{E85F6EA9-A155-4AAC-B9A8-C9422A2147D1}" type="pres">
      <dgm:prSet presAssocID="{823CBCEC-AAD1-4091-AE8F-33B5DA22D1E4}" presName="bgRect" presStyleLbl="bgShp" presStyleIdx="3" presStyleCnt="5"/>
      <dgm:spPr/>
    </dgm:pt>
    <dgm:pt modelId="{9DF80027-1003-4247-BB8C-E61DC696133B}" type="pres">
      <dgm:prSet presAssocID="{823CBCEC-AAD1-4091-AE8F-33B5DA22D1E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52487E90-E92C-47E5-9BBE-20EC762AB4F0}" type="pres">
      <dgm:prSet presAssocID="{823CBCEC-AAD1-4091-AE8F-33B5DA22D1E4}" presName="spaceRect" presStyleCnt="0"/>
      <dgm:spPr/>
    </dgm:pt>
    <dgm:pt modelId="{8B382FA9-7DC6-43A9-902A-D5C437C2CD79}" type="pres">
      <dgm:prSet presAssocID="{823CBCEC-AAD1-4091-AE8F-33B5DA22D1E4}" presName="parTx" presStyleLbl="revTx" presStyleIdx="3" presStyleCnt="5">
        <dgm:presLayoutVars>
          <dgm:chMax val="0"/>
          <dgm:chPref val="0"/>
        </dgm:presLayoutVars>
      </dgm:prSet>
      <dgm:spPr/>
    </dgm:pt>
    <dgm:pt modelId="{D4CB18B8-54DF-4392-91F6-428F0631DE6B}" type="pres">
      <dgm:prSet presAssocID="{2BAE1401-2067-4EC4-9C76-C277A6369206}" presName="sibTrans" presStyleCnt="0"/>
      <dgm:spPr/>
    </dgm:pt>
    <dgm:pt modelId="{5E742015-6721-4BEA-8326-F20D00F93034}" type="pres">
      <dgm:prSet presAssocID="{C006B38A-4D46-4392-812F-193096776FB6}" presName="compNode" presStyleCnt="0"/>
      <dgm:spPr/>
    </dgm:pt>
    <dgm:pt modelId="{1E9C2F79-CE53-4E35-B347-16E367245CFD}" type="pres">
      <dgm:prSet presAssocID="{C006B38A-4D46-4392-812F-193096776FB6}" presName="bgRect" presStyleLbl="bgShp" presStyleIdx="4" presStyleCnt="5"/>
      <dgm:spPr/>
    </dgm:pt>
    <dgm:pt modelId="{14B334C7-9E62-4490-86B0-C88A0AB2DCF1}" type="pres">
      <dgm:prSet presAssocID="{C006B38A-4D46-4392-812F-193096776FB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oney"/>
        </a:ext>
      </dgm:extLst>
    </dgm:pt>
    <dgm:pt modelId="{F0C96A09-A98F-41B7-871E-A6922331DD88}" type="pres">
      <dgm:prSet presAssocID="{C006B38A-4D46-4392-812F-193096776FB6}" presName="spaceRect" presStyleCnt="0"/>
      <dgm:spPr/>
    </dgm:pt>
    <dgm:pt modelId="{33ADC75F-E27A-4C0E-A700-526DC60F469D}" type="pres">
      <dgm:prSet presAssocID="{C006B38A-4D46-4392-812F-193096776FB6}" presName="parTx" presStyleLbl="revTx" presStyleIdx="4" presStyleCnt="5">
        <dgm:presLayoutVars>
          <dgm:chMax val="0"/>
          <dgm:chPref val="0"/>
        </dgm:presLayoutVars>
      </dgm:prSet>
      <dgm:spPr/>
    </dgm:pt>
  </dgm:ptLst>
  <dgm:cxnLst>
    <dgm:cxn modelId="{FF7BB710-0067-40E4-A8C5-EB4240431B39}" srcId="{C9C7A7BD-312F-474B-8DBA-62310F0FACE2}" destId="{972593F2-74EA-4633-BF85-F4CD7DA7E53B}" srcOrd="1" destOrd="0" parTransId="{C21F5B62-F7CC-4E92-8DED-D6B93DD7CC29}" sibTransId="{858D3ABB-3C77-4E56-8367-03FCAC406123}"/>
    <dgm:cxn modelId="{78564913-2D99-4520-A1D9-7172A07D818C}" srcId="{C9C7A7BD-312F-474B-8DBA-62310F0FACE2}" destId="{CC7236D7-CE65-41F0-8922-CB6BAC8E109E}" srcOrd="0" destOrd="0" parTransId="{845EA3F5-81CE-4E1F-9323-9C1A1CB7CFAA}" sibTransId="{589F8FD5-73E0-4D35-8E76-0FF3AEF52EC5}"/>
    <dgm:cxn modelId="{B0E5B51F-B7BF-49E2-99DD-360D627B9E7B}" type="presOf" srcId="{C9C7A7BD-312F-474B-8DBA-62310F0FACE2}" destId="{93EFB75A-94B4-4027-9919-4EC3023BD768}" srcOrd="0" destOrd="0" presId="urn:microsoft.com/office/officeart/2018/2/layout/IconVerticalSolidList"/>
    <dgm:cxn modelId="{F8BCDB44-CCAB-44D1-AEB2-4D5A22A34B0A}" type="presOf" srcId="{59351A12-F9DF-4D37-B120-14FC7C955D58}" destId="{43BB70B9-22CB-4505-B5DC-A28A16B99411}" srcOrd="0" destOrd="0" presId="urn:microsoft.com/office/officeart/2018/2/layout/IconVerticalSolidList"/>
    <dgm:cxn modelId="{B249596E-5696-43EA-B0D5-F997F3F16118}" srcId="{C9C7A7BD-312F-474B-8DBA-62310F0FACE2}" destId="{823CBCEC-AAD1-4091-AE8F-33B5DA22D1E4}" srcOrd="3" destOrd="0" parTransId="{30C5F8F8-1C50-4913-8737-FAC18114839B}" sibTransId="{2BAE1401-2067-4EC4-9C76-C277A6369206}"/>
    <dgm:cxn modelId="{779E9583-6F72-45D4-9F7B-7D3B51E5A7F2}" type="presOf" srcId="{CC7236D7-CE65-41F0-8922-CB6BAC8E109E}" destId="{6A4BBD71-5381-41B4-BB91-F0BDE1652AC9}" srcOrd="0" destOrd="0" presId="urn:microsoft.com/office/officeart/2018/2/layout/IconVerticalSolidList"/>
    <dgm:cxn modelId="{4046EA91-EA71-4807-9EA7-45B619FC1DD9}" srcId="{C9C7A7BD-312F-474B-8DBA-62310F0FACE2}" destId="{C006B38A-4D46-4392-812F-193096776FB6}" srcOrd="4" destOrd="0" parTransId="{3BDC4AFA-C1CA-4A1C-B477-15A75745FE41}" sibTransId="{4FC97447-D8B7-48AA-82D4-642BE550A67D}"/>
    <dgm:cxn modelId="{11F05CAC-8060-43B0-927F-6098D99ED371}" type="presOf" srcId="{C006B38A-4D46-4392-812F-193096776FB6}" destId="{33ADC75F-E27A-4C0E-A700-526DC60F469D}" srcOrd="0" destOrd="0" presId="urn:microsoft.com/office/officeart/2018/2/layout/IconVerticalSolidList"/>
    <dgm:cxn modelId="{FD85EFBB-50CD-460D-8687-72BB05820D84}" srcId="{C9C7A7BD-312F-474B-8DBA-62310F0FACE2}" destId="{59351A12-F9DF-4D37-B120-14FC7C955D58}" srcOrd="2" destOrd="0" parTransId="{7D643799-D0DE-45E6-A7F2-AA86F127C947}" sibTransId="{786F4373-4388-4958-97E2-EB4FF204040F}"/>
    <dgm:cxn modelId="{8F92A0C3-745B-4AD8-8AC8-9EAB9754EBC3}" type="presOf" srcId="{823CBCEC-AAD1-4091-AE8F-33B5DA22D1E4}" destId="{8B382FA9-7DC6-43A9-902A-D5C437C2CD79}" srcOrd="0" destOrd="0" presId="urn:microsoft.com/office/officeart/2018/2/layout/IconVerticalSolidList"/>
    <dgm:cxn modelId="{A22636D8-9D85-4707-874E-889C9233B478}" type="presOf" srcId="{972593F2-74EA-4633-BF85-F4CD7DA7E53B}" destId="{3067897A-1583-4BE3-85C5-0BE6DEA40C5A}" srcOrd="0" destOrd="0" presId="urn:microsoft.com/office/officeart/2018/2/layout/IconVerticalSolidList"/>
    <dgm:cxn modelId="{27433CCC-DEB2-47E8-B26A-A9E9F2DFA4A2}" type="presParOf" srcId="{93EFB75A-94B4-4027-9919-4EC3023BD768}" destId="{ADB9DC6D-AA68-4F30-8AEF-ED555820AAE6}" srcOrd="0" destOrd="0" presId="urn:microsoft.com/office/officeart/2018/2/layout/IconVerticalSolidList"/>
    <dgm:cxn modelId="{80B3C518-163F-46FD-B890-DADC73ADC432}" type="presParOf" srcId="{ADB9DC6D-AA68-4F30-8AEF-ED555820AAE6}" destId="{C22B61F2-3BA6-4D6E-92FD-C03ABDC307E0}" srcOrd="0" destOrd="0" presId="urn:microsoft.com/office/officeart/2018/2/layout/IconVerticalSolidList"/>
    <dgm:cxn modelId="{F16092D5-2334-4F01-9051-9BCA79AE09EE}" type="presParOf" srcId="{ADB9DC6D-AA68-4F30-8AEF-ED555820AAE6}" destId="{CD8AF184-B4B7-4517-80D4-734AF4C7AFC2}" srcOrd="1" destOrd="0" presId="urn:microsoft.com/office/officeart/2018/2/layout/IconVerticalSolidList"/>
    <dgm:cxn modelId="{961CB560-D4B3-4720-A33D-9771C5122C85}" type="presParOf" srcId="{ADB9DC6D-AA68-4F30-8AEF-ED555820AAE6}" destId="{A10DB622-F73F-41F8-9909-0829ED73E71B}" srcOrd="2" destOrd="0" presId="urn:microsoft.com/office/officeart/2018/2/layout/IconVerticalSolidList"/>
    <dgm:cxn modelId="{7B03DAC4-B992-4850-9257-298E86494CF9}" type="presParOf" srcId="{ADB9DC6D-AA68-4F30-8AEF-ED555820AAE6}" destId="{6A4BBD71-5381-41B4-BB91-F0BDE1652AC9}" srcOrd="3" destOrd="0" presId="urn:microsoft.com/office/officeart/2018/2/layout/IconVerticalSolidList"/>
    <dgm:cxn modelId="{499B50F6-C2EE-4466-9794-485FFEB5AF80}" type="presParOf" srcId="{93EFB75A-94B4-4027-9919-4EC3023BD768}" destId="{132E9CEA-7473-4E19-B964-E2FB1321EA69}" srcOrd="1" destOrd="0" presId="urn:microsoft.com/office/officeart/2018/2/layout/IconVerticalSolidList"/>
    <dgm:cxn modelId="{32D4A987-4B9E-4A01-BB84-1C09A5BEED95}" type="presParOf" srcId="{93EFB75A-94B4-4027-9919-4EC3023BD768}" destId="{6BA23794-32BA-4EB9-B9EE-C3A2964DD4C4}" srcOrd="2" destOrd="0" presId="urn:microsoft.com/office/officeart/2018/2/layout/IconVerticalSolidList"/>
    <dgm:cxn modelId="{5F59F1FA-C96B-4762-95EC-E2D71DF81715}" type="presParOf" srcId="{6BA23794-32BA-4EB9-B9EE-C3A2964DD4C4}" destId="{886702D6-06D6-422E-8050-333FDA3F5A6D}" srcOrd="0" destOrd="0" presId="urn:microsoft.com/office/officeart/2018/2/layout/IconVerticalSolidList"/>
    <dgm:cxn modelId="{9DB306ED-9B26-4387-8108-9E4622612F74}" type="presParOf" srcId="{6BA23794-32BA-4EB9-B9EE-C3A2964DD4C4}" destId="{33312B0B-2CD5-4473-B0C9-A99B06BB4058}" srcOrd="1" destOrd="0" presId="urn:microsoft.com/office/officeart/2018/2/layout/IconVerticalSolidList"/>
    <dgm:cxn modelId="{24E0C768-FF30-4C27-9940-9AB740EBDDE9}" type="presParOf" srcId="{6BA23794-32BA-4EB9-B9EE-C3A2964DD4C4}" destId="{D0C7A270-F487-42A5-86B5-AD7420B5ABC5}" srcOrd="2" destOrd="0" presId="urn:microsoft.com/office/officeart/2018/2/layout/IconVerticalSolidList"/>
    <dgm:cxn modelId="{3DDDD45D-11B5-4EE0-BCCE-A49A086A640A}" type="presParOf" srcId="{6BA23794-32BA-4EB9-B9EE-C3A2964DD4C4}" destId="{3067897A-1583-4BE3-85C5-0BE6DEA40C5A}" srcOrd="3" destOrd="0" presId="urn:microsoft.com/office/officeart/2018/2/layout/IconVerticalSolidList"/>
    <dgm:cxn modelId="{EB6F5C5D-A3D8-4061-BD84-F8DFF20EC968}" type="presParOf" srcId="{93EFB75A-94B4-4027-9919-4EC3023BD768}" destId="{EC81EF0B-9BD1-4D34-8FB7-E863085E9DC8}" srcOrd="3" destOrd="0" presId="urn:microsoft.com/office/officeart/2018/2/layout/IconVerticalSolidList"/>
    <dgm:cxn modelId="{FCB10AC7-5959-41FF-A4D3-4873250F376F}" type="presParOf" srcId="{93EFB75A-94B4-4027-9919-4EC3023BD768}" destId="{C10E42B8-7F8E-4D6E-99D0-579562DC71B1}" srcOrd="4" destOrd="0" presId="urn:microsoft.com/office/officeart/2018/2/layout/IconVerticalSolidList"/>
    <dgm:cxn modelId="{CF4657D2-7352-45C5-B05C-DBC6F80B5CC5}" type="presParOf" srcId="{C10E42B8-7F8E-4D6E-99D0-579562DC71B1}" destId="{8C6E5E4F-362F-40DB-98F3-BA6635EA2404}" srcOrd="0" destOrd="0" presId="urn:microsoft.com/office/officeart/2018/2/layout/IconVerticalSolidList"/>
    <dgm:cxn modelId="{86FA55B4-C5D8-4672-B337-FC6D64087F11}" type="presParOf" srcId="{C10E42B8-7F8E-4D6E-99D0-579562DC71B1}" destId="{FB653435-01AE-44D3-B473-20DA63D2EF16}" srcOrd="1" destOrd="0" presId="urn:microsoft.com/office/officeart/2018/2/layout/IconVerticalSolidList"/>
    <dgm:cxn modelId="{D10690DC-F30F-4567-ABA5-D8417A45C381}" type="presParOf" srcId="{C10E42B8-7F8E-4D6E-99D0-579562DC71B1}" destId="{8670527D-3BBF-4299-B470-6583D7DEEFB7}" srcOrd="2" destOrd="0" presId="urn:microsoft.com/office/officeart/2018/2/layout/IconVerticalSolidList"/>
    <dgm:cxn modelId="{5B07B5D4-56DD-4E1C-B3BB-569059239C13}" type="presParOf" srcId="{C10E42B8-7F8E-4D6E-99D0-579562DC71B1}" destId="{43BB70B9-22CB-4505-B5DC-A28A16B99411}" srcOrd="3" destOrd="0" presId="urn:microsoft.com/office/officeart/2018/2/layout/IconVerticalSolidList"/>
    <dgm:cxn modelId="{D9D08BF8-7304-49F2-97C9-3660CB4BF510}" type="presParOf" srcId="{93EFB75A-94B4-4027-9919-4EC3023BD768}" destId="{920CF7D7-AF2D-422A-A8B7-764E9C17040E}" srcOrd="5" destOrd="0" presId="urn:microsoft.com/office/officeart/2018/2/layout/IconVerticalSolidList"/>
    <dgm:cxn modelId="{C223990A-52F5-4BF9-A2A8-BA89EE858B8F}" type="presParOf" srcId="{93EFB75A-94B4-4027-9919-4EC3023BD768}" destId="{E0E7204B-07FA-4038-95F7-F330E73B9CD6}" srcOrd="6" destOrd="0" presId="urn:microsoft.com/office/officeart/2018/2/layout/IconVerticalSolidList"/>
    <dgm:cxn modelId="{422FB469-A8B9-47D8-B500-A23B0922FF95}" type="presParOf" srcId="{E0E7204B-07FA-4038-95F7-F330E73B9CD6}" destId="{E85F6EA9-A155-4AAC-B9A8-C9422A2147D1}" srcOrd="0" destOrd="0" presId="urn:microsoft.com/office/officeart/2018/2/layout/IconVerticalSolidList"/>
    <dgm:cxn modelId="{291AFD81-318C-47C0-BC2A-10E1FE68DE00}" type="presParOf" srcId="{E0E7204B-07FA-4038-95F7-F330E73B9CD6}" destId="{9DF80027-1003-4247-BB8C-E61DC696133B}" srcOrd="1" destOrd="0" presId="urn:microsoft.com/office/officeart/2018/2/layout/IconVerticalSolidList"/>
    <dgm:cxn modelId="{196277E0-286F-41CB-8C25-AE5BA4B67AAB}" type="presParOf" srcId="{E0E7204B-07FA-4038-95F7-F330E73B9CD6}" destId="{52487E90-E92C-47E5-9BBE-20EC762AB4F0}" srcOrd="2" destOrd="0" presId="urn:microsoft.com/office/officeart/2018/2/layout/IconVerticalSolidList"/>
    <dgm:cxn modelId="{36BF18D7-113E-4FCE-B919-95234B2FB3B4}" type="presParOf" srcId="{E0E7204B-07FA-4038-95F7-F330E73B9CD6}" destId="{8B382FA9-7DC6-43A9-902A-D5C437C2CD79}" srcOrd="3" destOrd="0" presId="urn:microsoft.com/office/officeart/2018/2/layout/IconVerticalSolidList"/>
    <dgm:cxn modelId="{11124008-59D8-49CD-AF97-E14050B32BD5}" type="presParOf" srcId="{93EFB75A-94B4-4027-9919-4EC3023BD768}" destId="{D4CB18B8-54DF-4392-91F6-428F0631DE6B}" srcOrd="7" destOrd="0" presId="urn:microsoft.com/office/officeart/2018/2/layout/IconVerticalSolidList"/>
    <dgm:cxn modelId="{12D9CE8E-87B3-4E33-BE3C-D6E92870CAB6}" type="presParOf" srcId="{93EFB75A-94B4-4027-9919-4EC3023BD768}" destId="{5E742015-6721-4BEA-8326-F20D00F93034}" srcOrd="8" destOrd="0" presId="urn:microsoft.com/office/officeart/2018/2/layout/IconVerticalSolidList"/>
    <dgm:cxn modelId="{CE588344-0F62-42CA-90DD-F387DA735F73}" type="presParOf" srcId="{5E742015-6721-4BEA-8326-F20D00F93034}" destId="{1E9C2F79-CE53-4E35-B347-16E367245CFD}" srcOrd="0" destOrd="0" presId="urn:microsoft.com/office/officeart/2018/2/layout/IconVerticalSolidList"/>
    <dgm:cxn modelId="{966D9C77-8528-4620-804A-616C72D58B30}" type="presParOf" srcId="{5E742015-6721-4BEA-8326-F20D00F93034}" destId="{14B334C7-9E62-4490-86B0-C88A0AB2DCF1}" srcOrd="1" destOrd="0" presId="urn:microsoft.com/office/officeart/2018/2/layout/IconVerticalSolidList"/>
    <dgm:cxn modelId="{F80AB533-7815-4D36-AB11-831514907084}" type="presParOf" srcId="{5E742015-6721-4BEA-8326-F20D00F93034}" destId="{F0C96A09-A98F-41B7-871E-A6922331DD88}" srcOrd="2" destOrd="0" presId="urn:microsoft.com/office/officeart/2018/2/layout/IconVerticalSolidList"/>
    <dgm:cxn modelId="{B7DDBC0F-EDB7-4E3E-9B94-F08837CBF407}" type="presParOf" srcId="{5E742015-6721-4BEA-8326-F20D00F93034}" destId="{33ADC75F-E27A-4C0E-A700-526DC60F469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98D806-000A-4798-A953-C936BDCFF91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0EB4535-D19E-429D-9959-47959C3FE342}">
      <dgm:prSet/>
      <dgm:spPr/>
      <dgm:t>
        <a:bodyPr/>
        <a:lstStyle/>
        <a:p>
          <a:r>
            <a:rPr lang="en-US"/>
            <a:t>A model of an economy where an independent </a:t>
          </a:r>
          <a:r>
            <a:rPr lang="en-US" b="1"/>
            <a:t>central bank </a:t>
          </a:r>
          <a:r>
            <a:rPr lang="en-US"/>
            <a:t>sets the policy interest rate in response to shocks with the objective of keeping inflation reasonably close to target. </a:t>
          </a:r>
        </a:p>
      </dgm:t>
    </dgm:pt>
    <dgm:pt modelId="{07FEB97B-E8B4-431A-8D64-10BD936D26A2}" type="parTrans" cxnId="{79215CC5-DA6C-48AD-BD3E-752FA68F0293}">
      <dgm:prSet/>
      <dgm:spPr/>
      <dgm:t>
        <a:bodyPr/>
        <a:lstStyle/>
        <a:p>
          <a:endParaRPr lang="en-US"/>
        </a:p>
      </dgm:t>
    </dgm:pt>
    <dgm:pt modelId="{C0C13FF8-C0BA-4EEF-8AEB-191D66887D86}" type="sibTrans" cxnId="{79215CC5-DA6C-48AD-BD3E-752FA68F0293}">
      <dgm:prSet/>
      <dgm:spPr/>
      <dgm:t>
        <a:bodyPr/>
        <a:lstStyle/>
        <a:p>
          <a:endParaRPr lang="en-US"/>
        </a:p>
      </dgm:t>
    </dgm:pt>
    <dgm:pt modelId="{411F2537-8AED-4350-A864-C0C151EF40BD}">
      <dgm:prSet/>
      <dgm:spPr/>
      <dgm:t>
        <a:bodyPr/>
        <a:lstStyle/>
        <a:p>
          <a:r>
            <a:rPr lang="en-US"/>
            <a:t>The ultimate determinant of inflation is the central bank’s </a:t>
          </a:r>
          <a:r>
            <a:rPr lang="en-US" b="1"/>
            <a:t>target inflation rate</a:t>
          </a:r>
          <a:r>
            <a:rPr lang="en-US"/>
            <a:t>. The central bank adjusts the interest rate to alter </a:t>
          </a:r>
          <a:r>
            <a:rPr lang="en-US" b="1"/>
            <a:t>aggregate demand</a:t>
          </a:r>
          <a:r>
            <a:rPr lang="en-US"/>
            <a:t>, so as to keep unemployment close to equilibrium, where inflation is constant. </a:t>
          </a:r>
        </a:p>
      </dgm:t>
    </dgm:pt>
    <dgm:pt modelId="{7C72FD2C-AD9A-474D-AC27-22E9C938EC6B}" type="parTrans" cxnId="{2EB74362-E999-4085-9CC0-6EE3D0B55CD4}">
      <dgm:prSet/>
      <dgm:spPr/>
      <dgm:t>
        <a:bodyPr/>
        <a:lstStyle/>
        <a:p>
          <a:endParaRPr lang="en-US"/>
        </a:p>
      </dgm:t>
    </dgm:pt>
    <dgm:pt modelId="{A50C6DA7-183A-42EC-82C3-E341ED0AB7BD}" type="sibTrans" cxnId="{2EB74362-E999-4085-9CC0-6EE3D0B55CD4}">
      <dgm:prSet/>
      <dgm:spPr/>
      <dgm:t>
        <a:bodyPr/>
        <a:lstStyle/>
        <a:p>
          <a:endParaRPr lang="en-US"/>
        </a:p>
      </dgm:t>
    </dgm:pt>
    <dgm:pt modelId="{C894800B-F912-49C6-88C7-5F3AD94FF7C1}">
      <dgm:prSet/>
      <dgm:spPr/>
      <dgm:t>
        <a:bodyPr/>
        <a:lstStyle/>
        <a:p>
          <a:r>
            <a:rPr lang="en-US"/>
            <a:t>To the extent that it is perceived as successful in pursuing the inflation target, this can help to </a:t>
          </a:r>
          <a:r>
            <a:rPr lang="en-US" b="1"/>
            <a:t>anchor inflation expectations</a:t>
          </a:r>
          <a:r>
            <a:rPr lang="en-US"/>
            <a:t>, and thereby reduce the output and employment costs of getting inflation under control.</a:t>
          </a:r>
        </a:p>
      </dgm:t>
    </dgm:pt>
    <dgm:pt modelId="{F4514D2A-B54C-447C-B0EF-9214FC03B7EE}" type="parTrans" cxnId="{AF8362BF-7546-457F-A2EB-66B709AC7874}">
      <dgm:prSet/>
      <dgm:spPr/>
      <dgm:t>
        <a:bodyPr/>
        <a:lstStyle/>
        <a:p>
          <a:endParaRPr lang="en-US"/>
        </a:p>
      </dgm:t>
    </dgm:pt>
    <dgm:pt modelId="{CBCD5FF2-2C50-4FB3-BF68-AA2A4B82DB26}" type="sibTrans" cxnId="{AF8362BF-7546-457F-A2EB-66B709AC7874}">
      <dgm:prSet/>
      <dgm:spPr/>
      <dgm:t>
        <a:bodyPr/>
        <a:lstStyle/>
        <a:p>
          <a:endParaRPr lang="en-US"/>
        </a:p>
      </dgm:t>
    </dgm:pt>
    <dgm:pt modelId="{0DA15DBF-1E5D-4725-9E98-D67C036A5689}" type="pres">
      <dgm:prSet presAssocID="{AC98D806-000A-4798-A953-C936BDCFF91C}" presName="root" presStyleCnt="0">
        <dgm:presLayoutVars>
          <dgm:dir/>
          <dgm:resizeHandles val="exact"/>
        </dgm:presLayoutVars>
      </dgm:prSet>
      <dgm:spPr/>
    </dgm:pt>
    <dgm:pt modelId="{15553F57-6DEC-4CCD-B1C4-57E75FCC3FBF}" type="pres">
      <dgm:prSet presAssocID="{60EB4535-D19E-429D-9959-47959C3FE342}" presName="compNode" presStyleCnt="0"/>
      <dgm:spPr/>
    </dgm:pt>
    <dgm:pt modelId="{6456D31D-5A6E-4136-BEED-1D937969876E}" type="pres">
      <dgm:prSet presAssocID="{60EB4535-D19E-429D-9959-47959C3FE342}" presName="bgRect" presStyleLbl="bgShp" presStyleIdx="0" presStyleCnt="3"/>
      <dgm:spPr/>
    </dgm:pt>
    <dgm:pt modelId="{D000C157-7B87-4123-ABC7-13F81C79AD0A}" type="pres">
      <dgm:prSet presAssocID="{60EB4535-D19E-429D-9959-47959C3FE34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66871C66-CB71-4E47-88FD-03BA90970E1E}" type="pres">
      <dgm:prSet presAssocID="{60EB4535-D19E-429D-9959-47959C3FE342}" presName="spaceRect" presStyleCnt="0"/>
      <dgm:spPr/>
    </dgm:pt>
    <dgm:pt modelId="{BA962F04-CB7B-41B9-8096-7B18257327AC}" type="pres">
      <dgm:prSet presAssocID="{60EB4535-D19E-429D-9959-47959C3FE342}" presName="parTx" presStyleLbl="revTx" presStyleIdx="0" presStyleCnt="3">
        <dgm:presLayoutVars>
          <dgm:chMax val="0"/>
          <dgm:chPref val="0"/>
        </dgm:presLayoutVars>
      </dgm:prSet>
      <dgm:spPr/>
    </dgm:pt>
    <dgm:pt modelId="{6A537218-C7C1-4600-81AC-7C5DB2922620}" type="pres">
      <dgm:prSet presAssocID="{C0C13FF8-C0BA-4EEF-8AEB-191D66887D86}" presName="sibTrans" presStyleCnt="0"/>
      <dgm:spPr/>
    </dgm:pt>
    <dgm:pt modelId="{B6FB3F47-6814-4547-8DE1-47F5133E366A}" type="pres">
      <dgm:prSet presAssocID="{411F2537-8AED-4350-A864-C0C151EF40BD}" presName="compNode" presStyleCnt="0"/>
      <dgm:spPr/>
    </dgm:pt>
    <dgm:pt modelId="{CACBBB58-8BD1-443D-9E96-75B3E7161248}" type="pres">
      <dgm:prSet presAssocID="{411F2537-8AED-4350-A864-C0C151EF40BD}" presName="bgRect" presStyleLbl="bgShp" presStyleIdx="1" presStyleCnt="3"/>
      <dgm:spPr/>
    </dgm:pt>
    <dgm:pt modelId="{FF5C96C0-FEF6-41AB-AFC3-668FD644E32C}" type="pres">
      <dgm:prSet presAssocID="{411F2537-8AED-4350-A864-C0C151EF40B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1DA76ACE-8E66-4152-AAFD-169B7055BF25}" type="pres">
      <dgm:prSet presAssocID="{411F2537-8AED-4350-A864-C0C151EF40BD}" presName="spaceRect" presStyleCnt="0"/>
      <dgm:spPr/>
    </dgm:pt>
    <dgm:pt modelId="{EAD3EB23-425A-42FE-A57C-FB0CA6458330}" type="pres">
      <dgm:prSet presAssocID="{411F2537-8AED-4350-A864-C0C151EF40BD}" presName="parTx" presStyleLbl="revTx" presStyleIdx="1" presStyleCnt="3">
        <dgm:presLayoutVars>
          <dgm:chMax val="0"/>
          <dgm:chPref val="0"/>
        </dgm:presLayoutVars>
      </dgm:prSet>
      <dgm:spPr/>
    </dgm:pt>
    <dgm:pt modelId="{EC2D7D28-F9BB-491A-87E7-1E906E4552BD}" type="pres">
      <dgm:prSet presAssocID="{A50C6DA7-183A-42EC-82C3-E341ED0AB7BD}" presName="sibTrans" presStyleCnt="0"/>
      <dgm:spPr/>
    </dgm:pt>
    <dgm:pt modelId="{6FB43B9F-2EBD-4B0B-9BA3-EA0476AFF324}" type="pres">
      <dgm:prSet presAssocID="{C894800B-F912-49C6-88C7-5F3AD94FF7C1}" presName="compNode" presStyleCnt="0"/>
      <dgm:spPr/>
    </dgm:pt>
    <dgm:pt modelId="{B2BAF45D-FE64-4783-A3F5-F67A03EB5F7E}" type="pres">
      <dgm:prSet presAssocID="{C894800B-F912-49C6-88C7-5F3AD94FF7C1}" presName="bgRect" presStyleLbl="bgShp" presStyleIdx="2" presStyleCnt="3"/>
      <dgm:spPr/>
    </dgm:pt>
    <dgm:pt modelId="{BB0E1689-B322-48C5-8B48-ABF880C14024}" type="pres">
      <dgm:prSet presAssocID="{C894800B-F912-49C6-88C7-5F3AD94FF7C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nchor"/>
        </a:ext>
      </dgm:extLst>
    </dgm:pt>
    <dgm:pt modelId="{3C53E35C-E7F9-4948-BEED-41206901508B}" type="pres">
      <dgm:prSet presAssocID="{C894800B-F912-49C6-88C7-5F3AD94FF7C1}" presName="spaceRect" presStyleCnt="0"/>
      <dgm:spPr/>
    </dgm:pt>
    <dgm:pt modelId="{03A8174C-7252-4E50-82E1-4DC53C44818C}" type="pres">
      <dgm:prSet presAssocID="{C894800B-F912-49C6-88C7-5F3AD94FF7C1}" presName="parTx" presStyleLbl="revTx" presStyleIdx="2" presStyleCnt="3">
        <dgm:presLayoutVars>
          <dgm:chMax val="0"/>
          <dgm:chPref val="0"/>
        </dgm:presLayoutVars>
      </dgm:prSet>
      <dgm:spPr/>
    </dgm:pt>
  </dgm:ptLst>
  <dgm:cxnLst>
    <dgm:cxn modelId="{2EB74362-E999-4085-9CC0-6EE3D0B55CD4}" srcId="{AC98D806-000A-4798-A953-C936BDCFF91C}" destId="{411F2537-8AED-4350-A864-C0C151EF40BD}" srcOrd="1" destOrd="0" parTransId="{7C72FD2C-AD9A-474D-AC27-22E9C938EC6B}" sibTransId="{A50C6DA7-183A-42EC-82C3-E341ED0AB7BD}"/>
    <dgm:cxn modelId="{FE6FD044-27CE-4911-8B2A-A4FF03895C75}" type="presOf" srcId="{411F2537-8AED-4350-A864-C0C151EF40BD}" destId="{EAD3EB23-425A-42FE-A57C-FB0CA6458330}" srcOrd="0" destOrd="0" presId="urn:microsoft.com/office/officeart/2018/2/layout/IconVerticalSolidList"/>
    <dgm:cxn modelId="{03999247-C8E3-4C55-8C6B-731F2C94EB65}" type="presOf" srcId="{AC98D806-000A-4798-A953-C936BDCFF91C}" destId="{0DA15DBF-1E5D-4725-9E98-D67C036A5689}" srcOrd="0" destOrd="0" presId="urn:microsoft.com/office/officeart/2018/2/layout/IconVerticalSolidList"/>
    <dgm:cxn modelId="{AF8362BF-7546-457F-A2EB-66B709AC7874}" srcId="{AC98D806-000A-4798-A953-C936BDCFF91C}" destId="{C894800B-F912-49C6-88C7-5F3AD94FF7C1}" srcOrd="2" destOrd="0" parTransId="{F4514D2A-B54C-447C-B0EF-9214FC03B7EE}" sibTransId="{CBCD5FF2-2C50-4FB3-BF68-AA2A4B82DB26}"/>
    <dgm:cxn modelId="{79215CC5-DA6C-48AD-BD3E-752FA68F0293}" srcId="{AC98D806-000A-4798-A953-C936BDCFF91C}" destId="{60EB4535-D19E-429D-9959-47959C3FE342}" srcOrd="0" destOrd="0" parTransId="{07FEB97B-E8B4-431A-8D64-10BD936D26A2}" sibTransId="{C0C13FF8-C0BA-4EEF-8AEB-191D66887D86}"/>
    <dgm:cxn modelId="{42ECE5D4-EB35-47BA-A661-3C224FD53E3F}" type="presOf" srcId="{60EB4535-D19E-429D-9959-47959C3FE342}" destId="{BA962F04-CB7B-41B9-8096-7B18257327AC}" srcOrd="0" destOrd="0" presId="urn:microsoft.com/office/officeart/2018/2/layout/IconVerticalSolidList"/>
    <dgm:cxn modelId="{604FA3DD-C4A1-49A8-BCD7-D4F0A118B981}" type="presOf" srcId="{C894800B-F912-49C6-88C7-5F3AD94FF7C1}" destId="{03A8174C-7252-4E50-82E1-4DC53C44818C}" srcOrd="0" destOrd="0" presId="urn:microsoft.com/office/officeart/2018/2/layout/IconVerticalSolidList"/>
    <dgm:cxn modelId="{C46FE212-7238-481C-833E-F48263D75404}" type="presParOf" srcId="{0DA15DBF-1E5D-4725-9E98-D67C036A5689}" destId="{15553F57-6DEC-4CCD-B1C4-57E75FCC3FBF}" srcOrd="0" destOrd="0" presId="urn:microsoft.com/office/officeart/2018/2/layout/IconVerticalSolidList"/>
    <dgm:cxn modelId="{421D0F82-5193-48F8-8EF5-26ECB22E7D18}" type="presParOf" srcId="{15553F57-6DEC-4CCD-B1C4-57E75FCC3FBF}" destId="{6456D31D-5A6E-4136-BEED-1D937969876E}" srcOrd="0" destOrd="0" presId="urn:microsoft.com/office/officeart/2018/2/layout/IconVerticalSolidList"/>
    <dgm:cxn modelId="{A3AD954A-64D8-496B-B902-74A4E4C90C3E}" type="presParOf" srcId="{15553F57-6DEC-4CCD-B1C4-57E75FCC3FBF}" destId="{D000C157-7B87-4123-ABC7-13F81C79AD0A}" srcOrd="1" destOrd="0" presId="urn:microsoft.com/office/officeart/2018/2/layout/IconVerticalSolidList"/>
    <dgm:cxn modelId="{686FF107-8A41-468D-99E2-BA4C68DCB015}" type="presParOf" srcId="{15553F57-6DEC-4CCD-B1C4-57E75FCC3FBF}" destId="{66871C66-CB71-4E47-88FD-03BA90970E1E}" srcOrd="2" destOrd="0" presId="urn:microsoft.com/office/officeart/2018/2/layout/IconVerticalSolidList"/>
    <dgm:cxn modelId="{931E91CF-F42E-4CC0-925B-53BC527E376B}" type="presParOf" srcId="{15553F57-6DEC-4CCD-B1C4-57E75FCC3FBF}" destId="{BA962F04-CB7B-41B9-8096-7B18257327AC}" srcOrd="3" destOrd="0" presId="urn:microsoft.com/office/officeart/2018/2/layout/IconVerticalSolidList"/>
    <dgm:cxn modelId="{412A9834-A1DF-4CDC-ADB8-290380209262}" type="presParOf" srcId="{0DA15DBF-1E5D-4725-9E98-D67C036A5689}" destId="{6A537218-C7C1-4600-81AC-7C5DB2922620}" srcOrd="1" destOrd="0" presId="urn:microsoft.com/office/officeart/2018/2/layout/IconVerticalSolidList"/>
    <dgm:cxn modelId="{A1E6DE4E-B07F-445D-9267-65226C502FB2}" type="presParOf" srcId="{0DA15DBF-1E5D-4725-9E98-D67C036A5689}" destId="{B6FB3F47-6814-4547-8DE1-47F5133E366A}" srcOrd="2" destOrd="0" presId="urn:microsoft.com/office/officeart/2018/2/layout/IconVerticalSolidList"/>
    <dgm:cxn modelId="{AE80E85F-4518-4301-BDA4-90BF9B22432D}" type="presParOf" srcId="{B6FB3F47-6814-4547-8DE1-47F5133E366A}" destId="{CACBBB58-8BD1-443D-9E96-75B3E7161248}" srcOrd="0" destOrd="0" presId="urn:microsoft.com/office/officeart/2018/2/layout/IconVerticalSolidList"/>
    <dgm:cxn modelId="{77803681-E96F-4497-8C9A-BC2E8FFF9244}" type="presParOf" srcId="{B6FB3F47-6814-4547-8DE1-47F5133E366A}" destId="{FF5C96C0-FEF6-41AB-AFC3-668FD644E32C}" srcOrd="1" destOrd="0" presId="urn:microsoft.com/office/officeart/2018/2/layout/IconVerticalSolidList"/>
    <dgm:cxn modelId="{9ED7E09F-9C05-4556-A48B-6B1E799B07ED}" type="presParOf" srcId="{B6FB3F47-6814-4547-8DE1-47F5133E366A}" destId="{1DA76ACE-8E66-4152-AAFD-169B7055BF25}" srcOrd="2" destOrd="0" presId="urn:microsoft.com/office/officeart/2018/2/layout/IconVerticalSolidList"/>
    <dgm:cxn modelId="{B63245B1-1C76-41F9-9231-130409FFB34A}" type="presParOf" srcId="{B6FB3F47-6814-4547-8DE1-47F5133E366A}" destId="{EAD3EB23-425A-42FE-A57C-FB0CA6458330}" srcOrd="3" destOrd="0" presId="urn:microsoft.com/office/officeart/2018/2/layout/IconVerticalSolidList"/>
    <dgm:cxn modelId="{E81EEE7E-AC7E-40AA-86A7-C9D1215D6194}" type="presParOf" srcId="{0DA15DBF-1E5D-4725-9E98-D67C036A5689}" destId="{EC2D7D28-F9BB-491A-87E7-1E906E4552BD}" srcOrd="3" destOrd="0" presId="urn:microsoft.com/office/officeart/2018/2/layout/IconVerticalSolidList"/>
    <dgm:cxn modelId="{56909A95-DA56-4300-AE5B-6083E0A1201E}" type="presParOf" srcId="{0DA15DBF-1E5D-4725-9E98-D67C036A5689}" destId="{6FB43B9F-2EBD-4B0B-9BA3-EA0476AFF324}" srcOrd="4" destOrd="0" presId="urn:microsoft.com/office/officeart/2018/2/layout/IconVerticalSolidList"/>
    <dgm:cxn modelId="{FC73E483-3D42-484A-B65D-060509311BDD}" type="presParOf" srcId="{6FB43B9F-2EBD-4B0B-9BA3-EA0476AFF324}" destId="{B2BAF45D-FE64-4783-A3F5-F67A03EB5F7E}" srcOrd="0" destOrd="0" presId="urn:microsoft.com/office/officeart/2018/2/layout/IconVerticalSolidList"/>
    <dgm:cxn modelId="{0A4FED2E-587C-43D4-A97E-1393AD570437}" type="presParOf" srcId="{6FB43B9F-2EBD-4B0B-9BA3-EA0476AFF324}" destId="{BB0E1689-B322-48C5-8B48-ABF880C14024}" srcOrd="1" destOrd="0" presId="urn:microsoft.com/office/officeart/2018/2/layout/IconVerticalSolidList"/>
    <dgm:cxn modelId="{DB2F8BAD-1BE7-4130-8B49-B9635BA399A3}" type="presParOf" srcId="{6FB43B9F-2EBD-4B0B-9BA3-EA0476AFF324}" destId="{3C53E35C-E7F9-4948-BEED-41206901508B}" srcOrd="2" destOrd="0" presId="urn:microsoft.com/office/officeart/2018/2/layout/IconVerticalSolidList"/>
    <dgm:cxn modelId="{B19B070F-2CA7-4EF8-8CD1-A5F839742E0F}" type="presParOf" srcId="{6FB43B9F-2EBD-4B0B-9BA3-EA0476AFF324}" destId="{03A8174C-7252-4E50-82E1-4DC53C44818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5584642-53D3-43F3-93E6-38097F4E540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632FEAA-67D9-4E26-8B04-B8F664F6D606}">
      <dgm:prSet/>
      <dgm:spPr/>
      <dgm:t>
        <a:bodyPr/>
        <a:lstStyle/>
        <a:p>
          <a:pPr>
            <a:lnSpc>
              <a:spcPct val="100000"/>
            </a:lnSpc>
          </a:pPr>
          <a:r>
            <a:rPr lang="en-US"/>
            <a:t>Taking the </a:t>
          </a:r>
          <a:r>
            <a:rPr lang="en-US" b="1"/>
            <a:t>foreign price level </a:t>
          </a:r>
          <a:r>
            <a:rPr lang="en-US" b="1" i="1"/>
            <a:t>P*</a:t>
          </a:r>
          <a:r>
            <a:rPr lang="en-US" b="1"/>
            <a:t> </a:t>
          </a:r>
          <a:r>
            <a:rPr lang="en-US"/>
            <a:t>as given, the formula tells us that there are two ways the real exchange rate can change in a flexible exchange rate regime: either through domestic inflation, or through changes in the nominal exchange rate.</a:t>
          </a:r>
        </a:p>
      </dgm:t>
    </dgm:pt>
    <dgm:pt modelId="{0B3987D3-C0F1-4DD2-865C-DD8093FCB54C}" type="parTrans" cxnId="{CFA8D489-B074-4FD2-ACBE-4F7125EB5A74}">
      <dgm:prSet/>
      <dgm:spPr/>
      <dgm:t>
        <a:bodyPr/>
        <a:lstStyle/>
        <a:p>
          <a:endParaRPr lang="en-US"/>
        </a:p>
      </dgm:t>
    </dgm:pt>
    <dgm:pt modelId="{C33CE9BF-B65E-4805-A949-C949A40BD3AD}" type="sibTrans" cxnId="{CFA8D489-B074-4FD2-ACBE-4F7125EB5A74}">
      <dgm:prSet/>
      <dgm:spPr/>
      <dgm:t>
        <a:bodyPr/>
        <a:lstStyle/>
        <a:p>
          <a:endParaRPr lang="en-US"/>
        </a:p>
      </dgm:t>
    </dgm:pt>
    <dgm:pt modelId="{FE6A13E2-06AA-456E-98E2-026465AC5D87}">
      <dgm:prSet/>
      <dgm:spPr/>
      <dgm:t>
        <a:bodyPr/>
        <a:lstStyle/>
        <a:p>
          <a:pPr>
            <a:lnSpc>
              <a:spcPct val="100000"/>
            </a:lnSpc>
          </a:pPr>
          <a:r>
            <a:rPr lang="en-US"/>
            <a:t>With </a:t>
          </a:r>
          <a:r>
            <a:rPr lang="en-US" i="1"/>
            <a:t>FlexIT</a:t>
          </a:r>
          <a:r>
            <a:rPr lang="en-US"/>
            <a:t> regimes in both the domestic and foreign countries, if they had similar inflation targets and get close to those targets, then </a:t>
          </a:r>
          <a:r>
            <a:rPr lang="en-US" i="1"/>
            <a:t>P </a:t>
          </a:r>
          <a:r>
            <a:rPr lang="en-US"/>
            <a:t>would change at approximately the same rate as </a:t>
          </a:r>
          <a:r>
            <a:rPr lang="en-US" i="1"/>
            <a:t>P</a:t>
          </a:r>
          <a:r>
            <a:rPr lang="en-US"/>
            <a:t>*, so the price ratio </a:t>
          </a:r>
          <a:r>
            <a:rPr lang="en-US" i="1"/>
            <a:t>P</a:t>
          </a:r>
          <a:r>
            <a:rPr lang="en-US"/>
            <a:t>*/</a:t>
          </a:r>
          <a:r>
            <a:rPr lang="en-US" i="1"/>
            <a:t>P</a:t>
          </a:r>
          <a:r>
            <a:rPr lang="en-US"/>
            <a:t> would be reasonably stable. </a:t>
          </a:r>
        </a:p>
      </dgm:t>
    </dgm:pt>
    <dgm:pt modelId="{312CCE65-5D7D-4117-A406-B451F6338A14}" type="parTrans" cxnId="{8312EB3C-AC13-4ABD-98BC-B5F4895E99EC}">
      <dgm:prSet/>
      <dgm:spPr/>
      <dgm:t>
        <a:bodyPr/>
        <a:lstStyle/>
        <a:p>
          <a:endParaRPr lang="en-US"/>
        </a:p>
      </dgm:t>
    </dgm:pt>
    <dgm:pt modelId="{83C0B68E-056C-4148-A339-25230150F440}" type="sibTrans" cxnId="{8312EB3C-AC13-4ABD-98BC-B5F4895E99EC}">
      <dgm:prSet/>
      <dgm:spPr/>
      <dgm:t>
        <a:bodyPr/>
        <a:lstStyle/>
        <a:p>
          <a:endParaRPr lang="en-US"/>
        </a:p>
      </dgm:t>
    </dgm:pt>
    <dgm:pt modelId="{35ED4021-435B-42FD-A8F6-EF254E397B3A}">
      <dgm:prSet/>
      <dgm:spPr/>
      <dgm:t>
        <a:bodyPr/>
        <a:lstStyle/>
        <a:p>
          <a:pPr>
            <a:lnSpc>
              <a:spcPct val="100000"/>
            </a:lnSpc>
          </a:pPr>
          <a:r>
            <a:rPr lang="en-US"/>
            <a:t>As a result, in a </a:t>
          </a:r>
          <a:r>
            <a:rPr lang="en-US" i="1"/>
            <a:t>FlexIT</a:t>
          </a:r>
          <a:r>
            <a:rPr lang="en-US"/>
            <a:t> economy, a change in the </a:t>
          </a:r>
          <a:r>
            <a:rPr lang="en-US" b="1"/>
            <a:t>nominal exchange rate, </a:t>
          </a:r>
          <a:r>
            <a:rPr lang="en-US" b="1" i="1"/>
            <a:t>e</a:t>
          </a:r>
          <a:r>
            <a:rPr lang="en-US" b="1"/>
            <a:t>,</a:t>
          </a:r>
          <a:r>
            <a:rPr lang="en-US" b="1" i="1"/>
            <a:t> </a:t>
          </a:r>
          <a:r>
            <a:rPr lang="en-US"/>
            <a:t>typically translates into a similar proportional change in the </a:t>
          </a:r>
          <a:r>
            <a:rPr lang="en-US" b="1"/>
            <a:t>real exchange rate, </a:t>
          </a:r>
          <a:r>
            <a:rPr lang="en-US" b="1" i="1"/>
            <a:t>c</a:t>
          </a:r>
          <a:r>
            <a:rPr lang="en-US"/>
            <a:t>.</a:t>
          </a:r>
        </a:p>
      </dgm:t>
    </dgm:pt>
    <dgm:pt modelId="{F036ECCF-2DA8-4240-A6B3-29E9EF60EABC}" type="parTrans" cxnId="{2C251B93-C838-4D28-8DAA-7E098710E821}">
      <dgm:prSet/>
      <dgm:spPr/>
      <dgm:t>
        <a:bodyPr/>
        <a:lstStyle/>
        <a:p>
          <a:endParaRPr lang="en-US"/>
        </a:p>
      </dgm:t>
    </dgm:pt>
    <dgm:pt modelId="{8D8C3409-FC03-4EE4-8818-AB54BACB734A}" type="sibTrans" cxnId="{2C251B93-C838-4D28-8DAA-7E098710E821}">
      <dgm:prSet/>
      <dgm:spPr/>
      <dgm:t>
        <a:bodyPr/>
        <a:lstStyle/>
        <a:p>
          <a:endParaRPr lang="en-US"/>
        </a:p>
      </dgm:t>
    </dgm:pt>
    <dgm:pt modelId="{C209C8E1-6F14-4D7B-A741-2D89966078F3}" type="pres">
      <dgm:prSet presAssocID="{A5584642-53D3-43F3-93E6-38097F4E5403}" presName="root" presStyleCnt="0">
        <dgm:presLayoutVars>
          <dgm:dir/>
          <dgm:resizeHandles val="exact"/>
        </dgm:presLayoutVars>
      </dgm:prSet>
      <dgm:spPr/>
    </dgm:pt>
    <dgm:pt modelId="{FEBCDAED-0086-449F-8B27-FE8B73AB8A77}" type="pres">
      <dgm:prSet presAssocID="{4632FEAA-67D9-4E26-8B04-B8F664F6D606}" presName="compNode" presStyleCnt="0"/>
      <dgm:spPr/>
    </dgm:pt>
    <dgm:pt modelId="{E3AD34F3-8709-47CB-BA19-9DFD6BEAC8B6}" type="pres">
      <dgm:prSet presAssocID="{4632FEAA-67D9-4E26-8B04-B8F664F6D606}" presName="bgRect" presStyleLbl="bgShp" presStyleIdx="0" presStyleCnt="3"/>
      <dgm:spPr/>
    </dgm:pt>
    <dgm:pt modelId="{C9BD6676-9B39-4D48-B595-7D0EFB53AF6B}" type="pres">
      <dgm:prSet presAssocID="{4632FEAA-67D9-4E26-8B04-B8F664F6D60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upee"/>
        </a:ext>
      </dgm:extLst>
    </dgm:pt>
    <dgm:pt modelId="{DEC903D6-4BF0-4FAB-B7F2-2C51069027EE}" type="pres">
      <dgm:prSet presAssocID="{4632FEAA-67D9-4E26-8B04-B8F664F6D606}" presName="spaceRect" presStyleCnt="0"/>
      <dgm:spPr/>
    </dgm:pt>
    <dgm:pt modelId="{E4DFCF12-B043-4F6A-8B24-74A385A9F53D}" type="pres">
      <dgm:prSet presAssocID="{4632FEAA-67D9-4E26-8B04-B8F664F6D606}" presName="parTx" presStyleLbl="revTx" presStyleIdx="0" presStyleCnt="3">
        <dgm:presLayoutVars>
          <dgm:chMax val="0"/>
          <dgm:chPref val="0"/>
        </dgm:presLayoutVars>
      </dgm:prSet>
      <dgm:spPr/>
    </dgm:pt>
    <dgm:pt modelId="{D67C8193-083D-4D8A-B1CB-B11B5F9211B6}" type="pres">
      <dgm:prSet presAssocID="{C33CE9BF-B65E-4805-A949-C949A40BD3AD}" presName="sibTrans" presStyleCnt="0"/>
      <dgm:spPr/>
    </dgm:pt>
    <dgm:pt modelId="{C735B924-7B95-4A8B-9C4E-9392BA4E974F}" type="pres">
      <dgm:prSet presAssocID="{FE6A13E2-06AA-456E-98E2-026465AC5D87}" presName="compNode" presStyleCnt="0"/>
      <dgm:spPr/>
    </dgm:pt>
    <dgm:pt modelId="{B7A8994A-D203-4234-A420-F55932EA8DBA}" type="pres">
      <dgm:prSet presAssocID="{FE6A13E2-06AA-456E-98E2-026465AC5D87}" presName="bgRect" presStyleLbl="bgShp" presStyleIdx="1" presStyleCnt="3"/>
      <dgm:spPr/>
    </dgm:pt>
    <dgm:pt modelId="{B9827D65-58A1-4C55-9190-3ADBF10AC243}" type="pres">
      <dgm:prSet presAssocID="{FE6A13E2-06AA-456E-98E2-026465AC5D8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Graph with Downward Trend"/>
        </a:ext>
      </dgm:extLst>
    </dgm:pt>
    <dgm:pt modelId="{027B0AC1-F7DA-4A2C-876C-570004EF6B6D}" type="pres">
      <dgm:prSet presAssocID="{FE6A13E2-06AA-456E-98E2-026465AC5D87}" presName="spaceRect" presStyleCnt="0"/>
      <dgm:spPr/>
    </dgm:pt>
    <dgm:pt modelId="{5B5D126B-0676-49E9-8DFF-6848685D0BB7}" type="pres">
      <dgm:prSet presAssocID="{FE6A13E2-06AA-456E-98E2-026465AC5D87}" presName="parTx" presStyleLbl="revTx" presStyleIdx="1" presStyleCnt="3">
        <dgm:presLayoutVars>
          <dgm:chMax val="0"/>
          <dgm:chPref val="0"/>
        </dgm:presLayoutVars>
      </dgm:prSet>
      <dgm:spPr/>
    </dgm:pt>
    <dgm:pt modelId="{03C6DAF3-601E-4DBB-8BD7-9764D87DC607}" type="pres">
      <dgm:prSet presAssocID="{83C0B68E-056C-4148-A339-25230150F440}" presName="sibTrans" presStyleCnt="0"/>
      <dgm:spPr/>
    </dgm:pt>
    <dgm:pt modelId="{D9916023-F299-4BD1-B307-962C3FB91B95}" type="pres">
      <dgm:prSet presAssocID="{35ED4021-435B-42FD-A8F6-EF254E397B3A}" presName="compNode" presStyleCnt="0"/>
      <dgm:spPr/>
    </dgm:pt>
    <dgm:pt modelId="{6C0AB816-3E2C-4172-9743-254396D3D24A}" type="pres">
      <dgm:prSet presAssocID="{35ED4021-435B-42FD-A8F6-EF254E397B3A}" presName="bgRect" presStyleLbl="bgShp" presStyleIdx="2" presStyleCnt="3"/>
      <dgm:spPr/>
    </dgm:pt>
    <dgm:pt modelId="{67B20422-D229-49E2-923A-638B9F9A60A7}" type="pres">
      <dgm:prSet presAssocID="{35ED4021-435B-42FD-A8F6-EF254E397B3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peed Bump"/>
        </a:ext>
      </dgm:extLst>
    </dgm:pt>
    <dgm:pt modelId="{6411E497-7402-4789-AE3A-C0A679332953}" type="pres">
      <dgm:prSet presAssocID="{35ED4021-435B-42FD-A8F6-EF254E397B3A}" presName="spaceRect" presStyleCnt="0"/>
      <dgm:spPr/>
    </dgm:pt>
    <dgm:pt modelId="{5DA44B37-ED7B-400B-8D04-2858A035C3AE}" type="pres">
      <dgm:prSet presAssocID="{35ED4021-435B-42FD-A8F6-EF254E397B3A}" presName="parTx" presStyleLbl="revTx" presStyleIdx="2" presStyleCnt="3">
        <dgm:presLayoutVars>
          <dgm:chMax val="0"/>
          <dgm:chPref val="0"/>
        </dgm:presLayoutVars>
      </dgm:prSet>
      <dgm:spPr/>
    </dgm:pt>
  </dgm:ptLst>
  <dgm:cxnLst>
    <dgm:cxn modelId="{8312EB3C-AC13-4ABD-98BC-B5F4895E99EC}" srcId="{A5584642-53D3-43F3-93E6-38097F4E5403}" destId="{FE6A13E2-06AA-456E-98E2-026465AC5D87}" srcOrd="1" destOrd="0" parTransId="{312CCE65-5D7D-4117-A406-B451F6338A14}" sibTransId="{83C0B68E-056C-4148-A339-25230150F440}"/>
    <dgm:cxn modelId="{71C0D56A-8663-41BB-BF73-D35E001D93C6}" type="presOf" srcId="{FE6A13E2-06AA-456E-98E2-026465AC5D87}" destId="{5B5D126B-0676-49E9-8DFF-6848685D0BB7}" srcOrd="0" destOrd="0" presId="urn:microsoft.com/office/officeart/2018/2/layout/IconVerticalSolidList"/>
    <dgm:cxn modelId="{7845B289-70D4-428B-B49A-940B150CD9C2}" type="presOf" srcId="{35ED4021-435B-42FD-A8F6-EF254E397B3A}" destId="{5DA44B37-ED7B-400B-8D04-2858A035C3AE}" srcOrd="0" destOrd="0" presId="urn:microsoft.com/office/officeart/2018/2/layout/IconVerticalSolidList"/>
    <dgm:cxn modelId="{CFA8D489-B074-4FD2-ACBE-4F7125EB5A74}" srcId="{A5584642-53D3-43F3-93E6-38097F4E5403}" destId="{4632FEAA-67D9-4E26-8B04-B8F664F6D606}" srcOrd="0" destOrd="0" parTransId="{0B3987D3-C0F1-4DD2-865C-DD8093FCB54C}" sibTransId="{C33CE9BF-B65E-4805-A949-C949A40BD3AD}"/>
    <dgm:cxn modelId="{2C251B93-C838-4D28-8DAA-7E098710E821}" srcId="{A5584642-53D3-43F3-93E6-38097F4E5403}" destId="{35ED4021-435B-42FD-A8F6-EF254E397B3A}" srcOrd="2" destOrd="0" parTransId="{F036ECCF-2DA8-4240-A6B3-29E9EF60EABC}" sibTransId="{8D8C3409-FC03-4EE4-8818-AB54BACB734A}"/>
    <dgm:cxn modelId="{429C5FC8-D64E-4710-AD31-BC64C4A1E19B}" type="presOf" srcId="{4632FEAA-67D9-4E26-8B04-B8F664F6D606}" destId="{E4DFCF12-B043-4F6A-8B24-74A385A9F53D}" srcOrd="0" destOrd="0" presId="urn:microsoft.com/office/officeart/2018/2/layout/IconVerticalSolidList"/>
    <dgm:cxn modelId="{B980BCF8-BEC8-44AD-89E3-82575FA2977E}" type="presOf" srcId="{A5584642-53D3-43F3-93E6-38097F4E5403}" destId="{C209C8E1-6F14-4D7B-A741-2D89966078F3}" srcOrd="0" destOrd="0" presId="urn:microsoft.com/office/officeart/2018/2/layout/IconVerticalSolidList"/>
    <dgm:cxn modelId="{7D08FBAB-435C-4051-A7AC-623C888B8D1F}" type="presParOf" srcId="{C209C8E1-6F14-4D7B-A741-2D89966078F3}" destId="{FEBCDAED-0086-449F-8B27-FE8B73AB8A77}" srcOrd="0" destOrd="0" presId="urn:microsoft.com/office/officeart/2018/2/layout/IconVerticalSolidList"/>
    <dgm:cxn modelId="{7DD8DB10-85B6-4A29-BE2D-C5A178E9AC57}" type="presParOf" srcId="{FEBCDAED-0086-449F-8B27-FE8B73AB8A77}" destId="{E3AD34F3-8709-47CB-BA19-9DFD6BEAC8B6}" srcOrd="0" destOrd="0" presId="urn:microsoft.com/office/officeart/2018/2/layout/IconVerticalSolidList"/>
    <dgm:cxn modelId="{03CBB865-026F-4731-ABEA-7130B2FAACC9}" type="presParOf" srcId="{FEBCDAED-0086-449F-8B27-FE8B73AB8A77}" destId="{C9BD6676-9B39-4D48-B595-7D0EFB53AF6B}" srcOrd="1" destOrd="0" presId="urn:microsoft.com/office/officeart/2018/2/layout/IconVerticalSolidList"/>
    <dgm:cxn modelId="{447780BD-FDC2-4C4C-8777-3DF253D2B91B}" type="presParOf" srcId="{FEBCDAED-0086-449F-8B27-FE8B73AB8A77}" destId="{DEC903D6-4BF0-4FAB-B7F2-2C51069027EE}" srcOrd="2" destOrd="0" presId="urn:microsoft.com/office/officeart/2018/2/layout/IconVerticalSolidList"/>
    <dgm:cxn modelId="{3D091D3B-73F7-4E48-9B3E-D3ABA247EF10}" type="presParOf" srcId="{FEBCDAED-0086-449F-8B27-FE8B73AB8A77}" destId="{E4DFCF12-B043-4F6A-8B24-74A385A9F53D}" srcOrd="3" destOrd="0" presId="urn:microsoft.com/office/officeart/2018/2/layout/IconVerticalSolidList"/>
    <dgm:cxn modelId="{9D70F462-E334-4466-ADBB-FB7F9BEFFBB0}" type="presParOf" srcId="{C209C8E1-6F14-4D7B-A741-2D89966078F3}" destId="{D67C8193-083D-4D8A-B1CB-B11B5F9211B6}" srcOrd="1" destOrd="0" presId="urn:microsoft.com/office/officeart/2018/2/layout/IconVerticalSolidList"/>
    <dgm:cxn modelId="{C1B6FCC4-3B2B-4A19-A4FC-AD013505C89C}" type="presParOf" srcId="{C209C8E1-6F14-4D7B-A741-2D89966078F3}" destId="{C735B924-7B95-4A8B-9C4E-9392BA4E974F}" srcOrd="2" destOrd="0" presId="urn:microsoft.com/office/officeart/2018/2/layout/IconVerticalSolidList"/>
    <dgm:cxn modelId="{682CDECA-701E-4435-BF95-47416AC3F691}" type="presParOf" srcId="{C735B924-7B95-4A8B-9C4E-9392BA4E974F}" destId="{B7A8994A-D203-4234-A420-F55932EA8DBA}" srcOrd="0" destOrd="0" presId="urn:microsoft.com/office/officeart/2018/2/layout/IconVerticalSolidList"/>
    <dgm:cxn modelId="{D7D75772-68DA-41C0-BD64-15EA704D6C02}" type="presParOf" srcId="{C735B924-7B95-4A8B-9C4E-9392BA4E974F}" destId="{B9827D65-58A1-4C55-9190-3ADBF10AC243}" srcOrd="1" destOrd="0" presId="urn:microsoft.com/office/officeart/2018/2/layout/IconVerticalSolidList"/>
    <dgm:cxn modelId="{781E097B-8535-4E1F-B677-12053E36EEBD}" type="presParOf" srcId="{C735B924-7B95-4A8B-9C4E-9392BA4E974F}" destId="{027B0AC1-F7DA-4A2C-876C-570004EF6B6D}" srcOrd="2" destOrd="0" presId="urn:microsoft.com/office/officeart/2018/2/layout/IconVerticalSolidList"/>
    <dgm:cxn modelId="{2B2304D7-EEC3-42C2-874B-1B2A59C5C6E7}" type="presParOf" srcId="{C735B924-7B95-4A8B-9C4E-9392BA4E974F}" destId="{5B5D126B-0676-49E9-8DFF-6848685D0BB7}" srcOrd="3" destOrd="0" presId="urn:microsoft.com/office/officeart/2018/2/layout/IconVerticalSolidList"/>
    <dgm:cxn modelId="{256AF699-4437-4D13-B189-27FB2B5DA5E4}" type="presParOf" srcId="{C209C8E1-6F14-4D7B-A741-2D89966078F3}" destId="{03C6DAF3-601E-4DBB-8BD7-9764D87DC607}" srcOrd="3" destOrd="0" presId="urn:microsoft.com/office/officeart/2018/2/layout/IconVerticalSolidList"/>
    <dgm:cxn modelId="{AA1DB4EA-6C08-461A-9265-EBE675B029AF}" type="presParOf" srcId="{C209C8E1-6F14-4D7B-A741-2D89966078F3}" destId="{D9916023-F299-4BD1-B307-962C3FB91B95}" srcOrd="4" destOrd="0" presId="urn:microsoft.com/office/officeart/2018/2/layout/IconVerticalSolidList"/>
    <dgm:cxn modelId="{B4992850-531B-48B8-9E57-E5280C2EA272}" type="presParOf" srcId="{D9916023-F299-4BD1-B307-962C3FB91B95}" destId="{6C0AB816-3E2C-4172-9743-254396D3D24A}" srcOrd="0" destOrd="0" presId="urn:microsoft.com/office/officeart/2018/2/layout/IconVerticalSolidList"/>
    <dgm:cxn modelId="{338F9393-90A4-410E-9CD4-40CB21C7BA1E}" type="presParOf" srcId="{D9916023-F299-4BD1-B307-962C3FB91B95}" destId="{67B20422-D229-49E2-923A-638B9F9A60A7}" srcOrd="1" destOrd="0" presId="urn:microsoft.com/office/officeart/2018/2/layout/IconVerticalSolidList"/>
    <dgm:cxn modelId="{A4ADC1AB-A218-44D1-9FF6-EF201BD288DF}" type="presParOf" srcId="{D9916023-F299-4BD1-B307-962C3FB91B95}" destId="{6411E497-7402-4789-AE3A-C0A679332953}" srcOrd="2" destOrd="0" presId="urn:microsoft.com/office/officeart/2018/2/layout/IconVerticalSolidList"/>
    <dgm:cxn modelId="{614A75E7-34E1-44C7-A34C-C26F6C56A8F4}" type="presParOf" srcId="{D9916023-F299-4BD1-B307-962C3FB91B95}" destId="{5DA44B37-ED7B-400B-8D04-2858A035C3A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BF7A3E0-84B9-458D-B17B-A4B7FC000E96}"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92F142F9-B902-4371-B2F4-AE2BB7251AA0}">
      <dgm:prSet/>
      <dgm:spPr/>
      <dgm:t>
        <a:bodyPr/>
        <a:lstStyle/>
        <a:p>
          <a:r>
            <a:rPr lang="en-US"/>
            <a:t>For effects on the </a:t>
          </a:r>
          <a:r>
            <a:rPr lang="en-US" b="1"/>
            <a:t>real economy </a:t>
          </a:r>
          <a:r>
            <a:rPr lang="en-US"/>
            <a:t>in a country that is a member of a common currency area, we need to think about the </a:t>
          </a:r>
          <a:r>
            <a:rPr lang="en-US" i="1"/>
            <a:t>real</a:t>
          </a:r>
          <a:r>
            <a:rPr lang="en-US"/>
            <a:t> exchange rate.</a:t>
          </a:r>
        </a:p>
      </dgm:t>
    </dgm:pt>
    <dgm:pt modelId="{9EFEB22F-E572-4BB3-8DAE-8B3E17714507}" type="parTrans" cxnId="{B2CB0E5B-7B04-4853-9B1B-2D04CE5E3290}">
      <dgm:prSet/>
      <dgm:spPr/>
      <dgm:t>
        <a:bodyPr/>
        <a:lstStyle/>
        <a:p>
          <a:endParaRPr lang="en-US"/>
        </a:p>
      </dgm:t>
    </dgm:pt>
    <dgm:pt modelId="{951B0870-AFD7-4FA9-8E13-7B6E3A7C948F}" type="sibTrans" cxnId="{B2CB0E5B-7B04-4853-9B1B-2D04CE5E3290}">
      <dgm:prSet/>
      <dgm:spPr/>
      <dgm:t>
        <a:bodyPr/>
        <a:lstStyle/>
        <a:p>
          <a:endParaRPr lang="en-US"/>
        </a:p>
      </dgm:t>
    </dgm:pt>
    <dgm:pt modelId="{30FB2D8A-6B8A-4A7E-ABB9-5F0C7B0A0F38}">
      <dgm:prSet/>
      <dgm:spPr/>
      <dgm:t>
        <a:bodyPr/>
        <a:lstStyle/>
        <a:p>
          <a:r>
            <a:rPr lang="en-US"/>
            <a:t>It is straightforward to see that fixing the nominal exchange rate does </a:t>
          </a:r>
          <a:r>
            <a:rPr lang="en-US" i="1"/>
            <a:t>not</a:t>
          </a:r>
          <a:r>
            <a:rPr lang="en-US"/>
            <a:t> fix the real exchange rate. </a:t>
          </a:r>
        </a:p>
      </dgm:t>
    </dgm:pt>
    <dgm:pt modelId="{5D456935-9ACC-44A6-85D3-755AA800E9CB}" type="parTrans" cxnId="{A9673007-887D-41C7-B54B-0387729E60C0}">
      <dgm:prSet/>
      <dgm:spPr/>
      <dgm:t>
        <a:bodyPr/>
        <a:lstStyle/>
        <a:p>
          <a:endParaRPr lang="en-US"/>
        </a:p>
      </dgm:t>
    </dgm:pt>
    <dgm:pt modelId="{B901101A-D74C-4861-8C4F-B0C468375751}" type="sibTrans" cxnId="{A9673007-887D-41C7-B54B-0387729E60C0}">
      <dgm:prSet/>
      <dgm:spPr/>
      <dgm:t>
        <a:bodyPr/>
        <a:lstStyle/>
        <a:p>
          <a:endParaRPr lang="en-US"/>
        </a:p>
      </dgm:t>
    </dgm:pt>
    <dgm:pt modelId="{42E3ED43-A18F-40D7-8B9E-F5A5B076A908}">
      <dgm:prSet/>
      <dgm:spPr/>
      <dgm:t>
        <a:bodyPr/>
        <a:lstStyle/>
        <a:p>
          <a:r>
            <a:rPr lang="en-US"/>
            <a:t>Competitiveness will only remain unchanged if prices in the two countries rise at the same rate.</a:t>
          </a:r>
        </a:p>
      </dgm:t>
    </dgm:pt>
    <dgm:pt modelId="{2361747E-3349-487A-8C2A-050E38B9FAD3}" type="parTrans" cxnId="{79CF9C60-6804-4C81-A968-1796990029E4}">
      <dgm:prSet/>
      <dgm:spPr/>
      <dgm:t>
        <a:bodyPr/>
        <a:lstStyle/>
        <a:p>
          <a:endParaRPr lang="en-US"/>
        </a:p>
      </dgm:t>
    </dgm:pt>
    <dgm:pt modelId="{2215826C-5471-44EA-BFF4-9696E51F48D1}" type="sibTrans" cxnId="{79CF9C60-6804-4C81-A968-1796990029E4}">
      <dgm:prSet/>
      <dgm:spPr/>
      <dgm:t>
        <a:bodyPr/>
        <a:lstStyle/>
        <a:p>
          <a:endParaRPr lang="en-US"/>
        </a:p>
      </dgm:t>
    </dgm:pt>
    <dgm:pt modelId="{2F09FDC3-1160-40E5-BED5-31A4DE818292}" type="pres">
      <dgm:prSet presAssocID="{1BF7A3E0-84B9-458D-B17B-A4B7FC000E96}" presName="outerComposite" presStyleCnt="0">
        <dgm:presLayoutVars>
          <dgm:chMax val="5"/>
          <dgm:dir/>
          <dgm:resizeHandles val="exact"/>
        </dgm:presLayoutVars>
      </dgm:prSet>
      <dgm:spPr/>
    </dgm:pt>
    <dgm:pt modelId="{BD663D36-FD05-4F87-8264-12F6F1057F88}" type="pres">
      <dgm:prSet presAssocID="{1BF7A3E0-84B9-458D-B17B-A4B7FC000E96}" presName="dummyMaxCanvas" presStyleCnt="0">
        <dgm:presLayoutVars/>
      </dgm:prSet>
      <dgm:spPr/>
    </dgm:pt>
    <dgm:pt modelId="{E7078221-B7FC-4028-9086-32A8DB0A73A0}" type="pres">
      <dgm:prSet presAssocID="{1BF7A3E0-84B9-458D-B17B-A4B7FC000E96}" presName="ThreeNodes_1" presStyleLbl="node1" presStyleIdx="0" presStyleCnt="3">
        <dgm:presLayoutVars>
          <dgm:bulletEnabled val="1"/>
        </dgm:presLayoutVars>
      </dgm:prSet>
      <dgm:spPr/>
    </dgm:pt>
    <dgm:pt modelId="{8FC73908-2ECB-4826-A8BD-91326B380C1C}" type="pres">
      <dgm:prSet presAssocID="{1BF7A3E0-84B9-458D-B17B-A4B7FC000E96}" presName="ThreeNodes_2" presStyleLbl="node1" presStyleIdx="1" presStyleCnt="3">
        <dgm:presLayoutVars>
          <dgm:bulletEnabled val="1"/>
        </dgm:presLayoutVars>
      </dgm:prSet>
      <dgm:spPr/>
    </dgm:pt>
    <dgm:pt modelId="{1ADE949C-63C6-43A7-8D87-484DA5A63EB8}" type="pres">
      <dgm:prSet presAssocID="{1BF7A3E0-84B9-458D-B17B-A4B7FC000E96}" presName="ThreeNodes_3" presStyleLbl="node1" presStyleIdx="2" presStyleCnt="3">
        <dgm:presLayoutVars>
          <dgm:bulletEnabled val="1"/>
        </dgm:presLayoutVars>
      </dgm:prSet>
      <dgm:spPr/>
    </dgm:pt>
    <dgm:pt modelId="{02F80BD5-E1EA-42FE-A9B6-29823F7F3BC9}" type="pres">
      <dgm:prSet presAssocID="{1BF7A3E0-84B9-458D-B17B-A4B7FC000E96}" presName="ThreeConn_1-2" presStyleLbl="fgAccFollowNode1" presStyleIdx="0" presStyleCnt="2">
        <dgm:presLayoutVars>
          <dgm:bulletEnabled val="1"/>
        </dgm:presLayoutVars>
      </dgm:prSet>
      <dgm:spPr/>
    </dgm:pt>
    <dgm:pt modelId="{C075756C-CAB6-42DE-A841-102001F8A9B4}" type="pres">
      <dgm:prSet presAssocID="{1BF7A3E0-84B9-458D-B17B-A4B7FC000E96}" presName="ThreeConn_2-3" presStyleLbl="fgAccFollowNode1" presStyleIdx="1" presStyleCnt="2">
        <dgm:presLayoutVars>
          <dgm:bulletEnabled val="1"/>
        </dgm:presLayoutVars>
      </dgm:prSet>
      <dgm:spPr/>
    </dgm:pt>
    <dgm:pt modelId="{349E9A7F-9F86-4613-BF1E-6E1613546B7B}" type="pres">
      <dgm:prSet presAssocID="{1BF7A3E0-84B9-458D-B17B-A4B7FC000E96}" presName="ThreeNodes_1_text" presStyleLbl="node1" presStyleIdx="2" presStyleCnt="3">
        <dgm:presLayoutVars>
          <dgm:bulletEnabled val="1"/>
        </dgm:presLayoutVars>
      </dgm:prSet>
      <dgm:spPr/>
    </dgm:pt>
    <dgm:pt modelId="{C6BA3B0D-1E86-4A72-9EDE-F78E91438D8E}" type="pres">
      <dgm:prSet presAssocID="{1BF7A3E0-84B9-458D-B17B-A4B7FC000E96}" presName="ThreeNodes_2_text" presStyleLbl="node1" presStyleIdx="2" presStyleCnt="3">
        <dgm:presLayoutVars>
          <dgm:bulletEnabled val="1"/>
        </dgm:presLayoutVars>
      </dgm:prSet>
      <dgm:spPr/>
    </dgm:pt>
    <dgm:pt modelId="{09D2F855-B104-4C43-84BF-7AA4E9300B09}" type="pres">
      <dgm:prSet presAssocID="{1BF7A3E0-84B9-458D-B17B-A4B7FC000E96}" presName="ThreeNodes_3_text" presStyleLbl="node1" presStyleIdx="2" presStyleCnt="3">
        <dgm:presLayoutVars>
          <dgm:bulletEnabled val="1"/>
        </dgm:presLayoutVars>
      </dgm:prSet>
      <dgm:spPr/>
    </dgm:pt>
  </dgm:ptLst>
  <dgm:cxnLst>
    <dgm:cxn modelId="{A9673007-887D-41C7-B54B-0387729E60C0}" srcId="{1BF7A3E0-84B9-458D-B17B-A4B7FC000E96}" destId="{30FB2D8A-6B8A-4A7E-ABB9-5F0C7B0A0F38}" srcOrd="1" destOrd="0" parTransId="{5D456935-9ACC-44A6-85D3-755AA800E9CB}" sibTransId="{B901101A-D74C-4861-8C4F-B0C468375751}"/>
    <dgm:cxn modelId="{D6A9FA2F-FA37-4086-A6D8-478F19EFF2CF}" type="presOf" srcId="{1BF7A3E0-84B9-458D-B17B-A4B7FC000E96}" destId="{2F09FDC3-1160-40E5-BED5-31A4DE818292}" srcOrd="0" destOrd="0" presId="urn:microsoft.com/office/officeart/2005/8/layout/vProcess5"/>
    <dgm:cxn modelId="{B2CB0E5B-7B04-4853-9B1B-2D04CE5E3290}" srcId="{1BF7A3E0-84B9-458D-B17B-A4B7FC000E96}" destId="{92F142F9-B902-4371-B2F4-AE2BB7251AA0}" srcOrd="0" destOrd="0" parTransId="{9EFEB22F-E572-4BB3-8DAE-8B3E17714507}" sibTransId="{951B0870-AFD7-4FA9-8E13-7B6E3A7C948F}"/>
    <dgm:cxn modelId="{79CF9C60-6804-4C81-A968-1796990029E4}" srcId="{1BF7A3E0-84B9-458D-B17B-A4B7FC000E96}" destId="{42E3ED43-A18F-40D7-8B9E-F5A5B076A908}" srcOrd="2" destOrd="0" parTransId="{2361747E-3349-487A-8C2A-050E38B9FAD3}" sibTransId="{2215826C-5471-44EA-BFF4-9696E51F48D1}"/>
    <dgm:cxn modelId="{EE050476-2C9E-470A-B45E-8E28A36511F1}" type="presOf" srcId="{92F142F9-B902-4371-B2F4-AE2BB7251AA0}" destId="{E7078221-B7FC-4028-9086-32A8DB0A73A0}" srcOrd="0" destOrd="0" presId="urn:microsoft.com/office/officeart/2005/8/layout/vProcess5"/>
    <dgm:cxn modelId="{8DE8FE7C-1490-4298-B0E7-30501F539390}" type="presOf" srcId="{42E3ED43-A18F-40D7-8B9E-F5A5B076A908}" destId="{1ADE949C-63C6-43A7-8D87-484DA5A63EB8}" srcOrd="0" destOrd="0" presId="urn:microsoft.com/office/officeart/2005/8/layout/vProcess5"/>
    <dgm:cxn modelId="{7ED48A9C-7EEF-41E1-9A42-A372BE75FBAE}" type="presOf" srcId="{30FB2D8A-6B8A-4A7E-ABB9-5F0C7B0A0F38}" destId="{C6BA3B0D-1E86-4A72-9EDE-F78E91438D8E}" srcOrd="1" destOrd="0" presId="urn:microsoft.com/office/officeart/2005/8/layout/vProcess5"/>
    <dgm:cxn modelId="{4DBE4ACD-047D-4810-9BC2-3D04EB52FDE6}" type="presOf" srcId="{951B0870-AFD7-4FA9-8E13-7B6E3A7C948F}" destId="{02F80BD5-E1EA-42FE-A9B6-29823F7F3BC9}" srcOrd="0" destOrd="0" presId="urn:microsoft.com/office/officeart/2005/8/layout/vProcess5"/>
    <dgm:cxn modelId="{5BF3BFD6-60C2-4E8D-A0D2-3662B1568BE6}" type="presOf" srcId="{42E3ED43-A18F-40D7-8B9E-F5A5B076A908}" destId="{09D2F855-B104-4C43-84BF-7AA4E9300B09}" srcOrd="1" destOrd="0" presId="urn:microsoft.com/office/officeart/2005/8/layout/vProcess5"/>
    <dgm:cxn modelId="{E7D0A3E7-2D20-44CE-BB94-A9EA08C89DB9}" type="presOf" srcId="{30FB2D8A-6B8A-4A7E-ABB9-5F0C7B0A0F38}" destId="{8FC73908-2ECB-4826-A8BD-91326B380C1C}" srcOrd="0" destOrd="0" presId="urn:microsoft.com/office/officeart/2005/8/layout/vProcess5"/>
    <dgm:cxn modelId="{398157F4-123E-4D25-B495-CEDDDBB0966D}" type="presOf" srcId="{B901101A-D74C-4861-8C4F-B0C468375751}" destId="{C075756C-CAB6-42DE-A841-102001F8A9B4}" srcOrd="0" destOrd="0" presId="urn:microsoft.com/office/officeart/2005/8/layout/vProcess5"/>
    <dgm:cxn modelId="{5B376DFF-79FC-4DA1-8656-9B78DED27973}" type="presOf" srcId="{92F142F9-B902-4371-B2F4-AE2BB7251AA0}" destId="{349E9A7F-9F86-4613-BF1E-6E1613546B7B}" srcOrd="1" destOrd="0" presId="urn:microsoft.com/office/officeart/2005/8/layout/vProcess5"/>
    <dgm:cxn modelId="{075FF2E2-49D6-4B85-8D24-0616EC9C967D}" type="presParOf" srcId="{2F09FDC3-1160-40E5-BED5-31A4DE818292}" destId="{BD663D36-FD05-4F87-8264-12F6F1057F88}" srcOrd="0" destOrd="0" presId="urn:microsoft.com/office/officeart/2005/8/layout/vProcess5"/>
    <dgm:cxn modelId="{D617D5D6-6424-4714-8C9A-C2899516952E}" type="presParOf" srcId="{2F09FDC3-1160-40E5-BED5-31A4DE818292}" destId="{E7078221-B7FC-4028-9086-32A8DB0A73A0}" srcOrd="1" destOrd="0" presId="urn:microsoft.com/office/officeart/2005/8/layout/vProcess5"/>
    <dgm:cxn modelId="{7E36A9CE-2B05-439A-B20B-692C5C0F455B}" type="presParOf" srcId="{2F09FDC3-1160-40E5-BED5-31A4DE818292}" destId="{8FC73908-2ECB-4826-A8BD-91326B380C1C}" srcOrd="2" destOrd="0" presId="urn:microsoft.com/office/officeart/2005/8/layout/vProcess5"/>
    <dgm:cxn modelId="{04A97B33-3983-4736-A97A-7FEFB6F6E965}" type="presParOf" srcId="{2F09FDC3-1160-40E5-BED5-31A4DE818292}" destId="{1ADE949C-63C6-43A7-8D87-484DA5A63EB8}" srcOrd="3" destOrd="0" presId="urn:microsoft.com/office/officeart/2005/8/layout/vProcess5"/>
    <dgm:cxn modelId="{70C309F6-2095-4814-8520-9BC73D5C5DF5}" type="presParOf" srcId="{2F09FDC3-1160-40E5-BED5-31A4DE818292}" destId="{02F80BD5-E1EA-42FE-A9B6-29823F7F3BC9}" srcOrd="4" destOrd="0" presId="urn:microsoft.com/office/officeart/2005/8/layout/vProcess5"/>
    <dgm:cxn modelId="{583EBED7-D0AB-40EC-9A16-F2F1F7630450}" type="presParOf" srcId="{2F09FDC3-1160-40E5-BED5-31A4DE818292}" destId="{C075756C-CAB6-42DE-A841-102001F8A9B4}" srcOrd="5" destOrd="0" presId="urn:microsoft.com/office/officeart/2005/8/layout/vProcess5"/>
    <dgm:cxn modelId="{42974D03-65F5-4D40-B340-CA6EE8491DD2}" type="presParOf" srcId="{2F09FDC3-1160-40E5-BED5-31A4DE818292}" destId="{349E9A7F-9F86-4613-BF1E-6E1613546B7B}" srcOrd="6" destOrd="0" presId="urn:microsoft.com/office/officeart/2005/8/layout/vProcess5"/>
    <dgm:cxn modelId="{129C70FE-B040-4E28-92BF-567F0DAF5642}" type="presParOf" srcId="{2F09FDC3-1160-40E5-BED5-31A4DE818292}" destId="{C6BA3B0D-1E86-4A72-9EDE-F78E91438D8E}" srcOrd="7" destOrd="0" presId="urn:microsoft.com/office/officeart/2005/8/layout/vProcess5"/>
    <dgm:cxn modelId="{A56054CD-3271-4236-AEB7-028339565F32}" type="presParOf" srcId="{2F09FDC3-1160-40E5-BED5-31A4DE818292}" destId="{09D2F855-B104-4C43-84BF-7AA4E9300B09}" srcOrd="8" destOrd="0" presId="urn:microsoft.com/office/officeart/2005/8/layout/v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406179C-590F-4156-B20B-CDFA2A560D3F}"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3233A439-A917-4393-BDBD-C01EDF00C511}">
      <dgm:prSet/>
      <dgm:spPr/>
      <dgm:t>
        <a:bodyPr/>
        <a:lstStyle/>
        <a:p>
          <a:r>
            <a:rPr lang="en-US" i="1"/>
            <a:t>FlexIT economy</a:t>
          </a:r>
          <a:r>
            <a:rPr lang="en-US"/>
            <a:t>: The reversal of aggregate demand can be quite rapid. The central bank’s increase in the policy interest rate immediately causes an appreciation of home’s nominal exchange rate. Foreign exchange markets respond fast to changes in the interest rate. Prices respond more slowly so for given values of </a:t>
          </a:r>
          <a:r>
            <a:rPr lang="en-US" i="1"/>
            <a:t>P</a:t>
          </a:r>
          <a:r>
            <a:rPr lang="en-US"/>
            <a:t> and </a:t>
          </a:r>
          <a:r>
            <a:rPr lang="en-US" i="1"/>
            <a:t>P*</a:t>
          </a:r>
          <a:r>
            <a:rPr lang="en-US"/>
            <a:t>, this would also imply a </a:t>
          </a:r>
          <a:r>
            <a:rPr lang="en-US" i="1"/>
            <a:t>real</a:t>
          </a:r>
          <a:r>
            <a:rPr lang="en-US"/>
            <a:t> appreciation, offsetting the impact of the demand shock.</a:t>
          </a:r>
        </a:p>
      </dgm:t>
    </dgm:pt>
    <dgm:pt modelId="{9883052A-A3EA-4F44-A2D4-CDB31EBB3C79}" type="parTrans" cxnId="{3C8B2EDD-8D88-441B-B373-43D1E4C2E9DD}">
      <dgm:prSet/>
      <dgm:spPr/>
      <dgm:t>
        <a:bodyPr/>
        <a:lstStyle/>
        <a:p>
          <a:endParaRPr lang="en-US"/>
        </a:p>
      </dgm:t>
    </dgm:pt>
    <dgm:pt modelId="{23D64BA1-1A17-4D15-8CCC-D08BB2FBE36F}" type="sibTrans" cxnId="{3C8B2EDD-8D88-441B-B373-43D1E4C2E9DD}">
      <dgm:prSet/>
      <dgm:spPr/>
      <dgm:t>
        <a:bodyPr/>
        <a:lstStyle/>
        <a:p>
          <a:endParaRPr lang="en-US"/>
        </a:p>
      </dgm:t>
    </dgm:pt>
    <dgm:pt modelId="{7360901E-7FAC-46B9-9FF9-E22D2BCE9B1D}">
      <dgm:prSet/>
      <dgm:spPr/>
      <dgm:t>
        <a:bodyPr/>
        <a:lstStyle/>
        <a:p>
          <a:r>
            <a:rPr lang="en-US" i="1"/>
            <a:t>Common currency area (extreme case of a ‘Fix’ regime)</a:t>
          </a:r>
          <a:r>
            <a:rPr lang="en-US"/>
            <a:t>: Since home’s nominal exchange rate cannot change, the aggregate demand shock is only slowly offset as higher domestic inflation produces a gradual real appreciation. If we assume that wages are set annually and prices update after the wage round, the process of real appreciation will be protracted.</a:t>
          </a:r>
        </a:p>
      </dgm:t>
    </dgm:pt>
    <dgm:pt modelId="{C16CB884-EC30-4767-9C6E-9AE1912D8F71}" type="parTrans" cxnId="{014F83EE-3768-4D65-9FF6-B0EFDAF17A33}">
      <dgm:prSet/>
      <dgm:spPr/>
      <dgm:t>
        <a:bodyPr/>
        <a:lstStyle/>
        <a:p>
          <a:endParaRPr lang="en-US"/>
        </a:p>
      </dgm:t>
    </dgm:pt>
    <dgm:pt modelId="{2D57D0FB-D0F2-408E-A095-E6BBB3F74E08}" type="sibTrans" cxnId="{014F83EE-3768-4D65-9FF6-B0EFDAF17A33}">
      <dgm:prSet/>
      <dgm:spPr/>
      <dgm:t>
        <a:bodyPr/>
        <a:lstStyle/>
        <a:p>
          <a:endParaRPr lang="en-US"/>
        </a:p>
      </dgm:t>
    </dgm:pt>
    <dgm:pt modelId="{D1519404-A143-42AA-893A-8C06143642CA}" type="pres">
      <dgm:prSet presAssocID="{F406179C-590F-4156-B20B-CDFA2A560D3F}" presName="vert0" presStyleCnt="0">
        <dgm:presLayoutVars>
          <dgm:dir/>
          <dgm:animOne val="branch"/>
          <dgm:animLvl val="lvl"/>
        </dgm:presLayoutVars>
      </dgm:prSet>
      <dgm:spPr/>
    </dgm:pt>
    <dgm:pt modelId="{D932DE7A-6F44-435E-9651-2D9AFEDE51D1}" type="pres">
      <dgm:prSet presAssocID="{3233A439-A917-4393-BDBD-C01EDF00C511}" presName="thickLine" presStyleLbl="alignNode1" presStyleIdx="0" presStyleCnt="2"/>
      <dgm:spPr/>
    </dgm:pt>
    <dgm:pt modelId="{A45E6D86-C708-48D4-9803-A4DA034A3DAC}" type="pres">
      <dgm:prSet presAssocID="{3233A439-A917-4393-BDBD-C01EDF00C511}" presName="horz1" presStyleCnt="0"/>
      <dgm:spPr/>
    </dgm:pt>
    <dgm:pt modelId="{AE169350-D008-4FF3-8CEA-825197D770F6}" type="pres">
      <dgm:prSet presAssocID="{3233A439-A917-4393-BDBD-C01EDF00C511}" presName="tx1" presStyleLbl="revTx" presStyleIdx="0" presStyleCnt="2"/>
      <dgm:spPr/>
    </dgm:pt>
    <dgm:pt modelId="{A19A2B8B-75D0-4A62-82B9-8B2AC87E2C57}" type="pres">
      <dgm:prSet presAssocID="{3233A439-A917-4393-BDBD-C01EDF00C511}" presName="vert1" presStyleCnt="0"/>
      <dgm:spPr/>
    </dgm:pt>
    <dgm:pt modelId="{2D3DF048-38B5-4ADB-B626-E6015F7E0BD6}" type="pres">
      <dgm:prSet presAssocID="{7360901E-7FAC-46B9-9FF9-E22D2BCE9B1D}" presName="thickLine" presStyleLbl="alignNode1" presStyleIdx="1" presStyleCnt="2"/>
      <dgm:spPr/>
    </dgm:pt>
    <dgm:pt modelId="{55D58BE8-C62D-4F3E-AA0F-A42F7C74B8D5}" type="pres">
      <dgm:prSet presAssocID="{7360901E-7FAC-46B9-9FF9-E22D2BCE9B1D}" presName="horz1" presStyleCnt="0"/>
      <dgm:spPr/>
    </dgm:pt>
    <dgm:pt modelId="{FDB7A871-AD88-4B97-A153-93F9A5776AED}" type="pres">
      <dgm:prSet presAssocID="{7360901E-7FAC-46B9-9FF9-E22D2BCE9B1D}" presName="tx1" presStyleLbl="revTx" presStyleIdx="1" presStyleCnt="2"/>
      <dgm:spPr/>
    </dgm:pt>
    <dgm:pt modelId="{DB3278DE-43DB-41EA-BF12-B22D59602A0B}" type="pres">
      <dgm:prSet presAssocID="{7360901E-7FAC-46B9-9FF9-E22D2BCE9B1D}" presName="vert1" presStyleCnt="0"/>
      <dgm:spPr/>
    </dgm:pt>
  </dgm:ptLst>
  <dgm:cxnLst>
    <dgm:cxn modelId="{1217BE12-27DC-470E-A189-CBF82982BA44}" type="presOf" srcId="{F406179C-590F-4156-B20B-CDFA2A560D3F}" destId="{D1519404-A143-42AA-893A-8C06143642CA}" srcOrd="0" destOrd="0" presId="urn:microsoft.com/office/officeart/2008/layout/LinedList"/>
    <dgm:cxn modelId="{7029DC3F-0DAD-42AE-B86E-C038C85EDF73}" type="presOf" srcId="{3233A439-A917-4393-BDBD-C01EDF00C511}" destId="{AE169350-D008-4FF3-8CEA-825197D770F6}" srcOrd="0" destOrd="0" presId="urn:microsoft.com/office/officeart/2008/layout/LinedList"/>
    <dgm:cxn modelId="{A2CAB194-D9DA-4C6B-982A-EE4A10120BF0}" type="presOf" srcId="{7360901E-7FAC-46B9-9FF9-E22D2BCE9B1D}" destId="{FDB7A871-AD88-4B97-A153-93F9A5776AED}" srcOrd="0" destOrd="0" presId="urn:microsoft.com/office/officeart/2008/layout/LinedList"/>
    <dgm:cxn modelId="{3C8B2EDD-8D88-441B-B373-43D1E4C2E9DD}" srcId="{F406179C-590F-4156-B20B-CDFA2A560D3F}" destId="{3233A439-A917-4393-BDBD-C01EDF00C511}" srcOrd="0" destOrd="0" parTransId="{9883052A-A3EA-4F44-A2D4-CDB31EBB3C79}" sibTransId="{23D64BA1-1A17-4D15-8CCC-D08BB2FBE36F}"/>
    <dgm:cxn modelId="{014F83EE-3768-4D65-9FF6-B0EFDAF17A33}" srcId="{F406179C-590F-4156-B20B-CDFA2A560D3F}" destId="{7360901E-7FAC-46B9-9FF9-E22D2BCE9B1D}" srcOrd="1" destOrd="0" parTransId="{C16CB884-EC30-4767-9C6E-9AE1912D8F71}" sibTransId="{2D57D0FB-D0F2-408E-A095-E6BBB3F74E08}"/>
    <dgm:cxn modelId="{3677CB0F-782B-4338-9E11-3745B5C97B6A}" type="presParOf" srcId="{D1519404-A143-42AA-893A-8C06143642CA}" destId="{D932DE7A-6F44-435E-9651-2D9AFEDE51D1}" srcOrd="0" destOrd="0" presId="urn:microsoft.com/office/officeart/2008/layout/LinedList"/>
    <dgm:cxn modelId="{F0CB8A2C-3108-49BE-BDFA-5998C91A0181}" type="presParOf" srcId="{D1519404-A143-42AA-893A-8C06143642CA}" destId="{A45E6D86-C708-48D4-9803-A4DA034A3DAC}" srcOrd="1" destOrd="0" presId="urn:microsoft.com/office/officeart/2008/layout/LinedList"/>
    <dgm:cxn modelId="{763925BB-02DE-49FF-AB76-31F57A422D76}" type="presParOf" srcId="{A45E6D86-C708-48D4-9803-A4DA034A3DAC}" destId="{AE169350-D008-4FF3-8CEA-825197D770F6}" srcOrd="0" destOrd="0" presId="urn:microsoft.com/office/officeart/2008/layout/LinedList"/>
    <dgm:cxn modelId="{71E7D717-733B-45D8-9574-4C9032FF8EB4}" type="presParOf" srcId="{A45E6D86-C708-48D4-9803-A4DA034A3DAC}" destId="{A19A2B8B-75D0-4A62-82B9-8B2AC87E2C57}" srcOrd="1" destOrd="0" presId="urn:microsoft.com/office/officeart/2008/layout/LinedList"/>
    <dgm:cxn modelId="{C50D0E84-DCAA-4789-8EE0-E4C1F459CDA1}" type="presParOf" srcId="{D1519404-A143-42AA-893A-8C06143642CA}" destId="{2D3DF048-38B5-4ADB-B626-E6015F7E0BD6}" srcOrd="2" destOrd="0" presId="urn:microsoft.com/office/officeart/2008/layout/LinedList"/>
    <dgm:cxn modelId="{9D9979B8-C656-4F0A-9D81-110A7EDD299F}" type="presParOf" srcId="{D1519404-A143-42AA-893A-8C06143642CA}" destId="{55D58BE8-C62D-4F3E-AA0F-A42F7C74B8D5}" srcOrd="3" destOrd="0" presId="urn:microsoft.com/office/officeart/2008/layout/LinedList"/>
    <dgm:cxn modelId="{F2FC2E56-2DA9-4733-9999-60545E64927E}" type="presParOf" srcId="{55D58BE8-C62D-4F3E-AA0F-A42F7C74B8D5}" destId="{FDB7A871-AD88-4B97-A153-93F9A5776AED}" srcOrd="0" destOrd="0" presId="urn:microsoft.com/office/officeart/2008/layout/LinedList"/>
    <dgm:cxn modelId="{420226A0-4369-4D38-98C3-5742B0B0F26C}" type="presParOf" srcId="{55D58BE8-C62D-4F3E-AA0F-A42F7C74B8D5}" destId="{DB3278DE-43DB-41EA-BF12-B22D59602A0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261A9D1-647B-4575-958A-71700BAD8C45}"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5EC423E3-F291-4918-9FBA-47D27EE1EF13}">
      <dgm:prSet/>
      <dgm:spPr/>
      <dgm:t>
        <a:bodyPr/>
        <a:lstStyle/>
        <a:p>
          <a:r>
            <a:rPr lang="en-US"/>
            <a:t>A common currency area is the most extreme case of a fixed exchange rate. </a:t>
          </a:r>
        </a:p>
      </dgm:t>
    </dgm:pt>
    <dgm:pt modelId="{2B36BDCE-EB72-4071-985A-6B5CCFC9F82D}" type="parTrans" cxnId="{8A4B3230-9E9A-43DB-98E0-0FC6D1D3441D}">
      <dgm:prSet/>
      <dgm:spPr/>
      <dgm:t>
        <a:bodyPr/>
        <a:lstStyle/>
        <a:p>
          <a:endParaRPr lang="en-US"/>
        </a:p>
      </dgm:t>
    </dgm:pt>
    <dgm:pt modelId="{10F10374-43C5-40E2-B31E-8F5FFC30F882}" type="sibTrans" cxnId="{8A4B3230-9E9A-43DB-98E0-0FC6D1D3441D}">
      <dgm:prSet/>
      <dgm:spPr/>
      <dgm:t>
        <a:bodyPr/>
        <a:lstStyle/>
        <a:p>
          <a:endParaRPr lang="en-US"/>
        </a:p>
      </dgm:t>
    </dgm:pt>
    <dgm:pt modelId="{482C3174-7D0D-45BF-96BD-2E42823A5D14}">
      <dgm:prSet/>
      <dgm:spPr/>
      <dgm:t>
        <a:bodyPr/>
        <a:lstStyle/>
        <a:p>
          <a:r>
            <a:rPr lang="en-US"/>
            <a:t>In most fixed exchange rate regimes, as conventionally defined, individual countries continue to have their own currency but hold their exchange rates constant against either one, or sometimes multiple, currencies. </a:t>
          </a:r>
        </a:p>
      </dgm:t>
    </dgm:pt>
    <dgm:pt modelId="{658836DF-B0C0-4809-9002-D3054F99CFB3}" type="parTrans" cxnId="{43A9006B-BA5A-4CB9-A7FE-17FDDC111033}">
      <dgm:prSet/>
      <dgm:spPr/>
      <dgm:t>
        <a:bodyPr/>
        <a:lstStyle/>
        <a:p>
          <a:endParaRPr lang="en-US"/>
        </a:p>
      </dgm:t>
    </dgm:pt>
    <dgm:pt modelId="{51F07565-4F23-46A0-9170-AA20A2AE0D4E}" type="sibTrans" cxnId="{43A9006B-BA5A-4CB9-A7FE-17FDDC111033}">
      <dgm:prSet/>
      <dgm:spPr/>
      <dgm:t>
        <a:bodyPr/>
        <a:lstStyle/>
        <a:p>
          <a:endParaRPr lang="en-US"/>
        </a:p>
      </dgm:t>
    </dgm:pt>
    <dgm:pt modelId="{D121F7B6-0345-4ACA-A852-ADBCF9836139}">
      <dgm:prSet/>
      <dgm:spPr/>
      <dgm:t>
        <a:bodyPr/>
        <a:lstStyle/>
        <a:p>
          <a:r>
            <a:rPr lang="en-US"/>
            <a:t>Normally we would only refer to a ‘fixed’ exchange rate as such if the government and central bank both commit to, and actually </a:t>
          </a:r>
          <a:r>
            <a:rPr lang="en-US" i="1"/>
            <a:t>maintain</a:t>
          </a:r>
          <a:r>
            <a:rPr lang="en-US"/>
            <a:t> a nominal exchange rate that is either completely fixed, or moves by only very small amounts.</a:t>
          </a:r>
        </a:p>
      </dgm:t>
    </dgm:pt>
    <dgm:pt modelId="{44ABD391-9217-4BDF-9F4C-DB2689FDA755}" type="parTrans" cxnId="{464AA9B1-F9A0-431F-A24E-1220DB0629AD}">
      <dgm:prSet/>
      <dgm:spPr/>
      <dgm:t>
        <a:bodyPr/>
        <a:lstStyle/>
        <a:p>
          <a:endParaRPr lang="en-US"/>
        </a:p>
      </dgm:t>
    </dgm:pt>
    <dgm:pt modelId="{C4F44102-8E5F-421E-91F9-8983D7E88160}" type="sibTrans" cxnId="{464AA9B1-F9A0-431F-A24E-1220DB0629AD}">
      <dgm:prSet/>
      <dgm:spPr/>
      <dgm:t>
        <a:bodyPr/>
        <a:lstStyle/>
        <a:p>
          <a:endParaRPr lang="en-US"/>
        </a:p>
      </dgm:t>
    </dgm:pt>
    <dgm:pt modelId="{D58E641A-FFAE-4133-9510-5D43457D5066}" type="pres">
      <dgm:prSet presAssocID="{0261A9D1-647B-4575-958A-71700BAD8C45}" presName="vert0" presStyleCnt="0">
        <dgm:presLayoutVars>
          <dgm:dir/>
          <dgm:animOne val="branch"/>
          <dgm:animLvl val="lvl"/>
        </dgm:presLayoutVars>
      </dgm:prSet>
      <dgm:spPr/>
    </dgm:pt>
    <dgm:pt modelId="{B42B8BCB-7572-4846-B686-026DD0930D96}" type="pres">
      <dgm:prSet presAssocID="{5EC423E3-F291-4918-9FBA-47D27EE1EF13}" presName="thickLine" presStyleLbl="alignNode1" presStyleIdx="0" presStyleCnt="3"/>
      <dgm:spPr/>
    </dgm:pt>
    <dgm:pt modelId="{D3DE6A90-1E75-4830-8315-5CDB251A9211}" type="pres">
      <dgm:prSet presAssocID="{5EC423E3-F291-4918-9FBA-47D27EE1EF13}" presName="horz1" presStyleCnt="0"/>
      <dgm:spPr/>
    </dgm:pt>
    <dgm:pt modelId="{661B4D06-7883-491F-8DED-2CC631569296}" type="pres">
      <dgm:prSet presAssocID="{5EC423E3-F291-4918-9FBA-47D27EE1EF13}" presName="tx1" presStyleLbl="revTx" presStyleIdx="0" presStyleCnt="3"/>
      <dgm:spPr/>
    </dgm:pt>
    <dgm:pt modelId="{2DE33D92-95A0-496F-B6FD-6CFE261C604D}" type="pres">
      <dgm:prSet presAssocID="{5EC423E3-F291-4918-9FBA-47D27EE1EF13}" presName="vert1" presStyleCnt="0"/>
      <dgm:spPr/>
    </dgm:pt>
    <dgm:pt modelId="{522DF77C-7417-44B1-A0D2-7CB48ACE2065}" type="pres">
      <dgm:prSet presAssocID="{482C3174-7D0D-45BF-96BD-2E42823A5D14}" presName="thickLine" presStyleLbl="alignNode1" presStyleIdx="1" presStyleCnt="3"/>
      <dgm:spPr/>
    </dgm:pt>
    <dgm:pt modelId="{F245DDCC-9CDC-4EBD-B5D9-725EEAD8CFE0}" type="pres">
      <dgm:prSet presAssocID="{482C3174-7D0D-45BF-96BD-2E42823A5D14}" presName="horz1" presStyleCnt="0"/>
      <dgm:spPr/>
    </dgm:pt>
    <dgm:pt modelId="{342D9FBF-5B5A-4A57-9BBB-A7E3046107AB}" type="pres">
      <dgm:prSet presAssocID="{482C3174-7D0D-45BF-96BD-2E42823A5D14}" presName="tx1" presStyleLbl="revTx" presStyleIdx="1" presStyleCnt="3"/>
      <dgm:spPr/>
    </dgm:pt>
    <dgm:pt modelId="{49270BA1-8046-4EAF-9A99-4BEC18EA5ECB}" type="pres">
      <dgm:prSet presAssocID="{482C3174-7D0D-45BF-96BD-2E42823A5D14}" presName="vert1" presStyleCnt="0"/>
      <dgm:spPr/>
    </dgm:pt>
    <dgm:pt modelId="{37718B81-DC1A-48AB-AF36-D4826F18EA18}" type="pres">
      <dgm:prSet presAssocID="{D121F7B6-0345-4ACA-A852-ADBCF9836139}" presName="thickLine" presStyleLbl="alignNode1" presStyleIdx="2" presStyleCnt="3"/>
      <dgm:spPr/>
    </dgm:pt>
    <dgm:pt modelId="{D153B3C3-0839-4561-B9BB-5F9370B07B06}" type="pres">
      <dgm:prSet presAssocID="{D121F7B6-0345-4ACA-A852-ADBCF9836139}" presName="horz1" presStyleCnt="0"/>
      <dgm:spPr/>
    </dgm:pt>
    <dgm:pt modelId="{5ADBCE09-6EC1-4227-BB0B-F1BD790CE577}" type="pres">
      <dgm:prSet presAssocID="{D121F7B6-0345-4ACA-A852-ADBCF9836139}" presName="tx1" presStyleLbl="revTx" presStyleIdx="2" presStyleCnt="3"/>
      <dgm:spPr/>
    </dgm:pt>
    <dgm:pt modelId="{8427FEFB-25B6-4420-9AD2-8417296772A5}" type="pres">
      <dgm:prSet presAssocID="{D121F7B6-0345-4ACA-A852-ADBCF9836139}" presName="vert1" presStyleCnt="0"/>
      <dgm:spPr/>
    </dgm:pt>
  </dgm:ptLst>
  <dgm:cxnLst>
    <dgm:cxn modelId="{8A4B3230-9E9A-43DB-98E0-0FC6D1D3441D}" srcId="{0261A9D1-647B-4575-958A-71700BAD8C45}" destId="{5EC423E3-F291-4918-9FBA-47D27EE1EF13}" srcOrd="0" destOrd="0" parTransId="{2B36BDCE-EB72-4071-985A-6B5CCFC9F82D}" sibTransId="{10F10374-43C5-40E2-B31E-8F5FFC30F882}"/>
    <dgm:cxn modelId="{2F07DC66-A3FB-4CB6-A42C-2E52869FD11D}" type="presOf" srcId="{482C3174-7D0D-45BF-96BD-2E42823A5D14}" destId="{342D9FBF-5B5A-4A57-9BBB-A7E3046107AB}" srcOrd="0" destOrd="0" presId="urn:microsoft.com/office/officeart/2008/layout/LinedList"/>
    <dgm:cxn modelId="{43A9006B-BA5A-4CB9-A7FE-17FDDC111033}" srcId="{0261A9D1-647B-4575-958A-71700BAD8C45}" destId="{482C3174-7D0D-45BF-96BD-2E42823A5D14}" srcOrd="1" destOrd="0" parTransId="{658836DF-B0C0-4809-9002-D3054F99CFB3}" sibTransId="{51F07565-4F23-46A0-9170-AA20A2AE0D4E}"/>
    <dgm:cxn modelId="{6DF0F398-304B-4A88-A160-6E1E65065D92}" type="presOf" srcId="{0261A9D1-647B-4575-958A-71700BAD8C45}" destId="{D58E641A-FFAE-4133-9510-5D43457D5066}" srcOrd="0" destOrd="0" presId="urn:microsoft.com/office/officeart/2008/layout/LinedList"/>
    <dgm:cxn modelId="{74D37F99-CAC8-4017-821C-37CB283CAE15}" type="presOf" srcId="{D121F7B6-0345-4ACA-A852-ADBCF9836139}" destId="{5ADBCE09-6EC1-4227-BB0B-F1BD790CE577}" srcOrd="0" destOrd="0" presId="urn:microsoft.com/office/officeart/2008/layout/LinedList"/>
    <dgm:cxn modelId="{464AA9B1-F9A0-431F-A24E-1220DB0629AD}" srcId="{0261A9D1-647B-4575-958A-71700BAD8C45}" destId="{D121F7B6-0345-4ACA-A852-ADBCF9836139}" srcOrd="2" destOrd="0" parTransId="{44ABD391-9217-4BDF-9F4C-DB2689FDA755}" sibTransId="{C4F44102-8E5F-421E-91F9-8983D7E88160}"/>
    <dgm:cxn modelId="{9F9E1FFE-B97D-4C76-A9BF-A33A0D06DE6E}" type="presOf" srcId="{5EC423E3-F291-4918-9FBA-47D27EE1EF13}" destId="{661B4D06-7883-491F-8DED-2CC631569296}" srcOrd="0" destOrd="0" presId="urn:microsoft.com/office/officeart/2008/layout/LinedList"/>
    <dgm:cxn modelId="{25B7E717-D0F1-4301-8346-36795263CDDD}" type="presParOf" srcId="{D58E641A-FFAE-4133-9510-5D43457D5066}" destId="{B42B8BCB-7572-4846-B686-026DD0930D96}" srcOrd="0" destOrd="0" presId="urn:microsoft.com/office/officeart/2008/layout/LinedList"/>
    <dgm:cxn modelId="{75F2C29C-2E6A-4414-AD35-3AE9BD0A8933}" type="presParOf" srcId="{D58E641A-FFAE-4133-9510-5D43457D5066}" destId="{D3DE6A90-1E75-4830-8315-5CDB251A9211}" srcOrd="1" destOrd="0" presId="urn:microsoft.com/office/officeart/2008/layout/LinedList"/>
    <dgm:cxn modelId="{B4F8C087-754F-4AF4-B371-E8104B3E5C6D}" type="presParOf" srcId="{D3DE6A90-1E75-4830-8315-5CDB251A9211}" destId="{661B4D06-7883-491F-8DED-2CC631569296}" srcOrd="0" destOrd="0" presId="urn:microsoft.com/office/officeart/2008/layout/LinedList"/>
    <dgm:cxn modelId="{CA5283D1-7304-4F01-9633-644993E62163}" type="presParOf" srcId="{D3DE6A90-1E75-4830-8315-5CDB251A9211}" destId="{2DE33D92-95A0-496F-B6FD-6CFE261C604D}" srcOrd="1" destOrd="0" presId="urn:microsoft.com/office/officeart/2008/layout/LinedList"/>
    <dgm:cxn modelId="{FF77437B-3632-4CE3-917B-277EDD0C77A8}" type="presParOf" srcId="{D58E641A-FFAE-4133-9510-5D43457D5066}" destId="{522DF77C-7417-44B1-A0D2-7CB48ACE2065}" srcOrd="2" destOrd="0" presId="urn:microsoft.com/office/officeart/2008/layout/LinedList"/>
    <dgm:cxn modelId="{996B3DE7-9CA3-4392-92A9-696F88C77A30}" type="presParOf" srcId="{D58E641A-FFAE-4133-9510-5D43457D5066}" destId="{F245DDCC-9CDC-4EBD-B5D9-725EEAD8CFE0}" srcOrd="3" destOrd="0" presId="urn:microsoft.com/office/officeart/2008/layout/LinedList"/>
    <dgm:cxn modelId="{BDE82449-7083-4793-B0E3-D760391866E6}" type="presParOf" srcId="{F245DDCC-9CDC-4EBD-B5D9-725EEAD8CFE0}" destId="{342D9FBF-5B5A-4A57-9BBB-A7E3046107AB}" srcOrd="0" destOrd="0" presId="urn:microsoft.com/office/officeart/2008/layout/LinedList"/>
    <dgm:cxn modelId="{4F9DF1DB-CB62-489F-87C6-B6B01F087E92}" type="presParOf" srcId="{F245DDCC-9CDC-4EBD-B5D9-725EEAD8CFE0}" destId="{49270BA1-8046-4EAF-9A99-4BEC18EA5ECB}" srcOrd="1" destOrd="0" presId="urn:microsoft.com/office/officeart/2008/layout/LinedList"/>
    <dgm:cxn modelId="{EB0A7331-CCBB-4666-86EE-9187ABD1AD6A}" type="presParOf" srcId="{D58E641A-FFAE-4133-9510-5D43457D5066}" destId="{37718B81-DC1A-48AB-AF36-D4826F18EA18}" srcOrd="4" destOrd="0" presId="urn:microsoft.com/office/officeart/2008/layout/LinedList"/>
    <dgm:cxn modelId="{89EA6573-5C1F-4E97-834A-772879396536}" type="presParOf" srcId="{D58E641A-FFAE-4133-9510-5D43457D5066}" destId="{D153B3C3-0839-4561-B9BB-5F9370B07B06}" srcOrd="5" destOrd="0" presId="urn:microsoft.com/office/officeart/2008/layout/LinedList"/>
    <dgm:cxn modelId="{7F821970-4AC8-4C5A-A969-573DEDA41FA0}" type="presParOf" srcId="{D153B3C3-0839-4561-B9BB-5F9370B07B06}" destId="{5ADBCE09-6EC1-4227-BB0B-F1BD790CE577}" srcOrd="0" destOrd="0" presId="urn:microsoft.com/office/officeart/2008/layout/LinedList"/>
    <dgm:cxn modelId="{AAB04F59-53B4-49EB-9C34-51A5E359B944}" type="presParOf" srcId="{D153B3C3-0839-4561-B9BB-5F9370B07B06}" destId="{8427FEFB-25B6-4420-9AD2-8417296772A5}"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2B61F2-3BA6-4D6E-92FD-C03ABDC307E0}">
      <dsp:nvSpPr>
        <dsp:cNvPr id="0" name=""/>
        <dsp:cNvSpPr/>
      </dsp:nvSpPr>
      <dsp:spPr>
        <a:xfrm>
          <a:off x="0" y="4366"/>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8AF184-B4B7-4517-80D4-734AF4C7AFC2}">
      <dsp:nvSpPr>
        <dsp:cNvPr id="0" name=""/>
        <dsp:cNvSpPr/>
      </dsp:nvSpPr>
      <dsp:spPr>
        <a:xfrm>
          <a:off x="281355" y="213639"/>
          <a:ext cx="511556" cy="5115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4BBD71-5381-41B4-BB91-F0BDE1652AC9}">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GB" sz="1900" kern="1200"/>
            <a:t>Recap (Unit 5)</a:t>
          </a:r>
          <a:endParaRPr lang="en-US" sz="1900" kern="1200"/>
        </a:p>
      </dsp:txBody>
      <dsp:txXfrm>
        <a:off x="1074268" y="4366"/>
        <a:ext cx="5170996" cy="930102"/>
      </dsp:txXfrm>
    </dsp:sp>
    <dsp:sp modelId="{886702D6-06D6-422E-8050-333FDA3F5A6D}">
      <dsp:nvSpPr>
        <dsp:cNvPr id="0" name=""/>
        <dsp:cNvSpPr/>
      </dsp:nvSpPr>
      <dsp:spPr>
        <a:xfrm>
          <a:off x="0" y="1166994"/>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312B0B-2CD5-4473-B0C9-A99B06BB4058}">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67897A-1583-4BE3-85C5-0BE6DEA40C5A}">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GB" sz="1900" kern="1200"/>
            <a:t>Nominal, real and real effective exchange rates </a:t>
          </a:r>
          <a:endParaRPr lang="en-US" sz="1900" kern="1200"/>
        </a:p>
      </dsp:txBody>
      <dsp:txXfrm>
        <a:off x="1074268" y="1166994"/>
        <a:ext cx="5170996" cy="930102"/>
      </dsp:txXfrm>
    </dsp:sp>
    <dsp:sp modelId="{8C6E5E4F-362F-40DB-98F3-BA6635EA2404}">
      <dsp:nvSpPr>
        <dsp:cNvPr id="0" name=""/>
        <dsp:cNvSpPr/>
      </dsp:nvSpPr>
      <dsp:spPr>
        <a:xfrm>
          <a:off x="0" y="2329622"/>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653435-01AE-44D3-B473-20DA63D2EF16}">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BB70B9-22CB-4505-B5DC-A28A16B99411}">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GB" sz="1900" kern="1200"/>
            <a:t>Exchange rate regimes</a:t>
          </a:r>
          <a:endParaRPr lang="en-US" sz="1900" kern="1200"/>
        </a:p>
      </dsp:txBody>
      <dsp:txXfrm>
        <a:off x="1074268" y="2329622"/>
        <a:ext cx="5170996" cy="930102"/>
      </dsp:txXfrm>
    </dsp:sp>
    <dsp:sp modelId="{E85F6EA9-A155-4AAC-B9A8-C9422A2147D1}">
      <dsp:nvSpPr>
        <dsp:cNvPr id="0" name=""/>
        <dsp:cNvSpPr/>
      </dsp:nvSpPr>
      <dsp:spPr>
        <a:xfrm>
          <a:off x="0" y="3492250"/>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F80027-1003-4247-BB8C-E61DC696133B}">
      <dsp:nvSpPr>
        <dsp:cNvPr id="0" name=""/>
        <dsp:cNvSpPr/>
      </dsp:nvSpPr>
      <dsp:spPr>
        <a:xfrm>
          <a:off x="281355" y="3701523"/>
          <a:ext cx="511556" cy="5115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382FA9-7DC6-43A9-902A-D5C437C2CD79}">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US" sz="1900" kern="1200"/>
            <a:t>Exchange rate regimes in practice</a:t>
          </a:r>
        </a:p>
      </dsp:txBody>
      <dsp:txXfrm>
        <a:off x="1074268" y="3492250"/>
        <a:ext cx="5170996" cy="930102"/>
      </dsp:txXfrm>
    </dsp:sp>
    <dsp:sp modelId="{1E9C2F79-CE53-4E35-B347-16E367245CFD}">
      <dsp:nvSpPr>
        <dsp:cNvPr id="0" name=""/>
        <dsp:cNvSpPr/>
      </dsp:nvSpPr>
      <dsp:spPr>
        <a:xfrm>
          <a:off x="0" y="4654878"/>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B334C7-9E62-4490-86B0-C88A0AB2DCF1}">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ADC75F-E27A-4C0E-A700-526DC60F469D}">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GB" sz="1900" kern="1200"/>
            <a:t>Government deficits and foreign debt</a:t>
          </a:r>
          <a:endParaRPr lang="en-US" sz="1900" kern="1200"/>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56D31D-5A6E-4136-BEED-1D937969876E}">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00C157-7B87-4123-ABC7-13F81C79AD0A}">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962F04-CB7B-41B9-8096-7B18257327AC}">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933450">
            <a:lnSpc>
              <a:spcPct val="90000"/>
            </a:lnSpc>
            <a:spcBef>
              <a:spcPct val="0"/>
            </a:spcBef>
            <a:spcAft>
              <a:spcPct val="35000"/>
            </a:spcAft>
            <a:buNone/>
          </a:pPr>
          <a:r>
            <a:rPr lang="en-US" sz="2100" kern="1200"/>
            <a:t>A model of an economy where an independent </a:t>
          </a:r>
          <a:r>
            <a:rPr lang="en-US" sz="2100" b="1" kern="1200"/>
            <a:t>central bank </a:t>
          </a:r>
          <a:r>
            <a:rPr lang="en-US" sz="2100" kern="1200"/>
            <a:t>sets the policy interest rate in response to shocks with the objective of keeping inflation reasonably close to target. </a:t>
          </a:r>
        </a:p>
      </dsp:txBody>
      <dsp:txXfrm>
        <a:off x="1437631" y="531"/>
        <a:ext cx="9077968" cy="1244702"/>
      </dsp:txXfrm>
    </dsp:sp>
    <dsp:sp modelId="{CACBBB58-8BD1-443D-9E96-75B3E7161248}">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5C96C0-FEF6-41AB-AFC3-668FD644E32C}">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D3EB23-425A-42FE-A57C-FB0CA6458330}">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933450">
            <a:lnSpc>
              <a:spcPct val="90000"/>
            </a:lnSpc>
            <a:spcBef>
              <a:spcPct val="0"/>
            </a:spcBef>
            <a:spcAft>
              <a:spcPct val="35000"/>
            </a:spcAft>
            <a:buNone/>
          </a:pPr>
          <a:r>
            <a:rPr lang="en-US" sz="2100" kern="1200"/>
            <a:t>The ultimate determinant of inflation is the central bank’s </a:t>
          </a:r>
          <a:r>
            <a:rPr lang="en-US" sz="2100" b="1" kern="1200"/>
            <a:t>target inflation rate</a:t>
          </a:r>
          <a:r>
            <a:rPr lang="en-US" sz="2100" kern="1200"/>
            <a:t>. The central bank adjusts the interest rate to alter </a:t>
          </a:r>
          <a:r>
            <a:rPr lang="en-US" sz="2100" b="1" kern="1200"/>
            <a:t>aggregate demand</a:t>
          </a:r>
          <a:r>
            <a:rPr lang="en-US" sz="2100" kern="1200"/>
            <a:t>, so as to keep unemployment close to equilibrium, where inflation is constant. </a:t>
          </a:r>
        </a:p>
      </dsp:txBody>
      <dsp:txXfrm>
        <a:off x="1437631" y="1556410"/>
        <a:ext cx="9077968" cy="1244702"/>
      </dsp:txXfrm>
    </dsp:sp>
    <dsp:sp modelId="{B2BAF45D-FE64-4783-A3F5-F67A03EB5F7E}">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0E1689-B322-48C5-8B48-ABF880C14024}">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A8174C-7252-4E50-82E1-4DC53C44818C}">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933450">
            <a:lnSpc>
              <a:spcPct val="90000"/>
            </a:lnSpc>
            <a:spcBef>
              <a:spcPct val="0"/>
            </a:spcBef>
            <a:spcAft>
              <a:spcPct val="35000"/>
            </a:spcAft>
            <a:buNone/>
          </a:pPr>
          <a:r>
            <a:rPr lang="en-US" sz="2100" kern="1200"/>
            <a:t>To the extent that it is perceived as successful in pursuing the inflation target, this can help to </a:t>
          </a:r>
          <a:r>
            <a:rPr lang="en-US" sz="2100" b="1" kern="1200"/>
            <a:t>anchor inflation expectations</a:t>
          </a:r>
          <a:r>
            <a:rPr lang="en-US" sz="2100" kern="1200"/>
            <a:t>, and thereby reduce the output and employment costs of getting inflation under control.</a:t>
          </a:r>
        </a:p>
      </dsp:txBody>
      <dsp:txXfrm>
        <a:off x="1437631" y="3112289"/>
        <a:ext cx="9077968" cy="12447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AD34F3-8709-47CB-BA19-9DFD6BEAC8B6}">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BD6676-9B39-4D48-B595-7D0EFB53AF6B}">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DFCF12-B043-4F6A-8B24-74A385A9F53D}">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44550">
            <a:lnSpc>
              <a:spcPct val="100000"/>
            </a:lnSpc>
            <a:spcBef>
              <a:spcPct val="0"/>
            </a:spcBef>
            <a:spcAft>
              <a:spcPct val="35000"/>
            </a:spcAft>
            <a:buNone/>
          </a:pPr>
          <a:r>
            <a:rPr lang="en-US" sz="1900" kern="1200"/>
            <a:t>Taking the </a:t>
          </a:r>
          <a:r>
            <a:rPr lang="en-US" sz="1900" b="1" kern="1200"/>
            <a:t>foreign price level </a:t>
          </a:r>
          <a:r>
            <a:rPr lang="en-US" sz="1900" b="1" i="1" kern="1200"/>
            <a:t>P*</a:t>
          </a:r>
          <a:r>
            <a:rPr lang="en-US" sz="1900" b="1" kern="1200"/>
            <a:t> </a:t>
          </a:r>
          <a:r>
            <a:rPr lang="en-US" sz="1900" kern="1200"/>
            <a:t>as given, the formula tells us that there are two ways the real exchange rate can change in a flexible exchange rate regime: either through domestic inflation, or through changes in the nominal exchange rate.</a:t>
          </a:r>
        </a:p>
      </dsp:txBody>
      <dsp:txXfrm>
        <a:off x="1435590" y="531"/>
        <a:ext cx="9080009" cy="1242935"/>
      </dsp:txXfrm>
    </dsp:sp>
    <dsp:sp modelId="{B7A8994A-D203-4234-A420-F55932EA8DBA}">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827D65-58A1-4C55-9190-3ADBF10AC243}">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5D126B-0676-49E9-8DFF-6848685D0BB7}">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44550">
            <a:lnSpc>
              <a:spcPct val="100000"/>
            </a:lnSpc>
            <a:spcBef>
              <a:spcPct val="0"/>
            </a:spcBef>
            <a:spcAft>
              <a:spcPct val="35000"/>
            </a:spcAft>
            <a:buNone/>
          </a:pPr>
          <a:r>
            <a:rPr lang="en-US" sz="1900" kern="1200"/>
            <a:t>With </a:t>
          </a:r>
          <a:r>
            <a:rPr lang="en-US" sz="1900" i="1" kern="1200"/>
            <a:t>FlexIT</a:t>
          </a:r>
          <a:r>
            <a:rPr lang="en-US" sz="1900" kern="1200"/>
            <a:t> regimes in both the domestic and foreign countries, if they had similar inflation targets and get close to those targets, then </a:t>
          </a:r>
          <a:r>
            <a:rPr lang="en-US" sz="1900" i="1" kern="1200"/>
            <a:t>P </a:t>
          </a:r>
          <a:r>
            <a:rPr lang="en-US" sz="1900" kern="1200"/>
            <a:t>would change at approximately the same rate as </a:t>
          </a:r>
          <a:r>
            <a:rPr lang="en-US" sz="1900" i="1" kern="1200"/>
            <a:t>P</a:t>
          </a:r>
          <a:r>
            <a:rPr lang="en-US" sz="1900" kern="1200"/>
            <a:t>*, so the price ratio </a:t>
          </a:r>
          <a:r>
            <a:rPr lang="en-US" sz="1900" i="1" kern="1200"/>
            <a:t>P</a:t>
          </a:r>
          <a:r>
            <a:rPr lang="en-US" sz="1900" kern="1200"/>
            <a:t>*/</a:t>
          </a:r>
          <a:r>
            <a:rPr lang="en-US" sz="1900" i="1" kern="1200"/>
            <a:t>P</a:t>
          </a:r>
          <a:r>
            <a:rPr lang="en-US" sz="1900" kern="1200"/>
            <a:t> would be reasonably stable. </a:t>
          </a:r>
        </a:p>
      </dsp:txBody>
      <dsp:txXfrm>
        <a:off x="1435590" y="1554201"/>
        <a:ext cx="9080009" cy="1242935"/>
      </dsp:txXfrm>
    </dsp:sp>
    <dsp:sp modelId="{6C0AB816-3E2C-4172-9743-254396D3D24A}">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B20422-D229-49E2-923A-638B9F9A60A7}">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A44B37-ED7B-400B-8D04-2858A035C3AE}">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44550">
            <a:lnSpc>
              <a:spcPct val="100000"/>
            </a:lnSpc>
            <a:spcBef>
              <a:spcPct val="0"/>
            </a:spcBef>
            <a:spcAft>
              <a:spcPct val="35000"/>
            </a:spcAft>
            <a:buNone/>
          </a:pPr>
          <a:r>
            <a:rPr lang="en-US" sz="1900" kern="1200"/>
            <a:t>As a result, in a </a:t>
          </a:r>
          <a:r>
            <a:rPr lang="en-US" sz="1900" i="1" kern="1200"/>
            <a:t>FlexIT</a:t>
          </a:r>
          <a:r>
            <a:rPr lang="en-US" sz="1900" kern="1200"/>
            <a:t> economy, a change in the </a:t>
          </a:r>
          <a:r>
            <a:rPr lang="en-US" sz="1900" b="1" kern="1200"/>
            <a:t>nominal exchange rate, </a:t>
          </a:r>
          <a:r>
            <a:rPr lang="en-US" sz="1900" b="1" i="1" kern="1200"/>
            <a:t>e</a:t>
          </a:r>
          <a:r>
            <a:rPr lang="en-US" sz="1900" b="1" kern="1200"/>
            <a:t>,</a:t>
          </a:r>
          <a:r>
            <a:rPr lang="en-US" sz="1900" b="1" i="1" kern="1200"/>
            <a:t> </a:t>
          </a:r>
          <a:r>
            <a:rPr lang="en-US" sz="1900" kern="1200"/>
            <a:t>typically translates into a similar proportional change in the </a:t>
          </a:r>
          <a:r>
            <a:rPr lang="en-US" sz="1900" b="1" kern="1200"/>
            <a:t>real exchange rate, </a:t>
          </a:r>
          <a:r>
            <a:rPr lang="en-US" sz="1900" b="1" i="1" kern="1200"/>
            <a:t>c</a:t>
          </a:r>
          <a:r>
            <a:rPr lang="en-US" sz="1900" kern="1200"/>
            <a:t>.</a:t>
          </a:r>
        </a:p>
      </dsp:txBody>
      <dsp:txXfrm>
        <a:off x="1435590" y="3107870"/>
        <a:ext cx="9080009" cy="12429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078221-B7FC-4028-9086-32A8DB0A73A0}">
      <dsp:nvSpPr>
        <dsp:cNvPr id="0" name=""/>
        <dsp:cNvSpPr/>
      </dsp:nvSpPr>
      <dsp:spPr>
        <a:xfrm>
          <a:off x="0" y="0"/>
          <a:ext cx="8938260" cy="130540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For effects on the </a:t>
          </a:r>
          <a:r>
            <a:rPr lang="en-US" sz="2400" b="1" kern="1200"/>
            <a:t>real economy </a:t>
          </a:r>
          <a:r>
            <a:rPr lang="en-US" sz="2400" kern="1200"/>
            <a:t>in a country that is a member of a common currency area, we need to think about the </a:t>
          </a:r>
          <a:r>
            <a:rPr lang="en-US" sz="2400" i="1" kern="1200"/>
            <a:t>real</a:t>
          </a:r>
          <a:r>
            <a:rPr lang="en-US" sz="2400" kern="1200"/>
            <a:t> exchange rate.</a:t>
          </a:r>
        </a:p>
      </dsp:txBody>
      <dsp:txXfrm>
        <a:off x="38234" y="38234"/>
        <a:ext cx="7529629" cy="1228933"/>
      </dsp:txXfrm>
    </dsp:sp>
    <dsp:sp modelId="{8FC73908-2ECB-4826-A8BD-91326B380C1C}">
      <dsp:nvSpPr>
        <dsp:cNvPr id="0" name=""/>
        <dsp:cNvSpPr/>
      </dsp:nvSpPr>
      <dsp:spPr>
        <a:xfrm>
          <a:off x="788669" y="1522968"/>
          <a:ext cx="8938260" cy="1305401"/>
        </a:xfrm>
        <a:prstGeom prst="roundRect">
          <a:avLst>
            <a:gd name="adj" fmla="val 10000"/>
          </a:avLst>
        </a:prstGeom>
        <a:solidFill>
          <a:schemeClr val="accent2">
            <a:hueOff val="3183231"/>
            <a:satOff val="5400"/>
            <a:lumOff val="-1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It is straightforward to see that fixing the nominal exchange rate does </a:t>
          </a:r>
          <a:r>
            <a:rPr lang="en-US" sz="2400" i="1" kern="1200"/>
            <a:t>not</a:t>
          </a:r>
          <a:r>
            <a:rPr lang="en-US" sz="2400" kern="1200"/>
            <a:t> fix the real exchange rate. </a:t>
          </a:r>
        </a:p>
      </dsp:txBody>
      <dsp:txXfrm>
        <a:off x="826903" y="1561202"/>
        <a:ext cx="7224611" cy="1228933"/>
      </dsp:txXfrm>
    </dsp:sp>
    <dsp:sp modelId="{1ADE949C-63C6-43A7-8D87-484DA5A63EB8}">
      <dsp:nvSpPr>
        <dsp:cNvPr id="0" name=""/>
        <dsp:cNvSpPr/>
      </dsp:nvSpPr>
      <dsp:spPr>
        <a:xfrm>
          <a:off x="1577339" y="3045936"/>
          <a:ext cx="8938260" cy="1305401"/>
        </a:xfrm>
        <a:prstGeom prst="roundRect">
          <a:avLst>
            <a:gd name="adj" fmla="val 10000"/>
          </a:avLst>
        </a:prstGeom>
        <a:solidFill>
          <a:schemeClr val="accent2">
            <a:hueOff val="6366461"/>
            <a:satOff val="10800"/>
            <a:lumOff val="-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Competitiveness will only remain unchanged if prices in the two countries rise at the same rate.</a:t>
          </a:r>
        </a:p>
      </dsp:txBody>
      <dsp:txXfrm>
        <a:off x="1615573" y="3084170"/>
        <a:ext cx="7224611" cy="1228933"/>
      </dsp:txXfrm>
    </dsp:sp>
    <dsp:sp modelId="{02F80BD5-E1EA-42FE-A9B6-29823F7F3BC9}">
      <dsp:nvSpPr>
        <dsp:cNvPr id="0" name=""/>
        <dsp:cNvSpPr/>
      </dsp:nvSpPr>
      <dsp:spPr>
        <a:xfrm>
          <a:off x="8089749" y="989929"/>
          <a:ext cx="848510" cy="848510"/>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280664" y="989929"/>
        <a:ext cx="466680" cy="638504"/>
      </dsp:txXfrm>
    </dsp:sp>
    <dsp:sp modelId="{C075756C-CAB6-42DE-A841-102001F8A9B4}">
      <dsp:nvSpPr>
        <dsp:cNvPr id="0" name=""/>
        <dsp:cNvSpPr/>
      </dsp:nvSpPr>
      <dsp:spPr>
        <a:xfrm>
          <a:off x="8878419" y="2504195"/>
          <a:ext cx="848510" cy="848510"/>
        </a:xfrm>
        <a:prstGeom prst="downArrow">
          <a:avLst>
            <a:gd name="adj1" fmla="val 55000"/>
            <a:gd name="adj2" fmla="val 45000"/>
          </a:avLst>
        </a:prstGeom>
        <a:solidFill>
          <a:schemeClr val="accent2">
            <a:tint val="40000"/>
            <a:alpha val="90000"/>
            <a:hueOff val="6276057"/>
            <a:satOff val="9776"/>
            <a:lumOff val="560"/>
            <a:alphaOff val="0"/>
          </a:schemeClr>
        </a:solidFill>
        <a:ln w="12700" cap="flat" cmpd="sng" algn="ctr">
          <a:solidFill>
            <a:schemeClr val="accent2">
              <a:tint val="40000"/>
              <a:alpha val="90000"/>
              <a:hueOff val="6276057"/>
              <a:satOff val="9776"/>
              <a:lumOff val="56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69334" y="2504195"/>
        <a:ext cx="466680" cy="6385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32DE7A-6F44-435E-9651-2D9AFEDE51D1}">
      <dsp:nvSpPr>
        <dsp:cNvPr id="0" name=""/>
        <dsp:cNvSpPr/>
      </dsp:nvSpPr>
      <dsp:spPr>
        <a:xfrm>
          <a:off x="0" y="0"/>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169350-D008-4FF3-8CEA-825197D770F6}">
      <dsp:nvSpPr>
        <dsp:cNvPr id="0" name=""/>
        <dsp:cNvSpPr/>
      </dsp:nvSpPr>
      <dsp:spPr>
        <a:xfrm>
          <a:off x="0" y="0"/>
          <a:ext cx="6900512" cy="2768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i="1" kern="1200"/>
            <a:t>FlexIT economy</a:t>
          </a:r>
          <a:r>
            <a:rPr lang="en-US" sz="2300" kern="1200"/>
            <a:t>: The reversal of aggregate demand can be quite rapid. The central bank’s increase in the policy interest rate immediately causes an appreciation of home’s nominal exchange rate. Foreign exchange markets respond fast to changes in the interest rate. Prices respond more slowly so for given values of </a:t>
          </a:r>
          <a:r>
            <a:rPr lang="en-US" sz="2300" i="1" kern="1200"/>
            <a:t>P</a:t>
          </a:r>
          <a:r>
            <a:rPr lang="en-US" sz="2300" kern="1200"/>
            <a:t> and </a:t>
          </a:r>
          <a:r>
            <a:rPr lang="en-US" sz="2300" i="1" kern="1200"/>
            <a:t>P*</a:t>
          </a:r>
          <a:r>
            <a:rPr lang="en-US" sz="2300" kern="1200"/>
            <a:t>, this would also imply a </a:t>
          </a:r>
          <a:r>
            <a:rPr lang="en-US" sz="2300" i="1" kern="1200"/>
            <a:t>real</a:t>
          </a:r>
          <a:r>
            <a:rPr lang="en-US" sz="2300" kern="1200"/>
            <a:t> appreciation, offsetting the impact of the demand shock.</a:t>
          </a:r>
        </a:p>
      </dsp:txBody>
      <dsp:txXfrm>
        <a:off x="0" y="0"/>
        <a:ext cx="6900512" cy="2768070"/>
      </dsp:txXfrm>
    </dsp:sp>
    <dsp:sp modelId="{2D3DF048-38B5-4ADB-B626-E6015F7E0BD6}">
      <dsp:nvSpPr>
        <dsp:cNvPr id="0" name=""/>
        <dsp:cNvSpPr/>
      </dsp:nvSpPr>
      <dsp:spPr>
        <a:xfrm>
          <a:off x="0" y="2768070"/>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B7A871-AD88-4B97-A153-93F9A5776AED}">
      <dsp:nvSpPr>
        <dsp:cNvPr id="0" name=""/>
        <dsp:cNvSpPr/>
      </dsp:nvSpPr>
      <dsp:spPr>
        <a:xfrm>
          <a:off x="0" y="2768070"/>
          <a:ext cx="6900512" cy="2768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i="1" kern="1200"/>
            <a:t>Common currency area (extreme case of a ‘Fix’ regime)</a:t>
          </a:r>
          <a:r>
            <a:rPr lang="en-US" sz="2300" kern="1200"/>
            <a:t>: Since home’s nominal exchange rate cannot change, the aggregate demand shock is only slowly offset as higher domestic inflation produces a gradual real appreciation. If we assume that wages are set annually and prices update after the wage round, the process of real appreciation will be protracted.</a:t>
          </a:r>
        </a:p>
      </dsp:txBody>
      <dsp:txXfrm>
        <a:off x="0" y="2768070"/>
        <a:ext cx="6900512" cy="276807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2B8BCB-7572-4846-B686-026DD0930D96}">
      <dsp:nvSpPr>
        <dsp:cNvPr id="0" name=""/>
        <dsp:cNvSpPr/>
      </dsp:nvSpPr>
      <dsp:spPr>
        <a:xfrm>
          <a:off x="0" y="2703"/>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1B4D06-7883-491F-8DED-2CC631569296}">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A common currency area is the most extreme case of a fixed exchange rate. </a:t>
          </a:r>
        </a:p>
      </dsp:txBody>
      <dsp:txXfrm>
        <a:off x="0" y="2703"/>
        <a:ext cx="6900512" cy="1843578"/>
      </dsp:txXfrm>
    </dsp:sp>
    <dsp:sp modelId="{522DF77C-7417-44B1-A0D2-7CB48ACE2065}">
      <dsp:nvSpPr>
        <dsp:cNvPr id="0" name=""/>
        <dsp:cNvSpPr/>
      </dsp:nvSpPr>
      <dsp:spPr>
        <a:xfrm>
          <a:off x="0" y="1846281"/>
          <a:ext cx="6900512" cy="0"/>
        </a:xfrm>
        <a:prstGeom prst="line">
          <a:avLst/>
        </a:prstGeom>
        <a:solidFill>
          <a:schemeClr val="accent2">
            <a:hueOff val="3183231"/>
            <a:satOff val="5400"/>
            <a:lumOff val="-196"/>
            <a:alphaOff val="0"/>
          </a:schemeClr>
        </a:solidFill>
        <a:ln w="12700" cap="flat" cmpd="sng" algn="ctr">
          <a:solidFill>
            <a:schemeClr val="accent2">
              <a:hueOff val="3183231"/>
              <a:satOff val="5400"/>
              <a:lumOff val="-19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2D9FBF-5B5A-4A57-9BBB-A7E3046107AB}">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In most fixed exchange rate regimes, as conventionally defined, individual countries continue to have their own currency but hold their exchange rates constant against either one, or sometimes multiple, currencies. </a:t>
          </a:r>
        </a:p>
      </dsp:txBody>
      <dsp:txXfrm>
        <a:off x="0" y="1846281"/>
        <a:ext cx="6900512" cy="1843578"/>
      </dsp:txXfrm>
    </dsp:sp>
    <dsp:sp modelId="{37718B81-DC1A-48AB-AF36-D4826F18EA18}">
      <dsp:nvSpPr>
        <dsp:cNvPr id="0" name=""/>
        <dsp:cNvSpPr/>
      </dsp:nvSpPr>
      <dsp:spPr>
        <a:xfrm>
          <a:off x="0" y="3689859"/>
          <a:ext cx="6900512" cy="0"/>
        </a:xfrm>
        <a:prstGeom prst="line">
          <a:avLst/>
        </a:prstGeom>
        <a:solidFill>
          <a:schemeClr val="accent2">
            <a:hueOff val="6366461"/>
            <a:satOff val="10800"/>
            <a:lumOff val="-392"/>
            <a:alphaOff val="0"/>
          </a:schemeClr>
        </a:solidFill>
        <a:ln w="12700" cap="flat" cmpd="sng" algn="ctr">
          <a:solidFill>
            <a:schemeClr val="accent2">
              <a:hueOff val="6366461"/>
              <a:satOff val="10800"/>
              <a:lumOff val="-39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DBCE09-6EC1-4227-BB0B-F1BD790CE577}">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Normally we would only refer to a ‘fixed’ exchange rate as such if the government and central bank both commit to, and actually </a:t>
          </a:r>
          <a:r>
            <a:rPr lang="en-US" sz="2300" i="1" kern="1200"/>
            <a:t>maintain</a:t>
          </a:r>
          <a:r>
            <a:rPr lang="en-US" sz="2300" kern="1200"/>
            <a:t> a nominal exchange rate that is either completely fixed, or moves by only very small amounts.</a:t>
          </a:r>
        </a:p>
      </dsp:txBody>
      <dsp:txXfrm>
        <a:off x="0" y="3689859"/>
        <a:ext cx="6900512" cy="184357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9B1A07-F18E-41BE-95F5-1B9BC58AF744}" type="datetimeFigureOut">
              <a:rPr lang="en-GB" smtClean="0"/>
              <a:pPr/>
              <a:t>14/10/2025</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B638E3D-771E-4672-A11D-8D2C32B32D69}" type="slidenum">
              <a:rPr lang="en-GB" smtClean="0"/>
              <a:pPr/>
              <a:t>‹#›</a:t>
            </a:fld>
            <a:endParaRPr lang="en-GB"/>
          </a:p>
        </p:txBody>
      </p:sp>
    </p:spTree>
    <p:extLst>
      <p:ext uri="{BB962C8B-B14F-4D97-AF65-F5344CB8AC3E}">
        <p14:creationId xmlns:p14="http://schemas.microsoft.com/office/powerpoint/2010/main" val="22329738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1D4287-04A9-4C73-9D55-232C8596F91F}" type="datetimeFigureOut">
              <a:rPr lang="en-GB" smtClean="0"/>
              <a:pPr/>
              <a:t>14/10/2025</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AB5415-19B2-4E24-9144-8E58C47607AD}" type="slidenum">
              <a:rPr lang="en-GB" smtClean="0"/>
              <a:pPr/>
              <a:t>‹#›</a:t>
            </a:fld>
            <a:endParaRPr lang="en-GB"/>
          </a:p>
        </p:txBody>
      </p:sp>
    </p:spTree>
    <p:extLst>
      <p:ext uri="{BB962C8B-B14F-4D97-AF65-F5344CB8AC3E}">
        <p14:creationId xmlns:p14="http://schemas.microsoft.com/office/powerpoint/2010/main" val="76811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4</a:t>
            </a:fld>
            <a:endParaRPr lang="en-GB"/>
          </a:p>
        </p:txBody>
      </p:sp>
    </p:spTree>
    <p:extLst>
      <p:ext uri="{BB962C8B-B14F-4D97-AF65-F5344CB8AC3E}">
        <p14:creationId xmlns:p14="http://schemas.microsoft.com/office/powerpoint/2010/main" val="28672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5</a:t>
            </a:fld>
            <a:endParaRPr lang="en-GB"/>
          </a:p>
        </p:txBody>
      </p:sp>
    </p:spTree>
    <p:extLst>
      <p:ext uri="{BB962C8B-B14F-4D97-AF65-F5344CB8AC3E}">
        <p14:creationId xmlns:p14="http://schemas.microsoft.com/office/powerpoint/2010/main" val="2440455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BAB5415-19B2-4E24-9144-8E58C47607AD}" type="slidenum">
              <a:rPr lang="en-GB" smtClean="0"/>
              <a:pPr/>
              <a:t>7</a:t>
            </a:fld>
            <a:endParaRPr lang="en-GB"/>
          </a:p>
        </p:txBody>
      </p:sp>
    </p:spTree>
    <p:extLst>
      <p:ext uri="{BB962C8B-B14F-4D97-AF65-F5344CB8AC3E}">
        <p14:creationId xmlns:p14="http://schemas.microsoft.com/office/powerpoint/2010/main" val="3314303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12</a:t>
            </a:fld>
            <a:endParaRPr lang="en-GB"/>
          </a:p>
        </p:txBody>
      </p:sp>
    </p:spTree>
    <p:extLst>
      <p:ext uri="{BB962C8B-B14F-4D97-AF65-F5344CB8AC3E}">
        <p14:creationId xmlns:p14="http://schemas.microsoft.com/office/powerpoint/2010/main" val="4099542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13</a:t>
            </a:fld>
            <a:endParaRPr lang="en-GB"/>
          </a:p>
        </p:txBody>
      </p:sp>
    </p:spTree>
    <p:extLst>
      <p:ext uri="{BB962C8B-B14F-4D97-AF65-F5344CB8AC3E}">
        <p14:creationId xmlns:p14="http://schemas.microsoft.com/office/powerpoint/2010/main" val="2569184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14</a:t>
            </a:fld>
            <a:endParaRPr lang="en-GB"/>
          </a:p>
        </p:txBody>
      </p:sp>
    </p:spTree>
    <p:extLst>
      <p:ext uri="{BB962C8B-B14F-4D97-AF65-F5344CB8AC3E}">
        <p14:creationId xmlns:p14="http://schemas.microsoft.com/office/powerpoint/2010/main" val="12402420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15</a:t>
            </a:fld>
            <a:endParaRPr lang="en-GB"/>
          </a:p>
        </p:txBody>
      </p:sp>
    </p:spTree>
    <p:extLst>
      <p:ext uri="{BB962C8B-B14F-4D97-AF65-F5344CB8AC3E}">
        <p14:creationId xmlns:p14="http://schemas.microsoft.com/office/powerpoint/2010/main" val="3710526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r>
              <a:rPr lang="en-US">
                <a:cs typeface="+mn-lt"/>
              </a:rPr>
            </a:br>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16</a:t>
            </a:fld>
            <a:endParaRPr lang="en-GB"/>
          </a:p>
        </p:txBody>
      </p:sp>
    </p:spTree>
    <p:extLst>
      <p:ext uri="{BB962C8B-B14F-4D97-AF65-F5344CB8AC3E}">
        <p14:creationId xmlns:p14="http://schemas.microsoft.com/office/powerpoint/2010/main" val="3846072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17</a:t>
            </a:fld>
            <a:endParaRPr lang="en-GB"/>
          </a:p>
        </p:txBody>
      </p:sp>
    </p:spTree>
    <p:extLst>
      <p:ext uri="{BB962C8B-B14F-4D97-AF65-F5344CB8AC3E}">
        <p14:creationId xmlns:p14="http://schemas.microsoft.com/office/powerpoint/2010/main" val="2297718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19</a:t>
            </a:fld>
            <a:endParaRPr lang="en-GB"/>
          </a:p>
        </p:txBody>
      </p:sp>
    </p:spTree>
    <p:extLst>
      <p:ext uri="{BB962C8B-B14F-4D97-AF65-F5344CB8AC3E}">
        <p14:creationId xmlns:p14="http://schemas.microsoft.com/office/powerpoint/2010/main" val="14629822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20</a:t>
            </a:fld>
            <a:endParaRPr lang="en-GB"/>
          </a:p>
        </p:txBody>
      </p:sp>
    </p:spTree>
    <p:extLst>
      <p:ext uri="{BB962C8B-B14F-4D97-AF65-F5344CB8AC3E}">
        <p14:creationId xmlns:p14="http://schemas.microsoft.com/office/powerpoint/2010/main" val="2940713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21</a:t>
            </a:fld>
            <a:endParaRPr lang="en-GB"/>
          </a:p>
        </p:txBody>
      </p:sp>
    </p:spTree>
    <p:extLst>
      <p:ext uri="{BB962C8B-B14F-4D97-AF65-F5344CB8AC3E}">
        <p14:creationId xmlns:p14="http://schemas.microsoft.com/office/powerpoint/2010/main" val="32185794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BAB5415-19B2-4E24-9144-8E58C47607AD}" type="slidenum">
              <a:rPr lang="en-GB" smtClean="0"/>
              <a:pPr/>
              <a:t>22</a:t>
            </a:fld>
            <a:endParaRPr lang="en-GB"/>
          </a:p>
        </p:txBody>
      </p:sp>
    </p:spTree>
    <p:extLst>
      <p:ext uri="{BB962C8B-B14F-4D97-AF65-F5344CB8AC3E}">
        <p14:creationId xmlns:p14="http://schemas.microsoft.com/office/powerpoint/2010/main" val="3197196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BAB5415-19B2-4E24-9144-8E58C47607AD}" type="slidenum">
              <a:rPr lang="en-GB" smtClean="0"/>
              <a:pPr/>
              <a:t>27</a:t>
            </a:fld>
            <a:endParaRPr lang="en-GB"/>
          </a:p>
        </p:txBody>
      </p:sp>
    </p:spTree>
    <p:extLst>
      <p:ext uri="{BB962C8B-B14F-4D97-AF65-F5344CB8AC3E}">
        <p14:creationId xmlns:p14="http://schemas.microsoft.com/office/powerpoint/2010/main" val="40624083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28</a:t>
            </a:fld>
            <a:endParaRPr lang="en-GB"/>
          </a:p>
        </p:txBody>
      </p:sp>
    </p:spTree>
    <p:extLst>
      <p:ext uri="{BB962C8B-B14F-4D97-AF65-F5344CB8AC3E}">
        <p14:creationId xmlns:p14="http://schemas.microsoft.com/office/powerpoint/2010/main" val="1999826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29</a:t>
            </a:fld>
            <a:endParaRPr lang="en-GB"/>
          </a:p>
        </p:txBody>
      </p:sp>
    </p:spTree>
    <p:extLst>
      <p:ext uri="{BB962C8B-B14F-4D97-AF65-F5344CB8AC3E}">
        <p14:creationId xmlns:p14="http://schemas.microsoft.com/office/powerpoint/2010/main" val="4711220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31</a:t>
            </a:fld>
            <a:endParaRPr lang="en-GB"/>
          </a:p>
        </p:txBody>
      </p:sp>
    </p:spTree>
    <p:extLst>
      <p:ext uri="{BB962C8B-B14F-4D97-AF65-F5344CB8AC3E}">
        <p14:creationId xmlns:p14="http://schemas.microsoft.com/office/powerpoint/2010/main" val="40842178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32</a:t>
            </a:fld>
            <a:endParaRPr lang="en-GB"/>
          </a:p>
        </p:txBody>
      </p:sp>
    </p:spTree>
    <p:extLst>
      <p:ext uri="{BB962C8B-B14F-4D97-AF65-F5344CB8AC3E}">
        <p14:creationId xmlns:p14="http://schemas.microsoft.com/office/powerpoint/2010/main" val="24500608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BAB5415-19B2-4E24-9144-8E58C47607AD}" type="slidenum">
              <a:rPr lang="en-GB" smtClean="0"/>
              <a:pPr/>
              <a:t>33</a:t>
            </a:fld>
            <a:endParaRPr lang="en-GB"/>
          </a:p>
        </p:txBody>
      </p:sp>
    </p:spTree>
    <p:extLst>
      <p:ext uri="{BB962C8B-B14F-4D97-AF65-F5344CB8AC3E}">
        <p14:creationId xmlns:p14="http://schemas.microsoft.com/office/powerpoint/2010/main" val="20776257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ea typeface="Calibri"/>
              <a:cs typeface="Calibri"/>
            </a:endParaRPr>
          </a:p>
        </p:txBody>
      </p:sp>
      <p:sp>
        <p:nvSpPr>
          <p:cNvPr id="4" name="Slide Number Placeholder 3"/>
          <p:cNvSpPr>
            <a:spLocks noGrp="1"/>
          </p:cNvSpPr>
          <p:nvPr>
            <p:ph type="sldNum" sz="quarter" idx="5"/>
          </p:nvPr>
        </p:nvSpPr>
        <p:spPr/>
        <p:txBody>
          <a:bodyPr/>
          <a:lstStyle/>
          <a:p>
            <a:fld id="{8BAB5415-19B2-4E24-9144-8E58C47607AD}" type="slidenum">
              <a:rPr lang="en-GB" smtClean="0"/>
              <a:pPr/>
              <a:t>34</a:t>
            </a:fld>
            <a:endParaRPr lang="en-GB"/>
          </a:p>
        </p:txBody>
      </p:sp>
    </p:spTree>
    <p:extLst>
      <p:ext uri="{BB962C8B-B14F-4D97-AF65-F5344CB8AC3E}">
        <p14:creationId xmlns:p14="http://schemas.microsoft.com/office/powerpoint/2010/main" val="1238570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31443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47039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491705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57978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10/14/2025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2319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10/14/2025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98430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08928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10860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894519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78976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85190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10/14/2025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41802196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2.svg"/></Relationships>
</file>

<file path=ppt/slides/_rels/slide20.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33.jpeg"/><Relationship Id="rId7" Type="http://schemas.openxmlformats.org/officeDocument/2006/relationships/diagramQuickStyle" Target="../diagrams/quickStyle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34.png"/><Relationship Id="rId9" Type="http://schemas.microsoft.com/office/2007/relationships/diagramDrawing" Target="../diagrams/drawing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C35A348-C5D6-4112-9FDD-93A493B01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199" y="4428000"/>
            <a:ext cx="6143626" cy="1400400"/>
          </a:xfrm>
        </p:spPr>
        <p:txBody>
          <a:bodyPr vert="horz" wrap="square" lIns="91440" tIns="45720" rIns="91440" bIns="45720" rtlCol="0" anchor="b">
            <a:normAutofit/>
          </a:bodyPr>
          <a:lstStyle/>
          <a:p>
            <a:r>
              <a:rPr lang="en-US" sz="5600" kern="1200">
                <a:solidFill>
                  <a:schemeClr val="bg1"/>
                </a:solidFill>
                <a:latin typeface="+mj-lt"/>
                <a:ea typeface="+mj-ea"/>
                <a:cs typeface="+mj-cs"/>
              </a:rPr>
              <a:t>Unit 7</a:t>
            </a:r>
          </a:p>
        </p:txBody>
      </p:sp>
      <p:sp>
        <p:nvSpPr>
          <p:cNvPr id="3" name="Subtitle 2"/>
          <p:cNvSpPr>
            <a:spLocks noGrp="1"/>
          </p:cNvSpPr>
          <p:nvPr>
            <p:ph type="body" sz="half" idx="2"/>
          </p:nvPr>
        </p:nvSpPr>
        <p:spPr>
          <a:xfrm>
            <a:off x="7859713" y="4716472"/>
            <a:ext cx="3494088" cy="1017896"/>
          </a:xfrm>
        </p:spPr>
        <p:txBody>
          <a:bodyPr vert="horz" lIns="91440" tIns="45720" rIns="91440" bIns="45720" rtlCol="0" anchor="b">
            <a:normAutofit/>
          </a:bodyPr>
          <a:lstStyle/>
          <a:p>
            <a:r>
              <a:rPr lang="en-US" sz="2400" kern="1200" cap="all">
                <a:solidFill>
                  <a:schemeClr val="bg1"/>
                </a:solidFill>
                <a:latin typeface="+mn-lt"/>
                <a:ea typeface="+mn-ea"/>
                <a:cs typeface="+mn-cs"/>
              </a:rPr>
              <a:t>Macroeconomic policy in the global economy</a:t>
            </a:r>
          </a:p>
        </p:txBody>
      </p:sp>
      <p:pic>
        <p:nvPicPr>
          <p:cNvPr id="7" name="Picture 6" descr="A pile of paper money and coins&#10;&#10;AI-generated content may be incorrect.">
            <a:extLst>
              <a:ext uri="{FF2B5EF4-FFF2-40B4-BE49-F238E27FC236}">
                <a16:creationId xmlns:a16="http://schemas.microsoft.com/office/drawing/2014/main" id="{F785BE3D-9478-0891-EDEB-26D67FD2A4EE}"/>
              </a:ext>
            </a:extLst>
          </p:cNvPr>
          <p:cNvPicPr>
            <a:picLocks noChangeAspect="1"/>
          </p:cNvPicPr>
          <p:nvPr/>
        </p:nvPicPr>
        <p:blipFill>
          <a:blip r:embed="rId2"/>
          <a:srcRect r="2380" b="-3"/>
          <a:stretch>
            <a:fillRect/>
          </a:stretch>
        </p:blipFill>
        <p:spPr>
          <a:xfrm>
            <a:off x="20" y="10"/>
            <a:ext cx="4000480" cy="4005933"/>
          </a:xfrm>
          <a:custGeom>
            <a:avLst/>
            <a:gdLst/>
            <a:ahLst/>
            <a:cxnLst/>
            <a:rect l="l" t="t" r="r" b="b"/>
            <a:pathLst>
              <a:path w="4000500" h="4005943">
                <a:moveTo>
                  <a:pt x="0" y="0"/>
                </a:moveTo>
                <a:lnTo>
                  <a:pt x="4000500" y="0"/>
                </a:lnTo>
                <a:lnTo>
                  <a:pt x="4000500" y="3936797"/>
                </a:lnTo>
                <a:lnTo>
                  <a:pt x="3316514" y="4005943"/>
                </a:lnTo>
                <a:lnTo>
                  <a:pt x="0" y="3964175"/>
                </a:lnTo>
                <a:close/>
              </a:path>
            </a:pathLst>
          </a:custGeom>
        </p:spPr>
      </p:pic>
      <p:pic>
        <p:nvPicPr>
          <p:cNvPr id="6" name="Picture 5" descr="A pile of paper money and coins&#10;&#10;AI-generated content may be incorrect.">
            <a:extLst>
              <a:ext uri="{FF2B5EF4-FFF2-40B4-BE49-F238E27FC236}">
                <a16:creationId xmlns:a16="http://schemas.microsoft.com/office/drawing/2014/main" id="{D392A17A-06F8-4224-AF63-DCB5055065BC}"/>
              </a:ext>
            </a:extLst>
          </p:cNvPr>
          <p:cNvPicPr>
            <a:picLocks noChangeAspect="1"/>
          </p:cNvPicPr>
          <p:nvPr/>
        </p:nvPicPr>
        <p:blipFill>
          <a:blip r:embed="rId3"/>
          <a:srcRect l="7569" r="1984"/>
          <a:stretch>
            <a:fillRect/>
          </a:stretch>
        </p:blipFill>
        <p:spPr>
          <a:xfrm>
            <a:off x="4191002" y="10"/>
            <a:ext cx="3809998" cy="3917529"/>
          </a:xfrm>
          <a:custGeom>
            <a:avLst/>
            <a:gdLst/>
            <a:ahLst/>
            <a:cxnLst/>
            <a:rect l="l" t="t" r="r" b="b"/>
            <a:pathLst>
              <a:path w="3809998" h="3917539">
                <a:moveTo>
                  <a:pt x="0" y="0"/>
                </a:moveTo>
                <a:lnTo>
                  <a:pt x="3809998" y="0"/>
                </a:lnTo>
                <a:lnTo>
                  <a:pt x="3809998" y="3909212"/>
                </a:lnTo>
                <a:lnTo>
                  <a:pt x="1781628" y="3737429"/>
                </a:lnTo>
                <a:lnTo>
                  <a:pt x="0" y="3917539"/>
                </a:lnTo>
                <a:close/>
              </a:path>
            </a:pathLst>
          </a:custGeom>
        </p:spPr>
      </p:pic>
      <p:pic>
        <p:nvPicPr>
          <p:cNvPr id="5" name="Picture 4" descr="A screenshot of a graph&#10;&#10;AI-generated content may be incorrect.">
            <a:extLst>
              <a:ext uri="{FF2B5EF4-FFF2-40B4-BE49-F238E27FC236}">
                <a16:creationId xmlns:a16="http://schemas.microsoft.com/office/drawing/2014/main" id="{D38CECF7-B0D3-E5F6-E864-009DC5311A64}"/>
              </a:ext>
            </a:extLst>
          </p:cNvPr>
          <p:cNvPicPr>
            <a:picLocks noChangeAspect="1"/>
          </p:cNvPicPr>
          <p:nvPr/>
        </p:nvPicPr>
        <p:blipFill>
          <a:blip r:embed="rId4"/>
          <a:srcRect b="5738"/>
          <a:stretch>
            <a:fillRect/>
          </a:stretch>
        </p:blipFill>
        <p:spPr>
          <a:xfrm>
            <a:off x="8191500" y="10"/>
            <a:ext cx="4000500" cy="3959022"/>
          </a:xfrm>
          <a:custGeom>
            <a:avLst/>
            <a:gdLst/>
            <a:ahLst/>
            <a:cxnLst/>
            <a:rect l="l" t="t" r="r" b="b"/>
            <a:pathLst>
              <a:path w="4000500" h="3959032">
                <a:moveTo>
                  <a:pt x="0" y="0"/>
                </a:moveTo>
                <a:lnTo>
                  <a:pt x="4000500" y="0"/>
                </a:lnTo>
                <a:lnTo>
                  <a:pt x="4000500" y="3959032"/>
                </a:lnTo>
                <a:lnTo>
                  <a:pt x="9072" y="3926114"/>
                </a:lnTo>
                <a:lnTo>
                  <a:pt x="0" y="3925346"/>
                </a:lnTo>
                <a:close/>
              </a:path>
            </a:pathLst>
          </a:custGeom>
          <a:noFill/>
        </p:spPr>
      </p:pic>
      <p:grpSp>
        <p:nvGrpSpPr>
          <p:cNvPr id="14" name="Group 13">
            <a:extLst>
              <a:ext uri="{FF2B5EF4-FFF2-40B4-BE49-F238E27FC236}">
                <a16:creationId xmlns:a16="http://schemas.microsoft.com/office/drawing/2014/main" id="{AC0B7807-0C83-4963-821A-69B172722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15" name="Freeform: Shape 14">
              <a:extLst>
                <a:ext uri="{FF2B5EF4-FFF2-40B4-BE49-F238E27FC236}">
                  <a16:creationId xmlns:a16="http://schemas.microsoft.com/office/drawing/2014/main" id="{BB027EC7-3252-48A2-A7A4-1741F72E4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4EBC51E4-7477-4290-BBD0-18AD942C3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5">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928065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TextBox 5"/>
          <p:cNvSpPr txBox="1"/>
          <p:nvPr/>
        </p:nvSpPr>
        <p:spPr>
          <a:xfrm>
            <a:off x="479394" y="1070800"/>
            <a:ext cx="3939688" cy="5583126"/>
          </a:xfrm>
          <a:prstGeom prst="rect">
            <a:avLst/>
          </a:prstGeom>
        </p:spPr>
        <p:txBody>
          <a:bodyPr vert="horz" lIns="91440" tIns="45720" rIns="91440" bIns="45720" rtlCol="0" anchor="ctr">
            <a:normAutofit/>
          </a:bodyPr>
          <a:lstStyle/>
          <a:p>
            <a:pPr algn="r">
              <a:lnSpc>
                <a:spcPct val="90000"/>
              </a:lnSpc>
              <a:spcBef>
                <a:spcPct val="0"/>
              </a:spcBef>
              <a:spcAft>
                <a:spcPts val="600"/>
              </a:spcAft>
            </a:pPr>
            <a:r>
              <a:rPr lang="en-US" sz="8000" kern="1200">
                <a:solidFill>
                  <a:schemeClr val="tx1"/>
                </a:solidFill>
                <a:latin typeface="+mj-lt"/>
                <a:ea typeface="+mj-ea"/>
                <a:cs typeface="+mj-cs"/>
              </a:rPr>
              <a:t>OUTLINE</a:t>
            </a:r>
          </a:p>
        </p:txBody>
      </p:sp>
      <p:cxnSp>
        <p:nvCxnSpPr>
          <p:cNvPr id="27" name="Straight Connector 26">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28" name="Content Placeholder 2">
            <a:extLst>
              <a:ext uri="{FF2B5EF4-FFF2-40B4-BE49-F238E27FC236}">
                <a16:creationId xmlns:a16="http://schemas.microsoft.com/office/drawing/2014/main" id="{F4306F7E-F8A0-D9B1-5154-EFD80598B708}"/>
              </a:ext>
            </a:extLst>
          </p:cNvPr>
          <p:cNvGraphicFramePr>
            <a:graphicFrameLocks noGrp="1"/>
          </p:cNvGraphicFramePr>
          <p:nvPr>
            <p:ph idx="1"/>
            <p:extLst>
              <p:ext uri="{D42A27DB-BD31-4B8C-83A1-F6EECF244321}">
                <p14:modId xmlns:p14="http://schemas.microsoft.com/office/powerpoint/2010/main" val="1857505629"/>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4716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7" name="Arc 16">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Title 3"/>
          <p:cNvSpPr>
            <a:spLocks noGrp="1"/>
          </p:cNvSpPr>
          <p:nvPr>
            <p:ph type="title"/>
          </p:nvPr>
        </p:nvSpPr>
        <p:spPr>
          <a:xfrm>
            <a:off x="4038600" y="1939159"/>
            <a:ext cx="7644627" cy="2751086"/>
          </a:xfrm>
        </p:spPr>
        <p:txBody>
          <a:bodyPr vert="horz" lIns="91440" tIns="45720" rIns="91440" bIns="45720" rtlCol="0" anchor="b">
            <a:normAutofit/>
          </a:bodyPr>
          <a:lstStyle/>
          <a:p>
            <a:pPr algn="r"/>
            <a:r>
              <a:rPr lang="en-US" kern="1200">
                <a:solidFill>
                  <a:schemeClr val="tx1"/>
                </a:solidFill>
                <a:latin typeface="+mj-lt"/>
                <a:ea typeface="+mj-ea"/>
                <a:cs typeface="+mj-cs"/>
              </a:rPr>
              <a:t>A. Recap</a:t>
            </a:r>
          </a:p>
        </p:txBody>
      </p:sp>
    </p:spTree>
    <p:extLst>
      <p:ext uri="{BB962C8B-B14F-4D97-AF65-F5344CB8AC3E}">
        <p14:creationId xmlns:p14="http://schemas.microsoft.com/office/powerpoint/2010/main" val="1042263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443" name="Rectangle 60442">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256032"/>
            <a:ext cx="10506456" cy="1014984"/>
          </a:xfrm>
        </p:spPr>
        <p:txBody>
          <a:bodyPr anchor="b">
            <a:normAutofit/>
          </a:bodyPr>
          <a:lstStyle/>
          <a:p>
            <a:r>
              <a:rPr lang="en-GB">
                <a:latin typeface="+mn-lt"/>
              </a:rPr>
              <a:t>Unit 5 recap</a:t>
            </a:r>
          </a:p>
        </p:txBody>
      </p:sp>
      <p:sp>
        <p:nvSpPr>
          <p:cNvPr id="60444" name="Rectangle 60443">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0445" name="Rectangle 6044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0446" name="Content Placeholder 2">
            <a:extLst>
              <a:ext uri="{FF2B5EF4-FFF2-40B4-BE49-F238E27FC236}">
                <a16:creationId xmlns:a16="http://schemas.microsoft.com/office/drawing/2014/main" id="{9F2CC5EC-2A98-AD65-98DA-F3CB48AB590A}"/>
              </a:ext>
            </a:extLst>
          </p:cNvPr>
          <p:cNvGraphicFramePr>
            <a:graphicFrameLocks noGrp="1"/>
          </p:cNvGraphicFramePr>
          <p:nvPr>
            <p:ph idx="1"/>
            <p:extLst>
              <p:ext uri="{D42A27DB-BD31-4B8C-83A1-F6EECF244321}">
                <p14:modId xmlns:p14="http://schemas.microsoft.com/office/powerpoint/2010/main" val="220237322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747666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424" name="Rectangle 60423">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Unit 5 recap</a:t>
            </a:r>
          </a:p>
        </p:txBody>
      </p:sp>
      <p:sp>
        <p:nvSpPr>
          <p:cNvPr id="60425"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https://lh7-rt.googleusercontent.com/docsz/AD_4nXcHa7gcukKddREJzGsoSmwfRrDWiw0Yyy4ZfqP0rlKjUwbPcc0oX5d6CzgfxDMNqdAwJUG-SZ4vhGy9ROcJAzK-9otqSdW3aHko_GP1YeEsvYuKuOE_8fWnKy8AGCfRvIDmBvHRqtJl0lLX9oV-yA?key=jmyBMKYhFLG0PU4mNx99hw">
            <a:extLst>
              <a:ext uri="{FF2B5EF4-FFF2-40B4-BE49-F238E27FC236}">
                <a16:creationId xmlns:a16="http://schemas.microsoft.com/office/drawing/2014/main" id="{98A6BFF9-8586-473A-846F-EBDF9817DE2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54296" y="1034461"/>
            <a:ext cx="7214616" cy="4761645"/>
          </a:xfrm>
          <a:prstGeom prst="rect">
            <a:avLst/>
          </a:prstGeom>
          <a:noFill/>
          <a:extLst>
            <a:ext uri="{909E8E84-426E-40DD-AFC4-6F175D3DCCD1}">
              <a14:hiddenFill xmlns:a14="http://schemas.microsoft.com/office/drawing/2010/main">
                <a:solidFill>
                  <a:srgbClr val="FFFFFF"/>
                </a:solidFill>
              </a14:hiddenFill>
            </a:ext>
          </a:extLst>
        </p:spPr>
      </p:pic>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701270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29BA5D-1E33-7C60-6A33-1D0285185A64}"/>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2FF7511A-24F1-169C-72E3-14A432F30F38}"/>
              </a:ext>
            </a:extLst>
          </p:cNvPr>
          <p:cNvSpPr>
            <a:spLocks noGrp="1"/>
          </p:cNvSpPr>
          <p:nvPr>
            <p:ph type="title"/>
          </p:nvPr>
        </p:nvSpPr>
        <p:spPr>
          <a:xfrm>
            <a:off x="4038600" y="1939159"/>
            <a:ext cx="7644627" cy="2751086"/>
          </a:xfrm>
        </p:spPr>
        <p:txBody>
          <a:bodyPr vert="horz" lIns="91440" tIns="45720" rIns="91440" bIns="45720" rtlCol="0" anchor="b">
            <a:normAutofit/>
          </a:bodyPr>
          <a:lstStyle/>
          <a:p>
            <a:pPr algn="r"/>
            <a:r>
              <a:rPr lang="en-US"/>
              <a:t>B. Nominal, real and real effective exchange rates</a:t>
            </a:r>
            <a:endParaRPr lang="en-US" kern="1200">
              <a:solidFill>
                <a:schemeClr val="tx1"/>
              </a:solidFill>
              <a:latin typeface="+mj-lt"/>
              <a:ea typeface="+mj-ea"/>
              <a:cs typeface="+mj-cs"/>
            </a:endParaRPr>
          </a:p>
        </p:txBody>
      </p:sp>
    </p:spTree>
    <p:extLst>
      <p:ext uri="{BB962C8B-B14F-4D97-AF65-F5344CB8AC3E}">
        <p14:creationId xmlns:p14="http://schemas.microsoft.com/office/powerpoint/2010/main" val="3984110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455" name="Rectangle 6045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56" name="Freeform: Shape 6045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idx="4294967295"/>
          </p:nvPr>
        </p:nvSpPr>
        <p:spPr>
          <a:xfrm>
            <a:off x="686834" y="1153572"/>
            <a:ext cx="3200400" cy="4461163"/>
          </a:xfrm>
        </p:spPr>
        <p:txBody>
          <a:bodyPr vert="horz" lIns="91440" tIns="45720" rIns="91440" bIns="45720" rtlCol="0" anchor="ctr">
            <a:normAutofit/>
          </a:bodyPr>
          <a:lstStyle/>
          <a:p>
            <a:r>
              <a:rPr lang="en-US" kern="1200">
                <a:solidFill>
                  <a:srgbClr val="FFFFFF"/>
                </a:solidFill>
                <a:latin typeface="+mj-lt"/>
                <a:ea typeface="+mj-ea"/>
                <a:cs typeface="+mj-cs"/>
              </a:rPr>
              <a:t>Nominal and real exchange rate</a:t>
            </a:r>
          </a:p>
        </p:txBody>
      </p:sp>
      <p:sp>
        <p:nvSpPr>
          <p:cNvPr id="60457" name="Arc 6045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777ADC-60B1-043F-9813-412CB37E5263}"/>
              </a:ext>
            </a:extLst>
          </p:cNvPr>
          <p:cNvSpPr>
            <a:spLocks noGrp="1"/>
          </p:cNvSpPr>
          <p:nvPr>
            <p:ph idx="4294967295"/>
          </p:nvPr>
        </p:nvSpPr>
        <p:spPr>
          <a:xfrm>
            <a:off x="4447308" y="591344"/>
            <a:ext cx="6906491" cy="5585619"/>
          </a:xfrm>
        </p:spPr>
        <p:txBody>
          <a:bodyPr vert="horz" lIns="91440" tIns="45720" rIns="91440" bIns="45720" rtlCol="0" anchor="ctr">
            <a:normAutofit/>
          </a:bodyPr>
          <a:lstStyle/>
          <a:p>
            <a:r>
              <a:rPr lang="en-US"/>
              <a:t>The </a:t>
            </a:r>
            <a:r>
              <a:rPr lang="en-US" b="1"/>
              <a:t>nominal exchange rate </a:t>
            </a:r>
            <a:r>
              <a:rPr lang="en-US" b="1" i="1"/>
              <a:t>e </a:t>
            </a:r>
            <a:r>
              <a:rPr lang="en-US"/>
              <a:t>is the number of units of home currency that must be exchanged to obtain a unit of foreign currency.</a:t>
            </a:r>
          </a:p>
          <a:p>
            <a:r>
              <a:rPr lang="en-US"/>
              <a:t>The </a:t>
            </a:r>
            <a:r>
              <a:rPr lang="en-US" b="1"/>
              <a:t>real exchange rate</a:t>
            </a:r>
            <a:r>
              <a:rPr lang="en-US"/>
              <a:t>, which is a measure of competitiveness, is given by </a:t>
            </a:r>
            <a:r>
              <a:rPr lang="en-US" i="1"/>
              <a:t>c </a:t>
            </a:r>
            <a:r>
              <a:rPr lang="en-US"/>
              <a:t>= </a:t>
            </a:r>
            <a:r>
              <a:rPr lang="en-US" i="1" err="1"/>
              <a:t>eP</a:t>
            </a:r>
            <a:r>
              <a:rPr lang="en-US"/>
              <a:t>*/</a:t>
            </a:r>
            <a:r>
              <a:rPr lang="en-US" i="1"/>
              <a:t>P</a:t>
            </a:r>
            <a:r>
              <a:rPr lang="en-US"/>
              <a:t> where </a:t>
            </a:r>
            <a:r>
              <a:rPr lang="en-US" i="1"/>
              <a:t>P* </a:t>
            </a:r>
            <a:r>
              <a:rPr lang="en-US"/>
              <a:t>and </a:t>
            </a:r>
            <a:r>
              <a:rPr lang="en-US" i="1"/>
              <a:t>P </a:t>
            </a:r>
            <a:r>
              <a:rPr lang="en-US"/>
              <a:t>are the foreign and domestic price levels.</a:t>
            </a:r>
          </a:p>
          <a:p>
            <a:r>
              <a:rPr lang="en-US"/>
              <a:t>A depreciation of the real exchange rate corresponds to a rise in competitiveness </a:t>
            </a:r>
            <a:r>
              <a:rPr lang="en-US" i="1"/>
              <a:t>c</a:t>
            </a:r>
            <a:r>
              <a:rPr lang="en-US"/>
              <a:t>: it means that domestic goods become cheaper relative to foreign goods.</a:t>
            </a:r>
          </a:p>
        </p:txBody>
      </p:sp>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2338946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EDF20C-C26C-01C5-0D85-892161FE5531}"/>
              </a:ext>
            </a:extLst>
          </p:cNvPr>
          <p:cNvSpPr>
            <a:spLocks noGrp="1"/>
          </p:cNvSpPr>
          <p:nvPr>
            <p:ph type="title"/>
          </p:nvPr>
        </p:nvSpPr>
        <p:spPr>
          <a:xfrm>
            <a:off x="686834" y="1153572"/>
            <a:ext cx="3200400" cy="4461163"/>
          </a:xfrm>
        </p:spPr>
        <p:txBody>
          <a:bodyPr>
            <a:normAutofit/>
          </a:bodyPr>
          <a:lstStyle/>
          <a:p>
            <a:r>
              <a:rPr lang="en-ZA" b="1">
                <a:solidFill>
                  <a:srgbClr val="FFFFFF"/>
                </a:solidFill>
              </a:rPr>
              <a:t>Real Effective Exchange Rate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678E6AA-66FF-EF23-FD07-4C3AAD56227F}"/>
              </a:ext>
            </a:extLst>
          </p:cNvPr>
          <p:cNvSpPr>
            <a:spLocks noGrp="1"/>
          </p:cNvSpPr>
          <p:nvPr>
            <p:ph idx="1"/>
          </p:nvPr>
        </p:nvSpPr>
        <p:spPr>
          <a:xfrm>
            <a:off x="4447308" y="591344"/>
            <a:ext cx="6906491" cy="5585619"/>
          </a:xfrm>
        </p:spPr>
        <p:txBody>
          <a:bodyPr anchor="ctr">
            <a:normAutofit/>
          </a:bodyPr>
          <a:lstStyle/>
          <a:p>
            <a:r>
              <a:rPr lang="en-ZA"/>
              <a:t>The </a:t>
            </a:r>
            <a:r>
              <a:rPr lang="en-ZA" b="1"/>
              <a:t>Real Effective Exchange Rate (REER)</a:t>
            </a:r>
            <a:r>
              <a:rPr lang="en-ZA"/>
              <a:t> of the </a:t>
            </a:r>
            <a:r>
              <a:rPr lang="en-ZA" b="1"/>
              <a:t>South African rand</a:t>
            </a:r>
            <a:r>
              <a:rPr lang="en-ZA"/>
              <a:t> is a measure of the value of the rand against a </a:t>
            </a:r>
            <a:r>
              <a:rPr lang="en-ZA" b="1"/>
              <a:t>basket of currencies of South Africa’s major trading partners</a:t>
            </a:r>
            <a:r>
              <a:rPr lang="en-ZA"/>
              <a:t>, </a:t>
            </a:r>
            <a:r>
              <a:rPr lang="en-ZA" b="1"/>
              <a:t>adjusted for differences in inflation</a:t>
            </a:r>
            <a:r>
              <a:rPr lang="en-ZA"/>
              <a:t> between South Africa and those countries.</a:t>
            </a:r>
          </a:p>
          <a:p>
            <a:pPr lvl="1"/>
            <a:r>
              <a:rPr lang="en-ZA"/>
              <a:t>It shows how competitive South Africa’s goods and services are internationally, after taking into account both exchange rate movements and inflation.</a:t>
            </a:r>
          </a:p>
          <a:p>
            <a:endParaRPr lang="en-ZA"/>
          </a:p>
        </p:txBody>
      </p:sp>
    </p:spTree>
    <p:extLst>
      <p:ext uri="{BB962C8B-B14F-4D97-AF65-F5344CB8AC3E}">
        <p14:creationId xmlns:p14="http://schemas.microsoft.com/office/powerpoint/2010/main" val="3399178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74B6AD-8E90-1F6A-73F2-CC633F8877D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84D506-879C-6EAE-1504-B05C4434DEF5}"/>
              </a:ext>
            </a:extLst>
          </p:cNvPr>
          <p:cNvSpPr>
            <a:spLocks noGrp="1"/>
          </p:cNvSpPr>
          <p:nvPr>
            <p:ph type="title"/>
          </p:nvPr>
        </p:nvSpPr>
        <p:spPr>
          <a:xfrm>
            <a:off x="686834" y="1153572"/>
            <a:ext cx="3200400" cy="4461163"/>
          </a:xfrm>
        </p:spPr>
        <p:txBody>
          <a:bodyPr>
            <a:normAutofit/>
          </a:bodyPr>
          <a:lstStyle/>
          <a:p>
            <a:r>
              <a:rPr lang="en-ZA" b="1">
                <a:solidFill>
                  <a:srgbClr val="FFFFFF"/>
                </a:solidFill>
              </a:rPr>
              <a:t>Real Effective Exchange Rate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EC500F7-5BA2-38E3-53A6-5E875AE644BE}"/>
              </a:ext>
            </a:extLst>
          </p:cNvPr>
          <p:cNvSpPr>
            <a:spLocks noGrp="1"/>
          </p:cNvSpPr>
          <p:nvPr>
            <p:ph idx="1"/>
          </p:nvPr>
        </p:nvSpPr>
        <p:spPr>
          <a:xfrm>
            <a:off x="4447308" y="591344"/>
            <a:ext cx="6906491" cy="5585619"/>
          </a:xfrm>
        </p:spPr>
        <p:txBody>
          <a:bodyPr anchor="ctr">
            <a:normAutofit/>
          </a:bodyPr>
          <a:lstStyle/>
          <a:p>
            <a:pPr lvl="0"/>
            <a:r>
              <a:rPr lang="en-ZA" sz="2400" b="1"/>
              <a:t>If the REER rises (appreciates):</a:t>
            </a:r>
            <a:br>
              <a:rPr lang="en-ZA" sz="2400"/>
            </a:br>
            <a:r>
              <a:rPr lang="en-ZA" sz="2400"/>
              <a:t>The rand has become </a:t>
            </a:r>
            <a:r>
              <a:rPr lang="en-ZA" sz="2400" b="1"/>
              <a:t>stronger in real terms</a:t>
            </a:r>
            <a:r>
              <a:rPr lang="en-ZA" sz="2400"/>
              <a:t>, meaning South African exports become </a:t>
            </a:r>
            <a:r>
              <a:rPr lang="en-ZA" sz="2400" b="1"/>
              <a:t>more expensive</a:t>
            </a:r>
            <a:r>
              <a:rPr lang="en-ZA" sz="2400"/>
              <a:t> abroad and imports become </a:t>
            </a:r>
            <a:r>
              <a:rPr lang="en-ZA" sz="2400" b="1"/>
              <a:t>cheaper</a:t>
            </a:r>
            <a:r>
              <a:rPr lang="en-ZA" sz="2400"/>
              <a:t> — a potential </a:t>
            </a:r>
            <a:r>
              <a:rPr lang="en-ZA" sz="2400" b="1"/>
              <a:t>loss of competitiveness</a:t>
            </a:r>
            <a:r>
              <a:rPr lang="en-ZA" sz="2400"/>
              <a:t>.</a:t>
            </a:r>
          </a:p>
          <a:p>
            <a:r>
              <a:rPr lang="en-ZA" sz="2400" b="1"/>
              <a:t>If the REER falls (depreciates):</a:t>
            </a:r>
            <a:br>
              <a:rPr lang="en-ZA" sz="2400"/>
            </a:br>
            <a:r>
              <a:rPr lang="en-ZA" sz="2400"/>
              <a:t>The rand has become </a:t>
            </a:r>
            <a:r>
              <a:rPr lang="en-ZA" sz="2400" b="1"/>
              <a:t>weaker in real terms</a:t>
            </a:r>
            <a:r>
              <a:rPr lang="en-ZA" sz="2400"/>
              <a:t>, meaning exports are </a:t>
            </a:r>
            <a:r>
              <a:rPr lang="en-ZA" sz="2400" b="1"/>
              <a:t>cheaper</a:t>
            </a:r>
            <a:r>
              <a:rPr lang="en-ZA" sz="2400"/>
              <a:t> and more competitive internationally, but imports become </a:t>
            </a:r>
            <a:r>
              <a:rPr lang="en-ZA" sz="2400" b="1"/>
              <a:t>more expensive</a:t>
            </a:r>
          </a:p>
          <a:p>
            <a:pPr marL="0" indent="0">
              <a:buNone/>
            </a:pPr>
            <a:r>
              <a:rPr lang="en-US" sz="2400" b="1"/>
              <a:t>Application:</a:t>
            </a:r>
          </a:p>
          <a:p>
            <a:r>
              <a:rPr lang="en-US" sz="2400"/>
              <a:t>If South Africa’s inflation is higher than that of its trading partners, even if the nominal exchange rate stays the same, the </a:t>
            </a:r>
            <a:r>
              <a:rPr lang="en-US" sz="2400" b="1"/>
              <a:t>real effective exchange rate will appreciate</a:t>
            </a:r>
            <a:r>
              <a:rPr lang="en-US" sz="2400"/>
              <a:t> — reducing export competitiveness.</a:t>
            </a:r>
          </a:p>
          <a:p>
            <a:endParaRPr lang="en-ZA" sz="2400"/>
          </a:p>
          <a:p>
            <a:endParaRPr lang="en-ZA" sz="2400"/>
          </a:p>
        </p:txBody>
      </p:sp>
    </p:spTree>
    <p:extLst>
      <p:ext uri="{BB962C8B-B14F-4D97-AF65-F5344CB8AC3E}">
        <p14:creationId xmlns:p14="http://schemas.microsoft.com/office/powerpoint/2010/main" val="3719274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61B32F-D138-475B-BE45-FD92DA21868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2F8170D-E2B2-EE64-AFA6-1F7169F69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477E06A-58B0-6389-4F5F-9BDDC5899E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72D093-CB1C-CFAA-BD30-4725C3444AD2}"/>
              </a:ext>
            </a:extLst>
          </p:cNvPr>
          <p:cNvSpPr>
            <a:spLocks noGrp="1"/>
          </p:cNvSpPr>
          <p:nvPr>
            <p:ph type="title"/>
          </p:nvPr>
        </p:nvSpPr>
        <p:spPr>
          <a:xfrm>
            <a:off x="686834" y="1153572"/>
            <a:ext cx="3200400" cy="4461163"/>
          </a:xfrm>
        </p:spPr>
        <p:txBody>
          <a:bodyPr>
            <a:normAutofit/>
          </a:bodyPr>
          <a:lstStyle/>
          <a:p>
            <a:r>
              <a:rPr lang="en-ZA" b="1">
                <a:solidFill>
                  <a:srgbClr val="FFFFFF"/>
                </a:solidFill>
              </a:rPr>
              <a:t>Effective Exchanges Rates of the</a:t>
            </a:r>
            <a:br>
              <a:rPr lang="en-ZA" b="1">
                <a:solidFill>
                  <a:srgbClr val="FFFFFF"/>
                </a:solidFill>
              </a:rPr>
            </a:br>
            <a:r>
              <a:rPr lang="en-ZA" b="1">
                <a:solidFill>
                  <a:srgbClr val="FFFFFF"/>
                </a:solidFill>
              </a:rPr>
              <a:t>Rand</a:t>
            </a:r>
          </a:p>
        </p:txBody>
      </p:sp>
      <p:sp>
        <p:nvSpPr>
          <p:cNvPr id="12" name="Arc 11">
            <a:extLst>
              <a:ext uri="{FF2B5EF4-FFF2-40B4-BE49-F238E27FC236}">
                <a16:creationId xmlns:a16="http://schemas.microsoft.com/office/drawing/2014/main" id="{662BAD38-D761-4A64-C2DE-4D5865E994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670DFA0D-07EB-CCCE-8D35-BF5222BC0D1F}"/>
              </a:ext>
            </a:extLst>
          </p:cNvPr>
          <p:cNvPicPr>
            <a:picLocks noGrp="1" noChangeAspect="1"/>
          </p:cNvPicPr>
          <p:nvPr>
            <p:ph idx="1"/>
          </p:nvPr>
        </p:nvPicPr>
        <p:blipFill>
          <a:blip r:embed="rId2">
            <a:alphaModFix/>
          </a:blip>
          <a:srcRect r="9867" b="-2"/>
          <a:stretch>
            <a:fillRect/>
          </a:stretch>
        </p:blipFill>
        <p:spPr>
          <a:xfrm>
            <a:off x="4295686" y="396246"/>
            <a:ext cx="6816667" cy="5460402"/>
          </a:xfrm>
          <a:prstGeom prst="rect">
            <a:avLst/>
          </a:prstGeom>
        </p:spPr>
      </p:pic>
    </p:spTree>
    <p:extLst>
      <p:ext uri="{BB962C8B-B14F-4D97-AF65-F5344CB8AC3E}">
        <p14:creationId xmlns:p14="http://schemas.microsoft.com/office/powerpoint/2010/main" val="4289905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D89AE1-DF0B-482E-4F94-D4ADE8404B3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7" name="Arc 16">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CCAB0861-737D-3B6D-2D9A-67FCDF837354}"/>
              </a:ext>
            </a:extLst>
          </p:cNvPr>
          <p:cNvSpPr>
            <a:spLocks noGrp="1"/>
          </p:cNvSpPr>
          <p:nvPr>
            <p:ph type="title"/>
          </p:nvPr>
        </p:nvSpPr>
        <p:spPr>
          <a:xfrm>
            <a:off x="4038600" y="1939159"/>
            <a:ext cx="7644627" cy="2751086"/>
          </a:xfrm>
        </p:spPr>
        <p:txBody>
          <a:bodyPr vert="horz" lIns="91440" tIns="45720" rIns="91440" bIns="45720" rtlCol="0" anchor="b">
            <a:normAutofit/>
          </a:bodyPr>
          <a:lstStyle/>
          <a:p>
            <a:pPr algn="r"/>
            <a:r>
              <a:rPr lang="en-US"/>
              <a:t>C</a:t>
            </a:r>
            <a:r>
              <a:rPr lang="en-US" kern="1200">
                <a:solidFill>
                  <a:schemeClr val="tx1"/>
                </a:solidFill>
                <a:latin typeface="+mj-lt"/>
                <a:ea typeface="+mj-ea"/>
                <a:cs typeface="+mj-cs"/>
              </a:rPr>
              <a:t>. Exchange rate regimes</a:t>
            </a:r>
          </a:p>
        </p:txBody>
      </p:sp>
    </p:spTree>
    <p:extLst>
      <p:ext uri="{BB962C8B-B14F-4D97-AF65-F5344CB8AC3E}">
        <p14:creationId xmlns:p14="http://schemas.microsoft.com/office/powerpoint/2010/main" val="617424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427" name="Rectangle 604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29" name="Freeform: Shape 604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GB">
                <a:solidFill>
                  <a:srgbClr val="FFFFFF"/>
                </a:solidFill>
                <a:latin typeface="+mn-lt"/>
              </a:rPr>
              <a:t>Flexible vs fixed exchange rate regimes</a:t>
            </a:r>
          </a:p>
        </p:txBody>
      </p:sp>
      <p:sp>
        <p:nvSpPr>
          <p:cNvPr id="60431" name="Arc 604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777ADC-60B1-043F-9813-412CB37E5263}"/>
              </a:ext>
            </a:extLst>
          </p:cNvPr>
          <p:cNvSpPr>
            <a:spLocks noGrp="1"/>
          </p:cNvSpPr>
          <p:nvPr>
            <p:ph idx="1"/>
          </p:nvPr>
        </p:nvSpPr>
        <p:spPr>
          <a:xfrm>
            <a:off x="4447308" y="591344"/>
            <a:ext cx="6906491" cy="5585619"/>
          </a:xfrm>
        </p:spPr>
        <p:txBody>
          <a:bodyPr anchor="ctr">
            <a:normAutofit/>
          </a:bodyPr>
          <a:lstStyle/>
          <a:p>
            <a:r>
              <a:rPr lang="en-US" sz="2400"/>
              <a:t>In a </a:t>
            </a:r>
            <a:r>
              <a:rPr lang="en-US" sz="2400" b="1"/>
              <a:t>flexible exchange rate</a:t>
            </a:r>
            <a:r>
              <a:rPr lang="en-US" sz="2400"/>
              <a:t> regime, we assume that exchange rates are entirely determined by the interactions of buyers and sellers in the ‘forex’ (foreign exchange) market. Using the policy interest rate to target inflation means it cannot be used to target a specific exchange rate. The country controls its monetary policy but not its exchange rate. </a:t>
            </a:r>
          </a:p>
          <a:p>
            <a:r>
              <a:rPr lang="en-US" sz="2400"/>
              <a:t> In a </a:t>
            </a:r>
            <a:r>
              <a:rPr lang="en-US" sz="2400" b="1"/>
              <a:t>fixed exchange rate</a:t>
            </a:r>
            <a:r>
              <a:rPr lang="en-US" sz="2400"/>
              <a:t> regime, the government sets the target exchange rate and the central bank manages it. This target can be defined relative to one currency or a basket of currencies. And it may be a specific exchange rate, or a narrow target range, allowing some fluctuation within the range to occur without intervention by the central bank.</a:t>
            </a:r>
          </a:p>
          <a:p>
            <a:endParaRPr lang="en-GB" sz="2400"/>
          </a:p>
        </p:txBody>
      </p:sp>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836884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424" name="Rectangle 6042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25" name="Freeform: Shape 6042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GB">
                <a:solidFill>
                  <a:srgbClr val="FFFFFF"/>
                </a:solidFill>
                <a:latin typeface="+mn-lt"/>
              </a:rPr>
              <a:t>Fixed exchange rate regimes</a:t>
            </a:r>
          </a:p>
        </p:txBody>
      </p:sp>
      <p:sp>
        <p:nvSpPr>
          <p:cNvPr id="60426" name="Arc 6042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777ADC-60B1-043F-9813-412CB37E5263}"/>
              </a:ext>
            </a:extLst>
          </p:cNvPr>
          <p:cNvSpPr>
            <a:spLocks noGrp="1"/>
          </p:cNvSpPr>
          <p:nvPr>
            <p:ph idx="1"/>
          </p:nvPr>
        </p:nvSpPr>
        <p:spPr>
          <a:xfrm>
            <a:off x="4447308" y="591344"/>
            <a:ext cx="6906491" cy="5585619"/>
          </a:xfrm>
        </p:spPr>
        <p:txBody>
          <a:bodyPr anchor="ctr">
            <a:normAutofit/>
          </a:bodyPr>
          <a:lstStyle/>
          <a:p>
            <a:r>
              <a:rPr lang="en-US"/>
              <a:t>The interest rate cannot be used to manage aggregate demand in the economy if the policymaker wants to keep the exchange rate unchanged or close to a target rate. </a:t>
            </a:r>
          </a:p>
          <a:p>
            <a:r>
              <a:rPr lang="en-US"/>
              <a:t>The reason is that changing the interest rate to raise or lower aggregate demand will cause a change in the exchange rate, moving it away from the targeted rate. </a:t>
            </a:r>
          </a:p>
          <a:p>
            <a:r>
              <a:rPr lang="en-US"/>
              <a:t>So countries with a fixed exchange rate do not have the option of using monetary policy to stabilize their economy when there is a demand or supply shock.</a:t>
            </a:r>
            <a:endParaRPr lang="en-GB"/>
          </a:p>
        </p:txBody>
      </p:sp>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4055080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427" name="Rectangle 604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29" name="Freeform: Shape 604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GB">
                <a:solidFill>
                  <a:srgbClr val="FFFFFF"/>
                </a:solidFill>
                <a:latin typeface="+mn-lt"/>
              </a:rPr>
              <a:t>Three types of regime</a:t>
            </a:r>
          </a:p>
        </p:txBody>
      </p:sp>
      <p:sp>
        <p:nvSpPr>
          <p:cNvPr id="60431" name="Arc 604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777ADC-60B1-043F-9813-412CB37E5263}"/>
              </a:ext>
            </a:extLst>
          </p:cNvPr>
          <p:cNvSpPr>
            <a:spLocks noGrp="1"/>
          </p:cNvSpPr>
          <p:nvPr>
            <p:ph idx="1"/>
          </p:nvPr>
        </p:nvSpPr>
        <p:spPr>
          <a:xfrm>
            <a:off x="4447308" y="591344"/>
            <a:ext cx="6906491" cy="5585619"/>
          </a:xfrm>
        </p:spPr>
        <p:txBody>
          <a:bodyPr anchor="ctr">
            <a:normAutofit/>
          </a:bodyPr>
          <a:lstStyle/>
          <a:p>
            <a:pPr marL="0" indent="0">
              <a:buNone/>
            </a:pPr>
            <a:r>
              <a:rPr lang="en-US"/>
              <a:t>We classify a country’s monetary policy and associated exchange rate regime as one of three types:</a:t>
            </a:r>
          </a:p>
          <a:p>
            <a:pPr marL="0" indent="0">
              <a:buNone/>
            </a:pPr>
            <a:endParaRPr lang="en-US" sz="2400"/>
          </a:p>
          <a:p>
            <a:pPr fontAlgn="base"/>
            <a:r>
              <a:rPr lang="en-US" sz="2400" i="1" err="1"/>
              <a:t>FlexIT</a:t>
            </a:r>
            <a:r>
              <a:rPr lang="en-US" sz="2400"/>
              <a:t>: A </a:t>
            </a:r>
            <a:r>
              <a:rPr lang="en-US" sz="2400" u="sng"/>
              <a:t>Flex</a:t>
            </a:r>
            <a:r>
              <a:rPr lang="en-US" sz="2400"/>
              <a:t>ible exchange rate with an </a:t>
            </a:r>
            <a:r>
              <a:rPr lang="en-US" sz="2400" u="sng"/>
              <a:t>I</a:t>
            </a:r>
            <a:r>
              <a:rPr lang="en-US" sz="2400"/>
              <a:t>nflation </a:t>
            </a:r>
            <a:r>
              <a:rPr lang="en-US" sz="2400" u="sng"/>
              <a:t>T</a:t>
            </a:r>
            <a:r>
              <a:rPr lang="en-US" sz="2400"/>
              <a:t>arget (South Africa, UK, Japan)</a:t>
            </a:r>
          </a:p>
          <a:p>
            <a:pPr fontAlgn="base"/>
            <a:r>
              <a:rPr lang="en-US" sz="2400" i="1" err="1"/>
              <a:t>FlexNIT</a:t>
            </a:r>
            <a:r>
              <a:rPr lang="en-US" sz="2400"/>
              <a:t>: A </a:t>
            </a:r>
            <a:r>
              <a:rPr lang="en-US" sz="2400" u="sng"/>
              <a:t>Flex</a:t>
            </a:r>
            <a:r>
              <a:rPr lang="en-US" sz="2400"/>
              <a:t>ible exchange rate with </a:t>
            </a:r>
            <a:r>
              <a:rPr lang="en-US" sz="2400" u="sng"/>
              <a:t>N</a:t>
            </a:r>
            <a:r>
              <a:rPr lang="en-US" sz="2400"/>
              <a:t>o stable </a:t>
            </a:r>
            <a:r>
              <a:rPr lang="en-US" sz="2400" u="sng"/>
              <a:t>I</a:t>
            </a:r>
            <a:r>
              <a:rPr lang="en-US" sz="2400"/>
              <a:t>nflation </a:t>
            </a:r>
            <a:r>
              <a:rPr lang="en-US" sz="2400" u="sng"/>
              <a:t>T</a:t>
            </a:r>
            <a:r>
              <a:rPr lang="en-US" sz="2400"/>
              <a:t>arget</a:t>
            </a:r>
            <a:r>
              <a:rPr lang="en-US" sz="2400">
                <a:solidFill>
                  <a:srgbClr val="FF0000"/>
                </a:solidFill>
              </a:rPr>
              <a:t> (Not assessed in Economics 144)</a:t>
            </a:r>
          </a:p>
          <a:p>
            <a:r>
              <a:rPr lang="en-US" sz="2400" i="1"/>
              <a:t>Fix</a:t>
            </a:r>
            <a:r>
              <a:rPr lang="en-US" sz="2400"/>
              <a:t>: A </a:t>
            </a:r>
            <a:r>
              <a:rPr lang="en-US" sz="2400" u="sng"/>
              <a:t>Fix</a:t>
            </a:r>
            <a:r>
              <a:rPr lang="en-US" sz="2400"/>
              <a:t>ed exchange rate (</a:t>
            </a:r>
            <a:r>
              <a:rPr lang="en-GB" sz="2400"/>
              <a:t>China, EU – common currency area, fixed to each other, flexible to the countries outside EU)</a:t>
            </a:r>
          </a:p>
          <a:p>
            <a:endParaRPr lang="en-GB"/>
          </a:p>
        </p:txBody>
      </p:sp>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3558612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427" name="Rectangle 604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29" name="Freeform: Shape 604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GB" i="1">
                <a:solidFill>
                  <a:srgbClr val="FFFFFF"/>
                </a:solidFill>
                <a:latin typeface="+mn-lt"/>
              </a:rPr>
              <a:t>FlexIT</a:t>
            </a:r>
          </a:p>
        </p:txBody>
      </p:sp>
      <p:sp>
        <p:nvSpPr>
          <p:cNvPr id="60431" name="Arc 604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777ADC-60B1-043F-9813-412CB37E5263}"/>
              </a:ext>
            </a:extLst>
          </p:cNvPr>
          <p:cNvSpPr>
            <a:spLocks noGrp="1"/>
          </p:cNvSpPr>
          <p:nvPr>
            <p:ph idx="1"/>
          </p:nvPr>
        </p:nvSpPr>
        <p:spPr>
          <a:xfrm>
            <a:off x="4447308" y="591344"/>
            <a:ext cx="6906491" cy="5585619"/>
          </a:xfrm>
        </p:spPr>
        <p:txBody>
          <a:bodyPr anchor="ctr">
            <a:normAutofit/>
          </a:bodyPr>
          <a:lstStyle/>
          <a:p>
            <a:pPr marL="0" indent="0">
              <a:buNone/>
            </a:pPr>
            <a:r>
              <a:rPr lang="en-US" sz="2400"/>
              <a:t>Movements in the exchange rate make monetary policy more powerful, reinforcing the effect of interest rate changes on inflation in two ways:</a:t>
            </a:r>
          </a:p>
          <a:p>
            <a:pPr fontAlgn="base"/>
            <a:r>
              <a:rPr lang="en-US" sz="2400" i="1"/>
              <a:t>Via aggregate demand.</a:t>
            </a:r>
            <a:r>
              <a:rPr lang="en-US" sz="2400"/>
              <a:t> When the central bank tightens policy, it will anticipate that this will result in both nominal and real exchange rate </a:t>
            </a:r>
            <a:r>
              <a:rPr lang="en-US" sz="2400" b="1"/>
              <a:t>appreciation</a:t>
            </a:r>
            <a:r>
              <a:rPr lang="en-US" sz="2400"/>
              <a:t>, which will dampen net exports and hence output, thus reinforcing the impact of interest rate changes through the aggregate demand channel. </a:t>
            </a:r>
          </a:p>
          <a:p>
            <a:pPr fontAlgn="base"/>
            <a:r>
              <a:rPr lang="en-US" sz="2400" i="1"/>
              <a:t>By directly affecting inflation.</a:t>
            </a:r>
            <a:r>
              <a:rPr lang="en-US" sz="2400"/>
              <a:t> Changes in the exchange rate also have a powerful </a:t>
            </a:r>
            <a:r>
              <a:rPr lang="en-US" sz="2400" i="1"/>
              <a:t>direct</a:t>
            </a:r>
            <a:r>
              <a:rPr lang="en-US" sz="2400"/>
              <a:t> effect on CPI inflation, via import prices. Tighter policy and exchange rate appreciation dampen inflation and vice versa. </a:t>
            </a:r>
            <a:endParaRPr lang="en-GB" sz="2400"/>
          </a:p>
        </p:txBody>
      </p:sp>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078893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64" name="Rectangle 60463">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466" name="Arc 60465">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5836" y="775849"/>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7080738" y="647593"/>
            <a:ext cx="4467792" cy="3060541"/>
          </a:xfrm>
          <a:prstGeom prst="ellipse">
            <a:avLst/>
          </a:prstGeom>
        </p:spPr>
        <p:txBody>
          <a:bodyPr vert="horz" lIns="91440" tIns="45720" rIns="91440" bIns="45720" rtlCol="0" anchor="b">
            <a:normAutofit/>
          </a:bodyPr>
          <a:lstStyle/>
          <a:p>
            <a:pPr algn="ctr"/>
            <a:r>
              <a:rPr lang="en-US" sz="3300" kern="1200">
                <a:solidFill>
                  <a:srgbClr val="FFFFFF"/>
                </a:solidFill>
                <a:latin typeface="+mj-lt"/>
                <a:ea typeface="+mj-ea"/>
                <a:cs typeface="+mj-cs"/>
              </a:rPr>
              <a:t>Impacts of depreciation and appreciation</a:t>
            </a:r>
          </a:p>
        </p:txBody>
      </p:sp>
      <p:sp>
        <p:nvSpPr>
          <p:cNvPr id="60468" name="Oval 60467">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368" y="366810"/>
            <a:ext cx="6124381"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45656658-0505-FDE1-1E96-757BDA743DAD}"/>
                  </a:ext>
                </a:extLst>
              </p:cNvPr>
              <p:cNvGraphicFramePr>
                <a:graphicFrameLocks noGrp="1"/>
              </p:cNvGraphicFramePr>
              <p:nvPr>
                <p:extLst>
                  <p:ext uri="{D42A27DB-BD31-4B8C-83A1-F6EECF244321}">
                    <p14:modId xmlns:p14="http://schemas.microsoft.com/office/powerpoint/2010/main" val="3835995272"/>
                  </p:ext>
                </p:extLst>
              </p:nvPr>
            </p:nvGraphicFramePr>
            <p:xfrm>
              <a:off x="1379607" y="1374798"/>
              <a:ext cx="4106335" cy="4108405"/>
            </p:xfrm>
            <a:graphic>
              <a:graphicData uri="http://schemas.openxmlformats.org/drawingml/2006/table">
                <a:tbl>
                  <a:tblPr firstRow="1" bandRow="1">
                    <a:tableStyleId>{69012ECD-51FC-41F1-AA8D-1B2483CD663E}</a:tableStyleId>
                  </a:tblPr>
                  <a:tblGrid>
                    <a:gridCol w="2071407">
                      <a:extLst>
                        <a:ext uri="{9D8B030D-6E8A-4147-A177-3AD203B41FA5}">
                          <a16:colId xmlns:a16="http://schemas.microsoft.com/office/drawing/2014/main" val="1515624897"/>
                        </a:ext>
                      </a:extLst>
                    </a:gridCol>
                    <a:gridCol w="2034928">
                      <a:extLst>
                        <a:ext uri="{9D8B030D-6E8A-4147-A177-3AD203B41FA5}">
                          <a16:colId xmlns:a16="http://schemas.microsoft.com/office/drawing/2014/main" val="196794544"/>
                        </a:ext>
                      </a:extLst>
                    </a:gridCol>
                  </a:tblGrid>
                  <a:tr h="944995">
                    <a:tc>
                      <a:txBody>
                        <a:bodyPr/>
                        <a:lstStyle/>
                        <a:p>
                          <a:r>
                            <a:rPr lang="en-GB" sz="1400"/>
                            <a:t>Consequences of a real depreciation (improved competitiveness): a rise in </a:t>
                          </a:r>
                          <a14:m>
                            <m:oMath xmlns:m="http://schemas.openxmlformats.org/officeDocument/2006/math">
                              <m:r>
                                <a:rPr lang="en-GB" sz="1400" b="0" i="1" dirty="0" smtClean="0">
                                  <a:latin typeface="Cambria Math" panose="02040503050406030204" pitchFamily="18" charset="0"/>
                                </a:rPr>
                                <m:t>𝑐</m:t>
                              </m:r>
                            </m:oMath>
                          </a14:m>
                          <a:r>
                            <a:rPr lang="en-GB" sz="1400"/>
                            <a:t>.</a:t>
                          </a:r>
                          <a:endParaRPr lang="en-GB" sz="1400">
                            <a:latin typeface="Source Sans Pro" panose="020F0502020204030204" pitchFamily="34" charset="0"/>
                            <a:ea typeface="Source Sans Pro" panose="020F0502020204030204" pitchFamily="34" charset="0"/>
                          </a:endParaRPr>
                        </a:p>
                      </a:txBody>
                      <a:tcPr marL="70579" marR="70579" marT="35290" marB="35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t>Consequences of a real appreciation (reduced competitiveness): a fall in </a:t>
                          </a:r>
                          <a14:m>
                            <m:oMath xmlns:m="http://schemas.openxmlformats.org/officeDocument/2006/math">
                              <m:r>
                                <a:rPr lang="en-GB" sz="1400" b="0" i="1" dirty="0" smtClean="0">
                                  <a:latin typeface="Cambria Math" panose="02040503050406030204" pitchFamily="18" charset="0"/>
                                </a:rPr>
                                <m:t>𝑐</m:t>
                              </m:r>
                            </m:oMath>
                          </a14:m>
                          <a:r>
                            <a:rPr lang="en-GB" sz="1400"/>
                            <a:t>.</a:t>
                          </a:r>
                          <a:endParaRPr lang="en-GB" sz="1400">
                            <a:latin typeface="Source Sans Pro" panose="020F0502020204030204" pitchFamily="34" charset="0"/>
                            <a:ea typeface="Source Sans Pro" panose="020F0502020204030204" pitchFamily="34" charset="0"/>
                          </a:endParaRPr>
                        </a:p>
                      </a:txBody>
                      <a:tcPr marL="70579" marR="70579" marT="35290" marB="35290"/>
                    </a:tc>
                    <a:extLst>
                      <a:ext uri="{0D108BD9-81ED-4DB2-BD59-A6C34878D82A}">
                        <a16:rowId xmlns:a16="http://schemas.microsoft.com/office/drawing/2014/main" val="2959583792"/>
                      </a:ext>
                    </a:extLst>
                  </a:tr>
                  <a:tr h="2006178">
                    <a:tc>
                      <a:txBody>
                        <a:bodyPr/>
                        <a:lstStyle/>
                        <a:p>
                          <a:r>
                            <a:rPr lang="en-GB" sz="1400"/>
                            <a:t>Demand for the country’s exports (</a:t>
                          </a:r>
                          <a:r>
                            <a:rPr lang="en-GB" sz="1400" i="1"/>
                            <a:t>X</a:t>
                          </a:r>
                          <a:r>
                            <a:rPr lang="en-GB" sz="1400"/>
                            <a:t>) are likely to increase; demand for imports (</a:t>
                          </a:r>
                          <a:r>
                            <a:rPr lang="en-GB" sz="1400" i="1"/>
                            <a:t>M</a:t>
                          </a:r>
                          <a:r>
                            <a:rPr lang="en-GB" sz="1400"/>
                            <a:t>) are likely to fall. Net exports (</a:t>
                          </a:r>
                          <a:r>
                            <a:rPr lang="en-GB" sz="1400" i="1"/>
                            <a:t>X</a:t>
                          </a:r>
                          <a:r>
                            <a:rPr lang="en-GB" sz="1400"/>
                            <a:t> - </a:t>
                          </a:r>
                          <a:r>
                            <a:rPr lang="en-GB" sz="1400" i="1"/>
                            <a:t>M</a:t>
                          </a:r>
                          <a:r>
                            <a:rPr lang="en-GB" sz="1400"/>
                            <a:t>) are likely to rise, boosting aggregate demand and employment. </a:t>
                          </a:r>
                          <a:endParaRPr lang="en-GB" sz="1400">
                            <a:latin typeface="Source Sans Pro" panose="020F0502020204030204" pitchFamily="34" charset="0"/>
                            <a:ea typeface="Source Sans Pro" panose="020F0502020204030204" pitchFamily="34" charset="0"/>
                          </a:endParaRPr>
                        </a:p>
                      </a:txBody>
                      <a:tcPr marL="70579" marR="70579" marT="35290" marB="35290"/>
                    </a:tc>
                    <a:tc>
                      <a:txBody>
                        <a:bodyPr/>
                        <a:lstStyle/>
                        <a:p>
                          <a:r>
                            <a:rPr lang="en-GB" sz="1400"/>
                            <a:t>Net exports (</a:t>
                          </a:r>
                          <a:r>
                            <a:rPr lang="en-GB" sz="1400" i="1"/>
                            <a:t>X</a:t>
                          </a:r>
                          <a:r>
                            <a:rPr lang="en-GB" sz="1400"/>
                            <a:t> - </a:t>
                          </a:r>
                          <a:r>
                            <a:rPr lang="en-GB" sz="1400" i="1"/>
                            <a:t>M</a:t>
                          </a:r>
                          <a:r>
                            <a:rPr lang="en-GB" sz="1400"/>
                            <a:t>) are likely to fall, reducing aggregate demand and employment.</a:t>
                          </a:r>
                          <a:endParaRPr lang="en-GB" sz="1400">
                            <a:latin typeface="Source Sans Pro" panose="020F0502020204030204" pitchFamily="34" charset="0"/>
                            <a:ea typeface="Source Sans Pro" panose="020F0502020204030204" pitchFamily="34" charset="0"/>
                          </a:endParaRPr>
                        </a:p>
                      </a:txBody>
                      <a:tcPr marL="70579" marR="70579" marT="35290" marB="35290"/>
                    </a:tc>
                    <a:extLst>
                      <a:ext uri="{0D108BD9-81ED-4DB2-BD59-A6C34878D82A}">
                        <a16:rowId xmlns:a16="http://schemas.microsoft.com/office/drawing/2014/main" val="2773833226"/>
                      </a:ext>
                    </a:extLst>
                  </a:tr>
                  <a:tr h="1157232">
                    <a:tc>
                      <a:txBody>
                        <a:bodyPr/>
                        <a:lstStyle/>
                        <a:p>
                          <a:r>
                            <a:rPr lang="en-GB" sz="1400"/>
                            <a:t>Nominal depreciation means that imports become more expensive, increasing inflation. </a:t>
                          </a:r>
                          <a:endParaRPr lang="en-GB" sz="1400">
                            <a:latin typeface="Source Sans Pro" panose="020F0502020204030204" pitchFamily="34" charset="0"/>
                            <a:ea typeface="Source Sans Pro" panose="020F0502020204030204" pitchFamily="34" charset="0"/>
                          </a:endParaRPr>
                        </a:p>
                      </a:txBody>
                      <a:tcPr marL="70579" marR="70579" marT="35290" marB="35290"/>
                    </a:tc>
                    <a:tc>
                      <a:txBody>
                        <a:bodyPr/>
                        <a:lstStyle/>
                        <a:p>
                          <a:r>
                            <a:rPr lang="en-GB" sz="1400"/>
                            <a:t>Nominal appreciation means that imports become cheaper, reducing inflation.</a:t>
                          </a:r>
                          <a:endParaRPr lang="en-GB" sz="1400">
                            <a:latin typeface="Source Sans Pro" panose="020F0502020204030204" pitchFamily="34" charset="0"/>
                            <a:ea typeface="Source Sans Pro" panose="020F0502020204030204" pitchFamily="34" charset="0"/>
                          </a:endParaRPr>
                        </a:p>
                      </a:txBody>
                      <a:tcPr marL="70579" marR="70579" marT="35290" marB="35290"/>
                    </a:tc>
                    <a:extLst>
                      <a:ext uri="{0D108BD9-81ED-4DB2-BD59-A6C34878D82A}">
                        <a16:rowId xmlns:a16="http://schemas.microsoft.com/office/drawing/2014/main" val="3162252676"/>
                      </a:ext>
                    </a:extLst>
                  </a:tr>
                </a:tbl>
              </a:graphicData>
            </a:graphic>
          </p:graphicFrame>
        </mc:Choice>
        <mc:Fallback>
          <p:graphicFrame>
            <p:nvGraphicFramePr>
              <p:cNvPr id="3" name="Table 2">
                <a:extLst>
                  <a:ext uri="{FF2B5EF4-FFF2-40B4-BE49-F238E27FC236}">
                    <a16:creationId xmlns:a16="http://schemas.microsoft.com/office/drawing/2014/main" id="{45656658-0505-FDE1-1E96-757BDA743DAD}"/>
                  </a:ext>
                </a:extLst>
              </p:cNvPr>
              <p:cNvGraphicFramePr>
                <a:graphicFrameLocks noGrp="1"/>
              </p:cNvGraphicFramePr>
              <p:nvPr>
                <p:extLst>
                  <p:ext uri="{D42A27DB-BD31-4B8C-83A1-F6EECF244321}">
                    <p14:modId xmlns:p14="http://schemas.microsoft.com/office/powerpoint/2010/main" val="3835995272"/>
                  </p:ext>
                </p:extLst>
              </p:nvPr>
            </p:nvGraphicFramePr>
            <p:xfrm>
              <a:off x="1379607" y="1374798"/>
              <a:ext cx="4106335" cy="4108405"/>
            </p:xfrm>
            <a:graphic>
              <a:graphicData uri="http://schemas.openxmlformats.org/drawingml/2006/table">
                <a:tbl>
                  <a:tblPr firstRow="1" bandRow="1">
                    <a:tableStyleId>{69012ECD-51FC-41F1-AA8D-1B2483CD663E}</a:tableStyleId>
                  </a:tblPr>
                  <a:tblGrid>
                    <a:gridCol w="2071407">
                      <a:extLst>
                        <a:ext uri="{9D8B030D-6E8A-4147-A177-3AD203B41FA5}">
                          <a16:colId xmlns:a16="http://schemas.microsoft.com/office/drawing/2014/main" val="1515624897"/>
                        </a:ext>
                      </a:extLst>
                    </a:gridCol>
                    <a:gridCol w="2034928">
                      <a:extLst>
                        <a:ext uri="{9D8B030D-6E8A-4147-A177-3AD203B41FA5}">
                          <a16:colId xmlns:a16="http://schemas.microsoft.com/office/drawing/2014/main" val="196794544"/>
                        </a:ext>
                      </a:extLst>
                    </a:gridCol>
                  </a:tblGrid>
                  <a:tr h="944995">
                    <a:tc>
                      <a:txBody>
                        <a:bodyPr/>
                        <a:lstStyle/>
                        <a:p>
                          <a:endParaRPr lang="en-US"/>
                        </a:p>
                      </a:txBody>
                      <a:tcPr marL="70579" marR="70579" marT="35290" marB="35290">
                        <a:blipFill>
                          <a:blip r:embed="rId3"/>
                          <a:stretch>
                            <a:fillRect l="-294" t="-1935" r="-98529" b="-336129"/>
                          </a:stretch>
                        </a:blipFill>
                      </a:tcPr>
                    </a:tc>
                    <a:tc>
                      <a:txBody>
                        <a:bodyPr/>
                        <a:lstStyle/>
                        <a:p>
                          <a:endParaRPr lang="en-US"/>
                        </a:p>
                      </a:txBody>
                      <a:tcPr marL="70579" marR="70579" marT="35290" marB="35290">
                        <a:blipFill>
                          <a:blip r:embed="rId3"/>
                          <a:stretch>
                            <a:fillRect l="-102096" t="-1935" r="-299" b="-336129"/>
                          </a:stretch>
                        </a:blipFill>
                      </a:tcPr>
                    </a:tc>
                    <a:extLst>
                      <a:ext uri="{0D108BD9-81ED-4DB2-BD59-A6C34878D82A}">
                        <a16:rowId xmlns:a16="http://schemas.microsoft.com/office/drawing/2014/main" val="2959583792"/>
                      </a:ext>
                    </a:extLst>
                  </a:tr>
                  <a:tr h="2006178">
                    <a:tc>
                      <a:txBody>
                        <a:bodyPr/>
                        <a:lstStyle/>
                        <a:p>
                          <a:r>
                            <a:rPr lang="en-GB" sz="1400"/>
                            <a:t>Demand for the country’s exports (</a:t>
                          </a:r>
                          <a:r>
                            <a:rPr lang="en-GB" sz="1400" i="1"/>
                            <a:t>X</a:t>
                          </a:r>
                          <a:r>
                            <a:rPr lang="en-GB" sz="1400"/>
                            <a:t>) are likely to increase; demand for imports (</a:t>
                          </a:r>
                          <a:r>
                            <a:rPr lang="en-GB" sz="1400" i="1"/>
                            <a:t>M</a:t>
                          </a:r>
                          <a:r>
                            <a:rPr lang="en-GB" sz="1400"/>
                            <a:t>) are likely to fall. Net exports (</a:t>
                          </a:r>
                          <a:r>
                            <a:rPr lang="en-GB" sz="1400" i="1"/>
                            <a:t>X</a:t>
                          </a:r>
                          <a:r>
                            <a:rPr lang="en-GB" sz="1400"/>
                            <a:t> - </a:t>
                          </a:r>
                          <a:r>
                            <a:rPr lang="en-GB" sz="1400" i="1"/>
                            <a:t>M</a:t>
                          </a:r>
                          <a:r>
                            <a:rPr lang="en-GB" sz="1400"/>
                            <a:t>) are likely to rise, boosting aggregate demand and employment. </a:t>
                          </a:r>
                          <a:endParaRPr lang="en-GB" sz="1400">
                            <a:latin typeface="Source Sans Pro" panose="020F0502020204030204" pitchFamily="34" charset="0"/>
                            <a:ea typeface="Source Sans Pro" panose="020F0502020204030204" pitchFamily="34" charset="0"/>
                          </a:endParaRPr>
                        </a:p>
                      </a:txBody>
                      <a:tcPr marL="70579" marR="70579" marT="35290" marB="35290"/>
                    </a:tc>
                    <a:tc>
                      <a:txBody>
                        <a:bodyPr/>
                        <a:lstStyle/>
                        <a:p>
                          <a:r>
                            <a:rPr lang="en-GB" sz="1400"/>
                            <a:t>Net exports (</a:t>
                          </a:r>
                          <a:r>
                            <a:rPr lang="en-GB" sz="1400" i="1"/>
                            <a:t>X</a:t>
                          </a:r>
                          <a:r>
                            <a:rPr lang="en-GB" sz="1400"/>
                            <a:t> - </a:t>
                          </a:r>
                          <a:r>
                            <a:rPr lang="en-GB" sz="1400" i="1"/>
                            <a:t>M</a:t>
                          </a:r>
                          <a:r>
                            <a:rPr lang="en-GB" sz="1400"/>
                            <a:t>) are likely to fall, reducing aggregate demand and employment.</a:t>
                          </a:r>
                          <a:endParaRPr lang="en-GB" sz="1400">
                            <a:latin typeface="Source Sans Pro" panose="020F0502020204030204" pitchFamily="34" charset="0"/>
                            <a:ea typeface="Source Sans Pro" panose="020F0502020204030204" pitchFamily="34" charset="0"/>
                          </a:endParaRPr>
                        </a:p>
                      </a:txBody>
                      <a:tcPr marL="70579" marR="70579" marT="35290" marB="35290"/>
                    </a:tc>
                    <a:extLst>
                      <a:ext uri="{0D108BD9-81ED-4DB2-BD59-A6C34878D82A}">
                        <a16:rowId xmlns:a16="http://schemas.microsoft.com/office/drawing/2014/main" val="2773833226"/>
                      </a:ext>
                    </a:extLst>
                  </a:tr>
                  <a:tr h="1157232">
                    <a:tc>
                      <a:txBody>
                        <a:bodyPr/>
                        <a:lstStyle/>
                        <a:p>
                          <a:r>
                            <a:rPr lang="en-GB" sz="1400"/>
                            <a:t>Nominal depreciation means that imports become more expensive, increasing inflation. </a:t>
                          </a:r>
                          <a:endParaRPr lang="en-GB" sz="1400">
                            <a:latin typeface="Source Sans Pro" panose="020F0502020204030204" pitchFamily="34" charset="0"/>
                            <a:ea typeface="Source Sans Pro" panose="020F0502020204030204" pitchFamily="34" charset="0"/>
                          </a:endParaRPr>
                        </a:p>
                      </a:txBody>
                      <a:tcPr marL="70579" marR="70579" marT="35290" marB="35290"/>
                    </a:tc>
                    <a:tc>
                      <a:txBody>
                        <a:bodyPr/>
                        <a:lstStyle/>
                        <a:p>
                          <a:r>
                            <a:rPr lang="en-GB" sz="1400"/>
                            <a:t>Nominal appreciation means that imports become cheaper, reducing inflation.</a:t>
                          </a:r>
                          <a:endParaRPr lang="en-GB" sz="1400">
                            <a:latin typeface="Source Sans Pro" panose="020F0502020204030204" pitchFamily="34" charset="0"/>
                            <a:ea typeface="Source Sans Pro" panose="020F0502020204030204" pitchFamily="34" charset="0"/>
                          </a:endParaRPr>
                        </a:p>
                      </a:txBody>
                      <a:tcPr marL="70579" marR="70579" marT="35290" marB="35290"/>
                    </a:tc>
                    <a:extLst>
                      <a:ext uri="{0D108BD9-81ED-4DB2-BD59-A6C34878D82A}">
                        <a16:rowId xmlns:a16="http://schemas.microsoft.com/office/drawing/2014/main" val="3162252676"/>
                      </a:ext>
                    </a:extLst>
                  </a:tr>
                </a:tbl>
              </a:graphicData>
            </a:graphic>
          </p:graphicFrame>
        </mc:Fallback>
      </mc:AlternateContent>
    </p:spTree>
    <p:extLst>
      <p:ext uri="{BB962C8B-B14F-4D97-AF65-F5344CB8AC3E}">
        <p14:creationId xmlns:p14="http://schemas.microsoft.com/office/powerpoint/2010/main" val="2699331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4800">
                <a:latin typeface="+mn-lt"/>
              </a:rPr>
              <a:t>Two </a:t>
            </a:r>
            <a:r>
              <a:rPr lang="en-GB" sz="4800" i="1" err="1">
                <a:latin typeface="+mn-lt"/>
              </a:rPr>
              <a:t>FlexIT</a:t>
            </a:r>
            <a:r>
              <a:rPr lang="en-GB" sz="4800">
                <a:latin typeface="+mn-lt"/>
              </a:rPr>
              <a:t> countries</a:t>
            </a:r>
          </a:p>
        </p:txBody>
      </p:sp>
      <p:graphicFrame>
        <p:nvGraphicFramePr>
          <p:cNvPr id="60424" name="Content Placeholder 2">
            <a:extLst>
              <a:ext uri="{FF2B5EF4-FFF2-40B4-BE49-F238E27FC236}">
                <a16:creationId xmlns:a16="http://schemas.microsoft.com/office/drawing/2014/main" id="{3B73EC21-7B6E-4AF0-FD24-E4DBF21B2F7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9A54EFB-7792-198C-24B2-3A1F5F454317}"/>
                  </a:ext>
                </a:extLst>
              </p:cNvPr>
              <p:cNvSpPr txBox="1"/>
              <p:nvPr/>
            </p:nvSpPr>
            <p:spPr>
              <a:xfrm>
                <a:off x="465221" y="440973"/>
                <a:ext cx="2342147" cy="9115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𝑐</m:t>
                      </m:r>
                      <m:r>
                        <a:rPr lang="en-US" sz="2800" b="0" i="1" smtClean="0">
                          <a:latin typeface="Cambria Math" panose="02040503050406030204" pitchFamily="18" charset="0"/>
                        </a:rPr>
                        <m:t>= </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𝑒</m:t>
                          </m:r>
                          <m:r>
                            <a:rPr lang="en-US" sz="2800" b="0" i="1" smtClean="0">
                              <a:latin typeface="Cambria Math" panose="02040503050406030204" pitchFamily="18" charset="0"/>
                            </a:rPr>
                            <m:t> × </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𝑃</m:t>
                              </m:r>
                            </m:e>
                            <m:sup>
                              <m:r>
                                <a:rPr lang="en-US" sz="2800" b="0" i="1" smtClean="0">
                                  <a:latin typeface="Cambria Math" panose="02040503050406030204" pitchFamily="18" charset="0"/>
                                  <a:ea typeface="Cambria Math" panose="02040503050406030204" pitchFamily="18" charset="0"/>
                                </a:rPr>
                                <m:t>∗</m:t>
                              </m:r>
                            </m:sup>
                          </m:sSup>
                        </m:num>
                        <m:den>
                          <m:r>
                            <a:rPr lang="en-US" sz="2800" b="0" i="1" smtClean="0">
                              <a:latin typeface="Cambria Math" panose="02040503050406030204" pitchFamily="18" charset="0"/>
                            </a:rPr>
                            <m:t>𝑃</m:t>
                          </m:r>
                        </m:den>
                      </m:f>
                    </m:oMath>
                  </m:oMathPara>
                </a14:m>
                <a:endParaRPr lang="en-GB" sz="2800"/>
              </a:p>
            </p:txBody>
          </p:sp>
        </mc:Choice>
        <mc:Fallback>
          <p:sp>
            <p:nvSpPr>
              <p:cNvPr id="4" name="TextBox 3">
                <a:extLst>
                  <a:ext uri="{FF2B5EF4-FFF2-40B4-BE49-F238E27FC236}">
                    <a16:creationId xmlns:a16="http://schemas.microsoft.com/office/drawing/2014/main" id="{C9A54EFB-7792-198C-24B2-3A1F5F454317}"/>
                  </a:ext>
                </a:extLst>
              </p:cNvPr>
              <p:cNvSpPr txBox="1">
                <a:spLocks noRot="1" noChangeAspect="1" noMove="1" noResize="1" noEditPoints="1" noAdjustHandles="1" noChangeArrowheads="1" noChangeShapeType="1" noTextEdit="1"/>
              </p:cNvSpPr>
              <p:nvPr/>
            </p:nvSpPr>
            <p:spPr>
              <a:xfrm>
                <a:off x="465221" y="440973"/>
                <a:ext cx="2342147" cy="911596"/>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32804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74D3-F045-0F8D-9F80-455154CE643D}"/>
              </a:ext>
            </a:extLst>
          </p:cNvPr>
          <p:cNvSpPr>
            <a:spLocks noGrp="1"/>
          </p:cNvSpPr>
          <p:nvPr>
            <p:ph type="title"/>
          </p:nvPr>
        </p:nvSpPr>
        <p:spPr/>
        <p:txBody>
          <a:bodyPr/>
          <a:lstStyle/>
          <a:p>
            <a:r>
              <a:rPr lang="en-ZA"/>
              <a:t>Lecture 2</a:t>
            </a:r>
          </a:p>
        </p:txBody>
      </p:sp>
      <p:sp>
        <p:nvSpPr>
          <p:cNvPr id="3" name="Text Placeholder 2">
            <a:extLst>
              <a:ext uri="{FF2B5EF4-FFF2-40B4-BE49-F238E27FC236}">
                <a16:creationId xmlns:a16="http://schemas.microsoft.com/office/drawing/2014/main" id="{81F7360B-8E05-A01C-6B1A-EAEACB171E1F}"/>
              </a:ext>
            </a:extLst>
          </p:cNvPr>
          <p:cNvSpPr>
            <a:spLocks noGrp="1"/>
          </p:cNvSpPr>
          <p:nvPr>
            <p:ph type="body" idx="1"/>
          </p:nvPr>
        </p:nvSpPr>
        <p:spPr/>
        <p:txBody>
          <a:bodyPr/>
          <a:lstStyle/>
          <a:p>
            <a:endParaRPr lang="en-ZA"/>
          </a:p>
        </p:txBody>
      </p:sp>
    </p:spTree>
    <p:extLst>
      <p:ext uri="{BB962C8B-B14F-4D97-AF65-F5344CB8AC3E}">
        <p14:creationId xmlns:p14="http://schemas.microsoft.com/office/powerpoint/2010/main" val="3342925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753" name="Rectangle 60752">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426" name="Graphic 60425" descr="Euro">
            <a:extLst>
              <a:ext uri="{FF2B5EF4-FFF2-40B4-BE49-F238E27FC236}">
                <a16:creationId xmlns:a16="http://schemas.microsoft.com/office/drawing/2014/main" id="{3EEECBC3-DC65-B0EC-FB32-D392895E29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4988" y="1744515"/>
            <a:ext cx="3368969" cy="3368969"/>
          </a:xfrm>
          <a:prstGeom prst="rect">
            <a:avLst/>
          </a:prstGeom>
        </p:spPr>
      </p:pic>
      <p:sp>
        <p:nvSpPr>
          <p:cNvPr id="60754" name="Freeform: Shape 60753">
            <a:extLst>
              <a:ext uri="{FF2B5EF4-FFF2-40B4-BE49-F238E27FC236}">
                <a16:creationId xmlns:a16="http://schemas.microsoft.com/office/drawing/2014/main" id="{15109354-9C5D-4F8C-B0E6-D1043C7BF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p:cNvSpPr>
            <a:spLocks noGrp="1"/>
          </p:cNvSpPr>
          <p:nvPr>
            <p:ph type="title"/>
          </p:nvPr>
        </p:nvSpPr>
        <p:spPr>
          <a:xfrm>
            <a:off x="5759354" y="457201"/>
            <a:ext cx="5337270" cy="1835911"/>
          </a:xfrm>
        </p:spPr>
        <p:txBody>
          <a:bodyPr anchor="b">
            <a:normAutofit/>
          </a:bodyPr>
          <a:lstStyle/>
          <a:p>
            <a:r>
              <a:rPr lang="en-GB" sz="5400">
                <a:solidFill>
                  <a:srgbClr val="FFFFFF"/>
                </a:solidFill>
                <a:latin typeface="+mn-lt"/>
              </a:rPr>
              <a:t>The ultimate </a:t>
            </a:r>
            <a:r>
              <a:rPr lang="en-GB" sz="5400" i="1">
                <a:solidFill>
                  <a:srgbClr val="FFFFFF"/>
                </a:solidFill>
                <a:latin typeface="+mn-lt"/>
              </a:rPr>
              <a:t>Fix</a:t>
            </a:r>
            <a:r>
              <a:rPr lang="en-GB" sz="5400">
                <a:solidFill>
                  <a:srgbClr val="FFFFFF"/>
                </a:solidFill>
                <a:latin typeface="+mn-lt"/>
              </a:rPr>
              <a:t> economy</a:t>
            </a:r>
          </a:p>
        </p:txBody>
      </p:sp>
      <p:sp>
        <p:nvSpPr>
          <p:cNvPr id="60755" name="sketch line">
            <a:extLst>
              <a:ext uri="{FF2B5EF4-FFF2-40B4-BE49-F238E27FC236}">
                <a16:creationId xmlns:a16="http://schemas.microsoft.com/office/drawing/2014/main" id="{49B530FE-A87D-41A0-A920-ADC6539EA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59353" y="2560829"/>
            <a:ext cx="5029200" cy="18288"/>
          </a:xfrm>
          <a:custGeom>
            <a:avLst/>
            <a:gdLst>
              <a:gd name="connsiteX0" fmla="*/ 0 w 5029200"/>
              <a:gd name="connsiteY0" fmla="*/ 0 h 18288"/>
              <a:gd name="connsiteX1" fmla="*/ 528066 w 5029200"/>
              <a:gd name="connsiteY1" fmla="*/ 0 h 18288"/>
              <a:gd name="connsiteX2" fmla="*/ 1207008 w 5029200"/>
              <a:gd name="connsiteY2" fmla="*/ 0 h 18288"/>
              <a:gd name="connsiteX3" fmla="*/ 1785366 w 5029200"/>
              <a:gd name="connsiteY3" fmla="*/ 0 h 18288"/>
              <a:gd name="connsiteX4" fmla="*/ 2313432 w 5029200"/>
              <a:gd name="connsiteY4" fmla="*/ 0 h 18288"/>
              <a:gd name="connsiteX5" fmla="*/ 2992374 w 5029200"/>
              <a:gd name="connsiteY5" fmla="*/ 0 h 18288"/>
              <a:gd name="connsiteX6" fmla="*/ 3621024 w 5029200"/>
              <a:gd name="connsiteY6" fmla="*/ 0 h 18288"/>
              <a:gd name="connsiteX7" fmla="*/ 4249674 w 5029200"/>
              <a:gd name="connsiteY7" fmla="*/ 0 h 18288"/>
              <a:gd name="connsiteX8" fmla="*/ 5029200 w 5029200"/>
              <a:gd name="connsiteY8" fmla="*/ 0 h 18288"/>
              <a:gd name="connsiteX9" fmla="*/ 5029200 w 5029200"/>
              <a:gd name="connsiteY9" fmla="*/ 18288 h 18288"/>
              <a:gd name="connsiteX10" fmla="*/ 4501134 w 5029200"/>
              <a:gd name="connsiteY10" fmla="*/ 18288 h 18288"/>
              <a:gd name="connsiteX11" fmla="*/ 4023360 w 5029200"/>
              <a:gd name="connsiteY11" fmla="*/ 18288 h 18288"/>
              <a:gd name="connsiteX12" fmla="*/ 3344418 w 5029200"/>
              <a:gd name="connsiteY12" fmla="*/ 18288 h 18288"/>
              <a:gd name="connsiteX13" fmla="*/ 2816352 w 5029200"/>
              <a:gd name="connsiteY13" fmla="*/ 18288 h 18288"/>
              <a:gd name="connsiteX14" fmla="*/ 2137410 w 5029200"/>
              <a:gd name="connsiteY14" fmla="*/ 18288 h 18288"/>
              <a:gd name="connsiteX15" fmla="*/ 1408176 w 5029200"/>
              <a:gd name="connsiteY15" fmla="*/ 18288 h 18288"/>
              <a:gd name="connsiteX16" fmla="*/ 829818 w 5029200"/>
              <a:gd name="connsiteY16" fmla="*/ 18288 h 18288"/>
              <a:gd name="connsiteX17" fmla="*/ 0 w 5029200"/>
              <a:gd name="connsiteY17" fmla="*/ 18288 h 18288"/>
              <a:gd name="connsiteX18" fmla="*/ 0 w 5029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9200" h="18288" fill="none" extrusionOk="0">
                <a:moveTo>
                  <a:pt x="0" y="0"/>
                </a:moveTo>
                <a:cubicBezTo>
                  <a:pt x="142937" y="1696"/>
                  <a:pt x="371859" y="12840"/>
                  <a:pt x="528066" y="0"/>
                </a:cubicBezTo>
                <a:cubicBezTo>
                  <a:pt x="684273" y="-12840"/>
                  <a:pt x="928949" y="-5725"/>
                  <a:pt x="1207008" y="0"/>
                </a:cubicBezTo>
                <a:cubicBezTo>
                  <a:pt x="1485067" y="5725"/>
                  <a:pt x="1562886" y="-21331"/>
                  <a:pt x="1785366" y="0"/>
                </a:cubicBezTo>
                <a:cubicBezTo>
                  <a:pt x="2007846" y="21331"/>
                  <a:pt x="2056226" y="25221"/>
                  <a:pt x="2313432" y="0"/>
                </a:cubicBezTo>
                <a:cubicBezTo>
                  <a:pt x="2570638" y="-25221"/>
                  <a:pt x="2732455" y="16294"/>
                  <a:pt x="2992374" y="0"/>
                </a:cubicBezTo>
                <a:cubicBezTo>
                  <a:pt x="3252293" y="-16294"/>
                  <a:pt x="3319267" y="-29774"/>
                  <a:pt x="3621024" y="0"/>
                </a:cubicBezTo>
                <a:cubicBezTo>
                  <a:pt x="3922781" y="29774"/>
                  <a:pt x="3998107" y="-1004"/>
                  <a:pt x="4249674" y="0"/>
                </a:cubicBezTo>
                <a:cubicBezTo>
                  <a:pt x="4501241" y="1004"/>
                  <a:pt x="4792523" y="-4510"/>
                  <a:pt x="5029200" y="0"/>
                </a:cubicBezTo>
                <a:cubicBezTo>
                  <a:pt x="5029730" y="6954"/>
                  <a:pt x="5029934" y="12839"/>
                  <a:pt x="5029200" y="18288"/>
                </a:cubicBezTo>
                <a:cubicBezTo>
                  <a:pt x="4805432" y="23154"/>
                  <a:pt x="4715801" y="17034"/>
                  <a:pt x="4501134" y="18288"/>
                </a:cubicBezTo>
                <a:cubicBezTo>
                  <a:pt x="4286467" y="19542"/>
                  <a:pt x="4193719" y="41701"/>
                  <a:pt x="4023360" y="18288"/>
                </a:cubicBezTo>
                <a:cubicBezTo>
                  <a:pt x="3853001" y="-5125"/>
                  <a:pt x="3676466" y="16909"/>
                  <a:pt x="3344418" y="18288"/>
                </a:cubicBezTo>
                <a:cubicBezTo>
                  <a:pt x="3012370" y="19667"/>
                  <a:pt x="2945824" y="14410"/>
                  <a:pt x="2816352" y="18288"/>
                </a:cubicBezTo>
                <a:cubicBezTo>
                  <a:pt x="2686880" y="22166"/>
                  <a:pt x="2438351" y="13507"/>
                  <a:pt x="2137410" y="18288"/>
                </a:cubicBezTo>
                <a:cubicBezTo>
                  <a:pt x="1836469" y="23069"/>
                  <a:pt x="1581391" y="46111"/>
                  <a:pt x="1408176" y="18288"/>
                </a:cubicBezTo>
                <a:cubicBezTo>
                  <a:pt x="1234961" y="-9535"/>
                  <a:pt x="1040489" y="-7495"/>
                  <a:pt x="829818" y="18288"/>
                </a:cubicBezTo>
                <a:cubicBezTo>
                  <a:pt x="619147" y="44071"/>
                  <a:pt x="238626" y="37568"/>
                  <a:pt x="0" y="18288"/>
                </a:cubicBezTo>
                <a:cubicBezTo>
                  <a:pt x="-570" y="9279"/>
                  <a:pt x="132" y="5100"/>
                  <a:pt x="0" y="0"/>
                </a:cubicBezTo>
                <a:close/>
              </a:path>
              <a:path w="5029200" h="18288" stroke="0" extrusionOk="0">
                <a:moveTo>
                  <a:pt x="0" y="0"/>
                </a:moveTo>
                <a:cubicBezTo>
                  <a:pt x="165412" y="-21137"/>
                  <a:pt x="322344" y="-21985"/>
                  <a:pt x="578358" y="0"/>
                </a:cubicBezTo>
                <a:cubicBezTo>
                  <a:pt x="834372" y="21985"/>
                  <a:pt x="907099" y="-19195"/>
                  <a:pt x="1056132" y="0"/>
                </a:cubicBezTo>
                <a:cubicBezTo>
                  <a:pt x="1205165" y="19195"/>
                  <a:pt x="1612834" y="-24928"/>
                  <a:pt x="1785366" y="0"/>
                </a:cubicBezTo>
                <a:cubicBezTo>
                  <a:pt x="1957898" y="24928"/>
                  <a:pt x="2149044" y="19108"/>
                  <a:pt x="2363724" y="0"/>
                </a:cubicBezTo>
                <a:cubicBezTo>
                  <a:pt x="2578404" y="-19108"/>
                  <a:pt x="2759981" y="-21788"/>
                  <a:pt x="2942082" y="0"/>
                </a:cubicBezTo>
                <a:cubicBezTo>
                  <a:pt x="3124183" y="21788"/>
                  <a:pt x="3482217" y="8836"/>
                  <a:pt x="3671316" y="0"/>
                </a:cubicBezTo>
                <a:cubicBezTo>
                  <a:pt x="3860415" y="-8836"/>
                  <a:pt x="4058665" y="-25048"/>
                  <a:pt x="4199382" y="0"/>
                </a:cubicBezTo>
                <a:cubicBezTo>
                  <a:pt x="4340099" y="25048"/>
                  <a:pt x="4735096" y="-22088"/>
                  <a:pt x="5029200" y="0"/>
                </a:cubicBezTo>
                <a:cubicBezTo>
                  <a:pt x="5028517" y="5414"/>
                  <a:pt x="5028480" y="12510"/>
                  <a:pt x="5029200" y="18288"/>
                </a:cubicBezTo>
                <a:cubicBezTo>
                  <a:pt x="4891577" y="31493"/>
                  <a:pt x="4684146" y="-2509"/>
                  <a:pt x="4501134" y="18288"/>
                </a:cubicBezTo>
                <a:cubicBezTo>
                  <a:pt x="4318122" y="39085"/>
                  <a:pt x="4030703" y="3672"/>
                  <a:pt x="3872484" y="18288"/>
                </a:cubicBezTo>
                <a:cubicBezTo>
                  <a:pt x="3714265" y="32905"/>
                  <a:pt x="3546134" y="7501"/>
                  <a:pt x="3294126" y="18288"/>
                </a:cubicBezTo>
                <a:cubicBezTo>
                  <a:pt x="3042118" y="29075"/>
                  <a:pt x="2912116" y="11153"/>
                  <a:pt x="2564892" y="18288"/>
                </a:cubicBezTo>
                <a:cubicBezTo>
                  <a:pt x="2217668" y="25423"/>
                  <a:pt x="2095118" y="11659"/>
                  <a:pt x="1835658" y="18288"/>
                </a:cubicBezTo>
                <a:cubicBezTo>
                  <a:pt x="1576198" y="24917"/>
                  <a:pt x="1500897" y="19889"/>
                  <a:pt x="1307592" y="18288"/>
                </a:cubicBezTo>
                <a:cubicBezTo>
                  <a:pt x="1114287" y="16687"/>
                  <a:pt x="961527" y="47453"/>
                  <a:pt x="678942" y="18288"/>
                </a:cubicBezTo>
                <a:cubicBezTo>
                  <a:pt x="396357" y="-10877"/>
                  <a:pt x="271066" y="23005"/>
                  <a:pt x="0" y="18288"/>
                </a:cubicBezTo>
                <a:cubicBezTo>
                  <a:pt x="-306" y="11061"/>
                  <a:pt x="-655" y="7751"/>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777ADC-60B1-043F-9813-412CB37E5263}"/>
              </a:ext>
            </a:extLst>
          </p:cNvPr>
          <p:cNvSpPr>
            <a:spLocks noGrp="1"/>
          </p:cNvSpPr>
          <p:nvPr>
            <p:ph idx="1"/>
          </p:nvPr>
        </p:nvSpPr>
        <p:spPr>
          <a:xfrm>
            <a:off x="4982902" y="2798064"/>
            <a:ext cx="7025832" cy="3417611"/>
          </a:xfrm>
        </p:spPr>
        <p:txBody>
          <a:bodyPr anchor="t">
            <a:noAutofit/>
          </a:bodyPr>
          <a:lstStyle/>
          <a:p>
            <a:r>
              <a:rPr lang="en-US" sz="1800">
                <a:solidFill>
                  <a:srgbClr val="FFFFFF"/>
                </a:solidFill>
              </a:rPr>
              <a:t>A country within a common currency area does not have its own monetary policy. </a:t>
            </a:r>
            <a:r>
              <a:rPr lang="en-US" sz="1800" b="1">
                <a:solidFill>
                  <a:srgbClr val="FFFFFF"/>
                </a:solidFill>
              </a:rPr>
              <a:t>Base money</a:t>
            </a:r>
            <a:r>
              <a:rPr lang="en-US" sz="1800">
                <a:solidFill>
                  <a:srgbClr val="FFFFFF"/>
                </a:solidFill>
              </a:rPr>
              <a:t> (reserves and currency) is issued by the shared central bank, which controls the policy interest rate.</a:t>
            </a:r>
          </a:p>
          <a:p>
            <a:r>
              <a:rPr lang="en-US" sz="1800">
                <a:solidFill>
                  <a:srgbClr val="FFFFFF"/>
                </a:solidFill>
              </a:rPr>
              <a:t>The exchange rate for any given member country against countries </a:t>
            </a:r>
            <a:r>
              <a:rPr lang="en-US" sz="1800" i="1">
                <a:solidFill>
                  <a:srgbClr val="FFFFFF"/>
                </a:solidFill>
              </a:rPr>
              <a:t>outside</a:t>
            </a:r>
            <a:r>
              <a:rPr lang="en-US" sz="1800">
                <a:solidFill>
                  <a:srgbClr val="FFFFFF"/>
                </a:solidFill>
              </a:rPr>
              <a:t> the currency union is the same, and it is determined by the exchange rate of the common currency against other global currencies.</a:t>
            </a:r>
          </a:p>
          <a:p>
            <a:r>
              <a:rPr lang="en-US" sz="1800">
                <a:solidFill>
                  <a:srgbClr val="FFFFFF"/>
                </a:solidFill>
              </a:rPr>
              <a:t>There is still an exchange rate between member countries, but it is </a:t>
            </a:r>
            <a:r>
              <a:rPr lang="en-US" sz="1800" i="1">
                <a:solidFill>
                  <a:srgbClr val="FFFFFF"/>
                </a:solidFill>
              </a:rPr>
              <a:t>e</a:t>
            </a:r>
            <a:r>
              <a:rPr lang="en-US" sz="1800">
                <a:solidFill>
                  <a:srgbClr val="FFFFFF"/>
                </a:solidFill>
              </a:rPr>
              <a:t> = 1, and this exchange rate simply cannot change. </a:t>
            </a:r>
          </a:p>
          <a:p>
            <a:r>
              <a:rPr lang="en-US" sz="1800">
                <a:solidFill>
                  <a:srgbClr val="FFFFFF"/>
                </a:solidFill>
              </a:rPr>
              <a:t>Thus, a country that belongs to a common currency area is the ultimate </a:t>
            </a:r>
            <a:r>
              <a:rPr lang="en-US" sz="1800" i="1">
                <a:solidFill>
                  <a:srgbClr val="FFFFFF"/>
                </a:solidFill>
              </a:rPr>
              <a:t>Fix</a:t>
            </a:r>
            <a:r>
              <a:rPr lang="en-US" sz="1800">
                <a:solidFill>
                  <a:srgbClr val="FFFFFF"/>
                </a:solidFill>
              </a:rPr>
              <a:t> economy, with a fixed exchange rate, and interest rates entirely dependent on monetary policy set elsewhere</a:t>
            </a:r>
          </a:p>
        </p:txBody>
      </p:sp>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2947534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0426" name="Picture 60425">
            <a:extLst>
              <a:ext uri="{FF2B5EF4-FFF2-40B4-BE49-F238E27FC236}">
                <a16:creationId xmlns:a16="http://schemas.microsoft.com/office/drawing/2014/main" id="{4FAB9E01-F31E-02C6-B412-9453403456B6}"/>
              </a:ext>
            </a:extLst>
          </p:cNvPr>
          <p:cNvPicPr>
            <a:picLocks noChangeAspect="1"/>
          </p:cNvPicPr>
          <p:nvPr/>
        </p:nvPicPr>
        <p:blipFill>
          <a:blip r:embed="rId3">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60430" name="Rectangle 6042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t>The ultimate </a:t>
            </a:r>
            <a:r>
              <a:rPr lang="en-US" i="1"/>
              <a:t>Fix</a:t>
            </a:r>
            <a:r>
              <a:rPr lang="en-US"/>
              <a:t> economy</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A8E53AC-3B7F-3426-4F1E-EE3233373383}"/>
                  </a:ext>
                </a:extLst>
              </p:cNvPr>
              <p:cNvSpPr txBox="1"/>
              <p:nvPr/>
            </p:nvSpPr>
            <p:spPr>
              <a:xfrm>
                <a:off x="7022039" y="4958830"/>
                <a:ext cx="3656324" cy="988540"/>
              </a:xfrm>
              <a:prstGeom prst="rect">
                <a:avLst/>
              </a:prstGeom>
              <a:noFill/>
            </p:spPr>
            <p:txBody>
              <a:bodyPr wrap="square" rtlCol="0">
                <a:spAutoFit/>
              </a:bodyPr>
              <a:lstStyle/>
              <a:p>
                <a:pPr>
                  <a:spcAft>
                    <a:spcPts val="600"/>
                  </a:spcAft>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𝑐</m:t>
                      </m:r>
                      <m:r>
                        <a:rPr lang="en-US" sz="2800" b="0" i="1" smtClean="0">
                          <a:latin typeface="Cambria Math" panose="02040503050406030204" pitchFamily="18" charset="0"/>
                        </a:rPr>
                        <m:t>= </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1 </m:t>
                          </m:r>
                          <m:r>
                            <a:rPr lang="en-US" sz="2800" b="0" i="1" smtClean="0">
                              <a:latin typeface="Cambria Math" panose="02040503050406030204" pitchFamily="18" charset="0"/>
                              <a:ea typeface="Cambria Math" panose="02040503050406030204" pitchFamily="18" charset="0"/>
                            </a:rPr>
                            <m:t>× </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𝑃</m:t>
                              </m:r>
                            </m:e>
                            <m:sup>
                              <m:r>
                                <a:rPr lang="en-US" sz="2800" b="0" i="1" smtClean="0">
                                  <a:latin typeface="Cambria Math" panose="02040503050406030204" pitchFamily="18" charset="0"/>
                                  <a:ea typeface="Cambria Math" panose="02040503050406030204" pitchFamily="18" charset="0"/>
                                </a:rPr>
                                <m:t>∗</m:t>
                              </m:r>
                            </m:sup>
                          </m:sSup>
                        </m:num>
                        <m:den>
                          <m:r>
                            <a:rPr lang="en-US" sz="2800" b="0" i="1" smtClean="0">
                              <a:latin typeface="Cambria Math" panose="02040503050406030204" pitchFamily="18" charset="0"/>
                            </a:rPr>
                            <m:t>𝑃</m:t>
                          </m:r>
                        </m:den>
                      </m:f>
                      <m:r>
                        <a:rPr lang="en-US" sz="2800" b="0" i="1" smtClean="0">
                          <a:latin typeface="Cambria Math" panose="02040503050406030204" pitchFamily="18" charset="0"/>
                        </a:rPr>
                        <m:t>=</m:t>
                      </m:r>
                      <m:f>
                        <m:fPr>
                          <m:ctrlPr>
                            <a:rPr lang="en-US" sz="2800" i="1">
                              <a:latin typeface="Cambria Math" panose="02040503050406030204" pitchFamily="18" charset="0"/>
                            </a:rPr>
                          </m:ctrlPr>
                        </m:fPr>
                        <m:num>
                          <m:r>
                            <a:rPr lang="en-US" sz="2800" b="0" i="1" smtClean="0">
                              <a:latin typeface="Cambria Math" panose="02040503050406030204" pitchFamily="18" charset="0"/>
                            </a:rPr>
                            <m:t> </m:t>
                          </m:r>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𝑃</m:t>
                              </m:r>
                            </m:e>
                            <m:sup>
                              <m:r>
                                <a:rPr lang="en-US" sz="2800" i="1">
                                  <a:latin typeface="Cambria Math" panose="02040503050406030204" pitchFamily="18" charset="0"/>
                                  <a:ea typeface="Cambria Math" panose="02040503050406030204" pitchFamily="18" charset="0"/>
                                </a:rPr>
                                <m:t>∗</m:t>
                              </m:r>
                            </m:sup>
                          </m:sSup>
                        </m:num>
                        <m:den>
                          <m:r>
                            <a:rPr lang="en-US" sz="2800" i="1">
                              <a:latin typeface="Cambria Math" panose="02040503050406030204" pitchFamily="18" charset="0"/>
                            </a:rPr>
                            <m:t>𝑃</m:t>
                          </m:r>
                        </m:den>
                      </m:f>
                    </m:oMath>
                  </m:oMathPara>
                </a14:m>
                <a:endParaRPr lang="en-GB" sz="2800"/>
              </a:p>
            </p:txBody>
          </p:sp>
        </mc:Choice>
        <mc:Fallback>
          <p:sp>
            <p:nvSpPr>
              <p:cNvPr id="6" name="TextBox 5">
                <a:extLst>
                  <a:ext uri="{FF2B5EF4-FFF2-40B4-BE49-F238E27FC236}">
                    <a16:creationId xmlns:a16="http://schemas.microsoft.com/office/drawing/2014/main" id="{3A8E53AC-3B7F-3426-4F1E-EE3233373383}"/>
                  </a:ext>
                </a:extLst>
              </p:cNvPr>
              <p:cNvSpPr txBox="1">
                <a:spLocks noRot="1" noChangeAspect="1" noMove="1" noResize="1" noEditPoints="1" noAdjustHandles="1" noChangeArrowheads="1" noChangeShapeType="1" noTextEdit="1"/>
              </p:cNvSpPr>
              <p:nvPr/>
            </p:nvSpPr>
            <p:spPr>
              <a:xfrm>
                <a:off x="7022039" y="4958830"/>
                <a:ext cx="3656324" cy="988540"/>
              </a:xfrm>
              <a:prstGeom prst="rect">
                <a:avLst/>
              </a:prstGeom>
              <a:blipFill>
                <a:blip r:embed="rId4"/>
                <a:stretch>
                  <a:fillRect/>
                </a:stretch>
              </a:blipFill>
            </p:spPr>
            <p:txBody>
              <a:bodyPr/>
              <a:lstStyle/>
              <a:p>
                <a:r>
                  <a:rPr lang="en-US">
                    <a:noFill/>
                  </a:rPr>
                  <a:t> </a:t>
                </a:r>
              </a:p>
            </p:txBody>
          </p:sp>
        </mc:Fallback>
      </mc:AlternateContent>
      <p:graphicFrame>
        <p:nvGraphicFramePr>
          <p:cNvPr id="60424" name="Content Placeholder 2">
            <a:extLst>
              <a:ext uri="{FF2B5EF4-FFF2-40B4-BE49-F238E27FC236}">
                <a16:creationId xmlns:a16="http://schemas.microsoft.com/office/drawing/2014/main" id="{E4EC6044-857F-6972-C6EA-48206790DD3C}"/>
              </a:ext>
            </a:extLst>
          </p:cNvPr>
          <p:cNvGraphicFramePr>
            <a:graphicFrameLocks noGrp="1"/>
          </p:cNvGraphicFramePr>
          <p:nvPr>
            <p:ph idx="1"/>
            <p:extLst>
              <p:ext uri="{D42A27DB-BD31-4B8C-83A1-F6EECF244321}">
                <p14:modId xmlns:p14="http://schemas.microsoft.com/office/powerpoint/2010/main" val="407137646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2996308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471" name="Rectangle 60470">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5000" y="640823"/>
            <a:ext cx="3418659" cy="5583148"/>
          </a:xfrm>
        </p:spPr>
        <p:txBody>
          <a:bodyPr anchor="ctr">
            <a:normAutofit/>
          </a:bodyPr>
          <a:lstStyle/>
          <a:p>
            <a:r>
              <a:rPr lang="en-GB" sz="5400" i="1">
                <a:latin typeface="+mn-lt"/>
              </a:rPr>
              <a:t>FlexIT</a:t>
            </a:r>
            <a:r>
              <a:rPr lang="en-GB" sz="5400">
                <a:latin typeface="+mn-lt"/>
              </a:rPr>
              <a:t> vs ultimate </a:t>
            </a:r>
            <a:r>
              <a:rPr lang="en-GB" sz="5400" i="1">
                <a:latin typeface="+mn-lt"/>
              </a:rPr>
              <a:t>Fix</a:t>
            </a:r>
          </a:p>
        </p:txBody>
      </p:sp>
      <p:sp>
        <p:nvSpPr>
          <p:cNvPr id="6047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0455" name="Content Placeholder 2">
            <a:extLst>
              <a:ext uri="{FF2B5EF4-FFF2-40B4-BE49-F238E27FC236}">
                <a16:creationId xmlns:a16="http://schemas.microsoft.com/office/drawing/2014/main" id="{DB9B1D6E-2F37-653A-AB86-CB4D3599656F}"/>
              </a:ext>
            </a:extLst>
          </p:cNvPr>
          <p:cNvGraphicFramePr>
            <a:graphicFrameLocks noGrp="1"/>
          </p:cNvGraphicFramePr>
          <p:nvPr>
            <p:ph idx="1"/>
            <p:extLst>
              <p:ext uri="{D42A27DB-BD31-4B8C-83A1-F6EECF244321}">
                <p14:modId xmlns:p14="http://schemas.microsoft.com/office/powerpoint/2010/main" val="2303295847"/>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3568512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427" name="Rectangle 604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29" name="Freeform: Shape 604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GB">
                <a:solidFill>
                  <a:srgbClr val="FFFFFF"/>
                </a:solidFill>
                <a:latin typeface="+mn-lt"/>
              </a:rPr>
              <a:t>Why join a common currency area?</a:t>
            </a:r>
          </a:p>
        </p:txBody>
      </p:sp>
      <p:sp>
        <p:nvSpPr>
          <p:cNvPr id="60431" name="Arc 604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777ADC-60B1-043F-9813-412CB37E5263}"/>
              </a:ext>
            </a:extLst>
          </p:cNvPr>
          <p:cNvSpPr>
            <a:spLocks noGrp="1"/>
          </p:cNvSpPr>
          <p:nvPr>
            <p:ph idx="1"/>
          </p:nvPr>
        </p:nvSpPr>
        <p:spPr>
          <a:xfrm>
            <a:off x="4447308" y="591344"/>
            <a:ext cx="6906491" cy="5585619"/>
          </a:xfrm>
        </p:spPr>
        <p:txBody>
          <a:bodyPr anchor="ctr">
            <a:normAutofit/>
          </a:bodyPr>
          <a:lstStyle/>
          <a:p>
            <a:r>
              <a:rPr lang="en-US" sz="2600"/>
              <a:t>The successful operation of monetary policy in a </a:t>
            </a:r>
            <a:r>
              <a:rPr lang="en-US" sz="2600" i="1" err="1"/>
              <a:t>FlexIT</a:t>
            </a:r>
            <a:r>
              <a:rPr lang="en-US" sz="2600"/>
              <a:t> regime relies on the credibility of the government’s commitment to the </a:t>
            </a:r>
            <a:r>
              <a:rPr lang="en-US" sz="2600" b="1"/>
              <a:t>independence of the central bank</a:t>
            </a:r>
            <a:r>
              <a:rPr lang="en-US" sz="2600"/>
              <a:t>. Unless the government can make a credible commitment to delegate monetary policy fully and permanently, and set a stable inflation target, a common currency zone will tie its hands more securely.</a:t>
            </a:r>
          </a:p>
          <a:p>
            <a:r>
              <a:rPr lang="en-US" sz="2600"/>
              <a:t>Different currencies would be inconvenient (and costly) for trade of goods and services for a group of countries that have a lot of cross-border trade. This is a key motivation for the formation of a common currency area.</a:t>
            </a:r>
          </a:p>
        </p:txBody>
      </p:sp>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3336439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767A23-A499-373A-930F-B50BFBE54E1B}"/>
              </a:ext>
            </a:extLst>
          </p:cNvPr>
          <p:cNvSpPr>
            <a:spLocks noGrp="1"/>
          </p:cNvSpPr>
          <p:nvPr>
            <p:ph type="title"/>
          </p:nvPr>
        </p:nvSpPr>
        <p:spPr>
          <a:xfrm>
            <a:off x="686834" y="1153572"/>
            <a:ext cx="3200400" cy="4461163"/>
          </a:xfrm>
        </p:spPr>
        <p:txBody>
          <a:bodyPr>
            <a:normAutofit/>
          </a:bodyPr>
          <a:lstStyle/>
          <a:p>
            <a:r>
              <a:rPr lang="en-ZA">
                <a:solidFill>
                  <a:srgbClr val="FFFFFF"/>
                </a:solidFill>
              </a:rPr>
              <a:t>Arguments for joining common currency area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022F38C-CD2D-F001-47D6-A295F410E735}"/>
              </a:ext>
            </a:extLst>
          </p:cNvPr>
          <p:cNvSpPr>
            <a:spLocks noGrp="1"/>
          </p:cNvSpPr>
          <p:nvPr>
            <p:ph idx="1"/>
          </p:nvPr>
        </p:nvSpPr>
        <p:spPr>
          <a:xfrm>
            <a:off x="4447308" y="591344"/>
            <a:ext cx="6906491" cy="5585619"/>
          </a:xfrm>
        </p:spPr>
        <p:txBody>
          <a:bodyPr anchor="ctr">
            <a:normAutofit/>
          </a:bodyPr>
          <a:lstStyle/>
          <a:p>
            <a:pPr marL="0" indent="0">
              <a:buNone/>
            </a:pPr>
            <a:r>
              <a:rPr lang="en-ZA" sz="2400" b="1"/>
              <a:t>1. Elimination of Exchange Rate Uncertainty</a:t>
            </a:r>
            <a:endParaRPr lang="en-ZA" sz="2400"/>
          </a:p>
          <a:p>
            <a:pPr marL="0" lvl="0" indent="0">
              <a:buNone/>
            </a:pPr>
            <a:r>
              <a:rPr lang="en-ZA" sz="2400"/>
              <a:t>By adopting a common currency, countries remove the risk of exchange rate fluctuations within the union.</a:t>
            </a:r>
          </a:p>
          <a:p>
            <a:pPr marL="0" lvl="0" indent="0">
              <a:buNone/>
            </a:pPr>
            <a:r>
              <a:rPr lang="en-ZA" sz="2400"/>
              <a:t>This encourages trade and investment across member countries because firms and households don’t need to worry about currency depreciation/appreciation.</a:t>
            </a:r>
          </a:p>
          <a:p>
            <a:pPr marL="0" indent="0">
              <a:buNone/>
            </a:pPr>
            <a:endParaRPr lang="en-ZA" sz="2400"/>
          </a:p>
          <a:p>
            <a:pPr marL="0" indent="0">
              <a:buNone/>
            </a:pPr>
            <a:r>
              <a:rPr lang="en-ZA" sz="2400" b="1"/>
              <a:t>2. Lower Transaction Costs</a:t>
            </a:r>
            <a:endParaRPr lang="en-ZA" sz="2400"/>
          </a:p>
          <a:p>
            <a:pPr marL="0" lvl="0" indent="0">
              <a:buNone/>
            </a:pPr>
            <a:r>
              <a:rPr lang="en-ZA" sz="2400"/>
              <a:t>Businesses and consumers no longer need to convert currencies, which reduces banking and exchange costs.</a:t>
            </a:r>
          </a:p>
          <a:p>
            <a:pPr marL="0" lvl="0" indent="0">
              <a:buNone/>
            </a:pPr>
            <a:r>
              <a:rPr lang="en-ZA" sz="2400"/>
              <a:t>This is particularly important in regions with high levels of cross-border trade.</a:t>
            </a:r>
          </a:p>
          <a:p>
            <a:pPr marL="0" indent="0">
              <a:buNone/>
            </a:pPr>
            <a:endParaRPr lang="en-ZA" sz="2400"/>
          </a:p>
        </p:txBody>
      </p:sp>
    </p:spTree>
    <p:extLst>
      <p:ext uri="{BB962C8B-B14F-4D97-AF65-F5344CB8AC3E}">
        <p14:creationId xmlns:p14="http://schemas.microsoft.com/office/powerpoint/2010/main" val="3680969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7BAA46-0718-C4F2-0196-6F41F315E70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7284A3-10AB-29EB-AA6E-2C92DE6403EE}"/>
              </a:ext>
            </a:extLst>
          </p:cNvPr>
          <p:cNvSpPr>
            <a:spLocks noGrp="1"/>
          </p:cNvSpPr>
          <p:nvPr>
            <p:ph type="title"/>
          </p:nvPr>
        </p:nvSpPr>
        <p:spPr>
          <a:xfrm>
            <a:off x="686834" y="1153572"/>
            <a:ext cx="3200400" cy="4461163"/>
          </a:xfrm>
        </p:spPr>
        <p:txBody>
          <a:bodyPr>
            <a:normAutofit/>
          </a:bodyPr>
          <a:lstStyle/>
          <a:p>
            <a:r>
              <a:rPr lang="en-ZA">
                <a:solidFill>
                  <a:srgbClr val="FFFFFF"/>
                </a:solidFill>
              </a:rPr>
              <a:t>Arguments for joining common currency area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CB92842-0711-C83E-A22E-E63A0B034A0C}"/>
              </a:ext>
            </a:extLst>
          </p:cNvPr>
          <p:cNvSpPr>
            <a:spLocks noGrp="1"/>
          </p:cNvSpPr>
          <p:nvPr>
            <p:ph idx="1"/>
          </p:nvPr>
        </p:nvSpPr>
        <p:spPr>
          <a:xfrm>
            <a:off x="4447308" y="591344"/>
            <a:ext cx="6906491" cy="5585619"/>
          </a:xfrm>
        </p:spPr>
        <p:txBody>
          <a:bodyPr anchor="ctr">
            <a:normAutofit/>
          </a:bodyPr>
          <a:lstStyle/>
          <a:p>
            <a:pPr marL="0" indent="0">
              <a:buNone/>
            </a:pPr>
            <a:r>
              <a:rPr lang="en-ZA" b="1"/>
              <a:t>3. Price Transparency</a:t>
            </a:r>
            <a:endParaRPr lang="en-ZA"/>
          </a:p>
          <a:p>
            <a:pPr marL="0" lvl="0" indent="0">
              <a:buNone/>
            </a:pPr>
            <a:r>
              <a:rPr lang="en-ZA"/>
              <a:t>A common currency makes it easier for consumers and businesses to compare prices across countries.</a:t>
            </a:r>
          </a:p>
          <a:p>
            <a:pPr marL="0" lvl="0" indent="0">
              <a:buNone/>
            </a:pPr>
            <a:r>
              <a:rPr lang="en-ZA"/>
              <a:t>Increased competition tends to lower prices and improve efficiency.</a:t>
            </a:r>
          </a:p>
          <a:p>
            <a:pPr marL="0" indent="0">
              <a:buNone/>
            </a:pPr>
            <a:endParaRPr lang="en-ZA"/>
          </a:p>
          <a:p>
            <a:pPr marL="0" indent="0">
              <a:buNone/>
            </a:pPr>
            <a:r>
              <a:rPr lang="en-ZA" b="1"/>
              <a:t>4. Deeper Economic Integration</a:t>
            </a:r>
            <a:endParaRPr lang="en-ZA"/>
          </a:p>
          <a:p>
            <a:pPr marL="0" lvl="0" indent="0">
              <a:buNone/>
            </a:pPr>
            <a:r>
              <a:rPr lang="en-ZA"/>
              <a:t>Sharing a currency can strengthen economic and political ties between member countries.</a:t>
            </a:r>
          </a:p>
          <a:p>
            <a:pPr marL="0" lvl="0" indent="0">
              <a:buNone/>
            </a:pPr>
            <a:r>
              <a:rPr lang="en-ZA"/>
              <a:t>It facilitates the free flow of goods, services, capital, and even </a:t>
            </a:r>
            <a:r>
              <a:rPr lang="en-ZA" err="1"/>
              <a:t>labor</a:t>
            </a:r>
            <a:r>
              <a:rPr lang="en-ZA"/>
              <a:t>.</a:t>
            </a:r>
          </a:p>
          <a:p>
            <a:pPr marL="0" indent="0">
              <a:buNone/>
            </a:pPr>
            <a:endParaRPr lang="en-ZA"/>
          </a:p>
          <a:p>
            <a:pPr marL="0" indent="0">
              <a:buNone/>
            </a:pPr>
            <a:endParaRPr lang="en-ZA"/>
          </a:p>
        </p:txBody>
      </p:sp>
    </p:spTree>
    <p:extLst>
      <p:ext uri="{BB962C8B-B14F-4D97-AF65-F5344CB8AC3E}">
        <p14:creationId xmlns:p14="http://schemas.microsoft.com/office/powerpoint/2010/main" val="3384058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27E30E-3234-0CE6-5C60-6939FA0016C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DBFC51-DC17-37F1-BA0C-9DF7931F9116}"/>
              </a:ext>
            </a:extLst>
          </p:cNvPr>
          <p:cNvSpPr>
            <a:spLocks noGrp="1"/>
          </p:cNvSpPr>
          <p:nvPr>
            <p:ph type="title"/>
          </p:nvPr>
        </p:nvSpPr>
        <p:spPr>
          <a:xfrm>
            <a:off x="686834" y="1153572"/>
            <a:ext cx="3200400" cy="4461163"/>
          </a:xfrm>
        </p:spPr>
        <p:txBody>
          <a:bodyPr>
            <a:normAutofit/>
          </a:bodyPr>
          <a:lstStyle/>
          <a:p>
            <a:r>
              <a:rPr lang="en-ZA">
                <a:solidFill>
                  <a:srgbClr val="FFFFFF"/>
                </a:solidFill>
              </a:rPr>
              <a:t>Arguments for joining common currency area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1BACEE6-195A-508F-E15C-DBBCE74FF899}"/>
              </a:ext>
            </a:extLst>
          </p:cNvPr>
          <p:cNvSpPr>
            <a:spLocks noGrp="1"/>
          </p:cNvSpPr>
          <p:nvPr>
            <p:ph idx="1"/>
          </p:nvPr>
        </p:nvSpPr>
        <p:spPr>
          <a:xfrm>
            <a:off x="4296749" y="751716"/>
            <a:ext cx="8158913" cy="6613973"/>
          </a:xfrm>
        </p:spPr>
        <p:txBody>
          <a:bodyPr anchor="ctr">
            <a:normAutofit/>
          </a:bodyPr>
          <a:lstStyle/>
          <a:p>
            <a:pPr marL="0" indent="0">
              <a:buNone/>
            </a:pPr>
            <a:r>
              <a:rPr lang="en-ZA" sz="2200" b="1"/>
              <a:t>5. Monetary Stability and Discipline</a:t>
            </a:r>
            <a:endParaRPr lang="en-ZA" sz="2200"/>
          </a:p>
          <a:p>
            <a:pPr marL="0" lvl="0" indent="0">
              <a:buNone/>
            </a:pPr>
            <a:r>
              <a:rPr lang="en-ZA" sz="2200"/>
              <a:t>Membership often requires countries to meet strict fiscal and inflation criteria (e.g., Maastricht criteria for the Euro).</a:t>
            </a:r>
          </a:p>
          <a:p>
            <a:pPr marL="0" lvl="0" indent="0">
              <a:buNone/>
            </a:pPr>
            <a:r>
              <a:rPr lang="en-ZA" sz="2200"/>
              <a:t>This can encourage governments to maintain sound fiscal and monetary policies, reducing inflationary tendencies.</a:t>
            </a:r>
          </a:p>
          <a:p>
            <a:pPr marL="0" indent="0">
              <a:buNone/>
            </a:pPr>
            <a:br>
              <a:rPr lang="en-ZA" sz="2200"/>
            </a:br>
            <a:r>
              <a:rPr lang="en-ZA" sz="2200" b="1"/>
              <a:t>6. Enhanced Global Influence</a:t>
            </a:r>
            <a:endParaRPr lang="en-ZA" sz="2200"/>
          </a:p>
          <a:p>
            <a:pPr marL="0" lvl="0" indent="0">
              <a:buNone/>
            </a:pPr>
            <a:r>
              <a:rPr lang="en-ZA" sz="2200"/>
              <a:t>A common currency area often creates a stronger and more stable currency that competes internationally (e.g., the euro vs. the US dollar).</a:t>
            </a:r>
          </a:p>
          <a:p>
            <a:pPr marL="0" lvl="0" indent="0">
              <a:buNone/>
            </a:pPr>
            <a:r>
              <a:rPr lang="en-ZA" sz="2200"/>
              <a:t>This strengthens bargaining power in global trade and financial markets.</a:t>
            </a:r>
          </a:p>
          <a:p>
            <a:pPr marL="0" indent="0">
              <a:buNone/>
            </a:pPr>
            <a:endParaRPr lang="en-ZA" sz="2200"/>
          </a:p>
          <a:p>
            <a:pPr marL="0" indent="0">
              <a:buNone/>
            </a:pPr>
            <a:r>
              <a:rPr lang="en-ZA" sz="2200" b="1"/>
              <a:t>7. Boost to Trade and Growth</a:t>
            </a:r>
            <a:endParaRPr lang="en-ZA" sz="2200"/>
          </a:p>
          <a:p>
            <a:pPr marL="0" lvl="0" indent="0">
              <a:buNone/>
            </a:pPr>
            <a:r>
              <a:rPr lang="en-ZA" sz="2200"/>
              <a:t>Studies suggest that joining a currency union can </a:t>
            </a:r>
          </a:p>
          <a:p>
            <a:pPr marL="0" lvl="0" indent="0">
              <a:buNone/>
            </a:pPr>
            <a:r>
              <a:rPr lang="en-ZA" sz="2200"/>
              <a:t>increase trade among members significantly.</a:t>
            </a:r>
          </a:p>
          <a:p>
            <a:pPr marL="0" lvl="0" indent="0">
              <a:buNone/>
            </a:pPr>
            <a:r>
              <a:rPr lang="en-ZA" sz="2200"/>
              <a:t>Greater market integration can boost long-term growth</a:t>
            </a:r>
            <a:r>
              <a:rPr lang="en-ZA" sz="1800"/>
              <a:t>.</a:t>
            </a:r>
          </a:p>
          <a:p>
            <a:endParaRPr lang="en-ZA" sz="1800"/>
          </a:p>
          <a:p>
            <a:pPr marL="0" indent="0">
              <a:buNone/>
            </a:pPr>
            <a:endParaRPr lang="en-ZA" sz="1800"/>
          </a:p>
          <a:p>
            <a:pPr marL="0" indent="0">
              <a:buNone/>
            </a:pPr>
            <a:endParaRPr lang="en-ZA" sz="1800"/>
          </a:p>
          <a:p>
            <a:pPr marL="0" indent="0">
              <a:buNone/>
            </a:pPr>
            <a:endParaRPr lang="en-ZA" sz="1800"/>
          </a:p>
        </p:txBody>
      </p:sp>
    </p:spTree>
    <p:extLst>
      <p:ext uri="{BB962C8B-B14F-4D97-AF65-F5344CB8AC3E}">
        <p14:creationId xmlns:p14="http://schemas.microsoft.com/office/powerpoint/2010/main" val="21661961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7" name="Arc 16">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Title 3"/>
          <p:cNvSpPr>
            <a:spLocks noGrp="1"/>
          </p:cNvSpPr>
          <p:nvPr>
            <p:ph type="title"/>
          </p:nvPr>
        </p:nvSpPr>
        <p:spPr>
          <a:xfrm>
            <a:off x="4038600" y="1939159"/>
            <a:ext cx="7644627" cy="2751086"/>
          </a:xfrm>
        </p:spPr>
        <p:txBody>
          <a:bodyPr vert="horz" lIns="91440" tIns="45720" rIns="91440" bIns="45720" rtlCol="0" anchor="b">
            <a:normAutofit/>
          </a:bodyPr>
          <a:lstStyle/>
          <a:p>
            <a:pPr algn="r"/>
            <a:r>
              <a:rPr lang="en-US"/>
              <a:t>D</a:t>
            </a:r>
            <a:r>
              <a:rPr lang="en-US" kern="1200">
                <a:solidFill>
                  <a:schemeClr val="tx1"/>
                </a:solidFill>
                <a:latin typeface="+mj-lt"/>
                <a:ea typeface="+mj-ea"/>
                <a:cs typeface="+mj-cs"/>
              </a:rPr>
              <a:t>. Exchange rate regimes in practice</a:t>
            </a:r>
          </a:p>
        </p:txBody>
      </p:sp>
    </p:spTree>
    <p:extLst>
      <p:ext uri="{BB962C8B-B14F-4D97-AF65-F5344CB8AC3E}">
        <p14:creationId xmlns:p14="http://schemas.microsoft.com/office/powerpoint/2010/main" val="3136600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428" name="Rectangle 60427">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5000" y="640823"/>
            <a:ext cx="3418659" cy="5583148"/>
          </a:xfrm>
        </p:spPr>
        <p:txBody>
          <a:bodyPr anchor="ctr">
            <a:normAutofit/>
          </a:bodyPr>
          <a:lstStyle/>
          <a:p>
            <a:r>
              <a:rPr lang="en-GB" sz="5400">
                <a:latin typeface="+mn-lt"/>
              </a:rPr>
              <a:t>Fixed exchange rate regimes</a:t>
            </a:r>
          </a:p>
        </p:txBody>
      </p:sp>
      <p:sp>
        <p:nvSpPr>
          <p:cNvPr id="60430"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0424" name="Content Placeholder 2">
            <a:extLst>
              <a:ext uri="{FF2B5EF4-FFF2-40B4-BE49-F238E27FC236}">
                <a16:creationId xmlns:a16="http://schemas.microsoft.com/office/drawing/2014/main" id="{A1F9934F-A330-AC50-759C-3C422C35879C}"/>
              </a:ext>
            </a:extLst>
          </p:cNvPr>
          <p:cNvGraphicFramePr>
            <a:graphicFrameLocks noGrp="1"/>
          </p:cNvGraphicFramePr>
          <p:nvPr>
            <p:ph idx="1"/>
            <p:extLst>
              <p:ext uri="{D42A27DB-BD31-4B8C-83A1-F6EECF244321}">
                <p14:modId xmlns:p14="http://schemas.microsoft.com/office/powerpoint/2010/main" val="3312984336"/>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023953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446" name="Rectangle 60445">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Exchange rate regimes around the world</a:t>
            </a:r>
          </a:p>
        </p:txBody>
      </p:sp>
      <p:sp>
        <p:nvSpPr>
          <p:cNvPr id="60447" name="Rectangle 6044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448" name="Rectangle 6044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9" name="Picture 8" descr="A pie chart with different colored circles&#10;&#10;AI-generated content may be incorrect.">
            <a:extLst>
              <a:ext uri="{FF2B5EF4-FFF2-40B4-BE49-F238E27FC236}">
                <a16:creationId xmlns:a16="http://schemas.microsoft.com/office/drawing/2014/main" id="{AFBAFCC3-A192-3F0E-E558-CF670EC329EB}"/>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a:off x="4864608" y="1547644"/>
            <a:ext cx="6846363" cy="3611457"/>
          </a:xfrm>
          <a:prstGeom prst="rect">
            <a:avLst/>
          </a:prstGeom>
          <a:noFill/>
          <a:extLst>
            <a:ext uri="{909E8E84-426E-40DD-AFC4-6F175D3DCCD1}">
              <a14:hiddenFill xmlns:a14="http://schemas.microsoft.com/office/drawing/2010/main">
                <a:solidFill>
                  <a:srgbClr val="FFFFFF"/>
                </a:solidFill>
              </a14:hiddenFill>
            </a:ext>
          </a:extLst>
        </p:spPr>
      </p:pic>
      <p:sp>
        <p:nvSpPr>
          <p:cNvPr id="6041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0"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60422" name="Rectangle 6"/>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22380696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5" name="Rectangle 64">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9F32783-46EF-A50E-8DBC-9544FB4E030C}"/>
              </a:ext>
            </a:extLst>
          </p:cNvPr>
          <p:cNvSpPr>
            <a:spLocks noGrp="1"/>
          </p:cNvSpPr>
          <p:nvPr>
            <p:ph type="title"/>
          </p:nvPr>
        </p:nvSpPr>
        <p:spPr>
          <a:xfrm>
            <a:off x="1046746" y="586822"/>
            <a:ext cx="3560252" cy="1645920"/>
          </a:xfrm>
        </p:spPr>
        <p:txBody>
          <a:bodyPr vert="horz" lIns="91440" tIns="45720" rIns="91440" bIns="45720" rtlCol="0" anchor="ctr">
            <a:normAutofit/>
          </a:bodyPr>
          <a:lstStyle/>
          <a:p>
            <a:r>
              <a:rPr lang="en-US" sz="3200" kern="1200">
                <a:solidFill>
                  <a:schemeClr val="tx1"/>
                </a:solidFill>
                <a:latin typeface="+mj-lt"/>
                <a:ea typeface="+mj-ea"/>
                <a:cs typeface="+mj-cs"/>
              </a:rPr>
              <a:t>Exchange rate regime = monetary regime</a:t>
            </a:r>
          </a:p>
        </p:txBody>
      </p:sp>
      <p:sp>
        <p:nvSpPr>
          <p:cNvPr id="66" name="Rectangle 65">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7" name="Rectangle 66">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Rectangle 1">
            <a:extLst>
              <a:ext uri="{FF2B5EF4-FFF2-40B4-BE49-F238E27FC236}">
                <a16:creationId xmlns:a16="http://schemas.microsoft.com/office/drawing/2014/main" id="{355B5CED-11B2-4087-A751-A0A7ADF6DEEA}"/>
              </a:ext>
            </a:extLst>
          </p:cNvPr>
          <p:cNvSpPr>
            <a:spLocks noChangeArrowheads="1"/>
          </p:cNvSpPr>
          <p:nvPr/>
        </p:nvSpPr>
        <p:spPr bwMode="auto">
          <a:xfrm>
            <a:off x="5351164" y="586822"/>
            <a:ext cx="6002636" cy="16459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R="0" lvl="0" fontAlgn="base">
              <a:lnSpc>
                <a:spcPct val="90000"/>
              </a:lnSpc>
              <a:spcBef>
                <a:spcPct val="0"/>
              </a:spcBef>
              <a:spcAft>
                <a:spcPts val="600"/>
              </a:spcAft>
              <a:buClrTx/>
              <a:buSzTx/>
              <a:tabLst/>
            </a:pPr>
            <a:br>
              <a:rPr kumimoji="0" lang="en-US" altLang="en-US" b="0" i="0" u="none" strike="noStrike" cap="none" normalizeH="0" baseline="0">
                <a:ln>
                  <a:noFill/>
                </a:ln>
                <a:effectLst/>
              </a:rPr>
            </a:br>
            <a:endParaRPr kumimoji="0" lang="en-US" altLang="en-US" b="0" i="0" u="none" strike="noStrike" cap="none" normalizeH="0" baseline="0">
              <a:ln>
                <a:noFill/>
              </a:ln>
              <a:effectLst/>
            </a:endParaRP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53A864C0-3F74-9CFF-3DEA-E536124B00E7}"/>
                  </a:ext>
                </a:extLst>
              </p:cNvPr>
              <p:cNvGraphicFramePr>
                <a:graphicFrameLocks noGrp="1"/>
              </p:cNvGraphicFramePr>
              <p:nvPr>
                <p:extLst>
                  <p:ext uri="{D42A27DB-BD31-4B8C-83A1-F6EECF244321}">
                    <p14:modId xmlns:p14="http://schemas.microsoft.com/office/powerpoint/2010/main" val="2043266736"/>
                  </p:ext>
                </p:extLst>
              </p:nvPr>
            </p:nvGraphicFramePr>
            <p:xfrm>
              <a:off x="280492" y="2232742"/>
              <a:ext cx="11678177" cy="4578282"/>
            </p:xfrm>
            <a:graphic>
              <a:graphicData uri="http://schemas.openxmlformats.org/drawingml/2006/table">
                <a:tbl>
                  <a:tblPr firstRow="1" bandRow="1">
                    <a:tableStyleId>{69012ECD-51FC-41F1-AA8D-1B2483CD663E}</a:tableStyleId>
                  </a:tblPr>
                  <a:tblGrid>
                    <a:gridCol w="5806474">
                      <a:extLst>
                        <a:ext uri="{9D8B030D-6E8A-4147-A177-3AD203B41FA5}">
                          <a16:colId xmlns:a16="http://schemas.microsoft.com/office/drawing/2014/main" val="1430240633"/>
                        </a:ext>
                      </a:extLst>
                    </a:gridCol>
                    <a:gridCol w="5871703">
                      <a:extLst>
                        <a:ext uri="{9D8B030D-6E8A-4147-A177-3AD203B41FA5}">
                          <a16:colId xmlns:a16="http://schemas.microsoft.com/office/drawing/2014/main" val="404863714"/>
                        </a:ext>
                      </a:extLst>
                    </a:gridCol>
                  </a:tblGrid>
                  <a:tr h="391428">
                    <a:tc>
                      <a:txBody>
                        <a:bodyPr/>
                        <a:lstStyle/>
                        <a:p>
                          <a:r>
                            <a:rPr lang="en-GB" sz="1600"/>
                            <a:t>Exchange rate regime</a:t>
                          </a:r>
                          <a:endParaRPr lang="en-GB" sz="1600">
                            <a:latin typeface="Source Sans Pro" panose="020B0503030403020204" pitchFamily="34" charset="0"/>
                            <a:ea typeface="Source Sans Pro" panose="020B0503030403020204" pitchFamily="34" charset="0"/>
                          </a:endParaRPr>
                        </a:p>
                      </a:txBody>
                      <a:tcPr marL="80074" marR="80074" marT="40037" marB="40037"/>
                    </a:tc>
                    <a:tc>
                      <a:txBody>
                        <a:bodyPr/>
                        <a:lstStyle/>
                        <a:p>
                          <a:r>
                            <a:rPr lang="en-GB" sz="1600"/>
                            <a:t>Monetary policy</a:t>
                          </a:r>
                          <a:endParaRPr lang="en-GB" sz="1600">
                            <a:latin typeface="Source Sans Pro" panose="020B0503030403020204" pitchFamily="34" charset="0"/>
                            <a:ea typeface="Source Sans Pro" panose="020B0503030403020204" pitchFamily="34" charset="0"/>
                          </a:endParaRPr>
                        </a:p>
                      </a:txBody>
                      <a:tcPr marL="80074" marR="80074" marT="40037" marB="40037"/>
                    </a:tc>
                    <a:extLst>
                      <a:ext uri="{0D108BD9-81ED-4DB2-BD59-A6C34878D82A}">
                        <a16:rowId xmlns:a16="http://schemas.microsoft.com/office/drawing/2014/main" val="1595936184"/>
                      </a:ext>
                    </a:extLst>
                  </a:tr>
                  <a:tr h="1125354">
                    <a:tc>
                      <a:txBody>
                        <a:bodyPr/>
                        <a:lstStyle/>
                        <a:p>
                          <a:r>
                            <a:rPr lang="en-GB" sz="1600">
                              <a:latin typeface="Source Sans Pro" panose="020B0503030403020204" pitchFamily="34" charset="0"/>
                              <a:ea typeface="Source Sans Pro" panose="020B0503030403020204" pitchFamily="34" charset="0"/>
                            </a:rPr>
                            <a:t>Flexible (</a:t>
                          </a:r>
                          <a:r>
                            <a:rPr lang="en-GB" sz="1600" i="1">
                              <a:latin typeface="Source Sans Pro" panose="020B0503030403020204" pitchFamily="34" charset="0"/>
                              <a:ea typeface="Source Sans Pro" panose="020B0503030403020204" pitchFamily="34" charset="0"/>
                            </a:rPr>
                            <a:t>FlexIT</a:t>
                          </a:r>
                          <a:r>
                            <a:rPr lang="en-GB" sz="1600">
                              <a:latin typeface="Source Sans Pro" panose="020B0503030403020204" pitchFamily="34" charset="0"/>
                              <a:ea typeface="Source Sans Pro" panose="020B0503030403020204" pitchFamily="34" charset="0"/>
                            </a:rPr>
                            <a:t>) – level of nominal exchange rate set by global financial markets; stable inflation target</a:t>
                          </a:r>
                        </a:p>
                      </a:txBody>
                      <a:tcPr marL="80074" marR="80074" marT="40037" marB="40037"/>
                    </a:tc>
                    <a:tc>
                      <a:txBody>
                        <a:bodyPr/>
                        <a:lstStyle/>
                        <a:p>
                          <a:r>
                            <a:rPr lang="en-GB" sz="1600">
                              <a:latin typeface="Source Sans Pro" panose="020B0503030403020204" pitchFamily="34" charset="0"/>
                              <a:ea typeface="Source Sans Pro" panose="020B0503030403020204" pitchFamily="34" charset="0"/>
                            </a:rPr>
                            <a:t>The nominal interest rate is the key tool of monetary policy.</a:t>
                          </a:r>
                        </a:p>
                        <a:p>
                          <a:r>
                            <a:rPr lang="en-GB" sz="1600">
                              <a:latin typeface="Source Sans Pro" panose="020B0503030403020204" pitchFamily="34" charset="0"/>
                              <a:ea typeface="Source Sans Pro" panose="020B0503030403020204" pitchFamily="34" charset="0"/>
                            </a:rPr>
                            <a:t>With a stable target rate of inflation, a rise in nominal interest rates normally translates into a rise in real interest rates, and a real appreciation, which helps to stabilize the economy.</a:t>
                          </a:r>
                        </a:p>
                      </a:txBody>
                      <a:tcPr marL="80074" marR="80074" marT="40037" marB="40037"/>
                    </a:tc>
                    <a:extLst>
                      <a:ext uri="{0D108BD9-81ED-4DB2-BD59-A6C34878D82A}">
                        <a16:rowId xmlns:a16="http://schemas.microsoft.com/office/drawing/2014/main" val="1624456722"/>
                      </a:ext>
                    </a:extLst>
                  </a:tr>
                  <a:tr h="1125354">
                    <a:tc>
                      <a:txBody>
                        <a:bodyPr/>
                        <a:lstStyle/>
                        <a:p>
                          <a:r>
                            <a:rPr lang="en-GB" sz="1600">
                              <a:latin typeface="Source Sans Pro" panose="020B0503030403020204" pitchFamily="34" charset="0"/>
                              <a:ea typeface="Source Sans Pro" panose="020B0503030403020204" pitchFamily="34" charset="0"/>
                            </a:rPr>
                            <a:t>Flexible (</a:t>
                          </a:r>
                          <a:r>
                            <a:rPr lang="en-GB" sz="1600" i="1">
                              <a:latin typeface="Source Sans Pro" panose="020B0503030403020204" pitchFamily="34" charset="0"/>
                              <a:ea typeface="Source Sans Pro" panose="020B0503030403020204" pitchFamily="34" charset="0"/>
                            </a:rPr>
                            <a:t>FlexNIT</a:t>
                          </a:r>
                          <a:r>
                            <a:rPr lang="en-GB" sz="1600">
                              <a:latin typeface="Source Sans Pro" panose="020B0503030403020204" pitchFamily="34" charset="0"/>
                              <a:ea typeface="Source Sans Pro" panose="020B0503030403020204" pitchFamily="34" charset="0"/>
                            </a:rPr>
                            <a:t>) – level of nominal exchange rate set by global financial markets; no inflation target</a:t>
                          </a:r>
                        </a:p>
                      </a:txBody>
                      <a:tcPr marL="80074" marR="80074" marT="40037" marB="40037"/>
                    </a:tc>
                    <a:tc>
                      <a:txBody>
                        <a:bodyPr/>
                        <a:lstStyle/>
                        <a:p>
                          <a:r>
                            <a:rPr lang="en-GB" sz="1600">
                              <a:latin typeface="Source Sans Pro" panose="020B0503030403020204" pitchFamily="34" charset="0"/>
                              <a:ea typeface="Source Sans Pro" panose="020B0503030403020204" pitchFamily="34" charset="0"/>
                            </a:rPr>
                            <a:t>The nominal interest rate is the key tool of monetary policy.</a:t>
                          </a:r>
                        </a:p>
                        <a:p>
                          <a:r>
                            <a:rPr lang="en-GB" sz="1600">
                              <a:latin typeface="Source Sans Pro" panose="020B0503030403020204" pitchFamily="34" charset="0"/>
                              <a:ea typeface="Source Sans Pro" panose="020B0503030403020204" pitchFamily="34" charset="0"/>
                            </a:rPr>
                            <a:t>But without a stable inflation target, rises in nominal interest rates often reflect upward shifts in inflation and expected depreciation rather than a change in real interest rates.</a:t>
                          </a:r>
                        </a:p>
                      </a:txBody>
                      <a:tcPr marL="80074" marR="80074" marT="40037" marB="40037"/>
                    </a:tc>
                    <a:extLst>
                      <a:ext uri="{0D108BD9-81ED-4DB2-BD59-A6C34878D82A}">
                        <a16:rowId xmlns:a16="http://schemas.microsoft.com/office/drawing/2014/main" val="2459199294"/>
                      </a:ext>
                    </a:extLst>
                  </a:tr>
                  <a:tr h="880712">
                    <a:tc>
                      <a:txBody>
                        <a:bodyPr/>
                        <a:lstStyle/>
                        <a:p>
                          <a:r>
                            <a:rPr lang="en-GB" sz="1600">
                              <a:latin typeface="Source Sans Pro" panose="020B0503030403020204" pitchFamily="34" charset="0"/>
                              <a:ea typeface="Source Sans Pro" panose="020B0503030403020204" pitchFamily="34" charset="0"/>
                            </a:rPr>
                            <a:t>Fixed (credible) Held constant against the dollar, or another currency</a:t>
                          </a:r>
                        </a:p>
                      </a:txBody>
                      <a:tcPr marL="80074" marR="80074" marT="40037" marB="40037"/>
                    </a:tc>
                    <a:tc>
                      <a:txBody>
                        <a:bodyPr/>
                        <a:lstStyle/>
                        <a:p>
                          <a:r>
                            <a:rPr lang="en-GB" sz="1600">
                              <a:latin typeface="Source Sans Pro" panose="020B0503030403020204" pitchFamily="34" charset="0"/>
                              <a:ea typeface="Source Sans Pro" panose="020B0503030403020204" pitchFamily="34" charset="0"/>
                            </a:rPr>
                            <a:t>No control </a:t>
                          </a:r>
                        </a:p>
                        <a:p>
                          <a:r>
                            <a:rPr lang="en-GB" sz="1600">
                              <a:latin typeface="Source Sans Pro" panose="020B0503030403020204" pitchFamily="34" charset="0"/>
                              <a:ea typeface="Source Sans Pro" panose="020B0503030403020204" pitchFamily="34" charset="0"/>
                            </a:rPr>
                            <a:t>(</a:t>
                          </a:r>
                          <a14:m>
                            <m:oMath xmlns:m="http://schemas.openxmlformats.org/officeDocument/2006/math">
                              <m:r>
                                <a:rPr lang="en-US" sz="1600" b="0" i="1" smtClean="0">
                                  <a:latin typeface="Cambria Math" panose="02040503050406030204" pitchFamily="18" charset="0"/>
                                  <a:ea typeface="Source Sans Pro" panose="020B0503030403020204" pitchFamily="34" charset="0"/>
                                </a:rPr>
                                <m:t>𝑖</m:t>
                              </m:r>
                              <m:r>
                                <a:rPr lang="en-US" sz="1600" b="0" i="1" smtClean="0">
                                  <a:latin typeface="Cambria Math" panose="02040503050406030204" pitchFamily="18" charset="0"/>
                                  <a:ea typeface="Source Sans Pro" panose="020B0503030403020204" pitchFamily="34" charset="0"/>
                                </a:rPr>
                                <m:t>=</m:t>
                              </m:r>
                              <m:sSup>
                                <m:sSupPr>
                                  <m:ctrlPr>
                                    <a:rPr lang="en-US" sz="1600" b="0" i="1" smtClean="0">
                                      <a:latin typeface="Cambria Math" panose="02040503050406030204" pitchFamily="18" charset="0"/>
                                      <a:ea typeface="Source Sans Pro" panose="020B0503030403020204" pitchFamily="34" charset="0"/>
                                    </a:rPr>
                                  </m:ctrlPr>
                                </m:sSupPr>
                                <m:e>
                                  <m:r>
                                    <a:rPr lang="en-US" sz="1600" b="0" i="1" smtClean="0">
                                      <a:latin typeface="Cambria Math" panose="02040503050406030204" pitchFamily="18" charset="0"/>
                                      <a:ea typeface="Source Sans Pro" panose="020B0503030403020204" pitchFamily="34" charset="0"/>
                                    </a:rPr>
                                    <m:t>𝑖</m:t>
                                  </m:r>
                                </m:e>
                                <m:sup>
                                  <m:r>
                                    <a:rPr lang="en-US" sz="1600" b="0" i="1" smtClean="0">
                                      <a:latin typeface="Cambria Math" panose="02040503050406030204" pitchFamily="18" charset="0"/>
                                      <a:ea typeface="Source Sans Pro" panose="020B0503030403020204" pitchFamily="34" charset="0"/>
                                    </a:rPr>
                                    <m:t>∗</m:t>
                                  </m:r>
                                </m:sup>
                              </m:sSup>
                            </m:oMath>
                          </a14:m>
                          <a:r>
                            <a:rPr lang="en-GB" sz="1600">
                              <a:latin typeface="Source Sans Pro" panose="020B0503030403020204" pitchFamily="34" charset="0"/>
                              <a:ea typeface="Source Sans Pro" panose="020B0503030403020204" pitchFamily="34" charset="0"/>
                            </a:rPr>
                            <a:t>)</a:t>
                          </a:r>
                        </a:p>
                        <a:p>
                          <a:r>
                            <a:rPr lang="en-GB" sz="1600">
                              <a:latin typeface="Source Sans Pro" panose="020B0503030403020204" pitchFamily="34" charset="0"/>
                              <a:ea typeface="Source Sans Pro" panose="020B0503030403020204" pitchFamily="34" charset="0"/>
                            </a:rPr>
                            <a:t>Inflation will be stable when it is equal to the other country’s inflation rate</a:t>
                          </a:r>
                        </a:p>
                      </a:txBody>
                      <a:tcPr marL="80074" marR="80074" marT="40037" marB="40037"/>
                    </a:tc>
                    <a:extLst>
                      <a:ext uri="{0D108BD9-81ED-4DB2-BD59-A6C34878D82A}">
                        <a16:rowId xmlns:a16="http://schemas.microsoft.com/office/drawing/2014/main" val="1238593956"/>
                      </a:ext>
                    </a:extLst>
                  </a:tr>
                  <a:tr h="880712">
                    <a:tc>
                      <a:txBody>
                        <a:bodyPr/>
                        <a:lstStyle/>
                        <a:p>
                          <a:r>
                            <a:rPr lang="en-GB" sz="1600">
                              <a:latin typeface="Source Sans Pro" panose="020B0503030403020204" pitchFamily="34" charset="0"/>
                              <a:ea typeface="Source Sans Pro" panose="020B0503030403020204" pitchFamily="34" charset="0"/>
                            </a:rPr>
                            <a:t>Fixed (not completely credible) – Markets expect that the exchange rate may deviate from the level it is fixed at</a:t>
                          </a:r>
                        </a:p>
                      </a:txBody>
                      <a:tcPr marL="80074" marR="80074" marT="40037" marB="40037"/>
                    </a:tc>
                    <a:tc>
                      <a:txBody>
                        <a:bodyPr/>
                        <a:lstStyle/>
                        <a:p>
                          <a:r>
                            <a:rPr lang="en-GB" sz="1600">
                              <a:latin typeface="Source Sans Pro" panose="020B0503030403020204" pitchFamily="34" charset="0"/>
                              <a:ea typeface="Source Sans Pro" panose="020B0503030403020204" pitchFamily="34" charset="0"/>
                            </a:rPr>
                            <a:t>No control</a:t>
                          </a:r>
                        </a:p>
                        <a:p>
                          <a:r>
                            <a:rPr lang="en-GB" sz="1600">
                              <a:latin typeface="Source Sans Pro" panose="020B0503030403020204" pitchFamily="34" charset="0"/>
                              <a:ea typeface="Source Sans Pro" panose="020B0503030403020204" pitchFamily="34" charset="0"/>
                            </a:rPr>
                            <a:t>Domestic policy rate depends on foreign policy rate and market expectations about the depreciation of the currency.</a:t>
                          </a:r>
                        </a:p>
                      </a:txBody>
                      <a:tcPr marL="80074" marR="80074" marT="40037" marB="40037"/>
                    </a:tc>
                    <a:extLst>
                      <a:ext uri="{0D108BD9-81ED-4DB2-BD59-A6C34878D82A}">
                        <a16:rowId xmlns:a16="http://schemas.microsoft.com/office/drawing/2014/main" val="2250654751"/>
                      </a:ext>
                    </a:extLst>
                  </a:tr>
                </a:tbl>
              </a:graphicData>
            </a:graphic>
          </p:graphicFrame>
        </mc:Choice>
        <mc:Fallback>
          <p:graphicFrame>
            <p:nvGraphicFramePr>
              <p:cNvPr id="4" name="Table 3">
                <a:extLst>
                  <a:ext uri="{FF2B5EF4-FFF2-40B4-BE49-F238E27FC236}">
                    <a16:creationId xmlns:a16="http://schemas.microsoft.com/office/drawing/2014/main" id="{53A864C0-3F74-9CFF-3DEA-E536124B00E7}"/>
                  </a:ext>
                </a:extLst>
              </p:cNvPr>
              <p:cNvGraphicFramePr>
                <a:graphicFrameLocks noGrp="1"/>
              </p:cNvGraphicFramePr>
              <p:nvPr>
                <p:extLst>
                  <p:ext uri="{D42A27DB-BD31-4B8C-83A1-F6EECF244321}">
                    <p14:modId xmlns:p14="http://schemas.microsoft.com/office/powerpoint/2010/main" val="2043266736"/>
                  </p:ext>
                </p:extLst>
              </p:nvPr>
            </p:nvGraphicFramePr>
            <p:xfrm>
              <a:off x="280492" y="2232742"/>
              <a:ext cx="11678177" cy="4578282"/>
            </p:xfrm>
            <a:graphic>
              <a:graphicData uri="http://schemas.openxmlformats.org/drawingml/2006/table">
                <a:tbl>
                  <a:tblPr firstRow="1" bandRow="1">
                    <a:tableStyleId>{69012ECD-51FC-41F1-AA8D-1B2483CD663E}</a:tableStyleId>
                  </a:tblPr>
                  <a:tblGrid>
                    <a:gridCol w="5806474">
                      <a:extLst>
                        <a:ext uri="{9D8B030D-6E8A-4147-A177-3AD203B41FA5}">
                          <a16:colId xmlns:a16="http://schemas.microsoft.com/office/drawing/2014/main" val="1430240633"/>
                        </a:ext>
                      </a:extLst>
                    </a:gridCol>
                    <a:gridCol w="5871703">
                      <a:extLst>
                        <a:ext uri="{9D8B030D-6E8A-4147-A177-3AD203B41FA5}">
                          <a16:colId xmlns:a16="http://schemas.microsoft.com/office/drawing/2014/main" val="404863714"/>
                        </a:ext>
                      </a:extLst>
                    </a:gridCol>
                  </a:tblGrid>
                  <a:tr h="391428">
                    <a:tc>
                      <a:txBody>
                        <a:bodyPr/>
                        <a:lstStyle/>
                        <a:p>
                          <a:r>
                            <a:rPr lang="en-GB" sz="1600"/>
                            <a:t>Exchange rate regime</a:t>
                          </a:r>
                          <a:endParaRPr lang="en-GB" sz="1600">
                            <a:latin typeface="Source Sans Pro" panose="020B0503030403020204" pitchFamily="34" charset="0"/>
                            <a:ea typeface="Source Sans Pro" panose="020B0503030403020204" pitchFamily="34" charset="0"/>
                          </a:endParaRPr>
                        </a:p>
                      </a:txBody>
                      <a:tcPr marL="80074" marR="80074" marT="40037" marB="40037"/>
                    </a:tc>
                    <a:tc>
                      <a:txBody>
                        <a:bodyPr/>
                        <a:lstStyle/>
                        <a:p>
                          <a:r>
                            <a:rPr lang="en-GB" sz="1600"/>
                            <a:t>Monetary policy</a:t>
                          </a:r>
                          <a:endParaRPr lang="en-GB" sz="1600">
                            <a:latin typeface="Source Sans Pro" panose="020B0503030403020204" pitchFamily="34" charset="0"/>
                            <a:ea typeface="Source Sans Pro" panose="020B0503030403020204" pitchFamily="34" charset="0"/>
                          </a:endParaRPr>
                        </a:p>
                      </a:txBody>
                      <a:tcPr marL="80074" marR="80074" marT="40037" marB="40037"/>
                    </a:tc>
                    <a:extLst>
                      <a:ext uri="{0D108BD9-81ED-4DB2-BD59-A6C34878D82A}">
                        <a16:rowId xmlns:a16="http://schemas.microsoft.com/office/drawing/2014/main" val="1595936184"/>
                      </a:ext>
                    </a:extLst>
                  </a:tr>
                  <a:tr h="1125354">
                    <a:tc>
                      <a:txBody>
                        <a:bodyPr/>
                        <a:lstStyle/>
                        <a:p>
                          <a:r>
                            <a:rPr lang="en-GB" sz="1600">
                              <a:latin typeface="Source Sans Pro" panose="020B0503030403020204" pitchFamily="34" charset="0"/>
                              <a:ea typeface="Source Sans Pro" panose="020B0503030403020204" pitchFamily="34" charset="0"/>
                            </a:rPr>
                            <a:t>Flexible (</a:t>
                          </a:r>
                          <a:r>
                            <a:rPr lang="en-GB" sz="1600" i="1">
                              <a:latin typeface="Source Sans Pro" panose="020B0503030403020204" pitchFamily="34" charset="0"/>
                              <a:ea typeface="Source Sans Pro" panose="020B0503030403020204" pitchFamily="34" charset="0"/>
                            </a:rPr>
                            <a:t>FlexIT</a:t>
                          </a:r>
                          <a:r>
                            <a:rPr lang="en-GB" sz="1600">
                              <a:latin typeface="Source Sans Pro" panose="020B0503030403020204" pitchFamily="34" charset="0"/>
                              <a:ea typeface="Source Sans Pro" panose="020B0503030403020204" pitchFamily="34" charset="0"/>
                            </a:rPr>
                            <a:t>) – level of nominal exchange rate set by global financial markets; stable inflation target</a:t>
                          </a:r>
                        </a:p>
                      </a:txBody>
                      <a:tcPr marL="80074" marR="80074" marT="40037" marB="40037"/>
                    </a:tc>
                    <a:tc>
                      <a:txBody>
                        <a:bodyPr/>
                        <a:lstStyle/>
                        <a:p>
                          <a:r>
                            <a:rPr lang="en-GB" sz="1600">
                              <a:latin typeface="Source Sans Pro" panose="020B0503030403020204" pitchFamily="34" charset="0"/>
                              <a:ea typeface="Source Sans Pro" panose="020B0503030403020204" pitchFamily="34" charset="0"/>
                            </a:rPr>
                            <a:t>The nominal interest rate is the key tool of monetary policy.</a:t>
                          </a:r>
                        </a:p>
                        <a:p>
                          <a:r>
                            <a:rPr lang="en-GB" sz="1600">
                              <a:latin typeface="Source Sans Pro" panose="020B0503030403020204" pitchFamily="34" charset="0"/>
                              <a:ea typeface="Source Sans Pro" panose="020B0503030403020204" pitchFamily="34" charset="0"/>
                            </a:rPr>
                            <a:t>With a stable target rate of inflation, a rise in nominal interest rates normally translates into a rise in real interest rates, and a real appreciation, which helps to stabilize the economy.</a:t>
                          </a:r>
                        </a:p>
                      </a:txBody>
                      <a:tcPr marL="80074" marR="80074" marT="40037" marB="40037"/>
                    </a:tc>
                    <a:extLst>
                      <a:ext uri="{0D108BD9-81ED-4DB2-BD59-A6C34878D82A}">
                        <a16:rowId xmlns:a16="http://schemas.microsoft.com/office/drawing/2014/main" val="1624456722"/>
                      </a:ext>
                    </a:extLst>
                  </a:tr>
                  <a:tr h="1125354">
                    <a:tc>
                      <a:txBody>
                        <a:bodyPr/>
                        <a:lstStyle/>
                        <a:p>
                          <a:r>
                            <a:rPr lang="en-GB" sz="1600">
                              <a:latin typeface="Source Sans Pro" panose="020B0503030403020204" pitchFamily="34" charset="0"/>
                              <a:ea typeface="Source Sans Pro" panose="020B0503030403020204" pitchFamily="34" charset="0"/>
                            </a:rPr>
                            <a:t>Flexible (</a:t>
                          </a:r>
                          <a:r>
                            <a:rPr lang="en-GB" sz="1600" i="1">
                              <a:latin typeface="Source Sans Pro" panose="020B0503030403020204" pitchFamily="34" charset="0"/>
                              <a:ea typeface="Source Sans Pro" panose="020B0503030403020204" pitchFamily="34" charset="0"/>
                            </a:rPr>
                            <a:t>FlexNIT</a:t>
                          </a:r>
                          <a:r>
                            <a:rPr lang="en-GB" sz="1600">
                              <a:latin typeface="Source Sans Pro" panose="020B0503030403020204" pitchFamily="34" charset="0"/>
                              <a:ea typeface="Source Sans Pro" panose="020B0503030403020204" pitchFamily="34" charset="0"/>
                            </a:rPr>
                            <a:t>) – level of nominal exchange rate set by global financial markets; no inflation target</a:t>
                          </a:r>
                        </a:p>
                      </a:txBody>
                      <a:tcPr marL="80074" marR="80074" marT="40037" marB="40037"/>
                    </a:tc>
                    <a:tc>
                      <a:txBody>
                        <a:bodyPr/>
                        <a:lstStyle/>
                        <a:p>
                          <a:r>
                            <a:rPr lang="en-GB" sz="1600">
                              <a:latin typeface="Source Sans Pro" panose="020B0503030403020204" pitchFamily="34" charset="0"/>
                              <a:ea typeface="Source Sans Pro" panose="020B0503030403020204" pitchFamily="34" charset="0"/>
                            </a:rPr>
                            <a:t>The nominal interest rate is the key tool of monetary policy.</a:t>
                          </a:r>
                        </a:p>
                        <a:p>
                          <a:r>
                            <a:rPr lang="en-GB" sz="1600">
                              <a:latin typeface="Source Sans Pro" panose="020B0503030403020204" pitchFamily="34" charset="0"/>
                              <a:ea typeface="Source Sans Pro" panose="020B0503030403020204" pitchFamily="34" charset="0"/>
                            </a:rPr>
                            <a:t>But without a stable inflation target, rises in nominal interest rates often reflect upward shifts in inflation and expected depreciation rather than a change in real interest rates.</a:t>
                          </a:r>
                        </a:p>
                      </a:txBody>
                      <a:tcPr marL="80074" marR="80074" marT="40037" marB="40037"/>
                    </a:tc>
                    <a:extLst>
                      <a:ext uri="{0D108BD9-81ED-4DB2-BD59-A6C34878D82A}">
                        <a16:rowId xmlns:a16="http://schemas.microsoft.com/office/drawing/2014/main" val="2459199294"/>
                      </a:ext>
                    </a:extLst>
                  </a:tr>
                  <a:tr h="1055434">
                    <a:tc>
                      <a:txBody>
                        <a:bodyPr/>
                        <a:lstStyle/>
                        <a:p>
                          <a:r>
                            <a:rPr lang="en-GB" sz="1600">
                              <a:latin typeface="Source Sans Pro" panose="020B0503030403020204" pitchFamily="34" charset="0"/>
                              <a:ea typeface="Source Sans Pro" panose="020B0503030403020204" pitchFamily="34" charset="0"/>
                            </a:rPr>
                            <a:t>Fixed (credible) Held constant against the dollar, or another currency</a:t>
                          </a:r>
                        </a:p>
                      </a:txBody>
                      <a:tcPr marL="80074" marR="80074" marT="40037" marB="40037"/>
                    </a:tc>
                    <a:tc>
                      <a:txBody>
                        <a:bodyPr/>
                        <a:lstStyle/>
                        <a:p>
                          <a:endParaRPr lang="en-US"/>
                        </a:p>
                      </a:txBody>
                      <a:tcPr marL="80074" marR="80074" marT="40037" marB="40037">
                        <a:blipFill>
                          <a:blip r:embed="rId3"/>
                          <a:stretch>
                            <a:fillRect l="-99065" t="-253179" r="-104" b="-84971"/>
                          </a:stretch>
                        </a:blipFill>
                      </a:tcPr>
                    </a:tc>
                    <a:extLst>
                      <a:ext uri="{0D108BD9-81ED-4DB2-BD59-A6C34878D82A}">
                        <a16:rowId xmlns:a16="http://schemas.microsoft.com/office/drawing/2014/main" val="1238593956"/>
                      </a:ext>
                    </a:extLst>
                  </a:tr>
                  <a:tr h="880712">
                    <a:tc>
                      <a:txBody>
                        <a:bodyPr/>
                        <a:lstStyle/>
                        <a:p>
                          <a:r>
                            <a:rPr lang="en-GB" sz="1600">
                              <a:latin typeface="Source Sans Pro" panose="020B0503030403020204" pitchFamily="34" charset="0"/>
                              <a:ea typeface="Source Sans Pro" panose="020B0503030403020204" pitchFamily="34" charset="0"/>
                            </a:rPr>
                            <a:t>Fixed (not completely credible) – Markets expect that the exchange rate may deviate from the level it is fixed at</a:t>
                          </a:r>
                        </a:p>
                      </a:txBody>
                      <a:tcPr marL="80074" marR="80074" marT="40037" marB="40037"/>
                    </a:tc>
                    <a:tc>
                      <a:txBody>
                        <a:bodyPr/>
                        <a:lstStyle/>
                        <a:p>
                          <a:r>
                            <a:rPr lang="en-GB" sz="1600">
                              <a:latin typeface="Source Sans Pro" panose="020B0503030403020204" pitchFamily="34" charset="0"/>
                              <a:ea typeface="Source Sans Pro" panose="020B0503030403020204" pitchFamily="34" charset="0"/>
                            </a:rPr>
                            <a:t>No control</a:t>
                          </a:r>
                        </a:p>
                        <a:p>
                          <a:r>
                            <a:rPr lang="en-GB" sz="1600">
                              <a:latin typeface="Source Sans Pro" panose="020B0503030403020204" pitchFamily="34" charset="0"/>
                              <a:ea typeface="Source Sans Pro" panose="020B0503030403020204" pitchFamily="34" charset="0"/>
                            </a:rPr>
                            <a:t>Domestic policy rate depends on foreign policy rate and market expectations about the depreciation of the currency.</a:t>
                          </a:r>
                        </a:p>
                      </a:txBody>
                      <a:tcPr marL="80074" marR="80074" marT="40037" marB="40037"/>
                    </a:tc>
                    <a:extLst>
                      <a:ext uri="{0D108BD9-81ED-4DB2-BD59-A6C34878D82A}">
                        <a16:rowId xmlns:a16="http://schemas.microsoft.com/office/drawing/2014/main" val="2250654751"/>
                      </a:ext>
                    </a:extLst>
                  </a:tr>
                </a:tbl>
              </a:graphicData>
            </a:graphic>
          </p:graphicFrame>
        </mc:Fallback>
      </mc:AlternateContent>
    </p:spTree>
    <p:extLst>
      <p:ext uri="{BB962C8B-B14F-4D97-AF65-F5344CB8AC3E}">
        <p14:creationId xmlns:p14="http://schemas.microsoft.com/office/powerpoint/2010/main" val="10054892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7" name="Arc 16">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Title 3"/>
          <p:cNvSpPr>
            <a:spLocks noGrp="1"/>
          </p:cNvSpPr>
          <p:nvPr>
            <p:ph type="title"/>
          </p:nvPr>
        </p:nvSpPr>
        <p:spPr>
          <a:xfrm>
            <a:off x="4038600" y="1939159"/>
            <a:ext cx="7644627" cy="2751086"/>
          </a:xfrm>
        </p:spPr>
        <p:txBody>
          <a:bodyPr vert="horz" lIns="91440" tIns="45720" rIns="91440" bIns="45720" rtlCol="0" anchor="b">
            <a:normAutofit/>
          </a:bodyPr>
          <a:lstStyle/>
          <a:p>
            <a:pPr algn="r"/>
            <a:r>
              <a:rPr lang="en-US"/>
              <a:t>E</a:t>
            </a:r>
            <a:r>
              <a:rPr lang="en-US" kern="1200">
                <a:solidFill>
                  <a:schemeClr val="tx1"/>
                </a:solidFill>
                <a:latin typeface="+mj-lt"/>
                <a:ea typeface="+mj-ea"/>
                <a:cs typeface="+mj-cs"/>
              </a:rPr>
              <a:t>. Government deficits and foreign debt</a:t>
            </a:r>
          </a:p>
        </p:txBody>
      </p:sp>
    </p:spTree>
    <p:extLst>
      <p:ext uri="{BB962C8B-B14F-4D97-AF65-F5344CB8AC3E}">
        <p14:creationId xmlns:p14="http://schemas.microsoft.com/office/powerpoint/2010/main" val="477022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F32783-46EF-A50E-8DBC-9544FB4E030C}"/>
              </a:ext>
            </a:extLst>
          </p:cNvPr>
          <p:cNvSpPr>
            <a:spLocks noGrp="1"/>
          </p:cNvSpPr>
          <p:nvPr>
            <p:ph type="title"/>
          </p:nvPr>
        </p:nvSpPr>
        <p:spPr>
          <a:xfrm>
            <a:off x="686834" y="1153572"/>
            <a:ext cx="3200400" cy="4461163"/>
          </a:xfrm>
        </p:spPr>
        <p:txBody>
          <a:bodyPr>
            <a:normAutofit/>
          </a:bodyPr>
          <a:lstStyle/>
          <a:p>
            <a:r>
              <a:rPr lang="en-US">
                <a:solidFill>
                  <a:srgbClr val="FFFFFF"/>
                </a:solidFill>
                <a:latin typeface="+mn-lt"/>
              </a:rPr>
              <a:t>Government deficits and debt</a:t>
            </a:r>
            <a:endParaRPr lang="en-GB">
              <a:solidFill>
                <a:srgbClr val="FFFFFF"/>
              </a:solidFill>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5A803ABE-6401-6879-0024-04F306E63964}"/>
              </a:ext>
            </a:extLst>
          </p:cNvPr>
          <p:cNvSpPr>
            <a:spLocks noGrp="1"/>
          </p:cNvSpPr>
          <p:nvPr>
            <p:ph idx="1"/>
          </p:nvPr>
        </p:nvSpPr>
        <p:spPr>
          <a:xfrm>
            <a:off x="4447308" y="591344"/>
            <a:ext cx="6906491" cy="5585619"/>
          </a:xfrm>
        </p:spPr>
        <p:txBody>
          <a:bodyPr anchor="ctr">
            <a:normAutofit/>
          </a:bodyPr>
          <a:lstStyle/>
          <a:p>
            <a:r>
              <a:rPr lang="en-US" sz="2600"/>
              <a:t>An important difference between the government and other economic actors is its ability to extract taxes from citizens—if necessary, with the threat of force. But in many countries around the world, current taxes do not provide sufficient resources to pay for all </a:t>
            </a:r>
            <a:r>
              <a:rPr lang="en-US" sz="2600" b="1"/>
              <a:t>government expenditure</a:t>
            </a:r>
            <a:r>
              <a:rPr lang="en-US" sz="2600"/>
              <a:t>. In that case, the government can choose to borrow. </a:t>
            </a:r>
          </a:p>
          <a:p>
            <a:r>
              <a:rPr lang="en-US" sz="2600"/>
              <a:t>To be clear, governments may borrow for good reasons, to benefit the economy now or in future. And borrowing need not lead to inflation. Most governments around the world have at least on occasions run large </a:t>
            </a:r>
            <a:r>
              <a:rPr lang="en-US" sz="2600" b="1"/>
              <a:t>fiscal deficits</a:t>
            </a:r>
            <a:r>
              <a:rPr lang="en-US" sz="2600"/>
              <a:t>—meaning that they have spent more than they raised in taxes. </a:t>
            </a:r>
          </a:p>
        </p:txBody>
      </p:sp>
      <p:sp>
        <p:nvSpPr>
          <p:cNvPr id="3" name="Rectangle 1">
            <a:extLst>
              <a:ext uri="{FF2B5EF4-FFF2-40B4-BE49-F238E27FC236}">
                <a16:creationId xmlns:a16="http://schemas.microsoft.com/office/drawing/2014/main" id="{355B5CED-11B2-4087-A751-A0A7ADF6DEEA}"/>
              </a:ext>
            </a:extLst>
          </p:cNvPr>
          <p:cNvSpPr>
            <a:spLocks noChangeArrowheads="1"/>
          </p:cNvSpPr>
          <p:nvPr/>
        </p:nvSpPr>
        <p:spPr bwMode="auto">
          <a:xfrm>
            <a:off x="0" y="-133037"/>
            <a:ext cx="317716"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1200" b="0" i="0" u="none" strike="noStrike" cap="none" normalizeH="0" baseline="0">
                <a:ln>
                  <a:noFill/>
                </a:ln>
                <a:solidFill>
                  <a:srgbClr val="000000"/>
                </a:solidFill>
                <a:effectLst/>
                <a:latin typeface="Cambria" panose="02040503050406030204" pitchFamily="18" charset="0"/>
              </a:rPr>
              <a:t>   .</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spcBef>
                <a:spcPct val="0"/>
              </a:spcBef>
              <a:spcAft>
                <a:spcPts val="600"/>
              </a:spcAft>
              <a:buClrTx/>
              <a:buSzTx/>
              <a:buFontTx/>
              <a:buNone/>
              <a:tabLst/>
            </a:pPr>
            <a:br>
              <a:rPr kumimoji="0" lang="en-US" altLang="en-US" sz="1200" b="0" i="0" u="none" strike="noStrike" cap="none" normalizeH="0" baseline="0">
                <a:ln>
                  <a:noFill/>
                </a:ln>
                <a:solidFill>
                  <a:srgbClr val="000000"/>
                </a:solidFill>
                <a:effectLst/>
                <a:latin typeface="Cambria" panose="02040503050406030204" pitchFamily="18" charset="0"/>
              </a:rPr>
            </a:br>
            <a:endParaRPr kumimoji="0" lang="en-US" altLang="en-US" sz="1200" b="0" i="0" u="none" strike="noStrike" cap="none" normalizeH="0" baseline="0">
              <a:ln>
                <a:noFill/>
              </a:ln>
              <a:solidFill>
                <a:srgbClr val="000000"/>
              </a:solidFill>
              <a:effectLst/>
              <a:latin typeface="Cambria" panose="02040503050406030204" pitchFamily="18" charset="0"/>
            </a:endParaRPr>
          </a:p>
        </p:txBody>
      </p:sp>
    </p:spTree>
    <p:extLst>
      <p:ext uri="{BB962C8B-B14F-4D97-AF65-F5344CB8AC3E}">
        <p14:creationId xmlns:p14="http://schemas.microsoft.com/office/powerpoint/2010/main" val="25639323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F32783-46EF-A50E-8DBC-9544FB4E030C}"/>
              </a:ext>
            </a:extLst>
          </p:cNvPr>
          <p:cNvSpPr>
            <a:spLocks noGrp="1"/>
          </p:cNvSpPr>
          <p:nvPr>
            <p:ph type="title"/>
          </p:nvPr>
        </p:nvSpPr>
        <p:spPr>
          <a:xfrm>
            <a:off x="686834" y="1153572"/>
            <a:ext cx="3200400" cy="4461163"/>
          </a:xfrm>
        </p:spPr>
        <p:txBody>
          <a:bodyPr>
            <a:normAutofit/>
          </a:bodyPr>
          <a:lstStyle/>
          <a:p>
            <a:r>
              <a:rPr lang="en-US">
                <a:solidFill>
                  <a:srgbClr val="FFFFFF"/>
                </a:solidFill>
                <a:latin typeface="+mn-lt"/>
              </a:rPr>
              <a:t>Government deficits and debt</a:t>
            </a:r>
            <a:endParaRPr lang="en-GB">
              <a:solidFill>
                <a:srgbClr val="FFFFFF"/>
              </a:solidFill>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5A803ABE-6401-6879-0024-04F306E63964}"/>
              </a:ext>
            </a:extLst>
          </p:cNvPr>
          <p:cNvSpPr>
            <a:spLocks noGrp="1"/>
          </p:cNvSpPr>
          <p:nvPr>
            <p:ph idx="1"/>
          </p:nvPr>
        </p:nvSpPr>
        <p:spPr>
          <a:xfrm>
            <a:off x="4447308" y="591344"/>
            <a:ext cx="6906491" cy="5585619"/>
          </a:xfrm>
        </p:spPr>
        <p:txBody>
          <a:bodyPr anchor="ctr">
            <a:normAutofit/>
          </a:bodyPr>
          <a:lstStyle/>
          <a:p>
            <a:r>
              <a:rPr lang="en-US"/>
              <a:t>But borrowing on a sustainable basis, while keeping inflation under control, frequently proves difficult in </a:t>
            </a:r>
            <a:r>
              <a:rPr lang="en-US" i="1" err="1"/>
              <a:t>FlexNIT</a:t>
            </a:r>
            <a:r>
              <a:rPr lang="en-US"/>
              <a:t> countries. </a:t>
            </a:r>
          </a:p>
          <a:p>
            <a:r>
              <a:rPr lang="en-US"/>
              <a:t>If domestic savings are not high enough to finance the deficit, the government would need to borrow from abroad. When it issues </a:t>
            </a:r>
            <a:r>
              <a:rPr lang="en-US" b="1"/>
              <a:t>bonds</a:t>
            </a:r>
            <a:r>
              <a:rPr lang="en-US"/>
              <a:t> it will need to pay interest on them at a sufficiently attractive rate for foreign lenders to be willing to lend. Foreign investors are often only prepared to lend in foreign currency, usually dollars. This means, the interest rate will typically be higher because of the risk of </a:t>
            </a:r>
            <a:r>
              <a:rPr lang="en-US" b="1"/>
              <a:t>default</a:t>
            </a:r>
            <a:r>
              <a:rPr lang="en-US"/>
              <a:t>. </a:t>
            </a:r>
          </a:p>
        </p:txBody>
      </p:sp>
      <p:sp>
        <p:nvSpPr>
          <p:cNvPr id="3" name="Rectangle 1">
            <a:extLst>
              <a:ext uri="{FF2B5EF4-FFF2-40B4-BE49-F238E27FC236}">
                <a16:creationId xmlns:a16="http://schemas.microsoft.com/office/drawing/2014/main" id="{355B5CED-11B2-4087-A751-A0A7ADF6DEEA}"/>
              </a:ext>
            </a:extLst>
          </p:cNvPr>
          <p:cNvSpPr>
            <a:spLocks noChangeArrowheads="1"/>
          </p:cNvSpPr>
          <p:nvPr/>
        </p:nvSpPr>
        <p:spPr bwMode="auto">
          <a:xfrm>
            <a:off x="0" y="-133037"/>
            <a:ext cx="317716"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1200" b="0" i="0" u="none" strike="noStrike" cap="none" normalizeH="0" baseline="0">
                <a:ln>
                  <a:noFill/>
                </a:ln>
                <a:solidFill>
                  <a:srgbClr val="000000"/>
                </a:solidFill>
                <a:effectLst/>
                <a:latin typeface="Cambria" panose="02040503050406030204" pitchFamily="18" charset="0"/>
              </a:rPr>
              <a:t>   .</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spcBef>
                <a:spcPct val="0"/>
              </a:spcBef>
              <a:spcAft>
                <a:spcPts val="600"/>
              </a:spcAft>
              <a:buClrTx/>
              <a:buSzTx/>
              <a:buFontTx/>
              <a:buNone/>
              <a:tabLst/>
            </a:pPr>
            <a:br>
              <a:rPr kumimoji="0" lang="en-US" altLang="en-US" sz="1200" b="0" i="0" u="none" strike="noStrike" cap="none" normalizeH="0" baseline="0">
                <a:ln>
                  <a:noFill/>
                </a:ln>
                <a:solidFill>
                  <a:srgbClr val="000000"/>
                </a:solidFill>
                <a:effectLst/>
                <a:latin typeface="Cambria" panose="02040503050406030204" pitchFamily="18" charset="0"/>
              </a:rPr>
            </a:br>
            <a:endParaRPr kumimoji="0" lang="en-US" altLang="en-US" sz="1200" b="0" i="0" u="none" strike="noStrike" cap="none" normalizeH="0" baseline="0">
              <a:ln>
                <a:noFill/>
              </a:ln>
              <a:solidFill>
                <a:srgbClr val="000000"/>
              </a:solidFill>
              <a:effectLst/>
              <a:latin typeface="Cambria" panose="02040503050406030204" pitchFamily="18" charset="0"/>
            </a:endParaRPr>
          </a:p>
        </p:txBody>
      </p:sp>
    </p:spTree>
    <p:extLst>
      <p:ext uri="{BB962C8B-B14F-4D97-AF65-F5344CB8AC3E}">
        <p14:creationId xmlns:p14="http://schemas.microsoft.com/office/powerpoint/2010/main" val="5406163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F32783-46EF-A50E-8DBC-9544FB4E030C}"/>
              </a:ext>
            </a:extLst>
          </p:cNvPr>
          <p:cNvSpPr>
            <a:spLocks noGrp="1"/>
          </p:cNvSpPr>
          <p:nvPr>
            <p:ph type="title"/>
          </p:nvPr>
        </p:nvSpPr>
        <p:spPr>
          <a:xfrm>
            <a:off x="686834" y="1153572"/>
            <a:ext cx="3200400" cy="4461163"/>
          </a:xfrm>
        </p:spPr>
        <p:txBody>
          <a:bodyPr>
            <a:normAutofit/>
          </a:bodyPr>
          <a:lstStyle/>
          <a:p>
            <a:r>
              <a:rPr lang="en-US">
                <a:solidFill>
                  <a:srgbClr val="FFFFFF"/>
                </a:solidFill>
                <a:latin typeface="+mn-lt"/>
              </a:rPr>
              <a:t>Sovereign debt crises</a:t>
            </a:r>
            <a:endParaRPr lang="en-GB">
              <a:solidFill>
                <a:srgbClr val="FFFFFF"/>
              </a:solidFill>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5A803ABE-6401-6879-0024-04F306E63964}"/>
              </a:ext>
            </a:extLst>
          </p:cNvPr>
          <p:cNvSpPr>
            <a:spLocks noGrp="1"/>
          </p:cNvSpPr>
          <p:nvPr>
            <p:ph idx="1"/>
          </p:nvPr>
        </p:nvSpPr>
        <p:spPr>
          <a:xfrm>
            <a:off x="4447308" y="591344"/>
            <a:ext cx="6906491" cy="5585619"/>
          </a:xfrm>
        </p:spPr>
        <p:txBody>
          <a:bodyPr anchor="ctr">
            <a:normAutofit/>
          </a:bodyPr>
          <a:lstStyle/>
          <a:p>
            <a:r>
              <a:rPr lang="en-US" sz="2400"/>
              <a:t>Note also that the value of foreign debt in domestic currency goes up if the exchange rate depreciates, increasing the burden of the debt on the home country and the likelihood that it will be unable to pay the interest and will default.</a:t>
            </a:r>
          </a:p>
          <a:p>
            <a:r>
              <a:rPr lang="en-US" sz="2400"/>
              <a:t>This process can lead to debts that spiral upwards. The burden of interest payments on debt may lead to a </a:t>
            </a:r>
            <a:r>
              <a:rPr lang="en-US" sz="2400" b="1"/>
              <a:t>sovereign debt crisis</a:t>
            </a:r>
            <a:r>
              <a:rPr lang="en-US" sz="2400"/>
              <a:t>, when governments default on some or all of their debts.</a:t>
            </a:r>
          </a:p>
          <a:p>
            <a:r>
              <a:rPr lang="en-US" sz="2400"/>
              <a:t>In the aftermath of such crises, governments in these countries may find themselves unable to borrow in global financial markets. Even if they can borrow, governments may not wish to accept the discipline of repaying the debt in foreign currency that foreign borrowing imposes.</a:t>
            </a:r>
          </a:p>
          <a:p>
            <a:pPr marL="0" indent="0">
              <a:buNone/>
            </a:pPr>
            <a:endParaRPr lang="en-US" sz="2400"/>
          </a:p>
        </p:txBody>
      </p:sp>
      <p:sp>
        <p:nvSpPr>
          <p:cNvPr id="3" name="Rectangle 1">
            <a:extLst>
              <a:ext uri="{FF2B5EF4-FFF2-40B4-BE49-F238E27FC236}">
                <a16:creationId xmlns:a16="http://schemas.microsoft.com/office/drawing/2014/main" id="{355B5CED-11B2-4087-A751-A0A7ADF6DEEA}"/>
              </a:ext>
            </a:extLst>
          </p:cNvPr>
          <p:cNvSpPr>
            <a:spLocks noChangeArrowheads="1"/>
          </p:cNvSpPr>
          <p:nvPr/>
        </p:nvSpPr>
        <p:spPr bwMode="auto">
          <a:xfrm>
            <a:off x="0" y="-133037"/>
            <a:ext cx="317716"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1200" b="0" i="0" u="none" strike="noStrike" cap="none" normalizeH="0" baseline="0">
                <a:ln>
                  <a:noFill/>
                </a:ln>
                <a:solidFill>
                  <a:srgbClr val="000000"/>
                </a:solidFill>
                <a:effectLst/>
                <a:latin typeface="Cambria" panose="02040503050406030204" pitchFamily="18" charset="0"/>
              </a:rPr>
              <a:t>   .</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spcBef>
                <a:spcPct val="0"/>
              </a:spcBef>
              <a:spcAft>
                <a:spcPts val="600"/>
              </a:spcAft>
              <a:buClrTx/>
              <a:buSzTx/>
              <a:buFontTx/>
              <a:buNone/>
              <a:tabLst/>
            </a:pPr>
            <a:br>
              <a:rPr kumimoji="0" lang="en-US" altLang="en-US" sz="1200" b="0" i="0" u="none" strike="noStrike" cap="none" normalizeH="0" baseline="0">
                <a:ln>
                  <a:noFill/>
                </a:ln>
                <a:solidFill>
                  <a:srgbClr val="000000"/>
                </a:solidFill>
                <a:effectLst/>
                <a:latin typeface="Cambria" panose="02040503050406030204" pitchFamily="18" charset="0"/>
              </a:rPr>
            </a:br>
            <a:endParaRPr kumimoji="0" lang="en-US" altLang="en-US" sz="1200" b="0" i="0" u="none" strike="noStrike" cap="none" normalizeH="0" baseline="0">
              <a:ln>
                <a:noFill/>
              </a:ln>
              <a:solidFill>
                <a:srgbClr val="000000"/>
              </a:solidFill>
              <a:effectLst/>
              <a:latin typeface="Cambria" panose="02040503050406030204" pitchFamily="18" charset="0"/>
            </a:endParaRPr>
          </a:p>
        </p:txBody>
      </p:sp>
    </p:spTree>
    <p:extLst>
      <p:ext uri="{BB962C8B-B14F-4D97-AF65-F5344CB8AC3E}">
        <p14:creationId xmlns:p14="http://schemas.microsoft.com/office/powerpoint/2010/main" val="25422625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9F32783-46EF-A50E-8DBC-9544FB4E030C}"/>
              </a:ext>
            </a:extLst>
          </p:cNvPr>
          <p:cNvSpPr>
            <a:spLocks noGrp="1"/>
          </p:cNvSpPr>
          <p:nvPr>
            <p:ph type="title"/>
          </p:nvPr>
        </p:nvSpPr>
        <p:spPr>
          <a:xfrm>
            <a:off x="1012044" y="234779"/>
            <a:ext cx="3560252" cy="1645920"/>
          </a:xfrm>
        </p:spPr>
        <p:txBody>
          <a:bodyPr vert="horz" lIns="91440" tIns="45720" rIns="91440" bIns="45720" rtlCol="0" anchor="ctr">
            <a:normAutofit/>
          </a:bodyPr>
          <a:lstStyle/>
          <a:p>
            <a:r>
              <a:rPr lang="en-US" sz="3200" kern="1200">
                <a:solidFill>
                  <a:schemeClr val="tx1"/>
                </a:solidFill>
                <a:latin typeface="+mj-lt"/>
                <a:ea typeface="+mj-ea"/>
                <a:cs typeface="+mj-cs"/>
              </a:rPr>
              <a:t>The key themes</a:t>
            </a:r>
          </a:p>
        </p:txBody>
      </p:sp>
      <p:sp>
        <p:nvSpPr>
          <p:cNvPr id="8" name="Rectangle 7">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 name="Rectangle 9">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EE144CBD-3309-8033-3FDF-D42298DDD7E3}"/>
                  </a:ext>
                </a:extLst>
              </p:cNvPr>
              <p:cNvGraphicFramePr>
                <a:graphicFrameLocks noGrp="1"/>
              </p:cNvGraphicFramePr>
              <p:nvPr>
                <p:extLst>
                  <p:ext uri="{D42A27DB-BD31-4B8C-83A1-F6EECF244321}">
                    <p14:modId xmlns:p14="http://schemas.microsoft.com/office/powerpoint/2010/main" val="2861164043"/>
                  </p:ext>
                </p:extLst>
              </p:nvPr>
            </p:nvGraphicFramePr>
            <p:xfrm>
              <a:off x="470137" y="1761827"/>
              <a:ext cx="11113307" cy="4891760"/>
            </p:xfrm>
            <a:graphic>
              <a:graphicData uri="http://schemas.openxmlformats.org/drawingml/2006/table">
                <a:tbl>
                  <a:tblPr firstRow="1" bandRow="1">
                    <a:tableStyleId>{69012ECD-51FC-41F1-AA8D-1B2483CD663E}</a:tableStyleId>
                  </a:tblPr>
                  <a:tblGrid>
                    <a:gridCol w="3709193">
                      <a:extLst>
                        <a:ext uri="{9D8B030D-6E8A-4147-A177-3AD203B41FA5}">
                          <a16:colId xmlns:a16="http://schemas.microsoft.com/office/drawing/2014/main" val="137994622"/>
                        </a:ext>
                      </a:extLst>
                    </a:gridCol>
                    <a:gridCol w="3686355">
                      <a:extLst>
                        <a:ext uri="{9D8B030D-6E8A-4147-A177-3AD203B41FA5}">
                          <a16:colId xmlns:a16="http://schemas.microsoft.com/office/drawing/2014/main" val="656056353"/>
                        </a:ext>
                      </a:extLst>
                    </a:gridCol>
                    <a:gridCol w="3717759">
                      <a:extLst>
                        <a:ext uri="{9D8B030D-6E8A-4147-A177-3AD203B41FA5}">
                          <a16:colId xmlns:a16="http://schemas.microsoft.com/office/drawing/2014/main" val="893830221"/>
                        </a:ext>
                      </a:extLst>
                    </a:gridCol>
                  </a:tblGrid>
                  <a:tr h="317251">
                    <a:tc>
                      <a:txBody>
                        <a:bodyPr/>
                        <a:lstStyle/>
                        <a:p>
                          <a:r>
                            <a:rPr lang="en-GB" sz="1600">
                              <a:latin typeface="Source Sans Pro" panose="020B0503030403020204" pitchFamily="34" charset="0"/>
                              <a:ea typeface="Source Sans Pro" panose="020B0503030403020204" pitchFamily="34" charset="0"/>
                            </a:rPr>
                            <a:t>Regime</a:t>
                          </a:r>
                        </a:p>
                      </a:txBody>
                      <a:tcPr marL="93309" marR="93309" marT="46655" marB="46655"/>
                    </a:tc>
                    <a:tc>
                      <a:txBody>
                        <a:bodyPr/>
                        <a:lstStyle/>
                        <a:p>
                          <a:r>
                            <a:rPr lang="en-GB" sz="1600" i="1">
                              <a:latin typeface="Source Sans Pro" panose="020B0503030403020204" pitchFamily="34" charset="0"/>
                              <a:ea typeface="Source Sans Pro" panose="020B0503030403020204" pitchFamily="34" charset="0"/>
                            </a:rPr>
                            <a:t>FlexIT</a:t>
                          </a:r>
                        </a:p>
                      </a:txBody>
                      <a:tcPr marL="93309" marR="93309" marT="46655" marB="46655"/>
                    </a:tc>
                    <a:tc>
                      <a:txBody>
                        <a:bodyPr/>
                        <a:lstStyle/>
                        <a:p>
                          <a:r>
                            <a:rPr lang="en-GB" sz="1600" i="1">
                              <a:latin typeface="Source Sans Pro" panose="020B0503030403020204" pitchFamily="34" charset="0"/>
                              <a:ea typeface="Source Sans Pro" panose="020B0503030403020204" pitchFamily="34" charset="0"/>
                            </a:rPr>
                            <a:t>Fix</a:t>
                          </a:r>
                        </a:p>
                      </a:txBody>
                      <a:tcPr marL="93309" marR="93309" marT="46655" marB="46655"/>
                    </a:tc>
                    <a:extLst>
                      <a:ext uri="{0D108BD9-81ED-4DB2-BD59-A6C34878D82A}">
                        <a16:rowId xmlns:a16="http://schemas.microsoft.com/office/drawing/2014/main" val="2374742557"/>
                      </a:ext>
                    </a:extLst>
                  </a:tr>
                  <a:tr h="317251">
                    <a:tc>
                      <a:txBody>
                        <a:bodyPr/>
                        <a:lstStyle/>
                        <a:p>
                          <a:r>
                            <a:rPr lang="en-GB" sz="1600">
                              <a:latin typeface="Source Sans Pro" panose="020B0503030403020204" pitchFamily="34" charset="0"/>
                              <a:ea typeface="Source Sans Pro" panose="020B0503030403020204" pitchFamily="34" charset="0"/>
                            </a:rPr>
                            <a:t>Exchange rate regime</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Flexible</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Fixed (extreme case: common currency area)</a:t>
                          </a:r>
                        </a:p>
                      </a:txBody>
                      <a:tcPr marL="93309" marR="93309" marT="46655" marB="46655"/>
                    </a:tc>
                    <a:extLst>
                      <a:ext uri="{0D108BD9-81ED-4DB2-BD59-A6C34878D82A}">
                        <a16:rowId xmlns:a16="http://schemas.microsoft.com/office/drawing/2014/main" val="978219414"/>
                      </a:ext>
                    </a:extLst>
                  </a:tr>
                  <a:tr h="317251">
                    <a:tc>
                      <a:txBody>
                        <a:bodyPr/>
                        <a:lstStyle/>
                        <a:p>
                          <a:r>
                            <a:rPr lang="en-GB" sz="1600">
                              <a:latin typeface="Source Sans Pro" panose="020B0503030403020204" pitchFamily="34" charset="0"/>
                              <a:ea typeface="Source Sans Pro" panose="020B0503030403020204" pitchFamily="34" charset="0"/>
                            </a:rPr>
                            <a:t>Monetary policy</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National monetary policy with inflation target</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Dependent monetary policy</a:t>
                          </a:r>
                        </a:p>
                      </a:txBody>
                      <a:tcPr marL="93309" marR="93309" marT="46655" marB="46655"/>
                    </a:tc>
                    <a:extLst>
                      <a:ext uri="{0D108BD9-81ED-4DB2-BD59-A6C34878D82A}">
                        <a16:rowId xmlns:a16="http://schemas.microsoft.com/office/drawing/2014/main" val="2584167809"/>
                      </a:ext>
                    </a:extLst>
                  </a:tr>
                  <a:tr h="317251">
                    <a:tc>
                      <a:txBody>
                        <a:bodyPr/>
                        <a:lstStyle/>
                        <a:p>
                          <a:r>
                            <a:rPr lang="en-GB" sz="1600">
                              <a:latin typeface="Source Sans Pro" panose="020B0503030403020204" pitchFamily="34" charset="0"/>
                              <a:ea typeface="Source Sans Pro" panose="020B0503030403020204" pitchFamily="34" charset="0"/>
                            </a:rPr>
                            <a:t>‘Hands tied’?</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Usually by making central bank independent</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Yes</a:t>
                          </a:r>
                        </a:p>
                      </a:txBody>
                      <a:tcPr marL="93309" marR="93309" marT="46655" marB="46655"/>
                    </a:tc>
                    <a:extLst>
                      <a:ext uri="{0D108BD9-81ED-4DB2-BD59-A6C34878D82A}">
                        <a16:rowId xmlns:a16="http://schemas.microsoft.com/office/drawing/2014/main" val="1320111088"/>
                      </a:ext>
                    </a:extLst>
                  </a:tr>
                  <a:tr h="690488">
                    <a:tc>
                      <a:txBody>
                        <a:bodyPr/>
                        <a:lstStyle/>
                        <a:p>
                          <a:r>
                            <a:rPr lang="en-GB" sz="1600">
                              <a:latin typeface="Source Sans Pro" panose="020B0503030403020204" pitchFamily="34" charset="0"/>
                              <a:ea typeface="Source Sans Pro" panose="020B0503030403020204" pitchFamily="34" charset="0"/>
                            </a:rPr>
                            <a:t>Examples</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UK from 1997 (after Bank of England independence), USA, eurozone, Germany before 1999.</a:t>
                          </a:r>
                        </a:p>
                      </a:txBody>
                      <a:tcPr marL="93309" marR="93309" marT="46655" marB="4665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a:latin typeface="Source Sans Pro" panose="020B0503030403020204" pitchFamily="34" charset="0"/>
                              <a:ea typeface="Source Sans Pro" panose="020B0503030403020204" pitchFamily="34" charset="0"/>
                            </a:rPr>
                            <a:t>Spain &amp; Germany from 1999</a:t>
                          </a:r>
                        </a:p>
                        <a:p>
                          <a:endParaRPr lang="en-GB" sz="1600">
                            <a:latin typeface="Source Sans Pro" panose="020B0503030403020204" pitchFamily="34" charset="0"/>
                            <a:ea typeface="Source Sans Pro" panose="020B0503030403020204" pitchFamily="34" charset="0"/>
                          </a:endParaRPr>
                        </a:p>
                      </a:txBody>
                      <a:tcPr marL="93309" marR="93309" marT="46655" marB="46655"/>
                    </a:tc>
                    <a:extLst>
                      <a:ext uri="{0D108BD9-81ED-4DB2-BD59-A6C34878D82A}">
                        <a16:rowId xmlns:a16="http://schemas.microsoft.com/office/drawing/2014/main" val="279092378"/>
                      </a:ext>
                    </a:extLst>
                  </a:tr>
                  <a:tr h="330017">
                    <a:tc>
                      <a:txBody>
                        <a:bodyPr/>
                        <a:lstStyle/>
                        <a:p>
                          <a:r>
                            <a:rPr lang="en-GB" sz="1600">
                              <a:latin typeface="Source Sans Pro" panose="020B0503030403020204" pitchFamily="34" charset="0"/>
                              <a:ea typeface="Source Sans Pro" panose="020B0503030403020204" pitchFamily="34" charset="0"/>
                            </a:rPr>
                            <a:t>At supply-side equilibrium in home’s economy</a:t>
                          </a:r>
                        </a:p>
                      </a:txBody>
                      <a:tcPr marL="93309" marR="93309" marT="46655" marB="46655"/>
                    </a:tc>
                    <a:tc>
                      <a:txBody>
                        <a:bodyPr/>
                        <a:lstStyle/>
                        <a:p>
                          <a:pPr/>
                          <a14:m>
                            <m:oMathPara xmlns:m="http://schemas.openxmlformats.org/officeDocument/2006/math">
                              <m:oMathParaPr>
                                <m:jc m:val="centerGroup"/>
                              </m:oMathParaPr>
                              <m:oMath xmlns:m="http://schemas.openxmlformats.org/officeDocument/2006/math">
                                <m:r>
                                  <a:rPr lang="en-GB" sz="1600" i="1" smtClean="0">
                                    <a:latin typeface="Cambria Math" panose="02040503050406030204" pitchFamily="18" charset="0"/>
                                    <a:ea typeface="Cambria Math" panose="02040503050406030204" pitchFamily="18" charset="0"/>
                                  </a:rPr>
                                  <m:t>𝜋</m:t>
                                </m:r>
                                <m:r>
                                  <a:rPr lang="en-US" sz="1600" b="0" i="1" smtClean="0">
                                    <a:latin typeface="Cambria Math" panose="02040503050406030204" pitchFamily="18" charset="0"/>
                                    <a:ea typeface="Cambria Math" panose="02040503050406030204" pitchFamily="18" charset="0"/>
                                  </a:rPr>
                                  <m:t>=</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𝜋</m:t>
                                    </m:r>
                                  </m:e>
                                  <m:sup>
                                    <m:r>
                                      <m:rPr>
                                        <m:sty m:val="p"/>
                                      </m:rPr>
                                      <a:rPr lang="en-US" sz="1600" b="0" i="0" smtClean="0">
                                        <a:latin typeface="Cambria Math" panose="02040503050406030204" pitchFamily="18" charset="0"/>
                                        <a:ea typeface="Cambria Math" panose="02040503050406030204" pitchFamily="18" charset="0"/>
                                      </a:rPr>
                                      <m:t>T</m:t>
                                    </m:r>
                                  </m:sup>
                                </m:sSup>
                              </m:oMath>
                            </m:oMathPara>
                          </a14:m>
                          <a:endParaRPr lang="en-GB" sz="1600">
                            <a:latin typeface="Source Sans Pro" panose="020B0503030403020204" pitchFamily="34" charset="0"/>
                            <a:ea typeface="Source Sans Pro" panose="020B0503030403020204" pitchFamily="34" charset="0"/>
                          </a:endParaRPr>
                        </a:p>
                      </a:txBody>
                      <a:tcPr marL="93309" marR="93309" marT="46655" marB="46655"/>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ea typeface="Cambria Math" panose="02040503050406030204" pitchFamily="18" charset="0"/>
                                  </a:rPr>
                                  <m:t>𝜋</m:t>
                                </m:r>
                                <m:r>
                                  <a:rPr lang="en-US" sz="1600" b="0" i="1" smtClean="0">
                                    <a:latin typeface="Cambria Math" panose="02040503050406030204" pitchFamily="18" charset="0"/>
                                    <a:ea typeface="Cambria Math" panose="02040503050406030204" pitchFamily="18" charset="0"/>
                                  </a:rPr>
                                  <m:t>=</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𝜋</m:t>
                                    </m:r>
                                  </m:e>
                                  <m:sup>
                                    <m:r>
                                      <a:rPr lang="en-US" sz="1600" b="0" i="1" smtClean="0">
                                        <a:latin typeface="Cambria Math" panose="02040503050406030204" pitchFamily="18" charset="0"/>
                                        <a:ea typeface="Cambria Math" panose="02040503050406030204" pitchFamily="18" charset="0"/>
                                      </a:rPr>
                                      <m:t>∗</m:t>
                                    </m:r>
                                  </m:sup>
                                </m:sSup>
                                <m:r>
                                  <a:rPr lang="en-US" sz="1600" b="0" i="1" smtClean="0">
                                    <a:latin typeface="Cambria Math" panose="02040503050406030204" pitchFamily="18" charset="0"/>
                                    <a:ea typeface="Cambria Math" panose="02040503050406030204" pitchFamily="18" charset="0"/>
                                  </a:rPr>
                                  <m:t>=</m:t>
                                </m:r>
                                <m:sSubSup>
                                  <m:sSubSupPr>
                                    <m:ctrlPr>
                                      <a:rPr lang="en-US" sz="1600" b="0" i="1" smtClean="0">
                                        <a:latin typeface="Cambria Math" panose="02040503050406030204" pitchFamily="18" charset="0"/>
                                        <a:ea typeface="Cambria Math" panose="02040503050406030204" pitchFamily="18" charset="0"/>
                                      </a:rPr>
                                    </m:ctrlPr>
                                  </m:sSubSupPr>
                                  <m:e>
                                    <m:r>
                                      <a:rPr lang="en-US" sz="1600" b="0" i="1" smtClean="0">
                                        <a:latin typeface="Cambria Math" panose="02040503050406030204" pitchFamily="18" charset="0"/>
                                        <a:ea typeface="Cambria Math" panose="02040503050406030204" pitchFamily="18" charset="0"/>
                                      </a:rPr>
                                      <m:t>𝜋</m:t>
                                    </m:r>
                                  </m:e>
                                  <m:sub>
                                    <m:r>
                                      <m:rPr>
                                        <m:sty m:val="p"/>
                                      </m:rPr>
                                      <a:rPr lang="en-US" sz="1600" b="0" i="0" smtClean="0">
                                        <a:latin typeface="Cambria Math" panose="02040503050406030204" pitchFamily="18" charset="0"/>
                                        <a:ea typeface="Cambria Math" panose="02040503050406030204" pitchFamily="18" charset="0"/>
                                      </a:rPr>
                                      <m:t>ECB</m:t>
                                    </m:r>
                                  </m:sub>
                                  <m:sup>
                                    <m:r>
                                      <m:rPr>
                                        <m:sty m:val="p"/>
                                      </m:rPr>
                                      <a:rPr lang="en-US" sz="1600" b="0" i="0" smtClean="0">
                                        <a:latin typeface="Cambria Math" panose="02040503050406030204" pitchFamily="18" charset="0"/>
                                        <a:ea typeface="Cambria Math" panose="02040503050406030204" pitchFamily="18" charset="0"/>
                                      </a:rPr>
                                      <m:t>T</m:t>
                                    </m:r>
                                  </m:sup>
                                </m:sSubSup>
                              </m:oMath>
                            </m:oMathPara>
                          </a14:m>
                          <a:endParaRPr lang="en-GB" sz="1600">
                            <a:latin typeface="Source Sans Pro" panose="020B0503030403020204" pitchFamily="34" charset="0"/>
                            <a:ea typeface="Source Sans Pro" panose="020B0503030403020204" pitchFamily="34" charset="0"/>
                          </a:endParaRPr>
                        </a:p>
                      </a:txBody>
                      <a:tcPr marL="93309" marR="93309" marT="46655" marB="46655"/>
                    </a:tc>
                    <a:extLst>
                      <a:ext uri="{0D108BD9-81ED-4DB2-BD59-A6C34878D82A}">
                        <a16:rowId xmlns:a16="http://schemas.microsoft.com/office/drawing/2014/main" val="3182965262"/>
                      </a:ext>
                    </a:extLst>
                  </a:tr>
                  <a:tr h="503870">
                    <a:tc>
                      <a:txBody>
                        <a:bodyPr/>
                        <a:lstStyle/>
                        <a:p>
                          <a:r>
                            <a:rPr lang="en-GB" sz="1600">
                              <a:latin typeface="Source Sans Pro" panose="020B0503030403020204" pitchFamily="34" charset="0"/>
                              <a:ea typeface="Source Sans Pro" panose="020B0503030403020204" pitchFamily="34" charset="0"/>
                            </a:rPr>
                            <a:t>Role of exchange rate in stabilizing a positive demand shock</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Stabilizing: monetary tightening, nominal and (rapid) real appreciation</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Stabilizing: home inflation causes (slow) real appreciation</a:t>
                          </a:r>
                        </a:p>
                      </a:txBody>
                      <a:tcPr marL="93309" marR="93309" marT="46655" marB="46655"/>
                    </a:tc>
                    <a:extLst>
                      <a:ext uri="{0D108BD9-81ED-4DB2-BD59-A6C34878D82A}">
                        <a16:rowId xmlns:a16="http://schemas.microsoft.com/office/drawing/2014/main" val="327737405"/>
                      </a:ext>
                    </a:extLst>
                  </a:tr>
                  <a:tr h="690488">
                    <a:tc>
                      <a:txBody>
                        <a:bodyPr/>
                        <a:lstStyle/>
                        <a:p>
                          <a:r>
                            <a:rPr lang="en-GB" sz="1600">
                              <a:latin typeface="Source Sans Pro" panose="020B0503030403020204" pitchFamily="34" charset="0"/>
                              <a:ea typeface="Source Sans Pro" panose="020B0503030403020204" pitchFamily="34" charset="0"/>
                            </a:rPr>
                            <a:t>Can the government lower its borrowing costs by monetary finance and inflation?</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No: the CB’s job is to maintain inflation at the target rate, and it uses the interest rate to achieve this.</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No: Inflation is set by the foreign central bank. Interest rates are also out of the government’s control.</a:t>
                          </a:r>
                        </a:p>
                      </a:txBody>
                      <a:tcPr marL="93309" marR="93309" marT="46655" marB="46655"/>
                    </a:tc>
                    <a:extLst>
                      <a:ext uri="{0D108BD9-81ED-4DB2-BD59-A6C34878D82A}">
                        <a16:rowId xmlns:a16="http://schemas.microsoft.com/office/drawing/2014/main" val="1665307403"/>
                      </a:ext>
                    </a:extLst>
                  </a:tr>
                </a:tbl>
              </a:graphicData>
            </a:graphic>
          </p:graphicFrame>
        </mc:Choice>
        <mc:Fallback>
          <p:graphicFrame>
            <p:nvGraphicFramePr>
              <p:cNvPr id="4" name="Table 3">
                <a:extLst>
                  <a:ext uri="{FF2B5EF4-FFF2-40B4-BE49-F238E27FC236}">
                    <a16:creationId xmlns:a16="http://schemas.microsoft.com/office/drawing/2014/main" id="{EE144CBD-3309-8033-3FDF-D42298DDD7E3}"/>
                  </a:ext>
                </a:extLst>
              </p:cNvPr>
              <p:cNvGraphicFramePr>
                <a:graphicFrameLocks noGrp="1"/>
              </p:cNvGraphicFramePr>
              <p:nvPr>
                <p:extLst>
                  <p:ext uri="{D42A27DB-BD31-4B8C-83A1-F6EECF244321}">
                    <p14:modId xmlns:p14="http://schemas.microsoft.com/office/powerpoint/2010/main" val="2861164043"/>
                  </p:ext>
                </p:extLst>
              </p:nvPr>
            </p:nvGraphicFramePr>
            <p:xfrm>
              <a:off x="470137" y="1761827"/>
              <a:ext cx="11113307" cy="4891760"/>
            </p:xfrm>
            <a:graphic>
              <a:graphicData uri="http://schemas.openxmlformats.org/drawingml/2006/table">
                <a:tbl>
                  <a:tblPr firstRow="1" bandRow="1">
                    <a:tableStyleId>{69012ECD-51FC-41F1-AA8D-1B2483CD663E}</a:tableStyleId>
                  </a:tblPr>
                  <a:tblGrid>
                    <a:gridCol w="3709193">
                      <a:extLst>
                        <a:ext uri="{9D8B030D-6E8A-4147-A177-3AD203B41FA5}">
                          <a16:colId xmlns:a16="http://schemas.microsoft.com/office/drawing/2014/main" val="137994622"/>
                        </a:ext>
                      </a:extLst>
                    </a:gridCol>
                    <a:gridCol w="3686355">
                      <a:extLst>
                        <a:ext uri="{9D8B030D-6E8A-4147-A177-3AD203B41FA5}">
                          <a16:colId xmlns:a16="http://schemas.microsoft.com/office/drawing/2014/main" val="656056353"/>
                        </a:ext>
                      </a:extLst>
                    </a:gridCol>
                    <a:gridCol w="3717759">
                      <a:extLst>
                        <a:ext uri="{9D8B030D-6E8A-4147-A177-3AD203B41FA5}">
                          <a16:colId xmlns:a16="http://schemas.microsoft.com/office/drawing/2014/main" val="893830221"/>
                        </a:ext>
                      </a:extLst>
                    </a:gridCol>
                  </a:tblGrid>
                  <a:tr h="337150">
                    <a:tc>
                      <a:txBody>
                        <a:bodyPr/>
                        <a:lstStyle/>
                        <a:p>
                          <a:r>
                            <a:rPr lang="en-GB" sz="1600">
                              <a:latin typeface="Source Sans Pro" panose="020B0503030403020204" pitchFamily="34" charset="0"/>
                              <a:ea typeface="Source Sans Pro" panose="020B0503030403020204" pitchFamily="34" charset="0"/>
                            </a:rPr>
                            <a:t>Regime</a:t>
                          </a:r>
                        </a:p>
                      </a:txBody>
                      <a:tcPr marL="93309" marR="93309" marT="46655" marB="46655"/>
                    </a:tc>
                    <a:tc>
                      <a:txBody>
                        <a:bodyPr/>
                        <a:lstStyle/>
                        <a:p>
                          <a:r>
                            <a:rPr lang="en-GB" sz="1600" i="1">
                              <a:latin typeface="Source Sans Pro" panose="020B0503030403020204" pitchFamily="34" charset="0"/>
                              <a:ea typeface="Source Sans Pro" panose="020B0503030403020204" pitchFamily="34" charset="0"/>
                            </a:rPr>
                            <a:t>FlexIT</a:t>
                          </a:r>
                        </a:p>
                      </a:txBody>
                      <a:tcPr marL="93309" marR="93309" marT="46655" marB="46655"/>
                    </a:tc>
                    <a:tc>
                      <a:txBody>
                        <a:bodyPr/>
                        <a:lstStyle/>
                        <a:p>
                          <a:r>
                            <a:rPr lang="en-GB" sz="1600" i="1">
                              <a:latin typeface="Source Sans Pro" panose="020B0503030403020204" pitchFamily="34" charset="0"/>
                              <a:ea typeface="Source Sans Pro" panose="020B0503030403020204" pitchFamily="34" charset="0"/>
                            </a:rPr>
                            <a:t>Fix</a:t>
                          </a:r>
                        </a:p>
                      </a:txBody>
                      <a:tcPr marL="93309" marR="93309" marT="46655" marB="46655"/>
                    </a:tc>
                    <a:extLst>
                      <a:ext uri="{0D108BD9-81ED-4DB2-BD59-A6C34878D82A}">
                        <a16:rowId xmlns:a16="http://schemas.microsoft.com/office/drawing/2014/main" val="2374742557"/>
                      </a:ext>
                    </a:extLst>
                  </a:tr>
                  <a:tr h="580990">
                    <a:tc>
                      <a:txBody>
                        <a:bodyPr/>
                        <a:lstStyle/>
                        <a:p>
                          <a:r>
                            <a:rPr lang="en-GB" sz="1600">
                              <a:latin typeface="Source Sans Pro" panose="020B0503030403020204" pitchFamily="34" charset="0"/>
                              <a:ea typeface="Source Sans Pro" panose="020B0503030403020204" pitchFamily="34" charset="0"/>
                            </a:rPr>
                            <a:t>Exchange rate regime</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Flexible</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Fixed (extreme case: common currency area)</a:t>
                          </a:r>
                        </a:p>
                      </a:txBody>
                      <a:tcPr marL="93309" marR="93309" marT="46655" marB="46655"/>
                    </a:tc>
                    <a:extLst>
                      <a:ext uri="{0D108BD9-81ED-4DB2-BD59-A6C34878D82A}">
                        <a16:rowId xmlns:a16="http://schemas.microsoft.com/office/drawing/2014/main" val="978219414"/>
                      </a:ext>
                    </a:extLst>
                  </a:tr>
                  <a:tr h="580990">
                    <a:tc>
                      <a:txBody>
                        <a:bodyPr/>
                        <a:lstStyle/>
                        <a:p>
                          <a:r>
                            <a:rPr lang="en-GB" sz="1600">
                              <a:latin typeface="Source Sans Pro" panose="020B0503030403020204" pitchFamily="34" charset="0"/>
                              <a:ea typeface="Source Sans Pro" panose="020B0503030403020204" pitchFamily="34" charset="0"/>
                            </a:rPr>
                            <a:t>Monetary policy</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National monetary policy with inflation target</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Dependent monetary policy</a:t>
                          </a:r>
                        </a:p>
                      </a:txBody>
                      <a:tcPr marL="93309" marR="93309" marT="46655" marB="46655"/>
                    </a:tc>
                    <a:extLst>
                      <a:ext uri="{0D108BD9-81ED-4DB2-BD59-A6C34878D82A}">
                        <a16:rowId xmlns:a16="http://schemas.microsoft.com/office/drawing/2014/main" val="2584167809"/>
                      </a:ext>
                    </a:extLst>
                  </a:tr>
                  <a:tr h="580990">
                    <a:tc>
                      <a:txBody>
                        <a:bodyPr/>
                        <a:lstStyle/>
                        <a:p>
                          <a:r>
                            <a:rPr lang="en-GB" sz="1600">
                              <a:latin typeface="Source Sans Pro" panose="020B0503030403020204" pitchFamily="34" charset="0"/>
                              <a:ea typeface="Source Sans Pro" panose="020B0503030403020204" pitchFamily="34" charset="0"/>
                            </a:rPr>
                            <a:t>‘Hands tied’?</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Usually by making central bank independent</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Yes</a:t>
                          </a:r>
                        </a:p>
                      </a:txBody>
                      <a:tcPr marL="93309" marR="93309" marT="46655" marB="46655"/>
                    </a:tc>
                    <a:extLst>
                      <a:ext uri="{0D108BD9-81ED-4DB2-BD59-A6C34878D82A}">
                        <a16:rowId xmlns:a16="http://schemas.microsoft.com/office/drawing/2014/main" val="1320111088"/>
                      </a:ext>
                    </a:extLst>
                  </a:tr>
                  <a:tr h="824830">
                    <a:tc>
                      <a:txBody>
                        <a:bodyPr/>
                        <a:lstStyle/>
                        <a:p>
                          <a:r>
                            <a:rPr lang="en-GB" sz="1600">
                              <a:latin typeface="Source Sans Pro" panose="020B0503030403020204" pitchFamily="34" charset="0"/>
                              <a:ea typeface="Source Sans Pro" panose="020B0503030403020204" pitchFamily="34" charset="0"/>
                            </a:rPr>
                            <a:t>Examples</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UK from 1997 (after Bank of England independence), USA, eurozone, Germany before 1999.</a:t>
                          </a:r>
                        </a:p>
                      </a:txBody>
                      <a:tcPr marL="93309" marR="93309" marT="46655" marB="4665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a:latin typeface="Source Sans Pro" panose="020B0503030403020204" pitchFamily="34" charset="0"/>
                              <a:ea typeface="Source Sans Pro" panose="020B0503030403020204" pitchFamily="34" charset="0"/>
                            </a:rPr>
                            <a:t>Spain &amp; Germany from 1999</a:t>
                          </a:r>
                        </a:p>
                        <a:p>
                          <a:endParaRPr lang="en-GB" sz="1600">
                            <a:latin typeface="Source Sans Pro" panose="020B0503030403020204" pitchFamily="34" charset="0"/>
                            <a:ea typeface="Source Sans Pro" panose="020B0503030403020204" pitchFamily="34" charset="0"/>
                          </a:endParaRPr>
                        </a:p>
                      </a:txBody>
                      <a:tcPr marL="93309" marR="93309" marT="46655" marB="46655"/>
                    </a:tc>
                    <a:extLst>
                      <a:ext uri="{0D108BD9-81ED-4DB2-BD59-A6C34878D82A}">
                        <a16:rowId xmlns:a16="http://schemas.microsoft.com/office/drawing/2014/main" val="279092378"/>
                      </a:ext>
                    </a:extLst>
                  </a:tr>
                  <a:tr h="580990">
                    <a:tc>
                      <a:txBody>
                        <a:bodyPr/>
                        <a:lstStyle/>
                        <a:p>
                          <a:r>
                            <a:rPr lang="en-GB" sz="1600">
                              <a:latin typeface="Source Sans Pro" panose="020B0503030403020204" pitchFamily="34" charset="0"/>
                              <a:ea typeface="Source Sans Pro" panose="020B0503030403020204" pitchFamily="34" charset="0"/>
                            </a:rPr>
                            <a:t>At supply-side equilibrium in home’s economy</a:t>
                          </a:r>
                        </a:p>
                      </a:txBody>
                      <a:tcPr marL="93309" marR="93309" marT="46655" marB="46655"/>
                    </a:tc>
                    <a:tc>
                      <a:txBody>
                        <a:bodyPr/>
                        <a:lstStyle/>
                        <a:p>
                          <a:endParaRPr lang="en-US"/>
                        </a:p>
                      </a:txBody>
                      <a:tcPr marL="93309" marR="93309" marT="46655" marB="46655">
                        <a:blipFill>
                          <a:blip r:embed="rId3"/>
                          <a:stretch>
                            <a:fillRect l="-100826" t="-505263" r="-100992" b="-255789"/>
                          </a:stretch>
                        </a:blipFill>
                      </a:tcPr>
                    </a:tc>
                    <a:tc>
                      <a:txBody>
                        <a:bodyPr/>
                        <a:lstStyle/>
                        <a:p>
                          <a:endParaRPr lang="en-US"/>
                        </a:p>
                      </a:txBody>
                      <a:tcPr marL="93309" marR="93309" marT="46655" marB="46655">
                        <a:blipFill>
                          <a:blip r:embed="rId3"/>
                          <a:stretch>
                            <a:fillRect l="-199180" t="-505263" r="-164" b="-255789"/>
                          </a:stretch>
                        </a:blipFill>
                      </a:tcPr>
                    </a:tc>
                    <a:extLst>
                      <a:ext uri="{0D108BD9-81ED-4DB2-BD59-A6C34878D82A}">
                        <a16:rowId xmlns:a16="http://schemas.microsoft.com/office/drawing/2014/main" val="3182965262"/>
                      </a:ext>
                    </a:extLst>
                  </a:tr>
                  <a:tr h="580990">
                    <a:tc>
                      <a:txBody>
                        <a:bodyPr/>
                        <a:lstStyle/>
                        <a:p>
                          <a:r>
                            <a:rPr lang="en-GB" sz="1600">
                              <a:latin typeface="Source Sans Pro" panose="020B0503030403020204" pitchFamily="34" charset="0"/>
                              <a:ea typeface="Source Sans Pro" panose="020B0503030403020204" pitchFamily="34" charset="0"/>
                            </a:rPr>
                            <a:t>Role of exchange rate in stabilizing a positive demand shock</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Stabilizing: monetary tightening, nominal and (rapid) real appreciation</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Stabilizing: home inflation causes (slow) real appreciation</a:t>
                          </a:r>
                        </a:p>
                      </a:txBody>
                      <a:tcPr marL="93309" marR="93309" marT="46655" marB="46655"/>
                    </a:tc>
                    <a:extLst>
                      <a:ext uri="{0D108BD9-81ED-4DB2-BD59-A6C34878D82A}">
                        <a16:rowId xmlns:a16="http://schemas.microsoft.com/office/drawing/2014/main" val="327737405"/>
                      </a:ext>
                    </a:extLst>
                  </a:tr>
                  <a:tr h="824830">
                    <a:tc>
                      <a:txBody>
                        <a:bodyPr/>
                        <a:lstStyle/>
                        <a:p>
                          <a:r>
                            <a:rPr lang="en-GB" sz="1600">
                              <a:latin typeface="Source Sans Pro" panose="020B0503030403020204" pitchFamily="34" charset="0"/>
                              <a:ea typeface="Source Sans Pro" panose="020B0503030403020204" pitchFamily="34" charset="0"/>
                            </a:rPr>
                            <a:t>Can the government lower its borrowing costs by monetary finance and inflation?</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No: the CB’s job is to maintain inflation at the target rate, and it uses the interest rate to achieve this.</a:t>
                          </a:r>
                        </a:p>
                      </a:txBody>
                      <a:tcPr marL="93309" marR="93309" marT="46655" marB="46655"/>
                    </a:tc>
                    <a:tc>
                      <a:txBody>
                        <a:bodyPr/>
                        <a:lstStyle/>
                        <a:p>
                          <a:r>
                            <a:rPr lang="en-GB" sz="1600">
                              <a:latin typeface="Source Sans Pro" panose="020B0503030403020204" pitchFamily="34" charset="0"/>
                              <a:ea typeface="Source Sans Pro" panose="020B0503030403020204" pitchFamily="34" charset="0"/>
                            </a:rPr>
                            <a:t>No: Inflation is set by the foreign central bank. Interest rates are also out of the government’s control.</a:t>
                          </a:r>
                        </a:p>
                      </a:txBody>
                      <a:tcPr marL="93309" marR="93309" marT="46655" marB="46655"/>
                    </a:tc>
                    <a:extLst>
                      <a:ext uri="{0D108BD9-81ED-4DB2-BD59-A6C34878D82A}">
                        <a16:rowId xmlns:a16="http://schemas.microsoft.com/office/drawing/2014/main" val="1665307403"/>
                      </a:ext>
                    </a:extLst>
                  </a:tr>
                </a:tbl>
              </a:graphicData>
            </a:graphic>
          </p:graphicFrame>
        </mc:Fallback>
      </mc:AlternateContent>
    </p:spTree>
    <p:extLst>
      <p:ext uri="{BB962C8B-B14F-4D97-AF65-F5344CB8AC3E}">
        <p14:creationId xmlns:p14="http://schemas.microsoft.com/office/powerpoint/2010/main" val="23229004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8&quot; unique_id=&quot;10017&quot;&gt;&lt;/object&gt;&lt;object type=&quot;2&quot; unique_id=&quot;10018&quot;&gt;&lt;object type=&quot;3&quot; unique_id=&quot;10025&quot;&gt;&lt;property id=&quot;20148&quot; value=&quot;5&quot;/&gt;&lt;property id=&quot;20300&quot; value=&quot;Slide 1 - &amp;quot;Unit 6&amp;quot;&quot;/&gt;&lt;property id=&quot;20307&quot; value=&quot;256&quot;/&gt;&lt;/object&gt;&lt;object type=&quot;3&quot; unique_id=&quot;10026&quot;&gt;&lt;property id=&quot;20148&quot; value=&quot;5&quot;/&gt;&lt;property id=&quot;20300&quot; value=&quot;Slide 3 - &amp;quot;The Unit in Context&amp;quot;&quot;/&gt;&lt;property id=&quot;20307&quot; value=&quot;257&quot;/&gt;&lt;/object&gt;&lt;object type=&quot;3&quot; unique_id=&quot;10055&quot;&gt;&lt;property id=&quot;20148&quot; value=&quot;5&quot;/&gt;&lt;property id=&quot;20300&quot; value=&quot;Slide 4 - &amp;quot;This Unit &amp;quot;&quot;/&gt;&lt;property id=&quot;20307&quot; value=&quot;258&quot;/&gt;&lt;/object&gt;&lt;object type=&quot;3&quot; unique_id=&quot;10151&quot;&gt;&lt;property id=&quot;20148&quot; value=&quot;5&quot;/&gt;&lt;property id=&quot;20300&quot; value=&quot;Slide 6 - &amp;quot;Firms and Wage Contracts&amp;quot;&quot;/&gt;&lt;property id=&quot;20307&quot; value=&quot;259&quot;/&gt;&lt;/object&gt;&lt;object type=&quot;3&quot; unique_id=&quot;10218&quot;&gt;&lt;property id=&quot;20148&quot; value=&quot;5&quot;/&gt;&lt;property id=&quot;20300&quot; value=&quot;Slide 7 - &amp;quot;Firms and Wage Contracts&amp;quot;&quot;/&gt;&lt;property id=&quot;20307&quot; value=&quot;260&quot;/&gt;&lt;/object&gt;&lt;object type=&quot;3&quot; unique_id=&quot;19938&quot;&gt;&lt;property id=&quot;20148&quot; value=&quot;5&quot;/&gt;&lt;property id=&quot;20300&quot; value=&quot;Slide 8&quot;/&gt;&lt;property id=&quot;20307&quot; value=&quot;261&quot;/&gt;&lt;/object&gt;&lt;object type=&quot;3&quot; unique_id=&quot;20019&quot;&gt;&lt;property id=&quot;20148&quot; value=&quot;5&quot;/&gt;&lt;property id=&quot;20300&quot; value=&quot;Slide 2 - &amp;quot;A. Introduction&amp;quot;&quot;/&gt;&lt;property id=&quot;20307&quot; value=&quot;262&quot;/&gt;&lt;/object&gt;&lt;object type=&quot;3&quot; unique_id=&quot;20065&quot;&gt;&lt;property id=&quot;20148&quot; value=&quot;5&quot;/&gt;&lt;property id=&quot;20300&quot; value=&quot;Slide 5 - &amp;quot;B. Labour Contracts and Employment Rents&amp;quot;&quot;/&gt;&lt;property id=&quot;20307&quot; value=&quot;263&quot;/&gt;&lt;/object&gt;&lt;object type=&quot;3&quot; unique_id=&quot;20066&quot;&gt;&lt;property id=&quot;20148&quot; value=&quot;5&quot;/&gt;&lt;property id=&quot;20300&quot; value=&quot;Slide 9 - &amp;quot;C. Labour Discipline Model&amp;quot;&quot;/&gt;&lt;property id=&quot;20307&quot; value=&quot;264&quot;/&gt;&lt;/object&gt;&lt;object type=&quot;3&quot; unique_id=&quot;20144&quot;&gt;&lt;property id=&quot;20148&quot; value=&quot;5&quot;/&gt;&lt;property id=&quot;20300&quot; value=&quot;Slide 14 - &amp;quot;D. The Wage Curve&amp;quot;&quot;/&gt;&lt;property id=&quot;20307&quot; value=&quot;265&quot;/&gt;&lt;/object&gt;&lt;object type=&quot;3&quot; unique_id=&quot;20145&quot;&gt;&lt;property id=&quot;20148&quot; value=&quot;5&quot;/&gt;&lt;property id=&quot;20300&quot; value=&quot;Slide 18 - &amp;quot;E. Fairness and Reciprocity&amp;quot;&quot;/&gt;&lt;property id=&quot;20307&quot; value=&quot;266&quot;/&gt;&lt;/object&gt;&lt;object type=&quot;3&quot; unique_id=&quot;20185&quot;&gt;&lt;property id=&quot;20148&quot; value=&quot;5&quot;/&gt;&lt;property id=&quot;20300&quot; value=&quot;Slide 19 - &amp;quot;G. Looking Forward&amp;quot;&quot;/&gt;&lt;property id=&quot;20307&quot; value=&quot;267&quot;/&gt;&lt;/object&gt;&lt;object type=&quot;3&quot; unique_id=&quot;20228&quot;&gt;&lt;property id=&quot;20148&quot; value=&quot;5&quot;/&gt;&lt;property id=&quot;20300&quot; value=&quot;Slide 20 - &amp;quot;Firms and their Customers&amp;quot;&quot;/&gt;&lt;property id=&quot;20307&quot; value=&quot;268&quot;/&gt;&lt;/object&gt;&lt;object type=&quot;3&quot; unique_id=&quot;20567&quot;&gt;&lt;property id=&quot;20148&quot; value=&quot;5&quot;/&gt;&lt;property id=&quot;20300&quot; value=&quot;Slide 10&quot;/&gt;&lt;property id=&quot;20307&quot; value=&quot;269&quot;/&gt;&lt;/object&gt;&lt;object type=&quot;3&quot; unique_id=&quot;20696&quot;&gt;&lt;property id=&quot;20148&quot; value=&quot;5&quot;/&gt;&lt;property id=&quot;20300&quot; value=&quot;Slide 12&quot;/&gt;&lt;property id=&quot;20307&quot; value=&quot;270&quot;/&gt;&lt;/object&gt;&lt;object type=&quot;3&quot; unique_id=&quot;20782&quot;&gt;&lt;property id=&quot;20148&quot; value=&quot;5&quot;/&gt;&lt;property id=&quot;20300&quot; value=&quot;Slide 13&quot;/&gt;&lt;property id=&quot;20307&quot; value=&quot;271&quot;/&gt;&lt;/object&gt;&lt;object type=&quot;3&quot; unique_id=&quot;20963&quot;&gt;&lt;property id=&quot;20148&quot; value=&quot;5&quot;/&gt;&lt;property id=&quot;20300&quot; value=&quot;Slide 11&quot;/&gt;&lt;property id=&quot;20307&quot; value=&quot;272&quot;/&gt;&lt;/object&gt;&lt;object type=&quot;3&quot; unique_id=&quot;21116&quot;&gt;&lt;property id=&quot;20148&quot; value=&quot;5&quot;/&gt;&lt;property id=&quot;20300&quot; value=&quot;Slide 16&quot;/&gt;&lt;property id=&quot;20307&quot; value=&quot;273&quot;/&gt;&lt;/object&gt;&lt;object type=&quot;3&quot; unique_id=&quot;21217&quot;&gt;&lt;property id=&quot;20148&quot; value=&quot;5&quot;/&gt;&lt;property id=&quot;20300&quot; value=&quot;Slide 15&quot;/&gt;&lt;property id=&quot;20307&quot; value=&quot;274&quot;/&gt;&lt;/object&gt;&lt;object type=&quot;3&quot; unique_id=&quot;21428&quot;&gt;&lt;property id=&quot;20148&quot; value=&quot;5&quot;/&gt;&lt;property id=&quot;20300&quot; value=&quot;Slide 17&quot;/&gt;&lt;property id=&quot;20307&quot; value=&quot;275&quot;/&gt;&lt;/object&gt;&lt;/object&gt;&lt;/object&gt;&lt;/database&gt;"/>
  <p:tag name="SECTOMILLISECCONVERTED"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C3DC2A576866347B3860F3D6B95AFFE" ma:contentTypeVersion="7" ma:contentTypeDescription="Create a new document." ma:contentTypeScope="" ma:versionID="4c7c66d906fbd49775b10eeedd163ea7">
  <xsd:schema xmlns:xsd="http://www.w3.org/2001/XMLSchema" xmlns:xs="http://www.w3.org/2001/XMLSchema" xmlns:p="http://schemas.microsoft.com/office/2006/metadata/properties" xmlns:ns2="8608378c-9d89-4280-9f86-684f84fbf7a4" targetNamespace="http://schemas.microsoft.com/office/2006/metadata/properties" ma:root="true" ma:fieldsID="759e42e850e8058a3deb55707af8a3f7" ns2:_="">
    <xsd:import namespace="8608378c-9d89-4280-9f86-684f84fbf7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08378c-9d89-4280-9f86-684f84fbf7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363442-52B4-4B8B-9765-66388461018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B3AF1F8-21E9-4770-B8C6-A324D8174A03}">
  <ds:schemaRefs>
    <ds:schemaRef ds:uri="http://schemas.microsoft.com/sharepoint/v3/contenttype/forms"/>
  </ds:schemaRefs>
</ds:datastoreItem>
</file>

<file path=customXml/itemProps3.xml><?xml version="1.0" encoding="utf-8"?>
<ds:datastoreItem xmlns:ds="http://schemas.openxmlformats.org/officeDocument/2006/customXml" ds:itemID="{FBC84E7B-5C37-4EBE-A71C-0377AB11F841}">
  <ds:schemaRefs>
    <ds:schemaRef ds:uri="8608378c-9d89-4280-9f86-684f84fbf7a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34</Slides>
  <Notes>20</Notes>
  <HiddenSlides>1</HiddenSlide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Unit 7</vt:lpstr>
      <vt:lpstr>PowerPoint Presentation</vt:lpstr>
      <vt:lpstr>A. Recap</vt:lpstr>
      <vt:lpstr>Unit 5 recap</vt:lpstr>
      <vt:lpstr>Unit 5 recap</vt:lpstr>
      <vt:lpstr>B. Nominal, real and real effective exchange rates</vt:lpstr>
      <vt:lpstr>Nominal and real exchange rate</vt:lpstr>
      <vt:lpstr>Real Effective Exchange Rate</vt:lpstr>
      <vt:lpstr>Real Effective Exchange Rate</vt:lpstr>
      <vt:lpstr>Effective Exchanges Rates of the Rand</vt:lpstr>
      <vt:lpstr>C. Exchange rate regimes</vt:lpstr>
      <vt:lpstr>Flexible vs fixed exchange rate regimes</vt:lpstr>
      <vt:lpstr>Fixed exchange rate regimes</vt:lpstr>
      <vt:lpstr>Three types of regime</vt:lpstr>
      <vt:lpstr>FlexIT</vt:lpstr>
      <vt:lpstr>Impacts of depreciation and appreciation</vt:lpstr>
      <vt:lpstr>Two FlexIT countries</vt:lpstr>
      <vt:lpstr>Lecture 2</vt:lpstr>
      <vt:lpstr>The ultimate Fix economy</vt:lpstr>
      <vt:lpstr>The ultimate Fix economy</vt:lpstr>
      <vt:lpstr>FlexIT vs ultimate Fix</vt:lpstr>
      <vt:lpstr>Why join a common currency area?</vt:lpstr>
      <vt:lpstr>Arguments for joining common currency area</vt:lpstr>
      <vt:lpstr>Arguments for joining common currency area</vt:lpstr>
      <vt:lpstr>Arguments for joining common currency area</vt:lpstr>
      <vt:lpstr>D. Exchange rate regimes in practice</vt:lpstr>
      <vt:lpstr>Fixed exchange rate regimes</vt:lpstr>
      <vt:lpstr>Exchange rate regimes around the world</vt:lpstr>
      <vt:lpstr>Exchange rate regime = monetary regime</vt:lpstr>
      <vt:lpstr>E. Government deficits and foreign debt</vt:lpstr>
      <vt:lpstr>Government deficits and debt</vt:lpstr>
      <vt:lpstr>Government deficits and debt</vt:lpstr>
      <vt:lpstr>Sovereign debt crises</vt:lpstr>
      <vt:lpstr>The key themes</vt:lpstr>
    </vt:vector>
  </TitlesOfParts>
  <Company>University of Bristol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6</dc:title>
  <dc:creator>AJ Lait</dc:creator>
  <cp:revision>1</cp:revision>
  <dcterms:created xsi:type="dcterms:W3CDTF">2017-10-18T09:24:47Z</dcterms:created>
  <dcterms:modified xsi:type="dcterms:W3CDTF">2025-10-14T20:15:16Z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0x0101007C3DC2A576866347B3860F3D6B95AFFE</vt:lpwstr>
  </property>
</Properties>
</file>