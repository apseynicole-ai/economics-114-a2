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3"/>
  </p:notesMasterIdLst>
  <p:handoutMasterIdLst>
    <p:handoutMasterId r:id="rId54"/>
  </p:handoutMasterIdLst>
  <p:sldIdLst>
    <p:sldId id="256" r:id="rId5"/>
    <p:sldId id="311" r:id="rId6"/>
    <p:sldId id="312" r:id="rId7"/>
    <p:sldId id="313" r:id="rId8"/>
    <p:sldId id="447" r:id="rId9"/>
    <p:sldId id="450" r:id="rId10"/>
    <p:sldId id="415" r:id="rId11"/>
    <p:sldId id="354" r:id="rId12"/>
    <p:sldId id="375" r:id="rId13"/>
    <p:sldId id="416" r:id="rId14"/>
    <p:sldId id="417" r:id="rId15"/>
    <p:sldId id="418" r:id="rId16"/>
    <p:sldId id="451" r:id="rId17"/>
    <p:sldId id="452" r:id="rId18"/>
    <p:sldId id="454" r:id="rId19"/>
    <p:sldId id="419" r:id="rId20"/>
    <p:sldId id="420" r:id="rId21"/>
    <p:sldId id="421" r:id="rId22"/>
    <p:sldId id="422" r:id="rId23"/>
    <p:sldId id="335" r:id="rId24"/>
    <p:sldId id="400" r:id="rId25"/>
    <p:sldId id="423" r:id="rId26"/>
    <p:sldId id="424" r:id="rId27"/>
    <p:sldId id="425" r:id="rId28"/>
    <p:sldId id="426" r:id="rId29"/>
    <p:sldId id="427" r:id="rId30"/>
    <p:sldId id="448" r:id="rId31"/>
    <p:sldId id="428" r:id="rId32"/>
    <p:sldId id="429" r:id="rId33"/>
    <p:sldId id="430" r:id="rId34"/>
    <p:sldId id="431" r:id="rId35"/>
    <p:sldId id="432" r:id="rId36"/>
    <p:sldId id="449" r:id="rId37"/>
    <p:sldId id="381" r:id="rId38"/>
    <p:sldId id="390" r:id="rId39"/>
    <p:sldId id="433" r:id="rId40"/>
    <p:sldId id="434" r:id="rId41"/>
    <p:sldId id="436" r:id="rId42"/>
    <p:sldId id="437" r:id="rId43"/>
    <p:sldId id="439" r:id="rId44"/>
    <p:sldId id="440" r:id="rId45"/>
    <p:sldId id="441" r:id="rId46"/>
    <p:sldId id="442" r:id="rId47"/>
    <p:sldId id="443" r:id="rId48"/>
    <p:sldId id="444" r:id="rId49"/>
    <p:sldId id="445" r:id="rId50"/>
    <p:sldId id="285" r:id="rId51"/>
    <p:sldId id="284" r:id="rId52"/>
  </p:sldIdLst>
  <p:sldSz cx="12192000" cy="6858000"/>
  <p:notesSz cx="9144000" cy="6858000"/>
  <p:custDataLst>
    <p:tags r:id="rId5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AA8340-0EEE-89F4-EA86-7B9D4B66F11E}" name="Morrow, S, Miss [sineadmorrow@sun.ac.za]" initials="SM" userId="S::sineadmorrow@sun.ac.za::9118212f-9462-42bf-b503-3e3cf6fe021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16" autoAdjust="0"/>
    <p:restoredTop sz="86576" autoAdjust="0"/>
  </p:normalViewPr>
  <p:slideViewPr>
    <p:cSldViewPr snapToGrid="0">
      <p:cViewPr varScale="1">
        <p:scale>
          <a:sx n="59" d="100"/>
          <a:sy n="59" d="100"/>
        </p:scale>
        <p:origin x="996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ags" Target="tags/tag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9B1A07-F18E-41BE-95F5-1B9BC58AF744}" type="datetimeFigureOut">
              <a:rPr lang="en-GB" smtClean="0"/>
              <a:pPr/>
              <a:t>17/09/2025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38E3D-771E-4672-A11D-8D2C32B32D6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9738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1D4287-04A9-4C73-9D55-232C8596F91F}" type="datetimeFigureOut">
              <a:rPr lang="en-GB" smtClean="0"/>
              <a:pPr/>
              <a:t>17/09/2025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AB5415-19B2-4E24-9144-8E58C47607A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11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293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Infographic is from this article: https://dailyinvestor.com/finance/90745/spur-burger-and-steak-for-80-cents/ </a:t>
            </a:r>
          </a:p>
          <a:p>
            <a:r>
              <a:rPr lang="en-ZA" dirty="0"/>
              <a:t>Inflation in coffee prices: https://businesstech.co.za/news/lifestyle/821909/bad-news-about-coffee-prices-in-south-africa/ </a:t>
            </a:r>
          </a:p>
          <a:p>
            <a:r>
              <a:rPr lang="en-ZA" dirty="0"/>
              <a:t>Inflation in clothing: https://fastcompany.co.za/business/2025-07-17-south-africas-retail-sales-growth-is-driven-by-low-inflation/</a:t>
            </a:r>
          </a:p>
          <a:p>
            <a:endParaRPr lang="en-ZA" dirty="0"/>
          </a:p>
          <a:p>
            <a:r>
              <a:rPr lang="en-ZA" dirty="0"/>
              <a:t>Ask students when they have seen inflation.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396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0341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72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732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5308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479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Source</a:t>
            </a:r>
            <a:r>
              <a:rPr lang="en-ZA"/>
              <a:t>: August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908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415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4872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01740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38259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8780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24083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4052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64504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7150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5094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89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3739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28031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6938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6483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4771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63286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3029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1165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10415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63429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44580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7185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97938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2065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6362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0972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4890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94774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AB5415-19B2-4E24-9144-8E58C47607AD}" type="slidenum">
              <a:rPr lang="en-GB" smtClean="0"/>
              <a:pPr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173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6" indent="0" algn="ctr">
              <a:buNone/>
              <a:defRPr sz="2000"/>
            </a:lvl2pPr>
            <a:lvl3pPr marL="914352" indent="0" algn="ctr">
              <a:buNone/>
              <a:defRPr sz="1800"/>
            </a:lvl3pPr>
            <a:lvl4pPr marL="1371528" indent="0" algn="ctr">
              <a:buNone/>
              <a:defRPr sz="1600"/>
            </a:lvl4pPr>
            <a:lvl5pPr marL="1828703" indent="0" algn="ctr">
              <a:buNone/>
              <a:defRPr sz="1600"/>
            </a:lvl5pPr>
            <a:lvl6pPr marL="2285879" indent="0" algn="ctr">
              <a:buNone/>
              <a:defRPr sz="1600"/>
            </a:lvl6pPr>
            <a:lvl7pPr marL="2743055" indent="0" algn="ctr">
              <a:buNone/>
              <a:defRPr sz="1600"/>
            </a:lvl7pPr>
            <a:lvl8pPr marL="3200231" indent="0" algn="ctr">
              <a:buNone/>
              <a:defRPr sz="1600"/>
            </a:lvl8pPr>
            <a:lvl9pPr marL="365740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00516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8689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2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7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0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5668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9" name="Rectangle 8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10096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6" indent="0">
              <a:buNone/>
              <a:defRPr sz="2000" b="1"/>
            </a:lvl2pPr>
            <a:lvl3pPr marL="914352" indent="0">
              <a:buNone/>
              <a:defRPr sz="1800" b="1"/>
            </a:lvl3pPr>
            <a:lvl4pPr marL="1371528" indent="0">
              <a:buNone/>
              <a:defRPr sz="1600" b="1"/>
            </a:lvl4pPr>
            <a:lvl5pPr marL="1828703" indent="0">
              <a:buNone/>
              <a:defRPr sz="1600" b="1"/>
            </a:lvl5pPr>
            <a:lvl6pPr marL="2285879" indent="0">
              <a:buNone/>
              <a:defRPr sz="1600" b="1"/>
            </a:lvl6pPr>
            <a:lvl7pPr marL="2743055" indent="0">
              <a:buNone/>
              <a:defRPr sz="1600" b="1"/>
            </a:lvl7pPr>
            <a:lvl8pPr marL="3200231" indent="0">
              <a:buNone/>
              <a:defRPr sz="1600" b="1"/>
            </a:lvl8pPr>
            <a:lvl9pPr marL="365740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6" indent="0">
              <a:buNone/>
              <a:defRPr sz="2000" b="1"/>
            </a:lvl2pPr>
            <a:lvl3pPr marL="914352" indent="0">
              <a:buNone/>
              <a:defRPr sz="1800" b="1"/>
            </a:lvl3pPr>
            <a:lvl4pPr marL="1371528" indent="0">
              <a:buNone/>
              <a:defRPr sz="1600" b="1"/>
            </a:lvl4pPr>
            <a:lvl5pPr marL="1828703" indent="0">
              <a:buNone/>
              <a:defRPr sz="1600" b="1"/>
            </a:lvl5pPr>
            <a:lvl6pPr marL="2285879" indent="0">
              <a:buNone/>
              <a:defRPr sz="1600" b="1"/>
            </a:lvl6pPr>
            <a:lvl7pPr marL="2743055" indent="0">
              <a:buNone/>
              <a:defRPr sz="1600" b="1"/>
            </a:lvl7pPr>
            <a:lvl8pPr marL="3200231" indent="0">
              <a:buNone/>
              <a:defRPr sz="1600" b="1"/>
            </a:lvl8pPr>
            <a:lvl9pPr marL="365740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pic>
          <p:nvPicPr>
            <p:cNvPr id="12" name="Picture 11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6860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5135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6" name="Rectangle 5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7892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6" indent="0">
              <a:buNone/>
              <a:defRPr sz="1400"/>
            </a:lvl2pPr>
            <a:lvl3pPr marL="914352" indent="0">
              <a:buNone/>
              <a:defRPr sz="1200"/>
            </a:lvl3pPr>
            <a:lvl4pPr marL="1371528" indent="0">
              <a:buNone/>
              <a:defRPr sz="1000"/>
            </a:lvl4pPr>
            <a:lvl5pPr marL="1828703" indent="0">
              <a:buNone/>
              <a:defRPr sz="1000"/>
            </a:lvl5pPr>
            <a:lvl6pPr marL="2285879" indent="0">
              <a:buNone/>
              <a:defRPr sz="1000"/>
            </a:lvl6pPr>
            <a:lvl7pPr marL="2743055" indent="0">
              <a:buNone/>
              <a:defRPr sz="1000"/>
            </a:lvl7pPr>
            <a:lvl8pPr marL="3200231" indent="0">
              <a:buNone/>
              <a:defRPr sz="1000"/>
            </a:lvl8pPr>
            <a:lvl9pPr marL="365740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9" name="Rectangle 8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18608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6" indent="0">
              <a:buNone/>
              <a:defRPr sz="2800"/>
            </a:lvl2pPr>
            <a:lvl3pPr marL="914352" indent="0">
              <a:buNone/>
              <a:defRPr sz="2400"/>
            </a:lvl3pPr>
            <a:lvl4pPr marL="1371528" indent="0">
              <a:buNone/>
              <a:defRPr sz="2000"/>
            </a:lvl4pPr>
            <a:lvl5pPr marL="1828703" indent="0">
              <a:buNone/>
              <a:defRPr sz="2000"/>
            </a:lvl5pPr>
            <a:lvl6pPr marL="2285879" indent="0">
              <a:buNone/>
              <a:defRPr sz="2000"/>
            </a:lvl6pPr>
            <a:lvl7pPr marL="2743055" indent="0">
              <a:buNone/>
              <a:defRPr sz="2000"/>
            </a:lvl7pPr>
            <a:lvl8pPr marL="3200231" indent="0">
              <a:buNone/>
              <a:defRPr sz="2000"/>
            </a:lvl8pPr>
            <a:lvl9pPr marL="3657407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6" indent="0">
              <a:buNone/>
              <a:defRPr sz="1400"/>
            </a:lvl2pPr>
            <a:lvl3pPr marL="914352" indent="0">
              <a:buNone/>
              <a:defRPr sz="1200"/>
            </a:lvl3pPr>
            <a:lvl4pPr marL="1371528" indent="0">
              <a:buNone/>
              <a:defRPr sz="1000"/>
            </a:lvl4pPr>
            <a:lvl5pPr marL="1828703" indent="0">
              <a:buNone/>
              <a:defRPr sz="1000"/>
            </a:lvl5pPr>
            <a:lvl6pPr marL="2285879" indent="0">
              <a:buNone/>
              <a:defRPr sz="1000"/>
            </a:lvl6pPr>
            <a:lvl7pPr marL="2743055" indent="0">
              <a:buNone/>
              <a:defRPr sz="1000"/>
            </a:lvl7pPr>
            <a:lvl8pPr marL="3200231" indent="0">
              <a:buNone/>
              <a:defRPr sz="1000"/>
            </a:lvl8pPr>
            <a:lvl9pPr marL="365740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9" name="Rectangle 8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8616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6155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644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6588034"/>
            <a:ext cx="12200164" cy="278130"/>
            <a:chOff x="0" y="6588034"/>
            <a:chExt cx="12200164" cy="278130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6604907"/>
              <a:ext cx="12192000" cy="2530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00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514" y="6588034"/>
              <a:ext cx="1390650" cy="2781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6768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2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4" indent="-228588" algn="l" defTabSz="9143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0" indent="-228588" algn="l" defTabSz="9143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16" indent="-228588" algn="l" defTabSz="9143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1" indent="-228588" algn="l" defTabSz="9143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67" indent="-228588" algn="l" defTabSz="9143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3" indent="-228588" algn="l" defTabSz="9143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19" indent="-228588" algn="l" defTabSz="9143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95" indent="-228588" algn="l" defTabSz="91435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6" algn="l" defTabSz="9143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2" algn="l" defTabSz="9143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8" algn="l" defTabSz="9143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3" algn="l" defTabSz="9143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9" algn="l" defTabSz="9143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55" algn="l" defTabSz="9143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1" algn="l" defTabSz="9143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07" algn="l" defTabSz="91435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7263" y="2165684"/>
            <a:ext cx="9144000" cy="916489"/>
          </a:xfrm>
        </p:spPr>
        <p:txBody>
          <a:bodyPr/>
          <a:lstStyle/>
          <a:p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Unit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7263" y="3281196"/>
            <a:ext cx="9144000" cy="1655762"/>
          </a:xfrm>
        </p:spPr>
        <p:txBody>
          <a:bodyPr>
            <a:normAutofit/>
          </a:bodyPr>
          <a:lstStyle/>
          <a:p>
            <a:r>
              <a:rPr lang="en-GB" sz="3200" cap="all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Inflation and unemployment</a:t>
            </a:r>
          </a:p>
        </p:txBody>
      </p:sp>
    </p:spTree>
    <p:extLst>
      <p:ext uri="{BB962C8B-B14F-4D97-AF65-F5344CB8AC3E}">
        <p14:creationId xmlns:p14="http://schemas.microsoft.com/office/powerpoint/2010/main" val="928065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1462" y="1848584"/>
            <a:ext cx="10515600" cy="4029702"/>
          </a:xfrm>
        </p:spPr>
        <p:txBody>
          <a:bodyPr>
            <a:normAutofit/>
          </a:bodyPr>
          <a:lstStyle/>
          <a:p>
            <a:pPr marL="514323" indent="-514323">
              <a:buAutoNum type="alphaUcPeriod"/>
            </a:pPr>
            <a:endParaRPr lang="en-GB" sz="4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514323" indent="-514323">
              <a:buAutoNum type="alphaUcPeriod"/>
            </a:pPr>
            <a:r>
              <a:rPr lang="en-GB" sz="4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Introduction</a:t>
            </a:r>
          </a:p>
          <a:p>
            <a:pPr marL="514323" indent="-514323">
              <a:buAutoNum type="alphaUcPeriod"/>
            </a:pPr>
            <a:r>
              <a:rPr lang="en-GB" sz="4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is the problem with inflation?</a:t>
            </a:r>
          </a:p>
          <a:p>
            <a:pPr marL="514323" indent="-514323">
              <a:buAutoNum type="alphaUcPeriod"/>
            </a:pPr>
            <a:r>
              <a:rPr lang="en-GB" sz="4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Inflation and unemployment</a:t>
            </a:r>
          </a:p>
          <a:p>
            <a:pPr marL="514323" indent="-514323">
              <a:buAutoNum type="alphaUcPeriod"/>
            </a:pPr>
            <a:r>
              <a:rPr lang="en-GB" sz="4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Causes of inflation</a:t>
            </a:r>
          </a:p>
          <a:p>
            <a:pPr marL="0" indent="0">
              <a:buNone/>
            </a:pPr>
            <a:endParaRPr lang="en-GB" sz="4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514323" indent="-514323">
              <a:buAutoNum type="alphaUcPeriod"/>
            </a:pPr>
            <a:endParaRPr lang="en-GB" sz="4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5475" y="788737"/>
            <a:ext cx="25801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OUTLINE</a:t>
            </a:r>
            <a:endParaRPr lang="en-US" sz="4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716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454401" y="2299370"/>
            <a:ext cx="5072606" cy="1071359"/>
          </a:xfrm>
        </p:spPr>
        <p:txBody>
          <a:bodyPr>
            <a:noAutofit/>
          </a:bodyPr>
          <a:lstStyle/>
          <a:p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A. Introduction</a:t>
            </a:r>
          </a:p>
        </p:txBody>
      </p:sp>
    </p:spTree>
    <p:extLst>
      <p:ext uri="{BB962C8B-B14F-4D97-AF65-F5344CB8AC3E}">
        <p14:creationId xmlns:p14="http://schemas.microsoft.com/office/powerpoint/2010/main" val="1042263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5641"/>
          </a:xfrm>
        </p:spPr>
        <p:txBody>
          <a:bodyPr>
            <a:normAutofit/>
          </a:bodyPr>
          <a:lstStyle/>
          <a:p>
            <a:pPr algn="ctr"/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context for this unit</a:t>
            </a:r>
          </a:p>
        </p:txBody>
      </p:sp>
      <p:pic>
        <p:nvPicPr>
          <p:cNvPr id="4" name="Picture 3" descr="A graph of a number of years&#10;&#10;Description automatically generated">
            <a:extLst>
              <a:ext uri="{FF2B5EF4-FFF2-40B4-BE49-F238E27FC236}">
                <a16:creationId xmlns:a16="http://schemas.microsoft.com/office/drawing/2014/main" id="{F4A43E46-05F8-B995-663B-D2D8BF7B3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750" y="1300767"/>
            <a:ext cx="7302500" cy="494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574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B5A5C-C855-7EED-282F-2646B34AA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6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ZA" b="1"/>
              <a:t>Inflation in South Africa</a:t>
            </a:r>
          </a:p>
        </p:txBody>
      </p:sp>
      <p:pic>
        <p:nvPicPr>
          <p:cNvPr id="6" name="Picture 5" descr="A chart of food items&#10;&#10;AI-generated content may be incorrect.">
            <a:extLst>
              <a:ext uri="{FF2B5EF4-FFF2-40B4-BE49-F238E27FC236}">
                <a16:creationId xmlns:a16="http://schemas.microsoft.com/office/drawing/2014/main" id="{80D8E704-1F37-8E83-342A-E36347B6D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604" y="365126"/>
            <a:ext cx="5091021" cy="57639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E3EC00-37A4-ECC3-C7F1-2636341C3EF0}"/>
              </a:ext>
            </a:extLst>
          </p:cNvPr>
          <p:cNvSpPr txBox="1"/>
          <p:nvPr/>
        </p:nvSpPr>
        <p:spPr>
          <a:xfrm>
            <a:off x="655608" y="1690689"/>
            <a:ext cx="509102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400" dirty="0"/>
              <a:t>Where do you see the most inflation (in which products)?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18732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7612C-7542-4C0A-8CAA-D439C65A1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Inflation in South Africa – </a:t>
            </a:r>
            <a:r>
              <a:rPr lang="en-ZA" dirty="0" err="1"/>
              <a:t>Braaibroodjie</a:t>
            </a:r>
            <a:r>
              <a:rPr lang="en-ZA" dirty="0"/>
              <a:t>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F800C-B756-0BD6-838D-4F95A67C1B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414732"/>
            <a:ext cx="5181600" cy="476223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</a:t>
            </a:r>
            <a:r>
              <a:rPr lang="en-US" dirty="0" err="1"/>
              <a:t>Braaibroodjie</a:t>
            </a:r>
            <a:r>
              <a:rPr lang="en-US" dirty="0"/>
              <a:t> Index is an insightful measure of food inflation created by SA economist Johann Bierman, based on the cost of ingredients for a classic </a:t>
            </a:r>
            <a:r>
              <a:rPr lang="en-US" dirty="0" err="1"/>
              <a:t>braaibroodjie</a:t>
            </a:r>
            <a:r>
              <a:rPr lang="en-US" dirty="0"/>
              <a:t> (bread, cheese, tomato, onion, chutney, salt, pepper).</a:t>
            </a:r>
          </a:p>
          <a:p>
            <a:r>
              <a:rPr lang="en-US" dirty="0"/>
              <a:t>The index uses a familiar staple to track rising food prices, making inflation data relatable to everyday South Africans. </a:t>
            </a:r>
          </a:p>
          <a:p>
            <a:r>
              <a:rPr lang="en-US" dirty="0"/>
              <a:t>Inflation link: The </a:t>
            </a:r>
            <a:r>
              <a:rPr lang="en-US" dirty="0" err="1"/>
              <a:t>Braaibroodjie</a:t>
            </a:r>
            <a:r>
              <a:rPr lang="en-US" dirty="0"/>
              <a:t> Index can be compared with official food inflation and overall CPI inflation to show how specific food items experience different price pressures.</a:t>
            </a:r>
            <a:endParaRPr lang="en-ZA" dirty="0"/>
          </a:p>
        </p:txBody>
      </p:sp>
      <p:pic>
        <p:nvPicPr>
          <p:cNvPr id="7" name="Picture 6" descr="A graph showing the growth of the stock market&#10;&#10;AI-generated content may be incorrect.">
            <a:extLst>
              <a:ext uri="{FF2B5EF4-FFF2-40B4-BE49-F238E27FC236}">
                <a16:creationId xmlns:a16="http://schemas.microsoft.com/office/drawing/2014/main" id="{1ED65601-AE13-E971-82B6-E0050FF78B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543" y="1414732"/>
            <a:ext cx="6062457" cy="438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41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731658" y="613277"/>
            <a:ext cx="2554741" cy="801296"/>
          </a:xfrm>
        </p:spPr>
        <p:txBody>
          <a:bodyPr>
            <a:noAutofit/>
          </a:bodyPr>
          <a:lstStyle/>
          <a:p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696" y="1720409"/>
            <a:ext cx="1090060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76" indent="-457176">
              <a:buFont typeface="Arial"/>
              <a:buChar char="•"/>
            </a:pPr>
            <a:r>
              <a:rPr lang="en-US" sz="3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Discuss how consumer price inflation is measured and why inflation creates ‘winners’ and ‘losers’</a:t>
            </a:r>
          </a:p>
          <a:p>
            <a:pPr marL="457176" indent="-457176">
              <a:buFont typeface="Arial"/>
              <a:buChar char="•"/>
            </a:pP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457176" indent="-457176">
              <a:buFont typeface="Arial"/>
              <a:buChar char="•"/>
            </a:pPr>
            <a:r>
              <a:rPr lang="en-US" sz="3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Explain how the Phillips curve summarizes the relationship between unemployment and inflation</a:t>
            </a:r>
          </a:p>
          <a:p>
            <a:pPr marL="457176" indent="-457176">
              <a:buFont typeface="Arial"/>
              <a:buChar char="•"/>
            </a:pP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457176" indent="-457176">
              <a:buFont typeface="Arial"/>
              <a:buChar char="•"/>
            </a:pPr>
            <a:r>
              <a:rPr lang="en-US" sz="3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Describe the connections between the WS-PS model, inflation, and aggregate demand</a:t>
            </a:r>
          </a:p>
        </p:txBody>
      </p:sp>
    </p:spTree>
    <p:extLst>
      <p:ext uri="{BB962C8B-B14F-4D97-AF65-F5344CB8AC3E}">
        <p14:creationId xmlns:p14="http://schemas.microsoft.com/office/powerpoint/2010/main" val="1806954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76475" y="2893321"/>
            <a:ext cx="7639050" cy="1071359"/>
          </a:xfrm>
        </p:spPr>
        <p:txBody>
          <a:bodyPr>
            <a:noAutofit/>
          </a:bodyPr>
          <a:lstStyle/>
          <a:p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B. What is the problem with inflation?</a:t>
            </a:r>
          </a:p>
        </p:txBody>
      </p:sp>
    </p:spTree>
    <p:extLst>
      <p:ext uri="{BB962C8B-B14F-4D97-AF65-F5344CB8AC3E}">
        <p14:creationId xmlns:p14="http://schemas.microsoft.com/office/powerpoint/2010/main" val="35740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Measuring inflation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77ADC-60B1-043F-9813-412CB37E5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Inflation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is a general increase in prices across the economy. 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The commonly used ‘consumer price inflation’ is measured by the percentage increase in the cost of a representative basket of household goods and services, usually over a year.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The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consumer price index (CPI)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measures the general level of prices that consumers pay for goods and services, including consumption taxes. 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The basket of goods and services is chosen to reflect the spending of a typical household in the economy. For this reason, the change in the CPI, or CPI inflation, is often considered to measure changes in the ‘cost of living’.</a:t>
            </a:r>
            <a:endParaRPr lang="en-GB" sz="4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666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Consumer Price Index (CPI)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77ADC-60B1-043F-9813-412CB37E5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The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CPI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is based on what consumers actually buy. The goods and services in the basket are weighted according to the fraction of household spending they account for. The CPI excludes exports</a:t>
            </a:r>
            <a:r>
              <a:rPr lang="en-GB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but, </a:t>
            </a:r>
            <a:r>
              <a:rPr lang="en-GB" b="0" i="0" u="non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includes imports</a:t>
            </a:r>
            <a:endParaRPr lang="en-GB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 calculate the rate of inflation, there are three steps:</a:t>
            </a:r>
            <a:endParaRPr lang="en-GB" b="0" dirty="0"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 fontAlgn="base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GB" sz="28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Find the cost of the basket of goods,</a:t>
            </a:r>
          </a:p>
          <a:p>
            <a:pPr lvl="1" fontAlgn="base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GB" sz="28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Compute a price index such as the CPI,</a:t>
            </a:r>
          </a:p>
          <a:p>
            <a:pPr lvl="1" fontAlgn="base">
              <a:spcBef>
                <a:spcPts val="900"/>
              </a:spcBef>
              <a:spcAft>
                <a:spcPts val="900"/>
              </a:spcAft>
              <a:buFont typeface="+mj-lt"/>
              <a:buAutoNum type="arabicPeriod"/>
            </a:pPr>
            <a:r>
              <a:rPr lang="en-GB" sz="28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Use the CPI to calculate the inflation rate.</a:t>
            </a:r>
          </a:p>
          <a:p>
            <a:endParaRPr lang="en-GB" sz="4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387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Calculating the CPI: an example</a:t>
            </a: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937164E-1F90-D7B9-4AFF-2EFBFE3D0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35832"/>
              </p:ext>
            </p:extLst>
          </p:nvPr>
        </p:nvGraphicFramePr>
        <p:xfrm>
          <a:off x="1662360" y="1555777"/>
          <a:ext cx="8867280" cy="4781890"/>
        </p:xfrm>
        <a:graphic>
          <a:graphicData uri="http://schemas.openxmlformats.org/drawingml/2006/table">
            <a:tbl>
              <a:tblPr/>
              <a:tblGrid>
                <a:gridCol w="1252621">
                  <a:extLst>
                    <a:ext uri="{9D8B030D-6E8A-4147-A177-3AD203B41FA5}">
                      <a16:colId xmlns:a16="http://schemas.microsoft.com/office/drawing/2014/main" val="410598866"/>
                    </a:ext>
                  </a:extLst>
                </a:gridCol>
                <a:gridCol w="964199">
                  <a:extLst>
                    <a:ext uri="{9D8B030D-6E8A-4147-A177-3AD203B41FA5}">
                      <a16:colId xmlns:a16="http://schemas.microsoft.com/office/drawing/2014/main" val="319278152"/>
                    </a:ext>
                  </a:extLst>
                </a:gridCol>
                <a:gridCol w="1108410">
                  <a:extLst>
                    <a:ext uri="{9D8B030D-6E8A-4147-A177-3AD203B41FA5}">
                      <a16:colId xmlns:a16="http://schemas.microsoft.com/office/drawing/2014/main" val="143487145"/>
                    </a:ext>
                  </a:extLst>
                </a:gridCol>
                <a:gridCol w="1108410">
                  <a:extLst>
                    <a:ext uri="{9D8B030D-6E8A-4147-A177-3AD203B41FA5}">
                      <a16:colId xmlns:a16="http://schemas.microsoft.com/office/drawing/2014/main" val="3572611272"/>
                    </a:ext>
                  </a:extLst>
                </a:gridCol>
                <a:gridCol w="1108410">
                  <a:extLst>
                    <a:ext uri="{9D8B030D-6E8A-4147-A177-3AD203B41FA5}">
                      <a16:colId xmlns:a16="http://schemas.microsoft.com/office/drawing/2014/main" val="2530278007"/>
                    </a:ext>
                  </a:extLst>
                </a:gridCol>
                <a:gridCol w="1108410">
                  <a:extLst>
                    <a:ext uri="{9D8B030D-6E8A-4147-A177-3AD203B41FA5}">
                      <a16:colId xmlns:a16="http://schemas.microsoft.com/office/drawing/2014/main" val="3152564001"/>
                    </a:ext>
                  </a:extLst>
                </a:gridCol>
                <a:gridCol w="1108410">
                  <a:extLst>
                    <a:ext uri="{9D8B030D-6E8A-4147-A177-3AD203B41FA5}">
                      <a16:colId xmlns:a16="http://schemas.microsoft.com/office/drawing/2014/main" val="103665314"/>
                    </a:ext>
                  </a:extLst>
                </a:gridCol>
                <a:gridCol w="1108410">
                  <a:extLst>
                    <a:ext uri="{9D8B030D-6E8A-4147-A177-3AD203B41FA5}">
                      <a16:colId xmlns:a16="http://schemas.microsoft.com/office/drawing/2014/main" val="3755717746"/>
                    </a:ext>
                  </a:extLst>
                </a:gridCol>
              </a:tblGrid>
              <a:tr h="864139">
                <a:tc>
                  <a:txBody>
                    <a:bodyPr/>
                    <a:lstStyle/>
                    <a:p>
                      <a:pPr fontAlgn="t"/>
                      <a:br>
                        <a:rPr lang="en-GB" sz="24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</a:b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en-GB" sz="240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</a:br>
                      <a:endParaRPr lang="en-GB" sz="24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2020</a:t>
                      </a:r>
                      <a:endParaRPr lang="en-GB" sz="2400" b="1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2021</a:t>
                      </a:r>
                      <a:endParaRPr lang="en-GB" sz="2400" b="1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2022</a:t>
                      </a:r>
                      <a:endParaRPr lang="en-GB" sz="2400" b="1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64236"/>
                  </a:ext>
                </a:extLst>
              </a:tr>
              <a:tr h="59903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Good</a:t>
                      </a:r>
                      <a:endParaRPr lang="en-GB" sz="2400" b="1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Quantity</a:t>
                      </a:r>
                      <a:endParaRPr lang="en-GB" sz="24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Unit price</a:t>
                      </a:r>
                      <a:endParaRPr lang="en-GB" sz="24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cost</a:t>
                      </a:r>
                      <a:endParaRPr lang="en-GB" sz="24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Unit price</a:t>
                      </a:r>
                      <a:endParaRPr lang="en-GB" sz="24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cost</a:t>
                      </a:r>
                      <a:endParaRPr lang="en-GB" sz="24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Unit price</a:t>
                      </a:r>
                      <a:endParaRPr lang="en-GB" sz="24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900"/>
                        </a:spcBef>
                        <a:spcAft>
                          <a:spcPts val="90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cost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489114"/>
                  </a:ext>
                </a:extLst>
              </a:tr>
              <a:tr h="59903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Bags of rice</a:t>
                      </a:r>
                      <a:endParaRPr lang="en-GB" sz="2400" b="1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</a:t>
                      </a:r>
                      <a:endParaRPr lang="en-GB" sz="24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R10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R20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R12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R24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R13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R26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370638"/>
                  </a:ext>
                </a:extLst>
              </a:tr>
              <a:tr h="61468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Pieces of chicken</a:t>
                      </a:r>
                      <a:endParaRPr lang="en-GB" sz="2400" b="1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5</a:t>
                      </a:r>
                      <a:endParaRPr lang="en-GB" sz="24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R3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R15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R5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R25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R8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R40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0035936"/>
                  </a:ext>
                </a:extLst>
              </a:tr>
              <a:tr h="376715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Carrots</a:t>
                      </a:r>
                      <a:endParaRPr lang="en-GB" sz="2400" b="1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20</a:t>
                      </a:r>
                      <a:endParaRPr lang="en-GB" sz="24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R0.50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R10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R0.75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R15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R1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R20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54789"/>
                  </a:ext>
                </a:extLst>
              </a:tr>
              <a:tr h="864139">
                <a:tc>
                  <a:txBody>
                    <a:bodyPr/>
                    <a:lstStyle/>
                    <a:p>
                      <a:pPr fontAlgn="t"/>
                      <a:br>
                        <a:rPr lang="en-GB" sz="2400" b="1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</a:br>
                      <a:endParaRPr lang="en-GB" sz="2400" b="1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en-GB" sz="240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</a:br>
                      <a:endParaRPr lang="en-GB" sz="24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en-GB" sz="240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</a:br>
                      <a:endParaRPr lang="en-GB" sz="24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en-GB" sz="240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</a:br>
                      <a:endParaRPr lang="en-GB" sz="24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en-GB" sz="24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</a:b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en-GB" sz="240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</a:br>
                      <a:endParaRPr lang="en-GB" sz="24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en-GB" sz="240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</a:br>
                      <a:endParaRPr lang="en-GB" sz="24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en-GB" sz="24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</a:b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9939276"/>
                  </a:ext>
                </a:extLst>
              </a:tr>
              <a:tr h="86413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Cost of basket</a:t>
                      </a:r>
                      <a:endParaRPr lang="en-GB" sz="2400" b="1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en-GB" sz="240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</a:br>
                      <a:endParaRPr lang="en-GB" sz="24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en-GB" sz="240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</a:br>
                      <a:endParaRPr lang="en-GB" sz="24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R45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en-GB" sz="240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</a:br>
                      <a:endParaRPr lang="en-GB" sz="24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R64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en-GB" sz="240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</a:br>
                      <a:endParaRPr lang="en-GB" sz="24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R86</a:t>
                      </a:r>
                      <a:endParaRPr lang="en-GB" sz="24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889408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12944CC1-42A1-EDA9-13E1-C6B1E1D58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7863" y="21378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383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Calculating the CPI: an example</a:t>
            </a: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2944CC1-42A1-EDA9-13E1-C6B1E1D58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7863" y="21378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D50026D-6F56-076D-572C-37810D379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809" y="1438579"/>
            <a:ext cx="7348379" cy="759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1EE76E4-27FA-6C13-DA38-759E0C059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458939"/>
              </p:ext>
            </p:extLst>
          </p:nvPr>
        </p:nvGraphicFramePr>
        <p:xfrm>
          <a:off x="2580304" y="2275688"/>
          <a:ext cx="6960740" cy="3040186"/>
        </p:xfrm>
        <a:graphic>
          <a:graphicData uri="http://schemas.openxmlformats.org/drawingml/2006/table">
            <a:tbl>
              <a:tblPr/>
              <a:tblGrid>
                <a:gridCol w="1740185">
                  <a:extLst>
                    <a:ext uri="{9D8B030D-6E8A-4147-A177-3AD203B41FA5}">
                      <a16:colId xmlns:a16="http://schemas.microsoft.com/office/drawing/2014/main" val="1146878312"/>
                    </a:ext>
                  </a:extLst>
                </a:gridCol>
                <a:gridCol w="1740185">
                  <a:extLst>
                    <a:ext uri="{9D8B030D-6E8A-4147-A177-3AD203B41FA5}">
                      <a16:colId xmlns:a16="http://schemas.microsoft.com/office/drawing/2014/main" val="2891198156"/>
                    </a:ext>
                  </a:extLst>
                </a:gridCol>
                <a:gridCol w="1740185">
                  <a:extLst>
                    <a:ext uri="{9D8B030D-6E8A-4147-A177-3AD203B41FA5}">
                      <a16:colId xmlns:a16="http://schemas.microsoft.com/office/drawing/2014/main" val="3264799429"/>
                    </a:ext>
                  </a:extLst>
                </a:gridCol>
                <a:gridCol w="1740185">
                  <a:extLst>
                    <a:ext uri="{9D8B030D-6E8A-4147-A177-3AD203B41FA5}">
                      <a16:colId xmlns:a16="http://schemas.microsoft.com/office/drawing/2014/main" val="2380586141"/>
                    </a:ext>
                  </a:extLst>
                </a:gridCol>
              </a:tblGrid>
              <a:tr h="1104138">
                <a:tc>
                  <a:txBody>
                    <a:bodyPr/>
                    <a:lstStyle/>
                    <a:p>
                      <a:pPr fontAlgn="t"/>
                      <a:br>
                        <a:rPr lang="en-GB" sz="3200" dirty="0"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</a:br>
                      <a:endParaRPr lang="en-GB" sz="32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2020</a:t>
                      </a:r>
                      <a:endParaRPr lang="en-GB" sz="3200" b="1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2021</a:t>
                      </a:r>
                      <a:endParaRPr lang="en-GB" sz="3200" b="1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2022</a:t>
                      </a:r>
                      <a:endParaRPr lang="en-GB" sz="3200" b="1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241058"/>
                  </a:ext>
                </a:extLst>
              </a:tr>
              <a:tr h="44166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Basket price</a:t>
                      </a:r>
                      <a:endParaRPr lang="en-GB" sz="3200" b="1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R45</a:t>
                      </a:r>
                      <a:endParaRPr lang="en-GB" sz="32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R64</a:t>
                      </a:r>
                      <a:endParaRPr lang="en-GB" sz="32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R86</a:t>
                      </a:r>
                      <a:endParaRPr lang="en-GB" sz="32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3773867"/>
                  </a:ext>
                </a:extLst>
              </a:tr>
              <a:tr h="105271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Basket price in base year (2020)</a:t>
                      </a:r>
                      <a:endParaRPr lang="en-GB" sz="3200" b="1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R45</a:t>
                      </a:r>
                      <a:endParaRPr lang="en-GB" sz="32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R45</a:t>
                      </a:r>
                      <a:endParaRPr lang="en-GB" sz="32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R45</a:t>
                      </a:r>
                      <a:endParaRPr lang="en-GB" sz="32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592595"/>
                  </a:ext>
                </a:extLst>
              </a:tr>
              <a:tr h="441669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CPI</a:t>
                      </a:r>
                      <a:endParaRPr lang="en-GB" sz="3200" b="1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100</a:t>
                      </a:r>
                      <a:endParaRPr lang="en-GB" sz="32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142.22</a:t>
                      </a:r>
                      <a:endParaRPr lang="en-GB" sz="320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191.11</a:t>
                      </a:r>
                      <a:endParaRPr lang="en-GB" sz="3200" dirty="0"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98169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46F5FAC-219F-4F0F-A4DA-DC04C896F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7863" y="31506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3077" name="Picture 5">
            <a:extLst>
              <a:ext uri="{FF2B5EF4-FFF2-40B4-BE49-F238E27FC236}">
                <a16:creationId xmlns:a16="http://schemas.microsoft.com/office/drawing/2014/main" id="{567BB3E3-CE43-B590-BD28-6AA463022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1358" y="5496175"/>
            <a:ext cx="5269285" cy="1060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8837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1D6BF-B9F1-103E-D5E5-A001DD74B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61" y="-65508"/>
            <a:ext cx="10515600" cy="1325563"/>
          </a:xfrm>
        </p:spPr>
        <p:txBody>
          <a:bodyPr/>
          <a:lstStyle/>
          <a:p>
            <a:r>
              <a:rPr lang="en-ZA" dirty="0"/>
              <a:t>South Africa’s CPI</a:t>
            </a:r>
          </a:p>
        </p:txBody>
      </p:sp>
      <p:pic>
        <p:nvPicPr>
          <p:cNvPr id="5" name="Content Placeholder 4" descr="A screenshot of a table&#10;&#10;AI-generated content may be incorrect.">
            <a:extLst>
              <a:ext uri="{FF2B5EF4-FFF2-40B4-BE49-F238E27FC236}">
                <a16:creationId xmlns:a16="http://schemas.microsoft.com/office/drawing/2014/main" id="{A884C4F7-05C8-90AD-68EF-13A23A6F88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99" y="994611"/>
            <a:ext cx="10463102" cy="5182352"/>
          </a:xfrm>
        </p:spPr>
      </p:pic>
    </p:spTree>
    <p:extLst>
      <p:ext uri="{BB962C8B-B14F-4D97-AF65-F5344CB8AC3E}">
        <p14:creationId xmlns:p14="http://schemas.microsoft.com/office/powerpoint/2010/main" val="2315355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F238E-BC98-E966-5F90-F030DF62A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Class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26C63-D056-D35F-5215-877ACF586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ZA" dirty="0"/>
              <a:t>Which of the following statements is CORRECT based on South Africa’s CPI? Answers are rounded to two decimals.</a:t>
            </a:r>
          </a:p>
          <a:p>
            <a:pPr marL="0" indent="0">
              <a:buNone/>
            </a:pPr>
            <a:r>
              <a:rPr lang="en-ZA" dirty="0"/>
              <a:t>a) South Africa experienced year-on-year deflation November 2024. </a:t>
            </a:r>
          </a:p>
          <a:p>
            <a:pPr marL="0" indent="0">
              <a:buNone/>
            </a:pPr>
            <a:r>
              <a:rPr lang="en-ZA" dirty="0"/>
              <a:t>b) South Africa experienced year-on-year deflation March 2022.</a:t>
            </a:r>
          </a:p>
          <a:p>
            <a:pPr marL="0" indent="0">
              <a:buNone/>
            </a:pPr>
            <a:r>
              <a:rPr lang="en-ZA" dirty="0"/>
              <a:t>c) Month-on-month inflation for February 2024 was 0.93 %</a:t>
            </a:r>
          </a:p>
          <a:p>
            <a:pPr marL="0" indent="0">
              <a:buNone/>
            </a:pPr>
            <a:r>
              <a:rPr lang="en-ZA" dirty="0"/>
              <a:t>d) Month-on-month inflation for February 2024 was 5.6% 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970912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table&#10;&#10;AI-generated content may be incorrect.">
            <a:extLst>
              <a:ext uri="{FF2B5EF4-FFF2-40B4-BE49-F238E27FC236}">
                <a16:creationId xmlns:a16="http://schemas.microsoft.com/office/drawing/2014/main" id="{63BB9E0B-7127-2CDA-2E6F-E2953B2062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9" y="1074834"/>
            <a:ext cx="11974883" cy="535862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369186B-EBBB-03A1-74D5-2D82B5D2B9EA}"/>
              </a:ext>
            </a:extLst>
          </p:cNvPr>
          <p:cNvSpPr txBox="1">
            <a:spLocks/>
          </p:cNvSpPr>
          <p:nvPr/>
        </p:nvSpPr>
        <p:spPr>
          <a:xfrm>
            <a:off x="169291" y="62463"/>
            <a:ext cx="10515600" cy="767637"/>
          </a:xfrm>
          <a:prstGeom prst="rect">
            <a:avLst/>
          </a:prstGeom>
        </p:spPr>
        <p:txBody>
          <a:bodyPr/>
          <a:lstStyle>
            <a:lvl1pPr algn="l" defTabSz="91435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u="none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dirty="0"/>
              <a:t>South Africa’s CPI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9979D98-CE2A-41CF-35A1-AEE733663165}"/>
              </a:ext>
            </a:extLst>
          </p:cNvPr>
          <p:cNvSpPr/>
          <p:nvPr/>
        </p:nvSpPr>
        <p:spPr>
          <a:xfrm>
            <a:off x="2667562" y="1583872"/>
            <a:ext cx="2759529" cy="767443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00869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GDP deflator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77ADC-60B1-043F-9813-412CB37E5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The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GDP deflator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is a price index like the CPI, but it tracks the change in prices of all domestically produced final goods and services. 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Instead of a basket of goods and services that a consumer buys, the GDP deflator tracks the price changes of the components of domestic GDP, that is, of </a:t>
            </a:r>
            <a:r>
              <a:rPr lang="en-GB" b="0" i="1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C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+ </a:t>
            </a:r>
            <a:r>
              <a:rPr lang="en-GB" b="0" i="1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+ </a:t>
            </a:r>
            <a:r>
              <a:rPr lang="en-GB" b="0" i="1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+ </a:t>
            </a:r>
            <a:r>
              <a:rPr lang="en-GB" b="0" i="1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X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– </a:t>
            </a:r>
            <a:r>
              <a:rPr lang="en-GB" b="0" i="1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M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. </a:t>
            </a:r>
          </a:p>
          <a:p>
            <a:pPr lvl="1"/>
            <a:r>
              <a:rPr lang="en-GB" b="0" i="0" u="non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It includes exports, but excludes imports.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The GDP deflator can also be expressed as the ratio of nominal (or current price) GDP to real (or constant price) GDP. 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The GDP deflator series is most commonly used to transform a nominal GDP series into a real GDP series.</a:t>
            </a:r>
            <a:endParaRPr lang="en-GB" sz="5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255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Changes in the price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77ADC-60B1-043F-9813-412CB37E5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spcBef>
                <a:spcPts val="180"/>
              </a:spcBef>
              <a:spcAft>
                <a:spcPts val="180"/>
              </a:spcAft>
            </a:pPr>
            <a:endParaRPr lang="en-GB" sz="3200" b="1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fontAlgn="base">
              <a:spcBef>
                <a:spcPts val="180"/>
              </a:spcBef>
              <a:spcAft>
                <a:spcPts val="180"/>
              </a:spcAft>
            </a:pPr>
            <a:r>
              <a:rPr lang="en-GB" sz="32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Inflation</a:t>
            </a:r>
            <a:r>
              <a:rPr lang="en-GB" sz="32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The price level is rising (positive CPI change).</a:t>
            </a:r>
          </a:p>
          <a:p>
            <a:pPr fontAlgn="base">
              <a:spcBef>
                <a:spcPts val="180"/>
              </a:spcBef>
              <a:spcAft>
                <a:spcPts val="180"/>
              </a:spcAft>
            </a:pPr>
            <a:endParaRPr lang="en-GB" sz="3200" b="1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fontAlgn="base">
              <a:spcBef>
                <a:spcPts val="180"/>
              </a:spcBef>
              <a:spcAft>
                <a:spcPts val="180"/>
              </a:spcAft>
            </a:pPr>
            <a:r>
              <a:rPr lang="en-GB" sz="32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Deflation</a:t>
            </a:r>
            <a:r>
              <a:rPr lang="en-GB" sz="32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The price level is falling (negative CPI change).</a:t>
            </a:r>
          </a:p>
          <a:p>
            <a:endParaRPr lang="en-GB" sz="3200" b="1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32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Disinflation</a:t>
            </a:r>
            <a:r>
              <a:rPr lang="en-GB" sz="32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The </a:t>
            </a:r>
            <a:r>
              <a:rPr lang="en-GB" sz="3200" i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inflation rate</a:t>
            </a:r>
            <a:r>
              <a:rPr lang="en-GB" sz="32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is falling (scale of positive CPI change reducing).</a:t>
            </a:r>
            <a:endParaRPr lang="en-GB" sz="8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437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What’s wrong with inflation?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77ADC-60B1-043F-9813-412CB37E5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328468"/>
            <a:ext cx="10515600" cy="5164406"/>
          </a:xfrm>
        </p:spPr>
        <p:txBody>
          <a:bodyPr>
            <a:normAutofit fontScale="92500" lnSpcReduction="20000"/>
          </a:bodyPr>
          <a:lstStyle/>
          <a:p>
            <a:pPr fontAlgn="base">
              <a:spcBef>
                <a:spcPts val="1200"/>
              </a:spcBef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Inflation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matters when it affects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real incomes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. </a:t>
            </a:r>
          </a:p>
          <a:p>
            <a:pPr fontAlgn="base">
              <a:spcBef>
                <a:spcPts val="1200"/>
              </a:spcBef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There are winners and losers from inflation, depending on what people consume; the source of their income (wages, profits, or transfers, for example); how quickly wages, benefits, and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interest rates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adjust to price increases; and whether a household is a net lender or borrower.</a:t>
            </a:r>
          </a:p>
          <a:p>
            <a:pPr fontAlgn="base">
              <a:spcBef>
                <a:spcPts val="1200"/>
              </a:spcBef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Winners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: Borrowers, people with flexible incomes.</a:t>
            </a:r>
          </a:p>
          <a:p>
            <a:pPr fontAlgn="base">
              <a:spcBef>
                <a:spcPts val="1200"/>
              </a:spcBef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Losers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: Savers, fixed income earners, pensioners</a:t>
            </a:r>
          </a:p>
          <a:p>
            <a:pPr fontAlgn="base">
              <a:spcBef>
                <a:spcPts val="1200"/>
              </a:spcBef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Why?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Inflation erodes the purchasing power of money.</a:t>
            </a:r>
            <a:endParaRPr lang="en-GB" b="0" i="0" u="none" strike="noStrike" dirty="0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fontAlgn="base">
              <a:spcBef>
                <a:spcPts val="1200"/>
              </a:spcBef>
            </a:pPr>
            <a:endParaRPr lang="en-GB" b="0" i="0" u="none" strike="noStrike" dirty="0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fontAlgn="base">
              <a:spcBef>
                <a:spcPts val="0"/>
              </a:spcBef>
              <a:spcAft>
                <a:spcPts val="1200"/>
              </a:spcAft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Moreover, inflation is costly even to those whose real incomes increase, because it makes future prices uncertain, exposing people to risks, which make them feel worse off.</a:t>
            </a:r>
          </a:p>
          <a:p>
            <a:pPr fontAlgn="base">
              <a:spcBef>
                <a:spcPts val="1200"/>
              </a:spcBef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However, a stable low level of inflation can be a good thing. </a:t>
            </a: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05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about deflation?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77ADC-60B1-043F-9813-412CB37E5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690689"/>
            <a:ext cx="10515600" cy="4351338"/>
          </a:xfrm>
        </p:spPr>
        <p:txBody>
          <a:bodyPr>
            <a:noAutofit/>
          </a:bodyPr>
          <a:lstStyle/>
          <a:p>
            <a:pPr fontAlgn="base">
              <a:spcBef>
                <a:spcPts val="1200"/>
              </a:spcBef>
            </a:pPr>
            <a:r>
              <a:rPr lang="en-GB" sz="30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 sustained fall in the price level is undesirable for many of the same reasons that </a:t>
            </a:r>
            <a:r>
              <a:rPr lang="en-GB" sz="30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inflation</a:t>
            </a:r>
            <a:r>
              <a:rPr lang="en-GB" sz="30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is undesirable. And there are other problems as well.</a:t>
            </a:r>
          </a:p>
          <a:p>
            <a:pPr fontAlgn="base">
              <a:spcBef>
                <a:spcPts val="1200"/>
              </a:spcBef>
            </a:pPr>
            <a:r>
              <a:rPr lang="en-GB" sz="30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When prices are falling, households will postpone </a:t>
            </a:r>
            <a:r>
              <a:rPr lang="en-GB" sz="30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consumption</a:t>
            </a:r>
            <a:r>
              <a:rPr lang="en-GB" sz="30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(particularly of expensive items such as fridges, screens, and cars) because they expect goods will be cheaper in the future. </a:t>
            </a:r>
          </a:p>
          <a:p>
            <a:pPr fontAlgn="base">
              <a:spcBef>
                <a:spcPts val="1200"/>
              </a:spcBef>
            </a:pPr>
            <a:r>
              <a:rPr lang="en-GB" sz="30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 prolonged </a:t>
            </a:r>
            <a:r>
              <a:rPr lang="en-GB" sz="30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recession</a:t>
            </a:r>
            <a:r>
              <a:rPr lang="en-GB" sz="30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caused by weak </a:t>
            </a:r>
            <a:r>
              <a:rPr lang="en-GB" sz="30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aggregate demand </a:t>
            </a:r>
            <a:r>
              <a:rPr lang="en-GB" sz="30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is a likely cause of deflation. This would be exacerbated if spending decisions are postponed.</a:t>
            </a: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586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26169" y="2786608"/>
            <a:ext cx="10539663" cy="1284784"/>
          </a:xfrm>
        </p:spPr>
        <p:txBody>
          <a:bodyPr>
            <a:noAutofit/>
          </a:bodyPr>
          <a:lstStyle/>
          <a:p>
            <a:pPr algn="ctr"/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C. Inflation and unemployment</a:t>
            </a:r>
          </a:p>
        </p:txBody>
      </p:sp>
    </p:spTree>
    <p:extLst>
      <p:ext uri="{BB962C8B-B14F-4D97-AF65-F5344CB8AC3E}">
        <p14:creationId xmlns:p14="http://schemas.microsoft.com/office/powerpoint/2010/main" val="35740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Inflation and unemployment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C750B-818A-5D3B-CB02-9293B2438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55777"/>
            <a:ext cx="10734207" cy="4802186"/>
          </a:xfrm>
        </p:spPr>
        <p:txBody>
          <a:bodyPr>
            <a:normAutofit fontScale="92500"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At the heart of the process of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inflation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is the conflict of interest between workers and owners over the share of output per worker each group gets—the wage share and the profit share. 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 the WS–PS model the conflict is resolved at a particular level of employment on the horizontal axis where the WS curve and the PS curve intersect. The unemployment rate associated with this intersection is the economy’s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structural unemployment rate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. 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 the right of the intersection, where employment is higher, unemployment is lower than the structural rate and wages and prices tend to rise; and on the left, where unemployment is higher, they tend to fall. 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This provides the intuition behind the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Phillips curve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, which relates the unemployment rate to the </a:t>
            </a:r>
            <a:r>
              <a:rPr lang="en-GB" b="0" i="1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rate of inflation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  <a:endParaRPr lang="en-GB" sz="4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9530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reminder about firms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C750B-818A-5D3B-CB02-9293B2438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4"/>
            <a:ext cx="10515600" cy="4821224"/>
          </a:xfrm>
        </p:spPr>
        <p:txBody>
          <a:bodyPr>
            <a:normAutofit lnSpcReduction="10000"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Suppose we have an economy composed of many identical firms (each of which is owned by a single individual) and their employees, who are also the consumers of the goods produced by the firms. 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The </a:t>
            </a:r>
            <a:r>
              <a:rPr lang="en-GB" sz="24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HR department </a:t>
            </a: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 each firm sets the </a:t>
            </a:r>
            <a:r>
              <a:rPr lang="en-GB" sz="24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nominal wage </a:t>
            </a: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for its workers at the level required to recruit sufficient workers and motivate them to work hard—the ‘no-shirking’ wage. When divided by the price level in the economy to get the wage in terms of what can be purchased, this is the </a:t>
            </a:r>
            <a:r>
              <a:rPr lang="en-GB" sz="24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real wage </a:t>
            </a: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on the WS curve at the prevailing unemployment rate in the economy.</a:t>
            </a:r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The </a:t>
            </a:r>
            <a:r>
              <a:rPr lang="en-GB" sz="24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marketing department </a:t>
            </a: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 each firm sets its price as a markup over its marginal cost to maximize its profits, given the degree of competition in the markets in which it sells. The outcome of the price-setting process across the economy can be expressed as a ratio of the nominal wage to the price set. This is the </a:t>
            </a:r>
            <a:r>
              <a:rPr lang="en-GB" sz="24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price-setting real wage</a:t>
            </a: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  <a:endParaRPr lang="en-GB" sz="4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795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dirty="0">
                <a:latin typeface="+mn-lt"/>
              </a:rPr>
              <a:t>Supply-side equilibrium</a:t>
            </a: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4" name="Picture 3" descr="A diagram of a graph&#10;&#10;Description automatically generated">
            <a:extLst>
              <a:ext uri="{FF2B5EF4-FFF2-40B4-BE49-F238E27FC236}">
                <a16:creationId xmlns:a16="http://schemas.microsoft.com/office/drawing/2014/main" id="{171AB6BA-CCBE-2050-6E12-CEEFC62F24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628" y="1482152"/>
            <a:ext cx="7788743" cy="481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431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AD, inflation and unemployment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75F75-C89D-1F45-742A-B3401977C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3395"/>
            <a:ext cx="10515600" cy="2491581"/>
          </a:xfrm>
        </p:spPr>
        <p:txBody>
          <a:bodyPr>
            <a:normAutofit/>
          </a:bodyPr>
          <a:lstStyle/>
          <a:p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The </a:t>
            </a:r>
            <a:r>
              <a:rPr lang="en-GB" sz="24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production function</a:t>
            </a: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—the relationship between output and the inputs used to produce it is:</a:t>
            </a:r>
          </a:p>
          <a:p>
            <a:pPr marL="0" indent="0" algn="ctr">
              <a:buNone/>
            </a:pPr>
            <a:r>
              <a:rPr lang="en-GB" sz="3200" dirty="0">
                <a:solidFill>
                  <a:srgbClr val="423F43"/>
                </a:solidFill>
                <a:highlight>
                  <a:srgbClr val="FFFFFF"/>
                </a:highlight>
                <a:latin typeface="Source Sans Pro" panose="020B0503030403020204" pitchFamily="34" charset="0"/>
                <a:ea typeface="Source Sans Pro" panose="020B0503030403020204" pitchFamily="34" charset="0"/>
              </a:rPr>
              <a:t>𝑌=𝜆𝑁</a:t>
            </a:r>
            <a:endParaRPr lang="en-GB" sz="240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So, in our simple model, output and employment are directly proportional to each other; when output rises, employment rises in proportion, and unemployment falls.</a:t>
            </a:r>
            <a:endParaRPr lang="en-GB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C19A606-397D-331B-DCA8-523D6DF57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933" y="4197286"/>
            <a:ext cx="9062787" cy="2175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3116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Deriving the Phillips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75F75-C89D-1F45-742A-B3401977C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4310480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 understand how inflation comes about in a business cycle upswing, we begin with the economy at the supply-side equilibrium and with constant prices and wages: </a:t>
            </a:r>
            <a:r>
              <a:rPr lang="en-GB" sz="3200" u="sng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inflation is zero</a:t>
            </a:r>
            <a:r>
              <a:rPr lang="en-GB" sz="32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endParaRPr lang="en-GB" sz="320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32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To simplify the calculations, we use an index for the real wage: it is equal to 100 in the initial equilibrium. Then, a rise in aggregate demand reduces unemployment. </a:t>
            </a: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522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graph of a graph of a graph of a graph of a graph of a graph of a graph of a graph of a graph of a graph of a graph of a graph of&#10;&#10;Description automatically generated">
            <a:extLst>
              <a:ext uri="{FF2B5EF4-FFF2-40B4-BE49-F238E27FC236}">
                <a16:creationId xmlns:a16="http://schemas.microsoft.com/office/drawing/2014/main" id="{B3531A84-23EA-11D5-D4F6-D0504E8C68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998" y="1320186"/>
            <a:ext cx="4502608" cy="51726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20610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Deriving the Phillips curve</a:t>
            </a: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5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FBA963F5-83AF-C3AC-DB15-926C33C8592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8"/>
          <a:stretch/>
        </p:blipFill>
        <p:spPr>
          <a:xfrm>
            <a:off x="6096000" y="1386447"/>
            <a:ext cx="4502609" cy="510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713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9FD58-0543-4F77-AC17-1A71C7B37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4800" dirty="0"/>
              <a:t>The Phillips Curve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BE80D-A257-A9B8-F9B2-46F8BFC6C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Shows the inverse relationship between unemployment and inflation.</a:t>
            </a:r>
          </a:p>
          <a:p>
            <a:r>
              <a:rPr lang="en-US" sz="3200" dirty="0"/>
              <a:t>Low unemployment → Higher wages → Firms increase prices → Higher inflation</a:t>
            </a:r>
          </a:p>
          <a:p>
            <a:r>
              <a:rPr lang="en-US" sz="3200" dirty="0"/>
              <a:t>High unemployment → Wage pressure drops → Lower inflation</a:t>
            </a:r>
            <a:endParaRPr lang="en-ZA" sz="3200" dirty="0"/>
          </a:p>
        </p:txBody>
      </p:sp>
    </p:spTree>
    <p:extLst>
      <p:ext uri="{BB962C8B-B14F-4D97-AF65-F5344CB8AC3E}">
        <p14:creationId xmlns:p14="http://schemas.microsoft.com/office/powerpoint/2010/main" val="41954566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Bargaining gaps and inflation</a:t>
            </a: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375C851E-CB87-BAAC-8ACD-33188688D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55812"/>
            <a:ext cx="10697654" cy="867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49472B9-BFBA-C298-3E32-78E187121E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0887" y="3429000"/>
            <a:ext cx="8870226" cy="230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1316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Expected inflation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E86F8-D0A8-4EBE-DD34-B5DC1DB26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GB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ouseholds care about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wages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and firms care about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profits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in real terms and consider two points:</a:t>
            </a:r>
            <a:endParaRPr lang="en-GB" b="0" dirty="0"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fontAlgn="base">
              <a:spcBef>
                <a:spcPts val="180"/>
              </a:spcBef>
              <a:spcAft>
                <a:spcPts val="180"/>
              </a:spcAft>
            </a:pPr>
            <a:r>
              <a:rPr lang="en-GB" b="0" i="1" u="sng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People are forward-looking</a:t>
            </a:r>
            <a:r>
              <a:rPr lang="en-GB" b="0" i="1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They take actions now in anticipation of things they expect to happen. To stress this, economists say that ‘expectations matter’.</a:t>
            </a:r>
          </a:p>
          <a:p>
            <a:pPr fontAlgn="base">
              <a:spcBef>
                <a:spcPts val="180"/>
              </a:spcBef>
              <a:spcAft>
                <a:spcPts val="180"/>
              </a:spcAft>
            </a:pPr>
            <a:r>
              <a:rPr lang="en-GB" b="0" i="1" u="sng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People treat prices as messages</a:t>
            </a:r>
            <a:r>
              <a:rPr lang="en-GB" b="0" i="1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People treat changes in prices as messages about what will happen in the future, just as people treat a build-up of clouds as a prediction of rain.</a:t>
            </a:r>
          </a:p>
          <a:p>
            <a:pPr marL="0" indent="0">
              <a:spcBef>
                <a:spcPts val="180"/>
              </a:spcBef>
              <a:spcAft>
                <a:spcPts val="180"/>
              </a:spcAft>
              <a:buNone/>
            </a:pPr>
            <a:br>
              <a:rPr lang="en-GB" b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The way that people expect inflation to behave will depend on how they make forward-looking decisions and how they interpret price messages. </a:t>
            </a:r>
            <a:endParaRPr lang="en-GB" b="0" dirty="0"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8795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Expected inflation</a:t>
            </a: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BFAB556-3408-C6C9-AD6C-EB1AF5791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5757" y="2055813"/>
            <a:ext cx="7280850" cy="59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graph of a graph of a graph of a graph of a graph of a graph of a graph of a graph of a graph of a graph of a graph of a graph of a graph of&#10;&#10;Description automatically generated">
            <a:extLst>
              <a:ext uri="{FF2B5EF4-FFF2-40B4-BE49-F238E27FC236}">
                <a16:creationId xmlns:a16="http://schemas.microsoft.com/office/drawing/2014/main" id="{A7C0C94B-E4BE-7281-9CA2-1F1AD83DDF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75" y="1411620"/>
            <a:ext cx="4421779" cy="5043219"/>
          </a:xfrm>
          <a:prstGeom prst="rect">
            <a:avLst/>
          </a:prstGeom>
        </p:spPr>
      </p:pic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93B5284C-2767-165D-DA9B-FD2BE856F8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169" y="3644900"/>
            <a:ext cx="7254831" cy="190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1895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A47DF623-DE07-9402-E16F-84BA537530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7664" y="1772334"/>
            <a:ext cx="5854700" cy="1879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365126"/>
            <a:ext cx="113538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Expected inflation and the shifting Phillips curve</a:t>
            </a: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356005B-D897-7BC6-39A4-CAF064FB9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14" y="2106939"/>
            <a:ext cx="6045200" cy="135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table with percentages&#10;&#10;Description automatically generated">
            <a:extLst>
              <a:ext uri="{FF2B5EF4-FFF2-40B4-BE49-F238E27FC236}">
                <a16:creationId xmlns:a16="http://schemas.microsoft.com/office/drawing/2014/main" id="{4CEA5D7D-FC9F-51B0-AFC7-E6CF4E7D073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64"/>
          <a:stretch/>
        </p:blipFill>
        <p:spPr>
          <a:xfrm>
            <a:off x="2553272" y="3711063"/>
            <a:ext cx="7085456" cy="278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3629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the cost of a job&#10;&#10;Description automatically generated with medium confidence">
            <a:extLst>
              <a:ext uri="{FF2B5EF4-FFF2-40B4-BE49-F238E27FC236}">
                <a16:creationId xmlns:a16="http://schemas.microsoft.com/office/drawing/2014/main" id="{795E1A57-8F17-AB0F-98B1-D196DD2EFF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645" y="1193883"/>
            <a:ext cx="5018044" cy="535197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85" y="115887"/>
            <a:ext cx="11408229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Expected inflation and the shifting Phillips curve</a:t>
            </a:r>
            <a:endParaRPr lang="en-GB" sz="4800" dirty="0">
              <a:latin typeface="+mn-lt"/>
            </a:endParaRPr>
          </a:p>
        </p:txBody>
      </p:sp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60422" name="Rectangle 6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6" name="Picture 5" descr="A graph of a graph of growth&#10;&#10;Description automatically generated with medium confidence">
            <a:extLst>
              <a:ext uri="{FF2B5EF4-FFF2-40B4-BE49-F238E27FC236}">
                <a16:creationId xmlns:a16="http://schemas.microsoft.com/office/drawing/2014/main" id="{2B0DDC18-BABE-58E2-E168-3D560EDFDC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79814"/>
            <a:ext cx="6041031" cy="417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1481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75E72-2357-B463-000B-445FA81D2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Expected inflation and the shifting Phillips curve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354F7-BFF4-9DBB-759B-433E54FD5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If expected inflation increases, the whole curve shifts up</a:t>
            </a:r>
          </a:p>
          <a:p>
            <a:r>
              <a:rPr lang="en-US" sz="3200" dirty="0"/>
              <a:t>Inflation today depends on:</a:t>
            </a:r>
          </a:p>
          <a:p>
            <a:pPr lvl="1"/>
            <a:r>
              <a:rPr lang="en-US" sz="2800" dirty="0"/>
              <a:t>Unemployment</a:t>
            </a:r>
          </a:p>
          <a:p>
            <a:pPr lvl="1"/>
            <a:r>
              <a:rPr lang="en-US" sz="2800" dirty="0"/>
              <a:t>Bargaining gap</a:t>
            </a:r>
          </a:p>
          <a:p>
            <a:pPr lvl="1"/>
            <a:r>
              <a:rPr lang="en-US" sz="2800" dirty="0"/>
              <a:t>Expected inflation</a:t>
            </a:r>
            <a:endParaRPr lang="en-ZA" sz="2800" dirty="0"/>
          </a:p>
        </p:txBody>
      </p:sp>
    </p:spTree>
    <p:extLst>
      <p:ext uri="{BB962C8B-B14F-4D97-AF65-F5344CB8AC3E}">
        <p14:creationId xmlns:p14="http://schemas.microsoft.com/office/powerpoint/2010/main" val="33872558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496308" y="2858788"/>
            <a:ext cx="7199384" cy="1140424"/>
          </a:xfrm>
        </p:spPr>
        <p:txBody>
          <a:bodyPr>
            <a:noAutofit/>
          </a:bodyPr>
          <a:lstStyle/>
          <a:p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D. Causes of inflation</a:t>
            </a:r>
          </a:p>
        </p:txBody>
      </p:sp>
    </p:spTree>
    <p:extLst>
      <p:ext uri="{BB962C8B-B14F-4D97-AF65-F5344CB8AC3E}">
        <p14:creationId xmlns:p14="http://schemas.microsoft.com/office/powerpoint/2010/main" val="32715009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32783-46EF-A50E-8DBC-9544FB4E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4656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business cycle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4A624-4763-1A6A-A207-BB12AD645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1357" y="1767458"/>
            <a:ext cx="509949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 allow us to draw the demand-side model underneath the supply-side model, we simplify further, assuming  </a:t>
            </a:r>
            <a:r>
              <a:rPr lang="el-GR" sz="2600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λ</a:t>
            </a:r>
            <a:r>
              <a:rPr lang="en-GB" sz="2600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= 1, and so </a:t>
            </a:r>
            <a:r>
              <a:rPr lang="en-GB" sz="2600" b="0" i="1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Y</a:t>
            </a:r>
            <a:r>
              <a:rPr lang="en-GB" sz="2600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= </a:t>
            </a:r>
            <a:r>
              <a:rPr lang="en-GB" sz="2600" b="0" i="1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N</a:t>
            </a:r>
            <a:r>
              <a:rPr lang="en-GB" sz="2600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. </a:t>
            </a:r>
            <a:endParaRPr lang="en-GB" sz="2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EECC75D3-752A-CAC7-20B4-15E448FF3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95" y="1180215"/>
            <a:ext cx="5683767" cy="526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2072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32783-46EF-A50E-8DBC-9544FB4E0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business cycle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F2DE7D-BEDC-5272-6D90-DF7C060319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111" y="1317634"/>
            <a:ext cx="4509796" cy="503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7085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32783-46EF-A50E-8DBC-9544FB4E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98813" y="498021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Fall in planned investment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8CEF3-C1F8-818B-0AFC-AF90BD6160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2255" y="2646404"/>
            <a:ext cx="6761626" cy="28907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Consider the impact of a fall in investment due to a broad-based fall in business confidence about the growth of markets and therefore about future expected profits. </a:t>
            </a: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Picture 4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08BFDD87-2D82-66E5-7CEA-089C889F82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579" y="146959"/>
            <a:ext cx="4722803" cy="640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4745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types of work&#10;&#10;Description automatically generated with medium confidence">
            <a:extLst>
              <a:ext uri="{FF2B5EF4-FFF2-40B4-BE49-F238E27FC236}">
                <a16:creationId xmlns:a16="http://schemas.microsoft.com/office/drawing/2014/main" id="{0A283C5B-87B8-268D-8D4F-07CB7D509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994163"/>
            <a:ext cx="5397532" cy="55491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F32783-46EF-A50E-8DBC-9544FB4E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451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Increased market power of firms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8CEF3-C1F8-818B-0AFC-AF90BD6160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555916"/>
            <a:ext cx="5181600" cy="28907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The government adopts </a:t>
            </a:r>
            <a:r>
              <a:rPr lang="en-GB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protectionist policies</a:t>
            </a:r>
            <a:r>
              <a:rPr lang="en-GB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which make it more difficult for foreign firms to enter its markets.</a:t>
            </a: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6790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32783-46EF-A50E-8DBC-9544FB4E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Increased union bargaining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8CEF3-C1F8-818B-0AFC-AF90BD6160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243" y="2971800"/>
            <a:ext cx="5181600" cy="111371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32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Unions become stronger or withdraw bargaining restraint.</a:t>
            </a:r>
            <a:endParaRPr lang="en-GB" sz="9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5" name="Picture 4" descr="A graph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7FA3C778-4604-7642-1CFD-6D86C89046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831311"/>
            <a:ext cx="5333999" cy="5693710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ADC12870-8F40-90F6-0901-578E0B20CDA7}"/>
              </a:ext>
            </a:extLst>
          </p:cNvPr>
          <p:cNvSpPr/>
          <p:nvPr/>
        </p:nvSpPr>
        <p:spPr>
          <a:xfrm>
            <a:off x="6952593" y="2317531"/>
            <a:ext cx="2120462" cy="157655"/>
          </a:xfrm>
          <a:custGeom>
            <a:avLst/>
            <a:gdLst>
              <a:gd name="connsiteX0" fmla="*/ 0 w 2120462"/>
              <a:gd name="connsiteY0" fmla="*/ 7883 h 157655"/>
              <a:gd name="connsiteX1" fmla="*/ 15766 w 2120462"/>
              <a:gd name="connsiteY1" fmla="*/ 157655 h 157655"/>
              <a:gd name="connsiteX2" fmla="*/ 1931276 w 2120462"/>
              <a:gd name="connsiteY2" fmla="*/ 126124 h 157655"/>
              <a:gd name="connsiteX3" fmla="*/ 2033752 w 2120462"/>
              <a:gd name="connsiteY3" fmla="*/ 126124 h 157655"/>
              <a:gd name="connsiteX4" fmla="*/ 2120462 w 2120462"/>
              <a:gd name="connsiteY4" fmla="*/ 70945 h 157655"/>
              <a:gd name="connsiteX5" fmla="*/ 2065283 w 2120462"/>
              <a:gd name="connsiteY5" fmla="*/ 15766 h 157655"/>
              <a:gd name="connsiteX6" fmla="*/ 1182414 w 2120462"/>
              <a:gd name="connsiteY6" fmla="*/ 0 h 157655"/>
              <a:gd name="connsiteX7" fmla="*/ 0 w 2120462"/>
              <a:gd name="connsiteY7" fmla="*/ 7883 h 157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20462" h="157655">
                <a:moveTo>
                  <a:pt x="0" y="7883"/>
                </a:moveTo>
                <a:lnTo>
                  <a:pt x="15766" y="157655"/>
                </a:lnTo>
                <a:lnTo>
                  <a:pt x="1931276" y="126124"/>
                </a:lnTo>
                <a:lnTo>
                  <a:pt x="2033752" y="126124"/>
                </a:lnTo>
                <a:lnTo>
                  <a:pt x="2120462" y="70945"/>
                </a:lnTo>
                <a:lnTo>
                  <a:pt x="2065283" y="15766"/>
                </a:lnTo>
                <a:lnTo>
                  <a:pt x="1182414" y="0"/>
                </a:lnTo>
                <a:lnTo>
                  <a:pt x="0" y="788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D9D199-25DF-426B-516E-FD1CC5B8B3E5}"/>
              </a:ext>
            </a:extLst>
          </p:cNvPr>
          <p:cNvSpPr txBox="1"/>
          <p:nvPr/>
        </p:nvSpPr>
        <p:spPr>
          <a:xfrm>
            <a:off x="6856219" y="2273247"/>
            <a:ext cx="22028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WS curve (stronger bargaining power)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545068-931A-460C-4E79-0B664A99DC72}"/>
              </a:ext>
            </a:extLst>
          </p:cNvPr>
          <p:cNvCxnSpPr/>
          <p:nvPr/>
        </p:nvCxnSpPr>
        <p:spPr>
          <a:xfrm flipH="1">
            <a:off x="6944710" y="2065283"/>
            <a:ext cx="298756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6700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32783-46EF-A50E-8DBC-9544FB4E0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Causes of inflation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441AA2-8255-7C0C-F860-3D4793BF8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Starting at the inflation-stabilizing rate of unemployment, increased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inflation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can occur for two reasons:</a:t>
            </a:r>
            <a:endParaRPr lang="en-GB" sz="4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fontAlgn="base">
              <a:spcBef>
                <a:spcPts val="1200"/>
              </a:spcBef>
              <a:spcAft>
                <a:spcPts val="1200"/>
              </a:spcAft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An inflationary demand shock increases employment above the supply-side equilibrium, and thus introduces a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bargaining gap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which raises inflation.</a:t>
            </a:r>
          </a:p>
          <a:p>
            <a:pPr fontAlgn="base">
              <a:spcBef>
                <a:spcPts val="1200"/>
              </a:spcBef>
              <a:spcAft>
                <a:spcPts val="1200"/>
              </a:spcAft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An inflationary supply shock changes the supply-side equilibrium—either because the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PS curve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shifts down, lowering the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real wage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, or because the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WS curve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shifts up, increasing the real wage workers want (but do not get). As a result, a bargaining gap arises even if employment remains unchanged.</a:t>
            </a:r>
          </a:p>
          <a:p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2059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32783-46EF-A50E-8DBC-9544FB4E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10686141" cy="1325563"/>
          </a:xfrm>
        </p:spPr>
        <p:txBody>
          <a:bodyPr/>
          <a:lstStyle/>
          <a:p>
            <a:pPr algn="ctr"/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Global oil and other commodity price shocks</a:t>
            </a:r>
          </a:p>
        </p:txBody>
      </p:sp>
      <p:pic>
        <p:nvPicPr>
          <p:cNvPr id="4" name="Picture 3" descr="A graph of growth and price&#10;&#10;Description automatically generated with medium confidence">
            <a:extLst>
              <a:ext uri="{FF2B5EF4-FFF2-40B4-BE49-F238E27FC236}">
                <a16:creationId xmlns:a16="http://schemas.microsoft.com/office/drawing/2014/main" id="{AC3D55CA-0919-C848-EB75-0B3612201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072" y="1462922"/>
            <a:ext cx="8595855" cy="502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8481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32783-46EF-A50E-8DBC-9544FB4E0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Global oil and other commodity price shocks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834B0-D2A1-6D8B-FC12-BE9006595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The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WS–PS model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and the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Phillips curve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can explain why a one-off increase in the world oil price can lead to a combination of:</a:t>
            </a:r>
            <a:endParaRPr lang="en-GB" sz="4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fontAlgn="base">
              <a:spcBef>
                <a:spcPts val="180"/>
              </a:spcBef>
              <a:spcAft>
                <a:spcPts val="180"/>
              </a:spcAft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higher structural unemployment</a:t>
            </a:r>
          </a:p>
          <a:p>
            <a:pPr fontAlgn="base">
              <a:spcBef>
                <a:spcPts val="180"/>
              </a:spcBef>
              <a:spcAft>
                <a:spcPts val="180"/>
              </a:spcAft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a rise in the price level (inflation) at the time of the shock, and</a:t>
            </a:r>
          </a:p>
          <a:p>
            <a:pPr fontAlgn="base">
              <a:spcBef>
                <a:spcPts val="180"/>
              </a:spcBef>
              <a:spcAft>
                <a:spcPts val="180"/>
              </a:spcAft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rising inflation.</a:t>
            </a:r>
          </a:p>
          <a:p>
            <a:pPr marL="0" indent="0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A rise in the oil price s</a:t>
            </a:r>
            <a:r>
              <a:rPr lang="en-GB" b="0" i="1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hifts the price-setting curve down: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this leads to higher structural unemployment, a positive bargaining gap at the pre-existing level of employment, and inflation. The Phillips curve will continue to shift up as expected inflation rises.</a:t>
            </a:r>
            <a:endParaRPr lang="en-GB" sz="4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1753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different values&#10;&#10;Description automatically generated with medium confidence">
            <a:extLst>
              <a:ext uri="{FF2B5EF4-FFF2-40B4-BE49-F238E27FC236}">
                <a16:creationId xmlns:a16="http://schemas.microsoft.com/office/drawing/2014/main" id="{ECF3518C-111E-0D60-4B7D-F7E7C0F0CC6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93"/>
          <a:stretch/>
        </p:blipFill>
        <p:spPr>
          <a:xfrm>
            <a:off x="6271937" y="820521"/>
            <a:ext cx="5433736" cy="56887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F32783-46EF-A50E-8DBC-9544FB4E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413" y="-72232"/>
            <a:ext cx="10715173" cy="1325563"/>
          </a:xfrm>
        </p:spPr>
        <p:txBody>
          <a:bodyPr/>
          <a:lstStyle/>
          <a:p>
            <a:pPr algn="ctr"/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Global oil and other commodity price shocks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A8392-2C85-3E58-88BD-F03852A0E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6327" y="1798455"/>
            <a:ext cx="578560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b="0" i="0" u="none" strike="noStrike" dirty="0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As long as employment remains at its pre-oil-shock level, inflation will increase every period. The model helps us to understand why a rise in the world </a:t>
            </a:r>
            <a:r>
              <a:rPr lang="en-GB" b="0" i="1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price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of such an important input to economic activity leads to rising </a:t>
            </a:r>
            <a:r>
              <a:rPr lang="en-GB" b="0" i="1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inflation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  <a:endParaRPr lang="en-GB" sz="4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901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32783-46EF-A50E-8DBC-9544FB4E0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review of the causes of inflation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834B0-D2A1-6D8B-FC12-BE9006595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654178"/>
            <a:ext cx="10515600" cy="4667249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GB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ost-push inflation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could be the result of a rise in the price of imported oil, or an improvement in the labour market position of workers because of a rise in unemployment benefits or stronger legislation protecting the right to strike, for example. Whereas the oil price shock shifts the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PS curve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down, a rise in union bargaining power shifts the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WS curve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up. </a:t>
            </a:r>
          </a:p>
          <a:p>
            <a:pPr marL="0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Demand-pull inflation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refers to a movement along a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Phillips curve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 a higher inflation rate because of a rise in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aggregate demand,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which we model with a shift in the AD curve in the multiplier model. </a:t>
            </a:r>
            <a:endParaRPr lang="en-GB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‘Expectations-driven’ inflation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refers to a rise in inflation because of a shift of the Phillips curve due to a change in peoples’ expectations about inflation.</a:t>
            </a:r>
          </a:p>
        </p:txBody>
      </p:sp>
    </p:spTree>
    <p:extLst>
      <p:ext uri="{BB962C8B-B14F-4D97-AF65-F5344CB8AC3E}">
        <p14:creationId xmlns:p14="http://schemas.microsoft.com/office/powerpoint/2010/main" val="13818084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a line&#10;&#10;Description automatically generated">
            <a:extLst>
              <a:ext uri="{FF2B5EF4-FFF2-40B4-BE49-F238E27FC236}">
                <a16:creationId xmlns:a16="http://schemas.microsoft.com/office/drawing/2014/main" id="{DAA50069-F8AE-BAE4-08A6-9A41B2100B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79"/>
          <a:stretch/>
        </p:blipFill>
        <p:spPr>
          <a:xfrm>
            <a:off x="6018511" y="1825625"/>
            <a:ext cx="6096000" cy="4164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F32783-46EF-A50E-8DBC-9544FB4E0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Profit-push or seller’s inflation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834B0-D2A1-6D8B-FC12-BE9006595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190" y="1825625"/>
            <a:ext cx="5672810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Our model suggests a fourth type of inflation, which we call ‘profit-push’ </a:t>
            </a:r>
            <a:r>
              <a:rPr lang="en-GB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‘sellers’ inflation’. </a:t>
            </a:r>
          </a:p>
          <a:p>
            <a:pPr marL="0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GB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hen weaker competition in markets for goods and services increases the markup, the PS curve shifts down, opening up a bargaining gap. This triggers rising inflation.</a:t>
            </a:r>
            <a:endParaRPr lang="en-GB" sz="400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3158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ph of a graph of a graph of a graph of a graph of a graph of a graph of a graph of a graph of a graph of a graph of a graph of&#10;&#10;Description automatically generated">
            <a:extLst>
              <a:ext uri="{FF2B5EF4-FFF2-40B4-BE49-F238E27FC236}">
                <a16:creationId xmlns:a16="http://schemas.microsoft.com/office/drawing/2014/main" id="{9729D4D4-C57E-3E21-D1CB-A793D33D636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50"/>
          <a:stretch/>
        </p:blipFill>
        <p:spPr>
          <a:xfrm>
            <a:off x="6744995" y="1022887"/>
            <a:ext cx="4384639" cy="55164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F32783-46EF-A50E-8DBC-9544FB4E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Profit-push or seller’s inflation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834B0-D2A1-6D8B-FC12-BE9006595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034" y="1748133"/>
            <a:ext cx="5906795" cy="4667250"/>
          </a:xfrm>
        </p:spPr>
        <p:txBody>
          <a:bodyPr>
            <a:normAutofit/>
          </a:bodyPr>
          <a:lstStyle/>
          <a:p>
            <a:pPr marL="0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When firms can raise their </a:t>
            </a:r>
            <a:r>
              <a:rPr lang="en-GB" sz="24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markup</a:t>
            </a: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as they become </a:t>
            </a:r>
            <a:r>
              <a:rPr lang="en-GB" sz="24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capacity constrained</a:t>
            </a: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the bargaining gap widens for two reasons: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the </a:t>
            </a:r>
            <a:r>
              <a:rPr lang="en-GB" sz="24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tightness</a:t>
            </a: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of the labour market, and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capacity constraints encountered by firms. </a:t>
            </a:r>
          </a:p>
          <a:p>
            <a:pPr marL="0" indent="0">
              <a:spcBef>
                <a:spcPts val="900"/>
              </a:spcBef>
              <a:spcAft>
                <a:spcPts val="900"/>
              </a:spcAft>
              <a:buNone/>
            </a:pP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This results in a steeper </a:t>
            </a:r>
            <a:r>
              <a:rPr lang="en-GB" sz="24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Phillips curve </a:t>
            </a: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because of the combined effect of the upward-sloping WS curve and the downward-sloping PS curve. </a:t>
            </a:r>
            <a:endParaRPr lang="en-GB" sz="3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86018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30057" y="412787"/>
            <a:ext cx="2791318" cy="669902"/>
          </a:xfrm>
        </p:spPr>
        <p:txBody>
          <a:bodyPr>
            <a:noAutofit/>
          </a:bodyPr>
          <a:lstStyle/>
          <a:p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Summary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36016" y="1087131"/>
            <a:ext cx="1131765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882" indent="-342882" fontAlgn="base">
              <a:spcBef>
                <a:spcPts val="1200"/>
              </a:spcBef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GB" sz="24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Consumer price inflation </a:t>
            </a: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is measured by the percentage increase in the cost of a representative basket of household goods and services, usually over a year.</a:t>
            </a:r>
          </a:p>
          <a:p>
            <a:pPr marL="342882" indent="-342882" fontAlgn="base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We model inflation as a process in which firms ultimately set </a:t>
            </a:r>
            <a:r>
              <a:rPr lang="en-GB" sz="2400" i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real</a:t>
            </a: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wages. When WS &gt; PS, workers want, and get, higher </a:t>
            </a:r>
            <a:r>
              <a:rPr lang="en-GB" sz="2400" b="1" i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nominal</a:t>
            </a:r>
            <a:r>
              <a:rPr lang="en-GB" sz="24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wages </a:t>
            </a: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because their position in the labour market is stronger but firms immediately raise prices so that </a:t>
            </a:r>
            <a:r>
              <a:rPr lang="en-GB" sz="2400" b="1" i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real</a:t>
            </a:r>
            <a:r>
              <a:rPr lang="en-GB" sz="24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wages </a:t>
            </a: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are unchanged (on the PS).</a:t>
            </a:r>
          </a:p>
          <a:p>
            <a:pPr marL="342882" indent="-342882" fontAlgn="base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This results in the </a:t>
            </a:r>
            <a:r>
              <a:rPr lang="en-GB" sz="24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Phillips curve</a:t>
            </a: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inflation is driven by the </a:t>
            </a:r>
            <a:r>
              <a:rPr lang="en-GB" sz="24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bargaining gap </a:t>
            </a: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between the real wage workers want (on the WS) and the wage that they receive (on the PS).</a:t>
            </a:r>
          </a:p>
          <a:p>
            <a:pPr marL="342882" indent="-342882" fontAlgn="base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Inflation will continue to rise period by period if the bargaining gap persists and the expected rate of inflation rises, shifting the Phillips curve up.</a:t>
            </a:r>
          </a:p>
          <a:p>
            <a:pPr marL="342882" indent="-342882" fontAlgn="base">
              <a:buFont typeface="+mj-lt"/>
              <a:buAutoNum type="arabicPeriod"/>
            </a:pP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The </a:t>
            </a:r>
            <a:r>
              <a:rPr lang="en-GB" sz="24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inflation-stabilizing rate of unemployment </a:t>
            </a:r>
            <a:r>
              <a:rPr lang="en-GB" sz="240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is given by the supply-side equilibrium where the WS and PS curves intersect—this is also termed the equilibrium or structural unemployment rate.</a:t>
            </a:r>
          </a:p>
        </p:txBody>
      </p:sp>
    </p:spTree>
    <p:extLst>
      <p:ext uri="{BB962C8B-B14F-4D97-AF65-F5344CB8AC3E}">
        <p14:creationId xmlns:p14="http://schemas.microsoft.com/office/powerpoint/2010/main" val="41625830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020001" y="714342"/>
            <a:ext cx="4064419" cy="801296"/>
          </a:xfrm>
        </p:spPr>
        <p:txBody>
          <a:bodyPr>
            <a:noAutofit/>
          </a:bodyPr>
          <a:lstStyle/>
          <a:p>
            <a:r>
              <a:rPr lang="en-GB" sz="4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the next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3474" y="2142277"/>
            <a:ext cx="1050829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76" indent="-457176">
              <a:buFont typeface="Arial"/>
              <a:buChar char="•"/>
            </a:pPr>
            <a:r>
              <a:rPr lang="en-US" sz="3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Discuss the difference between fiscal and monetary policy</a:t>
            </a:r>
          </a:p>
          <a:p>
            <a:pPr marL="457176" indent="-457176">
              <a:buFont typeface="Arial"/>
              <a:buChar char="•"/>
            </a:pP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457176" indent="-457176">
              <a:buFont typeface="Arial"/>
              <a:buChar char="•"/>
            </a:pPr>
            <a:r>
              <a:rPr lang="en-US" sz="3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Explain how fiscal and monetary policy tools can be used to limit the impact of shocks</a:t>
            </a:r>
          </a:p>
          <a:p>
            <a:pPr marL="457176" indent="-457176">
              <a:buFont typeface="Arial"/>
              <a:buChar char="•"/>
            </a:pPr>
            <a:endParaRPr lang="en-US" sz="32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457176" indent="-457176">
              <a:buFont typeface="Arial"/>
              <a:buChar char="•"/>
            </a:pPr>
            <a:r>
              <a:rPr lang="en-US" sz="3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Explain how policy responses and economic outcomes differ for demand shocks and supply shocks</a:t>
            </a:r>
          </a:p>
        </p:txBody>
      </p:sp>
    </p:spTree>
    <p:extLst>
      <p:ext uri="{BB962C8B-B14F-4D97-AF65-F5344CB8AC3E}">
        <p14:creationId xmlns:p14="http://schemas.microsoft.com/office/powerpoint/2010/main" val="40177698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8&quot; unique_id=&quot;10017&quot;&gt;&lt;/object&gt;&lt;object type=&quot;2&quot; unique_id=&quot;10018&quot;&gt;&lt;object type=&quot;3&quot; unique_id=&quot;10025&quot;&gt;&lt;property id=&quot;20148&quot; value=&quot;5&quot;/&gt;&lt;property id=&quot;20300&quot; value=&quot;Slide 1 - &amp;quot;Unit 6&amp;quot;&quot;/&gt;&lt;property id=&quot;20307&quot; value=&quot;256&quot;/&gt;&lt;/object&gt;&lt;object type=&quot;3&quot; unique_id=&quot;10026&quot;&gt;&lt;property id=&quot;20148&quot; value=&quot;5&quot;/&gt;&lt;property id=&quot;20300&quot; value=&quot;Slide 3 - &amp;quot;The Unit in Context&amp;quot;&quot;/&gt;&lt;property id=&quot;20307&quot; value=&quot;257&quot;/&gt;&lt;/object&gt;&lt;object type=&quot;3&quot; unique_id=&quot;10055&quot;&gt;&lt;property id=&quot;20148&quot; value=&quot;5&quot;/&gt;&lt;property id=&quot;20300&quot; value=&quot;Slide 4 - &amp;quot;This Unit &amp;quot;&quot;/&gt;&lt;property id=&quot;20307&quot; value=&quot;258&quot;/&gt;&lt;/object&gt;&lt;object type=&quot;3&quot; unique_id=&quot;10151&quot;&gt;&lt;property id=&quot;20148&quot; value=&quot;5&quot;/&gt;&lt;property id=&quot;20300&quot; value=&quot;Slide 6 - &amp;quot;Firms and Wage Contracts&amp;quot;&quot;/&gt;&lt;property id=&quot;20307&quot; value=&quot;259&quot;/&gt;&lt;/object&gt;&lt;object type=&quot;3&quot; unique_id=&quot;10218&quot;&gt;&lt;property id=&quot;20148&quot; value=&quot;5&quot;/&gt;&lt;property id=&quot;20300&quot; value=&quot;Slide 7 - &amp;quot;Firms and Wage Contracts&amp;quot;&quot;/&gt;&lt;property id=&quot;20307&quot; value=&quot;260&quot;/&gt;&lt;/object&gt;&lt;object type=&quot;3&quot; unique_id=&quot;19938&quot;&gt;&lt;property id=&quot;20148&quot; value=&quot;5&quot;/&gt;&lt;property id=&quot;20300&quot; value=&quot;Slide 8&quot;/&gt;&lt;property id=&quot;20307&quot; value=&quot;261&quot;/&gt;&lt;/object&gt;&lt;object type=&quot;3&quot; unique_id=&quot;20019&quot;&gt;&lt;property id=&quot;20148&quot; value=&quot;5&quot;/&gt;&lt;property id=&quot;20300&quot; value=&quot;Slide 2 - &amp;quot;A. Introduction&amp;quot;&quot;/&gt;&lt;property id=&quot;20307&quot; value=&quot;262&quot;/&gt;&lt;/object&gt;&lt;object type=&quot;3&quot; unique_id=&quot;20065&quot;&gt;&lt;property id=&quot;20148&quot; value=&quot;5&quot;/&gt;&lt;property id=&quot;20300&quot; value=&quot;Slide 5 - &amp;quot;B. Labour Contracts and Employment Rents&amp;quot;&quot;/&gt;&lt;property id=&quot;20307&quot; value=&quot;263&quot;/&gt;&lt;/object&gt;&lt;object type=&quot;3&quot; unique_id=&quot;20066&quot;&gt;&lt;property id=&quot;20148&quot; value=&quot;5&quot;/&gt;&lt;property id=&quot;20300&quot; value=&quot;Slide 9 - &amp;quot;C. Labour Discipline Model&amp;quot;&quot;/&gt;&lt;property id=&quot;20307&quot; value=&quot;264&quot;/&gt;&lt;/object&gt;&lt;object type=&quot;3&quot; unique_id=&quot;20144&quot;&gt;&lt;property id=&quot;20148&quot; value=&quot;5&quot;/&gt;&lt;property id=&quot;20300&quot; value=&quot;Slide 14 - &amp;quot;D. The Wage Curve&amp;quot;&quot;/&gt;&lt;property id=&quot;20307&quot; value=&quot;265&quot;/&gt;&lt;/object&gt;&lt;object type=&quot;3&quot; unique_id=&quot;20145&quot;&gt;&lt;property id=&quot;20148&quot; value=&quot;5&quot;/&gt;&lt;property id=&quot;20300&quot; value=&quot;Slide 18 - &amp;quot;E. Fairness and Reciprocity&amp;quot;&quot;/&gt;&lt;property id=&quot;20307&quot; value=&quot;266&quot;/&gt;&lt;/object&gt;&lt;object type=&quot;3&quot; unique_id=&quot;20185&quot;&gt;&lt;property id=&quot;20148&quot; value=&quot;5&quot;/&gt;&lt;property id=&quot;20300&quot; value=&quot;Slide 19 - &amp;quot;G. Looking Forward&amp;quot;&quot;/&gt;&lt;property id=&quot;20307&quot; value=&quot;267&quot;/&gt;&lt;/object&gt;&lt;object type=&quot;3&quot; unique_id=&quot;20228&quot;&gt;&lt;property id=&quot;20148&quot; value=&quot;5&quot;/&gt;&lt;property id=&quot;20300&quot; value=&quot;Slide 20 - &amp;quot;Firms and their Customers&amp;quot;&quot;/&gt;&lt;property id=&quot;20307&quot; value=&quot;268&quot;/&gt;&lt;/object&gt;&lt;object type=&quot;3&quot; unique_id=&quot;20567&quot;&gt;&lt;property id=&quot;20148&quot; value=&quot;5&quot;/&gt;&lt;property id=&quot;20300&quot; value=&quot;Slide 10&quot;/&gt;&lt;property id=&quot;20307&quot; value=&quot;269&quot;/&gt;&lt;/object&gt;&lt;object type=&quot;3&quot; unique_id=&quot;20696&quot;&gt;&lt;property id=&quot;20148&quot; value=&quot;5&quot;/&gt;&lt;property id=&quot;20300&quot; value=&quot;Slide 12&quot;/&gt;&lt;property id=&quot;20307&quot; value=&quot;270&quot;/&gt;&lt;/object&gt;&lt;object type=&quot;3&quot; unique_id=&quot;20782&quot;&gt;&lt;property id=&quot;20148&quot; value=&quot;5&quot;/&gt;&lt;property id=&quot;20300&quot; value=&quot;Slide 13&quot;/&gt;&lt;property id=&quot;20307&quot; value=&quot;271&quot;/&gt;&lt;/object&gt;&lt;object type=&quot;3&quot; unique_id=&quot;20963&quot;&gt;&lt;property id=&quot;20148&quot; value=&quot;5&quot;/&gt;&lt;property id=&quot;20300&quot; value=&quot;Slide 11&quot;/&gt;&lt;property id=&quot;20307&quot; value=&quot;272&quot;/&gt;&lt;/object&gt;&lt;object type=&quot;3&quot; unique_id=&quot;21116&quot;&gt;&lt;property id=&quot;20148&quot; value=&quot;5&quot;/&gt;&lt;property id=&quot;20300&quot; value=&quot;Slide 16&quot;/&gt;&lt;property id=&quot;20307&quot; value=&quot;273&quot;/&gt;&lt;/object&gt;&lt;object type=&quot;3&quot; unique_id=&quot;21217&quot;&gt;&lt;property id=&quot;20148&quot; value=&quot;5&quot;/&gt;&lt;property id=&quot;20300&quot; value=&quot;Slide 15&quot;/&gt;&lt;property id=&quot;20307&quot; value=&quot;274&quot;/&gt;&lt;/object&gt;&lt;object type=&quot;3&quot; unique_id=&quot;21428&quot;&gt;&lt;property id=&quot;20148&quot; value=&quot;5&quot;/&gt;&lt;property id=&quot;20300&quot; value=&quot;Slide 17&quot;/&gt;&lt;property id=&quot;20307&quot; value=&quot;275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F5A50"/>
      </a:accent1>
      <a:accent2>
        <a:srgbClr val="FFECD0"/>
      </a:accent2>
      <a:accent3>
        <a:srgbClr val="EBEBEB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3DC2A576866347B3860F3D6B95AFFE" ma:contentTypeVersion="7" ma:contentTypeDescription="Create a new document." ma:contentTypeScope="" ma:versionID="4c7c66d906fbd49775b10eeedd163ea7">
  <xsd:schema xmlns:xsd="http://www.w3.org/2001/XMLSchema" xmlns:xs="http://www.w3.org/2001/XMLSchema" xmlns:p="http://schemas.microsoft.com/office/2006/metadata/properties" xmlns:ns2="8608378c-9d89-4280-9f86-684f84fbf7a4" targetNamespace="http://schemas.microsoft.com/office/2006/metadata/properties" ma:root="true" ma:fieldsID="759e42e850e8058a3deb55707af8a3f7" ns2:_="">
    <xsd:import namespace="8608378c-9d89-4280-9f86-684f84fbf7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08378c-9d89-4280-9f86-684f84fbf7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E3814A8-0F37-4A21-98D4-69D835F726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08378c-9d89-4280-9f86-684f84fbf7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BAC313-347D-42B7-94D0-A493FFD358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AB471E-D175-406F-BCE1-510CB10D3AE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27452</TotalTime>
  <Words>2571</Words>
  <Application>Microsoft Office PowerPoint</Application>
  <PresentationFormat>Widescreen</PresentationFormat>
  <Paragraphs>271</Paragraphs>
  <Slides>48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Calibri Light</vt:lpstr>
      <vt:lpstr>Source Sans Pro</vt:lpstr>
      <vt:lpstr>Office Theme</vt:lpstr>
      <vt:lpstr>Unit 4</vt:lpstr>
      <vt:lpstr>PowerPoint Presentation</vt:lpstr>
      <vt:lpstr>A. Introduction</vt:lpstr>
      <vt:lpstr>The context for this unit</vt:lpstr>
      <vt:lpstr>Inflation in South Africa</vt:lpstr>
      <vt:lpstr>Inflation in South Africa – Braaibroodjie Index</vt:lpstr>
      <vt:lpstr>This unit</vt:lpstr>
      <vt:lpstr>B. What is the problem with inflation?</vt:lpstr>
      <vt:lpstr>Measuring inflation</vt:lpstr>
      <vt:lpstr>The Consumer Price Index (CPI)</vt:lpstr>
      <vt:lpstr>Calculating the CPI: an example</vt:lpstr>
      <vt:lpstr>Calculating the CPI: an example</vt:lpstr>
      <vt:lpstr>South Africa’s CPI</vt:lpstr>
      <vt:lpstr>Class Exercise</vt:lpstr>
      <vt:lpstr>PowerPoint Presentation</vt:lpstr>
      <vt:lpstr>The GDP deflator</vt:lpstr>
      <vt:lpstr>Changes in the price level</vt:lpstr>
      <vt:lpstr>What’s wrong with inflation?</vt:lpstr>
      <vt:lpstr>What about deflation?</vt:lpstr>
      <vt:lpstr>C. Inflation and unemployment</vt:lpstr>
      <vt:lpstr>Inflation and unemployment</vt:lpstr>
      <vt:lpstr>A reminder about firms</vt:lpstr>
      <vt:lpstr>Supply-side equilibrium</vt:lpstr>
      <vt:lpstr>AD, inflation and unemployment</vt:lpstr>
      <vt:lpstr>Deriving the Phillips curve</vt:lpstr>
      <vt:lpstr>Deriving the Phillips curve</vt:lpstr>
      <vt:lpstr>The Phillips Curve</vt:lpstr>
      <vt:lpstr>Bargaining gaps and inflation</vt:lpstr>
      <vt:lpstr>Expected inflation</vt:lpstr>
      <vt:lpstr>Expected inflation</vt:lpstr>
      <vt:lpstr>Expected inflation and the shifting Phillips curve</vt:lpstr>
      <vt:lpstr>Expected inflation and the shifting Phillips curve</vt:lpstr>
      <vt:lpstr>Expected inflation and the shifting Phillips curve</vt:lpstr>
      <vt:lpstr>D. Causes of inflation</vt:lpstr>
      <vt:lpstr>The business cycle model</vt:lpstr>
      <vt:lpstr>The business cycle model</vt:lpstr>
      <vt:lpstr>Fall in planned investment</vt:lpstr>
      <vt:lpstr>Increased market power of firms</vt:lpstr>
      <vt:lpstr>Increased union bargaining power</vt:lpstr>
      <vt:lpstr>Causes of inflation</vt:lpstr>
      <vt:lpstr>Global oil and other commodity price shocks</vt:lpstr>
      <vt:lpstr>Global oil and other commodity price shocks</vt:lpstr>
      <vt:lpstr>Global oil and other commodity price shocks</vt:lpstr>
      <vt:lpstr>A review of the causes of inflation</vt:lpstr>
      <vt:lpstr>Profit-push or seller’s inflation</vt:lpstr>
      <vt:lpstr>Profit-push or seller’s inflation</vt:lpstr>
      <vt:lpstr>Summary</vt:lpstr>
      <vt:lpstr>In the next unit</vt:lpstr>
    </vt:vector>
  </TitlesOfParts>
  <Company>University of Bristol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6</dc:title>
  <dc:creator>AJ Lait</dc:creator>
  <cp:lastModifiedBy>Gaby Jacobs</cp:lastModifiedBy>
  <cp:revision>377</cp:revision>
  <dcterms:created xsi:type="dcterms:W3CDTF">2017-10-18T09:24:47Z</dcterms:created>
  <dcterms:modified xsi:type="dcterms:W3CDTF">2025-09-17T10:44:00Z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0x0101007C3DC2A576866347B3860F3D6B95AFFE</vt:lpwstr>
  </property>
</Properties>
</file>